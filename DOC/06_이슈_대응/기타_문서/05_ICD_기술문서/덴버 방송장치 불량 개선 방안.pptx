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8"/>
  </p:notesMasterIdLst>
  <p:handoutMasterIdLst>
    <p:handoutMasterId r:id="rId9"/>
  </p:handoutMasterIdLst>
  <p:sldIdLst>
    <p:sldId id="500" r:id="rId2"/>
    <p:sldId id="510" r:id="rId3"/>
    <p:sldId id="511" r:id="rId4"/>
    <p:sldId id="512" r:id="rId5"/>
    <p:sldId id="503" r:id="rId6"/>
    <p:sldId id="513" r:id="rId7"/>
  </p:sldIdLst>
  <p:sldSz cx="9904413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13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B800"/>
    <a:srgbClr val="FF3737"/>
    <a:srgbClr val="0000FF"/>
    <a:srgbClr val="A3A3FF"/>
    <a:srgbClr val="FF3B3B"/>
    <a:srgbClr val="D09E00"/>
    <a:srgbClr val="7979FF"/>
    <a:srgbClr val="ECECEC"/>
    <a:srgbClr val="BD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56" autoAdjust="0"/>
    <p:restoredTop sz="96400" autoAdjust="0"/>
  </p:normalViewPr>
  <p:slideViewPr>
    <p:cSldViewPr>
      <p:cViewPr varScale="1">
        <p:scale>
          <a:sx n="135" d="100"/>
          <a:sy n="135" d="100"/>
        </p:scale>
        <p:origin x="720" y="72"/>
      </p:cViewPr>
      <p:guideLst>
        <p:guide orient="horz" pos="2251"/>
        <p:guide pos="13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8" d="100"/>
          <a:sy n="98" d="100"/>
        </p:scale>
        <p:origin x="3420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4EF19808-07F7-44A4-9714-165D9326F30E}" type="datetimeFigureOut">
              <a:rPr lang="ko-KR" altLang="en-US" smtClean="0"/>
              <a:pPr/>
              <a:t>2018-01-30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CE8D82EC-425F-4DE6-8A86-E6512495E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99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6344DFA3-142A-4FFA-B264-88948DCACF03}" type="datetimeFigureOut">
              <a:rPr lang="ko-KR" altLang="en-US" smtClean="0"/>
              <a:pPr/>
              <a:t>2018-01-30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784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5" rIns="91430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9" y="4721226"/>
            <a:ext cx="5445125" cy="4471988"/>
          </a:xfrm>
          <a:prstGeom prst="rect">
            <a:avLst/>
          </a:prstGeom>
        </p:spPr>
        <p:txBody>
          <a:bodyPr vert="horz" lIns="91430" tIns="45715" rIns="91430" bIns="4571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5B10042-E339-4781-8D95-CF275B6133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9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57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429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477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052" y="1122363"/>
            <a:ext cx="7428310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052" y="3602038"/>
            <a:ext cx="742831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29" indent="0" algn="ctr">
              <a:buNone/>
              <a:defRPr sz="1625"/>
            </a:lvl2pPr>
            <a:lvl3pPr marL="742859" indent="0" algn="ctr">
              <a:buNone/>
              <a:defRPr sz="1462"/>
            </a:lvl3pPr>
            <a:lvl4pPr marL="1114288" indent="0" algn="ctr">
              <a:buNone/>
              <a:defRPr sz="1300"/>
            </a:lvl4pPr>
            <a:lvl5pPr marL="1485717" indent="0" algn="ctr">
              <a:buNone/>
              <a:defRPr sz="1300"/>
            </a:lvl5pPr>
            <a:lvl6pPr marL="1857146" indent="0" algn="ctr">
              <a:buNone/>
              <a:defRPr sz="1300"/>
            </a:lvl6pPr>
            <a:lvl7pPr marL="2228576" indent="0" algn="ctr">
              <a:buNone/>
              <a:defRPr sz="1300"/>
            </a:lvl7pPr>
            <a:lvl8pPr marL="2600005" indent="0" algn="ctr">
              <a:buNone/>
              <a:defRPr sz="1300"/>
            </a:lvl8pPr>
            <a:lvl9pPr marL="2971434" indent="0" algn="ctr">
              <a:buNone/>
              <a:defRPr sz="13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22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3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770" y="1709739"/>
            <a:ext cx="8542556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5770" y="4589464"/>
            <a:ext cx="8542556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29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859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3pPr>
            <a:lvl4pPr marL="111428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71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14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57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00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43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34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0928" y="1825625"/>
            <a:ext cx="4209376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4109" y="1825625"/>
            <a:ext cx="4209376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29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365126"/>
            <a:ext cx="8542556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219" y="1681163"/>
            <a:ext cx="4190031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219" y="2505075"/>
            <a:ext cx="419003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109" y="1681163"/>
            <a:ext cx="4210666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109" y="2505075"/>
            <a:ext cx="4210666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47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3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44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8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29" indent="0">
              <a:buNone/>
              <a:defRPr sz="2275"/>
            </a:lvl2pPr>
            <a:lvl3pPr marL="742859" indent="0">
              <a:buNone/>
              <a:defRPr sz="1950"/>
            </a:lvl3pPr>
            <a:lvl4pPr marL="1114288" indent="0">
              <a:buNone/>
              <a:defRPr sz="1625"/>
            </a:lvl4pPr>
            <a:lvl5pPr marL="1485717" indent="0">
              <a:buNone/>
              <a:defRPr sz="1625"/>
            </a:lvl5pPr>
            <a:lvl6pPr marL="1857146" indent="0">
              <a:buNone/>
              <a:defRPr sz="1625"/>
            </a:lvl6pPr>
            <a:lvl7pPr marL="2228576" indent="0">
              <a:buNone/>
              <a:defRPr sz="1625"/>
            </a:lvl7pPr>
            <a:lvl8pPr marL="2600005" indent="0">
              <a:buNone/>
              <a:defRPr sz="1625"/>
            </a:lvl8pPr>
            <a:lvl9pPr marL="2971434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7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7846" y="365125"/>
            <a:ext cx="2135639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0928" y="365125"/>
            <a:ext cx="6283112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63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0929" y="365126"/>
            <a:ext cx="85425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0929" y="1825625"/>
            <a:ext cx="85425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0928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2018-01-30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0837" y="6356351"/>
            <a:ext cx="3342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4992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7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42859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15" indent="-185715" algn="l" defTabSz="742859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144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573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00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67143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2042861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41429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78572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3157149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1pPr>
      <a:lvl2pPr marL="37142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74285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3pPr>
      <a:lvl4pPr marL="1114288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485717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185714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22857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600005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2971434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17.png"/><Relationship Id="rId4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emf"/><Relationship Id="rId5" Type="http://schemas.openxmlformats.org/officeDocument/2006/relationships/image" Target="../media/image23.png"/><Relationship Id="rId4" Type="http://schemas.openxmlformats.org/officeDocument/2006/relationships/image" Target="cid:1327819786@ae26c748-d3b1-4312-9539-a2bece24590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emf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739586"/>
              </p:ext>
            </p:extLst>
          </p:nvPr>
        </p:nvGraphicFramePr>
        <p:xfrm>
          <a:off x="108422" y="116632"/>
          <a:ext cx="9740327" cy="6648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76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16267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1574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▣</a:t>
                      </a:r>
                      <a:r>
                        <a:rPr lang="en-US" altLang="ko-KR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DPO / PEI NCR </a:t>
                      </a:r>
                      <a:r>
                        <a:rPr lang="ko-KR" altLang="en-US" sz="18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 결과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32492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① DPO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장치 스피커 동작 불능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① DPO/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PEI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AMP IC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소손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000" b="0" kern="1200" baseline="0" noProof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DPO/PEI MP7720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주변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보호 회로를 데이터 시크 레퍼런스 회로에 따라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10K</a:t>
                      </a:r>
                      <a:r>
                        <a:rPr lang="el-GR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Ω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으로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설계 진행 하였으나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철도 차량 사용 환경에 맞지 않아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332p (</a:t>
                      </a:r>
                      <a:r>
                        <a:rPr lang="en-US" altLang="ko-KR" sz="8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Capacitor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 변경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내부 에이징 시험 및 타 프로젝트 설계변경하여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 완료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하드웨어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보완 내용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 DPO :  R32 10k</a:t>
                      </a:r>
                      <a:r>
                        <a:rPr lang="el-GR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Ω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-&gt; 332p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 변경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Button PCB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하부에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포인트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- PEI :  R17 10k</a:t>
                      </a:r>
                      <a:r>
                        <a:rPr lang="el-GR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Ω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-&gt; 332p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 변경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Button PCB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하부에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포인트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추진계획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1)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하드웨어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보완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순화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PCB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제작하여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 조치 될 수 있도록 진행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16625" y="62765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문제점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681508" y="62765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개선대책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xmlns="" id="{6917900C-946B-D640-A149-ED504829A22A}"/>
              </a:ext>
            </a:extLst>
          </p:cNvPr>
          <p:cNvGrpSpPr/>
          <p:nvPr/>
        </p:nvGrpSpPr>
        <p:grpSpPr>
          <a:xfrm>
            <a:off x="2763413" y="5332159"/>
            <a:ext cx="1844315" cy="1308804"/>
            <a:chOff x="559718" y="4556574"/>
            <a:chExt cx="2160240" cy="1552545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974F5F49-E548-FE43-B130-7787024C412E}"/>
                </a:ext>
              </a:extLst>
            </p:cNvPr>
            <p:cNvGrpSpPr/>
            <p:nvPr/>
          </p:nvGrpSpPr>
          <p:grpSpPr>
            <a:xfrm>
              <a:off x="559718" y="4556574"/>
              <a:ext cx="2160240" cy="1552545"/>
              <a:chOff x="559718" y="4556574"/>
              <a:chExt cx="2160240" cy="1552545"/>
            </a:xfrm>
          </p:grpSpPr>
          <p:sp>
            <p:nvSpPr>
              <p:cNvPr id="18" name="직사각형 17"/>
              <p:cNvSpPr/>
              <p:nvPr/>
            </p:nvSpPr>
            <p:spPr>
              <a:xfrm>
                <a:off x="681519" y="5874463"/>
                <a:ext cx="1918113" cy="234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&lt;DPO U3 MP7720</a:t>
                </a:r>
                <a:r>
                  <a:rPr lang="ko-KR" altLang="en-US" sz="800" dirty="0">
                    <a:latin typeface="+mn-ea"/>
                  </a:rPr>
                  <a:t> </a:t>
                </a:r>
                <a:r>
                  <a:rPr lang="en-US" altLang="ko-KR" sz="800" dirty="0">
                    <a:latin typeface="+mn-ea"/>
                  </a:rPr>
                  <a:t>–</a:t>
                </a:r>
                <a:r>
                  <a:rPr lang="ko-KR" altLang="en-US" sz="800" dirty="0">
                    <a:latin typeface="+mn-ea"/>
                  </a:rPr>
                  <a:t> </a:t>
                </a:r>
                <a:r>
                  <a:rPr lang="en-US" altLang="ko-KR" sz="800" dirty="0">
                    <a:latin typeface="+mn-ea"/>
                  </a:rPr>
                  <a:t>R32</a:t>
                </a:r>
                <a:r>
                  <a:rPr lang="ko-KR" altLang="en-US" sz="800">
                    <a:latin typeface="+mn-ea"/>
                  </a:rPr>
                  <a:t> </a:t>
                </a:r>
                <a:r>
                  <a:rPr lang="en-US" altLang="ko-KR" sz="800" dirty="0" smtClean="0">
                    <a:latin typeface="+mn-ea"/>
                  </a:rPr>
                  <a:t>10k</a:t>
                </a:r>
                <a:r>
                  <a:rPr lang="el-GR" altLang="ko-KR" sz="800" dirty="0"/>
                  <a:t>Ω</a:t>
                </a:r>
                <a:r>
                  <a:rPr lang="en-US" altLang="ko-KR" sz="800" dirty="0" smtClean="0">
                    <a:latin typeface="+mn-ea"/>
                  </a:rPr>
                  <a:t> </a:t>
                </a:r>
                <a:r>
                  <a:rPr lang="en-US" altLang="ko-KR" sz="800" dirty="0">
                    <a:latin typeface="+mn-ea"/>
                  </a:rPr>
                  <a:t>&gt;</a:t>
                </a:r>
                <a:endParaRPr lang="ko-KR" altLang="en-US" sz="800" dirty="0">
                  <a:latin typeface="+mn-ea"/>
                </a:endParaRPr>
              </a:p>
            </p:txBody>
          </p:sp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xmlns="" id="{013C314E-B950-CE44-BFFE-466CE176B0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59718" y="4556574"/>
                <a:ext cx="2160240" cy="1244634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</p:grp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xmlns="" id="{3668EEEA-C5DE-BB45-B03C-5D3A8FB3AFAD}"/>
                </a:ext>
              </a:extLst>
            </p:cNvPr>
            <p:cNvSpPr/>
            <p:nvPr/>
          </p:nvSpPr>
          <p:spPr>
            <a:xfrm>
              <a:off x="1711846" y="5301208"/>
              <a:ext cx="216024" cy="2160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9" name="오른쪽 화살표[R] 28">
              <a:extLst>
                <a:ext uri="{FF2B5EF4-FFF2-40B4-BE49-F238E27FC236}">
                  <a16:creationId xmlns:a16="http://schemas.microsoft.com/office/drawing/2014/main" xmlns="" id="{21751D1D-1457-9048-9598-F08E659AFE1C}"/>
                </a:ext>
              </a:extLst>
            </p:cNvPr>
            <p:cNvSpPr/>
            <p:nvPr/>
          </p:nvSpPr>
          <p:spPr>
            <a:xfrm rot="7350839">
              <a:off x="1817285" y="5070028"/>
              <a:ext cx="258202" cy="216024"/>
            </a:xfrm>
            <a:prstGeom prst="rightArrow">
              <a:avLst>
                <a:gd name="adj1" fmla="val 50000"/>
                <a:gd name="adj2" fmla="val 4332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2575672" y="4302676"/>
            <a:ext cx="1840806" cy="1146786"/>
            <a:chOff x="2506420" y="4912581"/>
            <a:chExt cx="2023334" cy="1266328"/>
          </a:xfrm>
        </p:grpSpPr>
        <p:grpSp>
          <p:nvGrpSpPr>
            <p:cNvPr id="3" name="그룹 2"/>
            <p:cNvGrpSpPr/>
            <p:nvPr/>
          </p:nvGrpSpPr>
          <p:grpSpPr>
            <a:xfrm>
              <a:off x="2506420" y="4912581"/>
              <a:ext cx="2023334" cy="1266328"/>
              <a:chOff x="2506420" y="4912581"/>
              <a:chExt cx="2023334" cy="1266328"/>
            </a:xfrm>
          </p:grpSpPr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xmlns="" id="{1F57C149-40FF-B845-BA08-37D639393B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506420" y="5104066"/>
                <a:ext cx="2023334" cy="1074843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xmlns="" id="{69E00CB9-C51C-1648-A22D-EAC8791E9F90}"/>
                  </a:ext>
                </a:extLst>
              </p:cNvPr>
              <p:cNvSpPr/>
              <p:nvPr/>
            </p:nvSpPr>
            <p:spPr>
              <a:xfrm>
                <a:off x="2632495" y="4912581"/>
                <a:ext cx="1832782" cy="2379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&lt;PEI U1 MP7720</a:t>
                </a:r>
                <a:r>
                  <a:rPr lang="ko-KR" altLang="en-US" sz="800" dirty="0">
                    <a:latin typeface="+mn-ea"/>
                  </a:rPr>
                  <a:t> </a:t>
                </a:r>
                <a:r>
                  <a:rPr lang="en-US" altLang="ko-KR" sz="800" dirty="0">
                    <a:latin typeface="+mn-ea"/>
                  </a:rPr>
                  <a:t>–</a:t>
                </a:r>
                <a:r>
                  <a:rPr lang="ko-KR" altLang="en-US" sz="800">
                    <a:latin typeface="+mn-ea"/>
                  </a:rPr>
                  <a:t> </a:t>
                </a:r>
                <a:r>
                  <a:rPr lang="en-US" altLang="ko-KR" sz="800" dirty="0" smtClean="0">
                    <a:latin typeface="+mn-ea"/>
                  </a:rPr>
                  <a:t>R17</a:t>
                </a:r>
                <a:r>
                  <a:rPr lang="ko-KR" altLang="en-US" sz="800" smtClean="0">
                    <a:latin typeface="+mn-ea"/>
                  </a:rPr>
                  <a:t> </a:t>
                </a:r>
                <a:r>
                  <a:rPr lang="en-US" altLang="ko-KR" sz="800" dirty="0" smtClean="0">
                    <a:latin typeface="+mn-ea"/>
                  </a:rPr>
                  <a:t>10k</a:t>
                </a:r>
                <a:r>
                  <a:rPr lang="el-GR" altLang="ko-KR" sz="800" dirty="0"/>
                  <a:t>Ω</a:t>
                </a:r>
                <a:r>
                  <a:rPr lang="en-US" altLang="ko-KR" sz="800" dirty="0" smtClean="0">
                    <a:latin typeface="+mn-ea"/>
                  </a:rPr>
                  <a:t> </a:t>
                </a:r>
                <a:r>
                  <a:rPr lang="en-US" altLang="ko-KR" sz="800" dirty="0">
                    <a:latin typeface="+mn-ea"/>
                  </a:rPr>
                  <a:t>&gt;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xmlns="" id="{7F089B91-3616-6141-BCA3-3A616624C4BA}"/>
                </a:ext>
              </a:extLst>
            </p:cNvPr>
            <p:cNvSpPr/>
            <p:nvPr/>
          </p:nvSpPr>
          <p:spPr>
            <a:xfrm>
              <a:off x="3513466" y="5736740"/>
              <a:ext cx="196098" cy="19833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37" name="오른쪽 화살표[R] 36">
              <a:extLst>
                <a:ext uri="{FF2B5EF4-FFF2-40B4-BE49-F238E27FC236}">
                  <a16:creationId xmlns:a16="http://schemas.microsoft.com/office/drawing/2014/main" xmlns="" id="{4F397B72-92AC-E640-B222-E277B249B50B}"/>
                </a:ext>
              </a:extLst>
            </p:cNvPr>
            <p:cNvSpPr/>
            <p:nvPr/>
          </p:nvSpPr>
          <p:spPr>
            <a:xfrm rot="7350839">
              <a:off x="3607841" y="5525607"/>
              <a:ext cx="237063" cy="196098"/>
            </a:xfrm>
            <a:prstGeom prst="rightArrow">
              <a:avLst>
                <a:gd name="adj1" fmla="val 50000"/>
                <a:gd name="adj2" fmla="val 4332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492445" y="1671407"/>
            <a:ext cx="2947593" cy="1253537"/>
            <a:chOff x="492445" y="1671407"/>
            <a:chExt cx="3233928" cy="1523423"/>
          </a:xfrm>
        </p:grpSpPr>
        <p:sp>
          <p:nvSpPr>
            <p:cNvPr id="9" name="텍스트상자 8">
              <a:extLst>
                <a:ext uri="{FF2B5EF4-FFF2-40B4-BE49-F238E27FC236}">
                  <a16:creationId xmlns:a16="http://schemas.microsoft.com/office/drawing/2014/main" xmlns="" id="{30B85700-2BD9-F640-AF14-9FA439A628D2}"/>
                </a:ext>
              </a:extLst>
            </p:cNvPr>
            <p:cNvSpPr txBox="1"/>
            <p:nvPr/>
          </p:nvSpPr>
          <p:spPr>
            <a:xfrm>
              <a:off x="3080042" y="1966775"/>
              <a:ext cx="646331" cy="276999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kumimoji="1" lang="ko-KR" altLang="en-US" sz="1200" dirty="0"/>
                <a:t>스피커</a:t>
              </a: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xmlns="" id="{2E2CEA59-454E-3C49-95BA-8A082DBB8A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2445" y="1671407"/>
              <a:ext cx="1614416" cy="1523423"/>
            </a:xfrm>
            <a:prstGeom prst="rect">
              <a:avLst/>
            </a:prstGeom>
          </p:spPr>
        </p:pic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xmlns="" id="{DA8774A0-154E-1B4E-A19E-84B2ADFFAD21}"/>
                </a:ext>
              </a:extLst>
            </p:cNvPr>
            <p:cNvCxnSpPr>
              <a:cxnSpLocks/>
              <a:stCxn id="9" idx="1"/>
              <a:endCxn id="6" idx="6"/>
            </p:cNvCxnSpPr>
            <p:nvPr/>
          </p:nvCxnSpPr>
          <p:spPr>
            <a:xfrm flipH="1">
              <a:off x="1460528" y="2105275"/>
              <a:ext cx="1619514" cy="1107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xmlns="" id="{40D28D66-151D-C944-A227-94F28727536C}"/>
                </a:ext>
              </a:extLst>
            </p:cNvPr>
            <p:cNvCxnSpPr>
              <a:cxnSpLocks/>
              <a:stCxn id="9" idx="1"/>
              <a:endCxn id="24" idx="6"/>
            </p:cNvCxnSpPr>
            <p:nvPr/>
          </p:nvCxnSpPr>
          <p:spPr>
            <a:xfrm flipH="1">
              <a:off x="1637071" y="2105275"/>
              <a:ext cx="1442971" cy="80110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타원 5"/>
            <p:cNvSpPr/>
            <p:nvPr/>
          </p:nvSpPr>
          <p:spPr>
            <a:xfrm>
              <a:off x="1333985" y="2027834"/>
              <a:ext cx="126543" cy="17703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1425302" y="2837325"/>
              <a:ext cx="211769" cy="138118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251906" y="4826292"/>
            <a:ext cx="1776788" cy="1438790"/>
            <a:chOff x="330073" y="4682378"/>
            <a:chExt cx="1776788" cy="1438790"/>
          </a:xfrm>
        </p:grpSpPr>
        <p:grpSp>
          <p:nvGrpSpPr>
            <p:cNvPr id="17" name="그룹 16"/>
            <p:cNvGrpSpPr/>
            <p:nvPr/>
          </p:nvGrpSpPr>
          <p:grpSpPr>
            <a:xfrm>
              <a:off x="333158" y="4682378"/>
              <a:ext cx="1773703" cy="1233362"/>
              <a:chOff x="310288" y="4427762"/>
              <a:chExt cx="2769754" cy="1934186"/>
            </a:xfrm>
          </p:grpSpPr>
          <p:pic>
            <p:nvPicPr>
              <p:cNvPr id="15" name="그림 14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10288" y="4427762"/>
                <a:ext cx="2769754" cy="1934186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  <p:sp>
            <p:nvSpPr>
              <p:cNvPr id="16" name="모서리가 둥근 직사각형 15"/>
              <p:cNvSpPr/>
              <p:nvPr/>
            </p:nvSpPr>
            <p:spPr>
              <a:xfrm>
                <a:off x="2080122" y="5369807"/>
                <a:ext cx="163424" cy="194385"/>
              </a:xfrm>
              <a:prstGeom prst="roundRect">
                <a:avLst/>
              </a:prstGeom>
              <a:noFill/>
              <a:ln>
                <a:solidFill>
                  <a:srgbClr val="FF373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오른쪽 화살표[R] 28">
                <a:extLst>
                  <a:ext uri="{FF2B5EF4-FFF2-40B4-BE49-F238E27FC236}">
                    <a16:creationId xmlns:a16="http://schemas.microsoft.com/office/drawing/2014/main" xmlns="" id="{21751D1D-1457-9048-9598-F08E659AFE1C}"/>
                  </a:ext>
                </a:extLst>
              </p:cNvPr>
              <p:cNvSpPr/>
              <p:nvPr/>
            </p:nvSpPr>
            <p:spPr>
              <a:xfrm rot="7350839">
                <a:off x="2196770" y="5154103"/>
                <a:ext cx="237063" cy="196098"/>
              </a:xfrm>
              <a:prstGeom prst="rightArrow">
                <a:avLst>
                  <a:gd name="adj1" fmla="val 50000"/>
                  <a:gd name="adj2" fmla="val 43328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sp>
          <p:nvSpPr>
            <p:cNvPr id="34" name="직사각형 33"/>
            <p:cNvSpPr/>
            <p:nvPr/>
          </p:nvSpPr>
          <p:spPr>
            <a:xfrm>
              <a:off x="330073" y="5905724"/>
              <a:ext cx="153599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>
                  <a:latin typeface="+mn-ea"/>
                </a:rPr>
                <a:t>&lt;MP7720</a:t>
              </a:r>
              <a:r>
                <a:rPr lang="ko-KR" altLang="en-US" sz="800">
                  <a:latin typeface="+mn-ea"/>
                </a:rPr>
                <a:t> </a:t>
              </a:r>
              <a:r>
                <a:rPr lang="ko-KR" altLang="en-US" sz="800" smtClean="0">
                  <a:latin typeface="+mn-ea"/>
                </a:rPr>
                <a:t>레퍼런스 회로도</a:t>
              </a:r>
              <a:r>
                <a:rPr lang="en-US" altLang="ko-KR" sz="800" dirty="0" smtClean="0">
                  <a:latin typeface="+mn-ea"/>
                </a:rPr>
                <a:t> </a:t>
              </a:r>
              <a:r>
                <a:rPr lang="en-US" altLang="ko-KR" sz="800" dirty="0">
                  <a:latin typeface="+mn-ea"/>
                </a:rPr>
                <a:t>&gt;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21" name="오른쪽 화살표 20"/>
          <p:cNvSpPr/>
          <p:nvPr/>
        </p:nvSpPr>
        <p:spPr>
          <a:xfrm>
            <a:off x="2149327" y="5102689"/>
            <a:ext cx="435868" cy="6486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9" name="그룹 48"/>
          <p:cNvGrpSpPr/>
          <p:nvPr/>
        </p:nvGrpSpPr>
        <p:grpSpPr>
          <a:xfrm>
            <a:off x="4938610" y="1744572"/>
            <a:ext cx="4561003" cy="921787"/>
            <a:chOff x="4952206" y="1396226"/>
            <a:chExt cx="4561003" cy="921787"/>
          </a:xfrm>
        </p:grpSpPr>
        <p:pic>
          <p:nvPicPr>
            <p:cNvPr id="25" name="그림 24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4952206" y="1396227"/>
              <a:ext cx="1572716" cy="917418"/>
            </a:xfrm>
            <a:prstGeom prst="rect">
              <a:avLst/>
            </a:prstGeom>
          </p:spPr>
        </p:pic>
        <p:pic>
          <p:nvPicPr>
            <p:cNvPr id="41" name="그림 40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 flipV="1">
              <a:off x="6626141" y="1400594"/>
              <a:ext cx="1560694" cy="917419"/>
            </a:xfrm>
            <a:prstGeom prst="rect">
              <a:avLst/>
            </a:prstGeom>
          </p:spPr>
        </p:pic>
        <p:pic>
          <p:nvPicPr>
            <p:cNvPr id="39" name="그림 38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8439297" y="1483655"/>
              <a:ext cx="1073912" cy="658720"/>
            </a:xfrm>
            <a:prstGeom prst="rect">
              <a:avLst/>
            </a:prstGeom>
            <a:ln>
              <a:solidFill>
                <a:srgbClr val="FF3737"/>
              </a:solidFill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42" name="타원 41"/>
            <p:cNvSpPr/>
            <p:nvPr/>
          </p:nvSpPr>
          <p:spPr>
            <a:xfrm>
              <a:off x="6896422" y="1396226"/>
              <a:ext cx="144016" cy="160566"/>
            </a:xfrm>
            <a:prstGeom prst="ellipse">
              <a:avLst/>
            </a:prstGeom>
            <a:noFill/>
            <a:ln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4" name="직선 화살표 연결선 43"/>
            <p:cNvCxnSpPr>
              <a:stCxn id="42" idx="6"/>
              <a:endCxn id="39" idx="3"/>
            </p:cNvCxnSpPr>
            <p:nvPr/>
          </p:nvCxnSpPr>
          <p:spPr>
            <a:xfrm>
              <a:off x="7040438" y="1476509"/>
              <a:ext cx="1398859" cy="336506"/>
            </a:xfrm>
            <a:prstGeom prst="straightConnector1">
              <a:avLst/>
            </a:prstGeom>
            <a:ln w="19050">
              <a:solidFill>
                <a:srgbClr val="FF373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/>
          <p:cNvGrpSpPr/>
          <p:nvPr/>
        </p:nvGrpSpPr>
        <p:grpSpPr>
          <a:xfrm>
            <a:off x="4982492" y="3030315"/>
            <a:ext cx="4540832" cy="792088"/>
            <a:chOff x="4978585" y="2688238"/>
            <a:chExt cx="4540832" cy="792088"/>
          </a:xfrm>
        </p:grpSpPr>
        <p:pic>
          <p:nvPicPr>
            <p:cNvPr id="27" name="그림 26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8637319" y="2558653"/>
              <a:ext cx="684076" cy="1080120"/>
            </a:xfrm>
            <a:prstGeom prst="rect">
              <a:avLst/>
            </a:prstGeom>
            <a:ln>
              <a:solidFill>
                <a:srgbClr val="FF3737"/>
              </a:solidFill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40" name="그림 39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4978585" y="2688238"/>
              <a:ext cx="1566574" cy="792088"/>
            </a:xfrm>
            <a:prstGeom prst="rect">
              <a:avLst/>
            </a:prstGeom>
          </p:spPr>
        </p:pic>
        <p:pic>
          <p:nvPicPr>
            <p:cNvPr id="45" name="그림 44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659747" y="2689902"/>
              <a:ext cx="1528152" cy="790424"/>
            </a:xfrm>
            <a:prstGeom prst="rect">
              <a:avLst/>
            </a:prstGeom>
          </p:spPr>
        </p:pic>
        <p:sp>
          <p:nvSpPr>
            <p:cNvPr id="46" name="타원 45"/>
            <p:cNvSpPr/>
            <p:nvPr/>
          </p:nvSpPr>
          <p:spPr>
            <a:xfrm>
              <a:off x="6896422" y="2743265"/>
              <a:ext cx="144016" cy="160566"/>
            </a:xfrm>
            <a:prstGeom prst="ellipse">
              <a:avLst/>
            </a:prstGeom>
            <a:noFill/>
            <a:ln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7" name="직선 화살표 연결선 46"/>
            <p:cNvCxnSpPr>
              <a:stCxn id="46" idx="6"/>
              <a:endCxn id="27" idx="2"/>
            </p:cNvCxnSpPr>
            <p:nvPr/>
          </p:nvCxnSpPr>
          <p:spPr>
            <a:xfrm>
              <a:off x="7040438" y="2823548"/>
              <a:ext cx="1398859" cy="275165"/>
            </a:xfrm>
            <a:prstGeom prst="straightConnector1">
              <a:avLst/>
            </a:prstGeom>
            <a:ln w="19050">
              <a:solidFill>
                <a:srgbClr val="FF373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190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297132" y="931914"/>
            <a:ext cx="4089107" cy="342635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62" dirty="0">
                <a:solidFill>
                  <a:schemeClr val="tx1"/>
                </a:solidFill>
              </a:rPr>
              <a:t>DTS</a:t>
            </a:r>
            <a:r>
              <a:rPr lang="ko-KR" altLang="en-US" sz="1462" dirty="0" err="1">
                <a:solidFill>
                  <a:schemeClr val="tx1"/>
                </a:solidFill>
              </a:rPr>
              <a:t>덴버</a:t>
            </a:r>
            <a:r>
              <a:rPr lang="ko-KR" altLang="en-US" sz="1462" dirty="0">
                <a:solidFill>
                  <a:schemeClr val="tx1"/>
                </a:solidFill>
              </a:rPr>
              <a:t> </a:t>
            </a:r>
            <a:r>
              <a:rPr lang="en-US" altLang="ko-KR" sz="1462" dirty="0">
                <a:solidFill>
                  <a:schemeClr val="tx1"/>
                </a:solidFill>
              </a:rPr>
              <a:t>CCP CONTROL</a:t>
            </a:r>
            <a:r>
              <a:rPr lang="ko-KR" altLang="en-US" sz="1462" dirty="0">
                <a:solidFill>
                  <a:schemeClr val="tx1"/>
                </a:solidFill>
              </a:rPr>
              <a:t>보드 </a:t>
            </a:r>
            <a:r>
              <a:rPr lang="en-US" altLang="ko-KR" sz="1462" dirty="0">
                <a:solidFill>
                  <a:schemeClr val="tx1"/>
                </a:solidFill>
              </a:rPr>
              <a:t>RS485</a:t>
            </a:r>
            <a:r>
              <a:rPr lang="ko-KR" altLang="en-US" sz="1462" dirty="0">
                <a:solidFill>
                  <a:schemeClr val="tx1"/>
                </a:solidFill>
              </a:rPr>
              <a:t>통신불량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06" y="1207345"/>
            <a:ext cx="4363837" cy="2191587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418579" y="1580766"/>
            <a:ext cx="3690573" cy="2214344"/>
            <a:chOff x="431074" y="1271452"/>
            <a:chExt cx="4542972" cy="2725783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1074" y="1271452"/>
              <a:ext cx="4542972" cy="2725783"/>
            </a:xfrm>
            <a:prstGeom prst="rect">
              <a:avLst/>
            </a:prstGeom>
          </p:spPr>
        </p:pic>
        <p:sp>
          <p:nvSpPr>
            <p:cNvPr id="8" name="타원 7"/>
            <p:cNvSpPr/>
            <p:nvPr/>
          </p:nvSpPr>
          <p:spPr>
            <a:xfrm>
              <a:off x="1149532" y="1471748"/>
              <a:ext cx="2194560" cy="20378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2"/>
            </a:p>
          </p:txBody>
        </p:sp>
      </p:grpSp>
      <p:sp>
        <p:nvSpPr>
          <p:cNvPr id="9" name="모서리가 둥근 직사각형 8"/>
          <p:cNvSpPr/>
          <p:nvPr/>
        </p:nvSpPr>
        <p:spPr>
          <a:xfrm>
            <a:off x="233461" y="1456961"/>
            <a:ext cx="4060809" cy="4676297"/>
          </a:xfrm>
          <a:prstGeom prst="roundRect">
            <a:avLst>
              <a:gd name="adj" fmla="val 464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2"/>
          </a:p>
        </p:txBody>
      </p:sp>
      <p:sp>
        <p:nvSpPr>
          <p:cNvPr id="11" name="TextBox 10"/>
          <p:cNvSpPr txBox="1"/>
          <p:nvPr/>
        </p:nvSpPr>
        <p:spPr>
          <a:xfrm>
            <a:off x="297133" y="3954287"/>
            <a:ext cx="1089485" cy="24237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975" dirty="0"/>
              <a:t>불량증상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33" y="4193604"/>
            <a:ext cx="3812020" cy="196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15" indent="-185715">
              <a:lnSpc>
                <a:spcPct val="150000"/>
              </a:lnSpc>
              <a:buAutoNum type="arabicPeriod"/>
            </a:pPr>
            <a:r>
              <a:rPr lang="ko-KR" altLang="en-US" sz="812" dirty="0"/>
              <a:t>불량증상은 </a:t>
            </a:r>
            <a:r>
              <a:rPr lang="en-US" altLang="ko-KR" sz="812" dirty="0"/>
              <a:t>CCP</a:t>
            </a:r>
            <a:r>
              <a:rPr lang="ko-KR" altLang="en-US" sz="812" dirty="0"/>
              <a:t> </a:t>
            </a:r>
            <a:r>
              <a:rPr lang="en-US" altLang="ko-KR" sz="812" dirty="0"/>
              <a:t>ASS`Y</a:t>
            </a:r>
            <a:r>
              <a:rPr lang="ko-KR" altLang="en-US" sz="812" dirty="0"/>
              <a:t>기동 후 일정시간 후 발생하며</a:t>
            </a:r>
            <a:r>
              <a:rPr lang="en-US" altLang="ko-KR" sz="812" dirty="0"/>
              <a:t>, CCP</a:t>
            </a:r>
            <a:r>
              <a:rPr lang="ko-KR" altLang="en-US" sz="812" dirty="0"/>
              <a:t>내부 </a:t>
            </a:r>
            <a:r>
              <a:rPr lang="ko-KR" altLang="en-US" sz="812" dirty="0" err="1"/>
              <a:t>온도상승시</a:t>
            </a:r>
            <a:r>
              <a:rPr lang="ko-KR" altLang="en-US" sz="812" dirty="0"/>
              <a:t> 가속화된다</a:t>
            </a:r>
            <a:r>
              <a:rPr lang="en-US" altLang="ko-KR" sz="812" dirty="0"/>
              <a:t>.</a:t>
            </a:r>
          </a:p>
          <a:p>
            <a:pPr marL="185715" indent="-185715">
              <a:lnSpc>
                <a:spcPct val="150000"/>
              </a:lnSpc>
              <a:buAutoNum type="arabicPeriod"/>
            </a:pPr>
            <a:r>
              <a:rPr lang="ko-KR" altLang="en-US" sz="812" dirty="0"/>
              <a:t>불량발생시 </a:t>
            </a:r>
            <a:r>
              <a:rPr lang="en-US" altLang="ko-KR" sz="812" dirty="0"/>
              <a:t>CCP</a:t>
            </a:r>
            <a:r>
              <a:rPr lang="ko-KR" altLang="en-US" sz="812" dirty="0"/>
              <a:t>보드의 응답파형은 위의 사진과 같다</a:t>
            </a:r>
            <a:r>
              <a:rPr lang="en-US" altLang="ko-KR" sz="812" dirty="0"/>
              <a:t>.</a:t>
            </a:r>
          </a:p>
          <a:p>
            <a:pPr marL="185715" indent="-185715">
              <a:lnSpc>
                <a:spcPct val="150000"/>
              </a:lnSpc>
              <a:buAutoNum type="arabicPeriod"/>
            </a:pPr>
            <a:r>
              <a:rPr lang="en-US" altLang="ko-KR" sz="812" dirty="0"/>
              <a:t>CCP</a:t>
            </a:r>
            <a:r>
              <a:rPr lang="ko-KR" altLang="en-US" sz="812" dirty="0" err="1"/>
              <a:t>보드내</a:t>
            </a:r>
            <a:r>
              <a:rPr lang="ko-KR" altLang="en-US" sz="812" dirty="0"/>
              <a:t> </a:t>
            </a:r>
            <a:r>
              <a:rPr lang="en-US" altLang="ko-KR" sz="812" dirty="0"/>
              <a:t>MAX1480</a:t>
            </a:r>
            <a:r>
              <a:rPr lang="ko-KR" altLang="en-US" sz="812" dirty="0"/>
              <a:t>칩 </a:t>
            </a:r>
            <a:r>
              <a:rPr lang="ko-KR" altLang="en-US" sz="812" dirty="0" err="1"/>
              <a:t>교체시에도</a:t>
            </a:r>
            <a:r>
              <a:rPr lang="ko-KR" altLang="en-US" sz="812" dirty="0"/>
              <a:t> 불량증상은 재현된다</a:t>
            </a:r>
            <a:r>
              <a:rPr lang="en-US" altLang="ko-KR" sz="812" dirty="0"/>
              <a:t>.</a:t>
            </a:r>
          </a:p>
          <a:p>
            <a:pPr marL="185715" indent="-185715">
              <a:lnSpc>
                <a:spcPct val="150000"/>
              </a:lnSpc>
              <a:buAutoNum type="arabicPeriod"/>
            </a:pPr>
            <a:r>
              <a:rPr lang="en-US" altLang="ko-KR" sz="812" dirty="0"/>
              <a:t>MAX1480</a:t>
            </a:r>
            <a:r>
              <a:rPr lang="ko-KR" altLang="en-US" sz="812" dirty="0"/>
              <a:t>칩의 출력파형대비 </a:t>
            </a:r>
            <a:r>
              <a:rPr lang="en-US" altLang="ko-KR" sz="812" dirty="0"/>
              <a:t>R0, DE</a:t>
            </a:r>
            <a:r>
              <a:rPr lang="ko-KR" altLang="en-US" sz="812" dirty="0"/>
              <a:t>신호를 </a:t>
            </a:r>
            <a:r>
              <a:rPr lang="ko-KR" altLang="en-US" sz="812" dirty="0" err="1"/>
              <a:t>측정시</a:t>
            </a:r>
            <a:r>
              <a:rPr lang="ko-KR" altLang="en-US" sz="812" dirty="0"/>
              <a:t> </a:t>
            </a:r>
            <a:r>
              <a:rPr lang="ko-KR" altLang="en-US" sz="812" dirty="0" err="1"/>
              <a:t>오실로스코프로</a:t>
            </a:r>
            <a:r>
              <a:rPr lang="ko-KR" altLang="en-US" sz="812" dirty="0"/>
              <a:t> 측정사진은 우측의 사진 참조</a:t>
            </a:r>
            <a:endParaRPr lang="en-US" altLang="ko-KR" sz="812" dirty="0"/>
          </a:p>
          <a:p>
            <a:pPr>
              <a:lnSpc>
                <a:spcPct val="150000"/>
              </a:lnSpc>
            </a:pPr>
            <a:r>
              <a:rPr lang="en-US" altLang="ko-KR" sz="812" dirty="0"/>
              <a:t>※ CCP</a:t>
            </a:r>
            <a:r>
              <a:rPr lang="ko-KR" altLang="en-US" sz="812" dirty="0"/>
              <a:t>응답요청데이터 샘플</a:t>
            </a:r>
            <a:endParaRPr lang="en-US" altLang="ko-KR" sz="812" dirty="0"/>
          </a:p>
          <a:p>
            <a:pPr>
              <a:lnSpc>
                <a:spcPct val="150000"/>
              </a:lnSpc>
            </a:pPr>
            <a:r>
              <a:rPr lang="en-US" altLang="ko-KR" sz="812" dirty="0"/>
              <a:t>ex)</a:t>
            </a:r>
            <a:r>
              <a:rPr lang="ko-KR" altLang="en-US" sz="812" dirty="0"/>
              <a:t>└</a:t>
            </a:r>
            <a:r>
              <a:rPr lang="en-US" altLang="ko-KR" sz="812" dirty="0"/>
              <a:t>21113C100004000040025B12</a:t>
            </a:r>
            <a:r>
              <a:rPr lang="ko-KR" altLang="en-US" sz="812" dirty="0"/>
              <a:t>┐</a:t>
            </a:r>
            <a:endParaRPr lang="en-US" altLang="ko-KR" sz="812" dirty="0"/>
          </a:p>
          <a:p>
            <a:pPr>
              <a:lnSpc>
                <a:spcPct val="150000"/>
              </a:lnSpc>
            </a:pPr>
            <a:r>
              <a:rPr lang="en-US" altLang="ko-KR" sz="812" dirty="0"/>
              <a:t>(Speed=19,200bps, </a:t>
            </a:r>
            <a:r>
              <a:rPr lang="en-US" altLang="ko-KR" sz="812" dirty="0" err="1"/>
              <a:t>Databit</a:t>
            </a:r>
            <a:r>
              <a:rPr lang="en-US" altLang="ko-KR" sz="812" dirty="0"/>
              <a:t>=8bit, </a:t>
            </a:r>
            <a:r>
              <a:rPr lang="en-US" altLang="ko-KR" sz="812" dirty="0" err="1"/>
              <a:t>Stopbit</a:t>
            </a:r>
            <a:r>
              <a:rPr lang="en-US" altLang="ko-KR" sz="812" dirty="0"/>
              <a:t>=1bit, None </a:t>
            </a:r>
            <a:r>
              <a:rPr lang="en-US" altLang="ko-KR" sz="812" dirty="0" err="1"/>
              <a:t>paritybit</a:t>
            </a:r>
            <a:r>
              <a:rPr lang="en-US" altLang="ko-KR" sz="812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812" dirty="0"/>
              <a:t>(STX= 0x01, ETX=0x04, check sum=CRC16)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357" y="3584419"/>
            <a:ext cx="4767088" cy="242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9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297132" y="931914"/>
            <a:ext cx="5311241" cy="342635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62" dirty="0">
                <a:solidFill>
                  <a:schemeClr val="tx1"/>
                </a:solidFill>
              </a:rPr>
              <a:t>DTS</a:t>
            </a:r>
            <a:r>
              <a:rPr lang="ko-KR" altLang="en-US" sz="1462" dirty="0" err="1">
                <a:solidFill>
                  <a:schemeClr val="tx1"/>
                </a:solidFill>
              </a:rPr>
              <a:t>덴버</a:t>
            </a:r>
            <a:r>
              <a:rPr lang="ko-KR" altLang="en-US" sz="1462" dirty="0">
                <a:solidFill>
                  <a:schemeClr val="tx1"/>
                </a:solidFill>
              </a:rPr>
              <a:t> </a:t>
            </a:r>
            <a:r>
              <a:rPr lang="en-US" altLang="ko-KR" sz="1462" dirty="0">
                <a:solidFill>
                  <a:schemeClr val="tx1"/>
                </a:solidFill>
              </a:rPr>
              <a:t>CCP CONTROL</a:t>
            </a:r>
            <a:r>
              <a:rPr lang="ko-KR" altLang="en-US" sz="1462" dirty="0">
                <a:solidFill>
                  <a:schemeClr val="tx1"/>
                </a:solidFill>
              </a:rPr>
              <a:t>보드 </a:t>
            </a:r>
            <a:r>
              <a:rPr lang="en-US" altLang="ko-KR" sz="1462" dirty="0">
                <a:solidFill>
                  <a:schemeClr val="tx1"/>
                </a:solidFill>
              </a:rPr>
              <a:t>RS485</a:t>
            </a:r>
            <a:r>
              <a:rPr lang="ko-KR" altLang="en-US" sz="1462" dirty="0" err="1">
                <a:solidFill>
                  <a:schemeClr val="tx1"/>
                </a:solidFill>
              </a:rPr>
              <a:t>통신불량</a:t>
            </a:r>
            <a:r>
              <a:rPr lang="ko-KR" altLang="en-US" sz="1462" dirty="0">
                <a:solidFill>
                  <a:schemeClr val="tx1"/>
                </a:solidFill>
              </a:rPr>
              <a:t> 설계 검토 사항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233461" y="1456961"/>
            <a:ext cx="4060809" cy="4676297"/>
          </a:xfrm>
          <a:prstGeom prst="roundRect">
            <a:avLst>
              <a:gd name="adj" fmla="val 464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2"/>
          </a:p>
        </p:txBody>
      </p:sp>
      <p:sp>
        <p:nvSpPr>
          <p:cNvPr id="11" name="TextBox 10"/>
          <p:cNvSpPr txBox="1"/>
          <p:nvPr/>
        </p:nvSpPr>
        <p:spPr>
          <a:xfrm>
            <a:off x="297132" y="4071871"/>
            <a:ext cx="1089485" cy="24237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975" dirty="0"/>
              <a:t>설계 검토 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91" y="4326293"/>
            <a:ext cx="3812020" cy="1592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15" indent="-185715">
              <a:lnSpc>
                <a:spcPct val="150000"/>
              </a:lnSpc>
              <a:buAutoNum type="arabicPeriod"/>
            </a:pPr>
            <a:r>
              <a:rPr lang="ko-KR" altLang="en-US" sz="812" dirty="0"/>
              <a:t>현재 불량 발생 내용은 </a:t>
            </a:r>
            <a:r>
              <a:rPr lang="en-US" altLang="ko-KR" sz="812" dirty="0"/>
              <a:t>485 </a:t>
            </a:r>
            <a:r>
              <a:rPr lang="ko-KR" altLang="en-US" sz="812" dirty="0"/>
              <a:t>통신 </a:t>
            </a:r>
            <a:r>
              <a:rPr lang="en-US" altLang="ko-KR" sz="812" dirty="0"/>
              <a:t>RTS</a:t>
            </a:r>
            <a:r>
              <a:rPr lang="ko-KR" altLang="en-US" sz="812" dirty="0"/>
              <a:t>제어 불량이다</a:t>
            </a:r>
            <a:r>
              <a:rPr lang="en-US" altLang="ko-KR" sz="812" dirty="0"/>
              <a:t>.</a:t>
            </a:r>
          </a:p>
          <a:p>
            <a:pPr marL="185715" indent="-185715">
              <a:lnSpc>
                <a:spcPct val="150000"/>
              </a:lnSpc>
              <a:buAutoNum type="arabicPeriod"/>
            </a:pPr>
            <a:r>
              <a:rPr lang="en-US" altLang="ko-KR" sz="812" dirty="0"/>
              <a:t>CCP PCB</a:t>
            </a:r>
            <a:r>
              <a:rPr lang="ko-KR" altLang="en-US" sz="812" dirty="0"/>
              <a:t>는 </a:t>
            </a:r>
            <a:r>
              <a:rPr lang="en-US" altLang="ko-KR" sz="812" dirty="0"/>
              <a:t>485</a:t>
            </a:r>
            <a:r>
              <a:rPr lang="ko-KR" altLang="en-US" sz="812" dirty="0"/>
              <a:t>통신 </a:t>
            </a:r>
            <a:r>
              <a:rPr lang="en-US" altLang="ko-KR" sz="812" dirty="0"/>
              <a:t>RTS </a:t>
            </a:r>
            <a:r>
              <a:rPr lang="ko-KR" altLang="en-US" sz="812" dirty="0"/>
              <a:t>제어를 </a:t>
            </a:r>
            <a:r>
              <a:rPr lang="en-US" altLang="ko-KR" sz="812" dirty="0"/>
              <a:t>HW </a:t>
            </a:r>
            <a:r>
              <a:rPr lang="ko-KR" altLang="en-US" sz="812" dirty="0"/>
              <a:t>방식을 사용한다 </a:t>
            </a:r>
            <a:r>
              <a:rPr lang="en-US" altLang="ko-KR" sz="812" dirty="0"/>
              <a:t>.</a:t>
            </a:r>
          </a:p>
          <a:p>
            <a:pPr marL="185715" indent="-185715">
              <a:lnSpc>
                <a:spcPct val="150000"/>
              </a:lnSpc>
              <a:buAutoNum type="arabicPeriod"/>
            </a:pPr>
            <a:r>
              <a:rPr lang="en-US" altLang="ko-KR" sz="812" dirty="0"/>
              <a:t>TX </a:t>
            </a:r>
            <a:r>
              <a:rPr lang="ko-KR" altLang="en-US" sz="812" dirty="0"/>
              <a:t>데이터의 </a:t>
            </a:r>
            <a:r>
              <a:rPr lang="en-US" altLang="ko-KR" sz="812" dirty="0" err="1"/>
              <a:t>Higt</a:t>
            </a:r>
            <a:r>
              <a:rPr lang="en-US" altLang="ko-KR" sz="812" dirty="0"/>
              <a:t> </a:t>
            </a:r>
            <a:r>
              <a:rPr lang="ko-KR" altLang="en-US" sz="812" dirty="0"/>
              <a:t>신호를 인식하여</a:t>
            </a:r>
            <a:r>
              <a:rPr lang="en-US" altLang="ko-KR" sz="812" dirty="0"/>
              <a:t>, RTS </a:t>
            </a:r>
            <a:r>
              <a:rPr lang="ko-KR" altLang="en-US" sz="812" dirty="0"/>
              <a:t>제어 신호를 일정 시간 동안 유지 하는 기능을 한다</a:t>
            </a:r>
            <a:r>
              <a:rPr lang="en-US" altLang="ko-KR" sz="812" dirty="0"/>
              <a:t>.</a:t>
            </a:r>
          </a:p>
          <a:p>
            <a:pPr marL="185715" indent="-185715">
              <a:lnSpc>
                <a:spcPct val="150000"/>
              </a:lnSpc>
              <a:buAutoNum type="arabicPeriod"/>
            </a:pPr>
            <a:r>
              <a:rPr lang="ko-KR" altLang="en-US" sz="812" dirty="0"/>
              <a:t>현재 파형 분석 결과</a:t>
            </a:r>
            <a:r>
              <a:rPr lang="en-US" altLang="ko-KR" sz="812" dirty="0"/>
              <a:t>, RTS </a:t>
            </a:r>
            <a:r>
              <a:rPr lang="ko-KR" altLang="en-US" sz="812" dirty="0"/>
              <a:t>유지 시간이 짧아 시작 데이터 값에 따라 </a:t>
            </a:r>
            <a:r>
              <a:rPr lang="ko-KR" altLang="en-US" sz="812" dirty="0" err="1"/>
              <a:t>이상동작이</a:t>
            </a:r>
            <a:r>
              <a:rPr lang="ko-KR" altLang="en-US" sz="812" dirty="0"/>
              <a:t> 발생할 수 있는 가능성 확인</a:t>
            </a:r>
            <a:r>
              <a:rPr lang="en-US" altLang="ko-KR" sz="812" dirty="0"/>
              <a:t>.</a:t>
            </a:r>
          </a:p>
          <a:p>
            <a:pPr marL="185715" indent="-185715">
              <a:lnSpc>
                <a:spcPct val="150000"/>
              </a:lnSpc>
              <a:buAutoNum type="arabicPeriod"/>
            </a:pPr>
            <a:r>
              <a:rPr lang="ko-KR" altLang="en-US" sz="812" dirty="0"/>
              <a:t>현재 회로도 상으로</a:t>
            </a:r>
            <a:r>
              <a:rPr lang="en-US" altLang="ko-KR" sz="812" dirty="0"/>
              <a:t>, RTS </a:t>
            </a:r>
            <a:r>
              <a:rPr lang="ko-KR" altLang="en-US" sz="812" dirty="0"/>
              <a:t>제어를 </a:t>
            </a:r>
            <a:r>
              <a:rPr lang="en-US" altLang="ko-KR" sz="812" dirty="0"/>
              <a:t>50ns </a:t>
            </a:r>
            <a:r>
              <a:rPr lang="ko-KR" altLang="en-US" sz="812" dirty="0"/>
              <a:t>동안만 유지 하는 것으로 설계</a:t>
            </a:r>
            <a:r>
              <a:rPr lang="en-US" altLang="ko-KR" sz="812" dirty="0"/>
              <a:t>.</a:t>
            </a:r>
          </a:p>
          <a:p>
            <a:pPr marL="185715" indent="-185715">
              <a:lnSpc>
                <a:spcPct val="150000"/>
              </a:lnSpc>
              <a:buAutoNum type="arabicPeriod"/>
            </a:pPr>
            <a:r>
              <a:rPr lang="ko-KR" altLang="en-US" sz="812" dirty="0"/>
              <a:t>저항 값을 변경하여</a:t>
            </a:r>
            <a:r>
              <a:rPr lang="en-US" altLang="ko-KR" sz="812" dirty="0"/>
              <a:t>, RTS </a:t>
            </a:r>
            <a:r>
              <a:rPr lang="ko-KR" altLang="en-US" sz="812" dirty="0"/>
              <a:t>유지</a:t>
            </a:r>
            <a:r>
              <a:rPr lang="en-US" altLang="ko-KR" sz="812" dirty="0"/>
              <a:t> </a:t>
            </a:r>
            <a:r>
              <a:rPr lang="ko-KR" altLang="en-US" sz="812" dirty="0"/>
              <a:t>시간 시험 예정</a:t>
            </a:r>
            <a:r>
              <a:rPr lang="en-US" altLang="ko-KR" sz="812" dirty="0"/>
              <a:t>.( </a:t>
            </a:r>
            <a:r>
              <a:rPr lang="en-US" altLang="ko-KR" sz="812" b="1" dirty="0">
                <a:solidFill>
                  <a:srgbClr val="FF0000"/>
                </a:solidFill>
              </a:rPr>
              <a:t>10ms</a:t>
            </a:r>
            <a:r>
              <a:rPr lang="ko-KR" altLang="en-US" sz="812" b="1" dirty="0">
                <a:solidFill>
                  <a:srgbClr val="FF0000"/>
                </a:solidFill>
              </a:rPr>
              <a:t>로 설정 예정</a:t>
            </a:r>
            <a:r>
              <a:rPr lang="en-US" altLang="ko-KR" sz="812" dirty="0"/>
              <a:t>)</a:t>
            </a:r>
            <a:r>
              <a:rPr lang="ko-KR" altLang="en-US" sz="812" dirty="0"/>
              <a:t> </a:t>
            </a:r>
            <a:r>
              <a:rPr lang="en-US" altLang="ko-KR" sz="812" dirty="0"/>
              <a:t> </a:t>
            </a:r>
            <a:r>
              <a:rPr lang="ko-KR" altLang="en-US" sz="812" dirty="0"/>
              <a:t>  </a:t>
            </a:r>
            <a:endParaRPr lang="en-US" altLang="ko-KR" sz="812" dirty="0"/>
          </a:p>
        </p:txBody>
      </p:sp>
      <p:grpSp>
        <p:nvGrpSpPr>
          <p:cNvPr id="24" name="그룹 23"/>
          <p:cNvGrpSpPr/>
          <p:nvPr/>
        </p:nvGrpSpPr>
        <p:grpSpPr>
          <a:xfrm>
            <a:off x="4432706" y="1566837"/>
            <a:ext cx="2545762" cy="2085358"/>
            <a:chOff x="5707169" y="1100180"/>
            <a:chExt cx="3133748" cy="2567006"/>
          </a:xfrm>
        </p:grpSpPr>
        <p:grpSp>
          <p:nvGrpSpPr>
            <p:cNvPr id="19" name="그룹 18"/>
            <p:cNvGrpSpPr/>
            <p:nvPr/>
          </p:nvGrpSpPr>
          <p:grpSpPr>
            <a:xfrm>
              <a:off x="5707169" y="1100180"/>
              <a:ext cx="3133748" cy="2567006"/>
              <a:chOff x="5607319" y="1076125"/>
              <a:chExt cx="3133748" cy="2567006"/>
            </a:xfrm>
          </p:grpSpPr>
          <p:pic>
            <p:nvPicPr>
              <p:cNvPr id="17" name="그림 16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607319" y="1076125"/>
                <a:ext cx="3133748" cy="2567006"/>
              </a:xfrm>
              <a:prstGeom prst="rect">
                <a:avLst/>
              </a:prstGeom>
            </p:spPr>
          </p:pic>
          <p:sp>
            <p:nvSpPr>
              <p:cNvPr id="18" name="직사각형 17"/>
              <p:cNvSpPr/>
              <p:nvPr/>
            </p:nvSpPr>
            <p:spPr>
              <a:xfrm>
                <a:off x="6047874" y="2197768"/>
                <a:ext cx="2330115" cy="19667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62"/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6442347" y="1114927"/>
              <a:ext cx="1558654" cy="42132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sz="812" dirty="0"/>
                <a:t>74LS123 </a:t>
              </a:r>
              <a:r>
                <a:rPr lang="ko-KR" altLang="en-US" sz="812" dirty="0"/>
                <a:t>외부 동작 조건</a:t>
              </a: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575523" y="1710412"/>
            <a:ext cx="2978988" cy="2298517"/>
            <a:chOff x="708449" y="1313476"/>
            <a:chExt cx="3670852" cy="3397248"/>
          </a:xfrm>
        </p:grpSpPr>
        <p:grpSp>
          <p:nvGrpSpPr>
            <p:cNvPr id="16" name="그룹 15"/>
            <p:cNvGrpSpPr/>
            <p:nvPr/>
          </p:nvGrpSpPr>
          <p:grpSpPr>
            <a:xfrm>
              <a:off x="708449" y="1313476"/>
              <a:ext cx="3670852" cy="3397248"/>
              <a:chOff x="708449" y="1313476"/>
              <a:chExt cx="3670852" cy="3397248"/>
            </a:xfrm>
          </p:grpSpPr>
          <p:pic>
            <p:nvPicPr>
              <p:cNvPr id="2" name="그림 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08449" y="1313476"/>
                <a:ext cx="3670852" cy="3397248"/>
              </a:xfrm>
              <a:prstGeom prst="rect">
                <a:avLst/>
              </a:prstGeom>
            </p:spPr>
          </p:pic>
          <p:sp>
            <p:nvSpPr>
              <p:cNvPr id="14" name="아래쪽 화살표 13"/>
              <p:cNvSpPr/>
              <p:nvPr/>
            </p:nvSpPr>
            <p:spPr>
              <a:xfrm rot="13413432">
                <a:off x="2553702" y="3776147"/>
                <a:ext cx="216568" cy="292768"/>
              </a:xfrm>
              <a:prstGeom prst="down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62"/>
              </a:p>
            </p:txBody>
          </p:sp>
          <p:sp>
            <p:nvSpPr>
              <p:cNvPr id="15" name="아래쪽 화살표 14"/>
              <p:cNvSpPr/>
              <p:nvPr/>
            </p:nvSpPr>
            <p:spPr>
              <a:xfrm>
                <a:off x="2882537" y="3382447"/>
                <a:ext cx="216568" cy="292768"/>
              </a:xfrm>
              <a:prstGeom prst="down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62"/>
              </a:p>
            </p:txBody>
          </p:sp>
        </p:grpSp>
        <p:sp>
          <p:nvSpPr>
            <p:cNvPr id="21" name="직사각형 20"/>
            <p:cNvSpPr/>
            <p:nvPr/>
          </p:nvSpPr>
          <p:spPr>
            <a:xfrm>
              <a:off x="2201779" y="3312695"/>
              <a:ext cx="421105" cy="717884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2"/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4655634" y="3738034"/>
            <a:ext cx="2448237" cy="2344543"/>
            <a:chOff x="8917492" y="1036477"/>
            <a:chExt cx="3013698" cy="2886054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7492" y="1760605"/>
              <a:ext cx="3013698" cy="2161926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9146503" y="1036477"/>
              <a:ext cx="2424927" cy="57516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sz="812" dirty="0"/>
                <a:t>74LS123 </a:t>
              </a:r>
              <a:r>
                <a:rPr lang="ko-KR" altLang="en-US" sz="812" dirty="0"/>
                <a:t> </a:t>
              </a:r>
              <a:r>
                <a:rPr lang="en-US" altLang="ko-KR" sz="812" dirty="0"/>
                <a:t>RTS </a:t>
              </a:r>
              <a:r>
                <a:rPr lang="ko-KR" altLang="en-US" sz="812" dirty="0" err="1"/>
                <a:t>유지시간</a:t>
              </a:r>
              <a:r>
                <a:rPr lang="ko-KR" altLang="en-US" sz="812" dirty="0"/>
                <a:t> 조건</a:t>
              </a:r>
              <a:endParaRPr lang="en-US" altLang="ko-KR" sz="812" dirty="0"/>
            </a:p>
            <a:p>
              <a:r>
                <a:rPr lang="en-US" altLang="ko-KR" sz="812" dirty="0"/>
                <a:t> - </a:t>
              </a:r>
              <a:r>
                <a:rPr lang="en-US" altLang="ko-KR" sz="812" dirty="0" err="1"/>
                <a:t>Capactior</a:t>
              </a:r>
              <a:r>
                <a:rPr lang="en-US" altLang="ko-KR" sz="812" dirty="0"/>
                <a:t> </a:t>
              </a:r>
              <a:r>
                <a:rPr lang="ko-KR" altLang="en-US" sz="812" dirty="0"/>
                <a:t>와</a:t>
              </a:r>
              <a:r>
                <a:rPr lang="en-US" altLang="ko-KR" sz="812" dirty="0"/>
                <a:t> </a:t>
              </a:r>
              <a:r>
                <a:rPr lang="ko-KR" altLang="en-US" sz="812" dirty="0" err="1"/>
                <a:t>저항값에</a:t>
              </a:r>
              <a:r>
                <a:rPr lang="ko-KR" altLang="en-US" sz="812" dirty="0"/>
                <a:t> 조합으로 </a:t>
              </a:r>
              <a:r>
                <a:rPr lang="en-US" altLang="ko-KR" sz="812" dirty="0"/>
                <a:t>RTS </a:t>
              </a:r>
              <a:r>
                <a:rPr lang="ko-KR" altLang="en-US" sz="812" dirty="0"/>
                <a:t>유지</a:t>
              </a:r>
              <a:r>
                <a:rPr lang="en-US" altLang="ko-KR" sz="812" dirty="0"/>
                <a:t> </a:t>
              </a:r>
              <a:r>
                <a:rPr lang="ko-KR" altLang="en-US" sz="812" dirty="0"/>
                <a:t>시간이 결정된다</a:t>
              </a:r>
              <a:r>
                <a:rPr lang="en-US" altLang="ko-KR" sz="812" dirty="0"/>
                <a:t>. </a:t>
              </a:r>
              <a:endParaRPr lang="ko-KR" altLang="en-US" sz="812" dirty="0"/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7465235" y="3829930"/>
            <a:ext cx="2250076" cy="2068273"/>
            <a:chOff x="5602670" y="4067422"/>
            <a:chExt cx="2769768" cy="254597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02670" y="4390659"/>
              <a:ext cx="2769768" cy="2222738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6092678" y="4067422"/>
              <a:ext cx="1998748" cy="42132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sz="812" dirty="0"/>
                <a:t>74LS123 </a:t>
              </a:r>
              <a:r>
                <a:rPr lang="ko-KR" altLang="en-US" sz="812" dirty="0"/>
                <a:t> </a:t>
              </a:r>
              <a:r>
                <a:rPr lang="en-US" altLang="ko-KR" sz="812" dirty="0"/>
                <a:t>RTS </a:t>
              </a:r>
              <a:r>
                <a:rPr lang="ko-KR" altLang="en-US" sz="812" dirty="0" err="1"/>
                <a:t>조건표</a:t>
              </a:r>
              <a:r>
                <a:rPr lang="en-US" altLang="ko-KR" sz="812" dirty="0"/>
                <a:t>.</a:t>
              </a:r>
            </a:p>
            <a:p>
              <a:r>
                <a:rPr lang="en-US" altLang="ko-KR" sz="812" dirty="0"/>
                <a:t> - </a:t>
              </a:r>
              <a:r>
                <a:rPr lang="en-US" altLang="ko-KR" sz="812" dirty="0" err="1"/>
                <a:t>Capactior</a:t>
              </a:r>
              <a:r>
                <a:rPr lang="en-US" altLang="ko-KR" sz="812" dirty="0"/>
                <a:t> </a:t>
              </a:r>
              <a:r>
                <a:rPr lang="ko-KR" altLang="en-US" sz="812" dirty="0"/>
                <a:t>와</a:t>
              </a:r>
              <a:r>
                <a:rPr lang="en-US" altLang="ko-KR" sz="812" dirty="0"/>
                <a:t> </a:t>
              </a:r>
              <a:r>
                <a:rPr lang="ko-KR" altLang="en-US" sz="812" dirty="0" err="1"/>
                <a:t>저항값</a:t>
              </a:r>
              <a:r>
                <a:rPr lang="ko-KR" altLang="en-US" sz="812" dirty="0"/>
                <a:t> </a:t>
              </a:r>
              <a:r>
                <a:rPr lang="ko-KR" altLang="en-US" sz="812" dirty="0" err="1"/>
                <a:t>조건표</a:t>
              </a:r>
              <a:r>
                <a:rPr lang="en-US" altLang="ko-KR" sz="812" dirty="0"/>
                <a:t>. </a:t>
              </a:r>
              <a:endParaRPr lang="ko-KR" altLang="en-US" sz="812" dirty="0"/>
            </a:p>
          </p:txBody>
        </p:sp>
      </p:grpSp>
      <p:sp>
        <p:nvSpPr>
          <p:cNvPr id="27" name="오른쪽 화살표 26"/>
          <p:cNvSpPr/>
          <p:nvPr/>
        </p:nvSpPr>
        <p:spPr>
          <a:xfrm>
            <a:off x="7073183" y="4897619"/>
            <a:ext cx="469157" cy="3917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2"/>
          </a:p>
        </p:txBody>
      </p:sp>
    </p:spTree>
    <p:extLst>
      <p:ext uri="{BB962C8B-B14F-4D97-AF65-F5344CB8AC3E}">
        <p14:creationId xmlns:p14="http://schemas.microsoft.com/office/powerpoint/2010/main" val="2464443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297132" y="931914"/>
            <a:ext cx="5311241" cy="342635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62" dirty="0">
                <a:solidFill>
                  <a:schemeClr val="tx1"/>
                </a:solidFill>
              </a:rPr>
              <a:t>DTS</a:t>
            </a:r>
            <a:r>
              <a:rPr lang="ko-KR" altLang="en-US" sz="1462" dirty="0" err="1">
                <a:solidFill>
                  <a:schemeClr val="tx1"/>
                </a:solidFill>
              </a:rPr>
              <a:t>덴버</a:t>
            </a:r>
            <a:r>
              <a:rPr lang="ko-KR" altLang="en-US" sz="1462" dirty="0">
                <a:solidFill>
                  <a:schemeClr val="tx1"/>
                </a:solidFill>
              </a:rPr>
              <a:t> </a:t>
            </a:r>
            <a:r>
              <a:rPr lang="en-US" altLang="ko-KR" sz="1462" dirty="0">
                <a:solidFill>
                  <a:schemeClr val="tx1"/>
                </a:solidFill>
              </a:rPr>
              <a:t>CCP CONTROL</a:t>
            </a:r>
            <a:r>
              <a:rPr lang="ko-KR" altLang="en-US" sz="1462" dirty="0">
                <a:solidFill>
                  <a:schemeClr val="tx1"/>
                </a:solidFill>
              </a:rPr>
              <a:t>보드 </a:t>
            </a:r>
            <a:r>
              <a:rPr lang="en-US" altLang="ko-KR" sz="1462" dirty="0">
                <a:solidFill>
                  <a:schemeClr val="tx1"/>
                </a:solidFill>
              </a:rPr>
              <a:t>RS485</a:t>
            </a:r>
            <a:r>
              <a:rPr lang="ko-KR" altLang="en-US" sz="1462" dirty="0" err="1">
                <a:solidFill>
                  <a:schemeClr val="tx1"/>
                </a:solidFill>
              </a:rPr>
              <a:t>통신불량</a:t>
            </a:r>
            <a:r>
              <a:rPr lang="ko-KR" altLang="en-US" sz="1462" dirty="0">
                <a:solidFill>
                  <a:schemeClr val="tx1"/>
                </a:solidFill>
              </a:rPr>
              <a:t> 시험 내용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233461" y="1456961"/>
            <a:ext cx="4060809" cy="4676297"/>
          </a:xfrm>
          <a:prstGeom prst="roundRect">
            <a:avLst>
              <a:gd name="adj" fmla="val 464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2"/>
          </a:p>
        </p:txBody>
      </p:sp>
      <p:sp>
        <p:nvSpPr>
          <p:cNvPr id="11" name="TextBox 10"/>
          <p:cNvSpPr txBox="1"/>
          <p:nvPr/>
        </p:nvSpPr>
        <p:spPr>
          <a:xfrm>
            <a:off x="297132" y="3570084"/>
            <a:ext cx="1089485" cy="24237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975" dirty="0"/>
              <a:t>시험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609" y="3801992"/>
            <a:ext cx="3812020" cy="1779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15" indent="-1857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12" dirty="0" err="1"/>
              <a:t>가변저항</a:t>
            </a:r>
            <a:r>
              <a:rPr lang="ko-KR" altLang="en-US" sz="812" dirty="0"/>
              <a:t> </a:t>
            </a:r>
            <a:r>
              <a:rPr lang="en-US" altLang="ko-KR" sz="812" dirty="0"/>
              <a:t>3.5K</a:t>
            </a:r>
            <a:r>
              <a:rPr lang="el-GR" altLang="ko-KR" sz="812" dirty="0"/>
              <a:t>Ω</a:t>
            </a:r>
            <a:r>
              <a:rPr lang="en-US" altLang="ko-KR" sz="812" dirty="0"/>
              <a:t> </a:t>
            </a:r>
            <a:r>
              <a:rPr lang="ko-KR" altLang="en-US" sz="812" dirty="0"/>
              <a:t>시험 결과</a:t>
            </a:r>
            <a:r>
              <a:rPr lang="en-US" altLang="ko-KR" sz="812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812" dirty="0"/>
              <a:t>      -&gt; </a:t>
            </a:r>
            <a:r>
              <a:rPr lang="ko-KR" altLang="en-US" sz="812" dirty="0"/>
              <a:t>약 </a:t>
            </a:r>
            <a:r>
              <a:rPr lang="en-US" altLang="ko-KR" sz="812" dirty="0"/>
              <a:t>670us </a:t>
            </a:r>
          </a:p>
          <a:p>
            <a:pPr marL="185715" indent="-1857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12" dirty="0" err="1"/>
              <a:t>가변저항</a:t>
            </a:r>
            <a:r>
              <a:rPr lang="ko-KR" altLang="en-US" sz="812" dirty="0"/>
              <a:t> </a:t>
            </a:r>
            <a:r>
              <a:rPr lang="en-US" altLang="ko-KR" sz="812" dirty="0"/>
              <a:t>10K</a:t>
            </a:r>
            <a:r>
              <a:rPr lang="el-GR" altLang="ko-KR" sz="812" dirty="0"/>
              <a:t>Ω</a:t>
            </a:r>
            <a:r>
              <a:rPr lang="en-US" altLang="ko-KR" sz="812" dirty="0"/>
              <a:t> </a:t>
            </a:r>
            <a:r>
              <a:rPr lang="ko-KR" altLang="en-US" sz="812" dirty="0"/>
              <a:t>시험 결과</a:t>
            </a:r>
            <a:r>
              <a:rPr lang="en-US" altLang="ko-KR" sz="812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812" dirty="0"/>
              <a:t>      -&gt; </a:t>
            </a:r>
            <a:r>
              <a:rPr lang="ko-KR" altLang="en-US" sz="812" dirty="0"/>
              <a:t>약 </a:t>
            </a:r>
            <a:r>
              <a:rPr lang="en-US" altLang="ko-KR" sz="812" dirty="0"/>
              <a:t>1.7ms</a:t>
            </a:r>
          </a:p>
          <a:p>
            <a:pPr>
              <a:lnSpc>
                <a:spcPct val="150000"/>
              </a:lnSpc>
            </a:pPr>
            <a:endParaRPr lang="en-US" altLang="ko-KR" sz="812" dirty="0"/>
          </a:p>
          <a:p>
            <a:pPr marL="139286" indent="-13928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12" dirty="0"/>
              <a:t>데이터 시트 내용과 시험 결과</a:t>
            </a:r>
            <a:endParaRPr lang="en-US" altLang="ko-KR" sz="812" dirty="0"/>
          </a:p>
          <a:p>
            <a:pPr>
              <a:lnSpc>
                <a:spcPct val="150000"/>
              </a:lnSpc>
            </a:pPr>
            <a:r>
              <a:rPr lang="ko-KR" altLang="en-US" sz="812" dirty="0"/>
              <a:t>과 그래프가 동일하게 반응함</a:t>
            </a:r>
            <a:r>
              <a:rPr lang="en-US" altLang="ko-KR" sz="812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12" dirty="0"/>
              <a:t>따라서 가변 저항을 </a:t>
            </a:r>
            <a:r>
              <a:rPr lang="en-US" altLang="ko-KR" sz="812" dirty="0"/>
              <a:t>10K</a:t>
            </a:r>
            <a:r>
              <a:rPr lang="el-GR" altLang="ko-KR" sz="812" dirty="0"/>
              <a:t>Ω</a:t>
            </a:r>
            <a:r>
              <a:rPr lang="en-US" altLang="ko-KR" sz="812" dirty="0"/>
              <a:t> </a:t>
            </a:r>
            <a:r>
              <a:rPr lang="ko-KR" altLang="en-US" sz="812" dirty="0"/>
              <a:t>변경</a:t>
            </a:r>
            <a:endParaRPr lang="en-US" altLang="ko-KR" sz="812" dirty="0"/>
          </a:p>
          <a:p>
            <a:pPr>
              <a:lnSpc>
                <a:spcPct val="150000"/>
              </a:lnSpc>
            </a:pPr>
            <a:r>
              <a:rPr lang="ko-KR" altLang="en-US" sz="812" dirty="0"/>
              <a:t>하고자 함</a:t>
            </a:r>
            <a:r>
              <a:rPr lang="en-US" altLang="ko-KR" sz="812" dirty="0"/>
              <a:t>.</a:t>
            </a:r>
          </a:p>
        </p:txBody>
      </p:sp>
      <p:grpSp>
        <p:nvGrpSpPr>
          <p:cNvPr id="42" name="그룹 41"/>
          <p:cNvGrpSpPr/>
          <p:nvPr/>
        </p:nvGrpSpPr>
        <p:grpSpPr>
          <a:xfrm>
            <a:off x="335414" y="2392696"/>
            <a:ext cx="3719525" cy="1186439"/>
            <a:chOff x="412883" y="2511503"/>
            <a:chExt cx="4578611" cy="1460467"/>
          </a:xfrm>
        </p:grpSpPr>
        <p:sp>
          <p:nvSpPr>
            <p:cNvPr id="5" name="직사각형 4"/>
            <p:cNvSpPr/>
            <p:nvPr/>
          </p:nvSpPr>
          <p:spPr>
            <a:xfrm>
              <a:off x="454550" y="2935307"/>
              <a:ext cx="4536944" cy="1036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812" dirty="0">
                  <a:solidFill>
                    <a:srgbClr val="0000FF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TX(CCP2) : 01 32 31 31 32 31 44 31 30 30 30 30 34 30 30 30 30 34 30 </a:t>
              </a:r>
            </a:p>
            <a:p>
              <a:r>
                <a:rPr lang="en-US" altLang="ko-KR" sz="812" dirty="0">
                  <a:solidFill>
                    <a:srgbClr val="0000FF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     30 35 32 32 32 44 04</a:t>
              </a:r>
            </a:p>
            <a:p>
              <a:endParaRPr lang="en-US" altLang="ko-KR" sz="812" dirty="0">
                <a:solidFill>
                  <a:srgbClr val="0000FF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r>
                <a:rPr lang="en-US" altLang="ko-KR" sz="812" dirty="0"/>
                <a:t>TX(CCP1) : 01 32 31 31 31 33 39 31 30 30 30 30 34 30 30 30 30 34 30 30 </a:t>
              </a:r>
            </a:p>
            <a:p>
              <a:r>
                <a:rPr lang="en-US" altLang="ko-KR" sz="812" dirty="0"/>
                <a:t>      35 42 38 46 45 04</a:t>
              </a:r>
              <a:endParaRPr lang="en-US" altLang="ko-KR" sz="812" dirty="0">
                <a:solidFill>
                  <a:srgbClr val="0000FF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endParaRPr lang="ko-KR" altLang="en-US" sz="812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12883" y="2511503"/>
              <a:ext cx="1237618" cy="483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75" dirty="0"/>
                <a:t>485 </a:t>
              </a:r>
              <a:r>
                <a:rPr lang="ko-KR" altLang="en-US" sz="975" dirty="0"/>
                <a:t>통신 규격</a:t>
              </a:r>
              <a:r>
                <a:rPr lang="en-US" altLang="ko-KR" sz="975" dirty="0"/>
                <a:t>.</a:t>
              </a:r>
            </a:p>
            <a:p>
              <a:r>
                <a:rPr lang="en-US" altLang="ko-KR" sz="975" dirty="0"/>
                <a:t>1) 19200</a:t>
              </a:r>
              <a:endParaRPr lang="ko-KR" altLang="en-US" sz="975" dirty="0"/>
            </a:p>
          </p:txBody>
        </p:sp>
      </p:grpSp>
      <p:grpSp>
        <p:nvGrpSpPr>
          <p:cNvPr id="68" name="그룹 67"/>
          <p:cNvGrpSpPr/>
          <p:nvPr/>
        </p:nvGrpSpPr>
        <p:grpSpPr>
          <a:xfrm>
            <a:off x="4577737" y="3983853"/>
            <a:ext cx="5088228" cy="1917619"/>
            <a:chOff x="5635041" y="4112005"/>
            <a:chExt cx="6263438" cy="2360525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63577" y="4271353"/>
              <a:ext cx="2934902" cy="2201177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35041" y="4295007"/>
              <a:ext cx="2902617" cy="2176963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6203170" y="4112006"/>
              <a:ext cx="1131081" cy="26749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812" dirty="0" err="1"/>
                <a:t>가변저항</a:t>
              </a:r>
              <a:r>
                <a:rPr lang="ko-KR" altLang="en-US" sz="812" dirty="0"/>
                <a:t> </a:t>
              </a:r>
              <a:r>
                <a:rPr lang="en-US" altLang="ko-KR" sz="812" dirty="0"/>
                <a:t>3.5K</a:t>
              </a:r>
              <a:r>
                <a:rPr lang="el-GR" altLang="ko-KR" sz="812" dirty="0"/>
                <a:t>Ω</a:t>
              </a:r>
              <a:endParaRPr lang="ko-KR" altLang="en-US" sz="812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789155" y="4112005"/>
              <a:ext cx="1140783" cy="26749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812" dirty="0" err="1"/>
                <a:t>가변저항</a:t>
              </a:r>
              <a:r>
                <a:rPr lang="ko-KR" altLang="en-US" sz="812" dirty="0"/>
                <a:t> </a:t>
              </a:r>
              <a:r>
                <a:rPr lang="en-US" altLang="ko-KR" sz="812" dirty="0"/>
                <a:t>10 K</a:t>
              </a:r>
              <a:r>
                <a:rPr lang="el-GR" altLang="ko-KR" sz="812" dirty="0"/>
                <a:t>Ω</a:t>
              </a:r>
              <a:endParaRPr lang="ko-KR" altLang="en-US" sz="812" dirty="0"/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4430072" y="1675101"/>
            <a:ext cx="3371612" cy="2006473"/>
            <a:chOff x="6584682" y="1351271"/>
            <a:chExt cx="4150342" cy="2469901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86042" y="1842599"/>
              <a:ext cx="2638097" cy="1978573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8111981" y="1598605"/>
              <a:ext cx="1558654" cy="26749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sz="812" dirty="0"/>
                <a:t>CCP </a:t>
              </a:r>
              <a:r>
                <a:rPr lang="ko-KR" altLang="en-US" sz="812" dirty="0"/>
                <a:t>통신</a:t>
              </a:r>
              <a:r>
                <a:rPr lang="en-US" altLang="ko-KR" sz="812" dirty="0"/>
                <a:t> </a:t>
              </a:r>
              <a:r>
                <a:rPr lang="ko-KR" altLang="en-US" sz="812" dirty="0"/>
                <a:t>시험 세트</a:t>
              </a:r>
            </a:p>
          </p:txBody>
        </p:sp>
        <p:sp>
          <p:nvSpPr>
            <p:cNvPr id="30" name="타원 29"/>
            <p:cNvSpPr/>
            <p:nvPr/>
          </p:nvSpPr>
          <p:spPr>
            <a:xfrm>
              <a:off x="7855306" y="2975351"/>
              <a:ext cx="189057" cy="20854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2"/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>
              <a:off x="7332537" y="1721715"/>
              <a:ext cx="511300" cy="130376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6584682" y="1413303"/>
              <a:ext cx="1076688" cy="42132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sz="812" dirty="0"/>
                <a:t>10K</a:t>
              </a:r>
              <a:r>
                <a:rPr lang="el-GR" altLang="ko-KR" sz="812" dirty="0"/>
                <a:t>Ω</a:t>
              </a:r>
              <a:r>
                <a:rPr lang="en-US" altLang="ko-KR" sz="812" dirty="0"/>
                <a:t> </a:t>
              </a:r>
              <a:r>
                <a:rPr lang="ko-KR" altLang="en-US" sz="812" dirty="0" err="1"/>
                <a:t>가변저항</a:t>
              </a:r>
              <a:endParaRPr lang="ko-KR" altLang="en-US" sz="812" dirty="0"/>
            </a:p>
          </p:txBody>
        </p:sp>
        <p:sp>
          <p:nvSpPr>
            <p:cNvPr id="37" name="타원 36"/>
            <p:cNvSpPr/>
            <p:nvPr/>
          </p:nvSpPr>
          <p:spPr>
            <a:xfrm>
              <a:off x="9829668" y="2243177"/>
              <a:ext cx="378779" cy="4434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2"/>
            </a:p>
          </p:txBody>
        </p:sp>
        <p:cxnSp>
          <p:nvCxnSpPr>
            <p:cNvPr id="38" name="직선 화살표 연결선 37"/>
            <p:cNvCxnSpPr>
              <a:stCxn id="40" idx="2"/>
              <a:endCxn id="37" idx="7"/>
            </p:cNvCxnSpPr>
            <p:nvPr/>
          </p:nvCxnSpPr>
          <p:spPr>
            <a:xfrm flipH="1">
              <a:off x="10152976" y="1618765"/>
              <a:ext cx="278804" cy="68935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10128537" y="1351271"/>
              <a:ext cx="606487" cy="26749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812" dirty="0"/>
                <a:t>노트북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335414" y="1523216"/>
            <a:ext cx="3812020" cy="102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12" dirty="0"/>
              <a:t> </a:t>
            </a:r>
            <a:r>
              <a:rPr lang="ko-KR" altLang="en-US" sz="812" dirty="0"/>
              <a:t>덴버 </a:t>
            </a:r>
            <a:r>
              <a:rPr lang="en-US" altLang="ko-KR" sz="812" dirty="0"/>
              <a:t>CCP PCB 485 </a:t>
            </a:r>
            <a:r>
              <a:rPr lang="ko-KR" altLang="en-US" sz="812" dirty="0"/>
              <a:t>통신 </a:t>
            </a:r>
            <a:r>
              <a:rPr lang="en-US" altLang="ko-KR" sz="812" dirty="0"/>
              <a:t>RTS </a:t>
            </a:r>
            <a:r>
              <a:rPr lang="ko-KR" altLang="en-US" sz="812" dirty="0"/>
              <a:t>제어 </a:t>
            </a:r>
            <a:r>
              <a:rPr lang="ko-KR" altLang="en-US" sz="812" dirty="0" err="1"/>
              <a:t>로직</a:t>
            </a:r>
            <a:r>
              <a:rPr lang="ko-KR" altLang="en-US" sz="812" dirty="0"/>
              <a:t> 시험</a:t>
            </a:r>
            <a:r>
              <a:rPr lang="en-US" altLang="ko-KR" sz="812" dirty="0"/>
              <a:t>.</a:t>
            </a:r>
          </a:p>
          <a:p>
            <a:pPr marL="139286" indent="-139286">
              <a:lnSpc>
                <a:spcPct val="150000"/>
              </a:lnSpc>
              <a:buFontTx/>
              <a:buChar char="-"/>
            </a:pPr>
            <a:r>
              <a:rPr lang="en-US" altLang="ko-KR" sz="812" dirty="0"/>
              <a:t>CCP PCB </a:t>
            </a:r>
            <a:r>
              <a:rPr lang="en-US" altLang="ko-KR" sz="812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R298</a:t>
            </a:r>
            <a:r>
              <a:rPr lang="ko-KR" altLang="en-US" sz="812" dirty="0"/>
              <a:t>번 가변 저항을 </a:t>
            </a:r>
            <a:r>
              <a:rPr lang="ko-KR" altLang="en-US" sz="812" dirty="0" err="1"/>
              <a:t>연결후</a:t>
            </a:r>
            <a:r>
              <a:rPr lang="ko-KR" altLang="en-US" sz="812" dirty="0"/>
              <a:t> </a:t>
            </a:r>
            <a:r>
              <a:rPr lang="en-US" altLang="ko-KR" sz="812" dirty="0"/>
              <a:t>, </a:t>
            </a:r>
            <a:r>
              <a:rPr lang="ko-KR" altLang="en-US" sz="812" dirty="0"/>
              <a:t>저항 변경에 따른 </a:t>
            </a:r>
            <a:r>
              <a:rPr lang="en-US" altLang="ko-KR" sz="812" dirty="0"/>
              <a:t>RTS </a:t>
            </a:r>
            <a:r>
              <a:rPr lang="ko-KR" altLang="en-US" sz="812" dirty="0"/>
              <a:t>제어</a:t>
            </a:r>
            <a:r>
              <a:rPr lang="en-US" altLang="ko-KR" sz="812" dirty="0"/>
              <a:t> </a:t>
            </a:r>
            <a:r>
              <a:rPr lang="ko-KR" altLang="en-US" sz="812" dirty="0"/>
              <a:t>타임을  확인 하였다</a:t>
            </a:r>
            <a:r>
              <a:rPr lang="en-US" altLang="ko-KR" sz="812" dirty="0"/>
              <a:t>.</a:t>
            </a:r>
          </a:p>
          <a:p>
            <a:pPr marL="139286" indent="-139286">
              <a:lnSpc>
                <a:spcPct val="150000"/>
              </a:lnSpc>
              <a:buFontTx/>
              <a:buChar char="-"/>
            </a:pPr>
            <a:r>
              <a:rPr lang="ko-KR" altLang="en-US" sz="812" dirty="0"/>
              <a:t>노트북에서 </a:t>
            </a:r>
            <a:r>
              <a:rPr lang="en-US" altLang="ko-KR" sz="812" dirty="0"/>
              <a:t>CCP </a:t>
            </a:r>
            <a:r>
              <a:rPr lang="ko-KR" altLang="en-US" sz="812" dirty="0"/>
              <a:t>프로토콜을 전송하여</a:t>
            </a:r>
            <a:r>
              <a:rPr lang="en-US" altLang="ko-KR" sz="812" dirty="0"/>
              <a:t>, </a:t>
            </a:r>
            <a:r>
              <a:rPr lang="ko-KR" altLang="en-US" sz="812" dirty="0"/>
              <a:t>응답 신호를 확인 하였다</a:t>
            </a:r>
            <a:r>
              <a:rPr lang="en-US" altLang="ko-KR" sz="812" dirty="0"/>
              <a:t>.</a:t>
            </a:r>
          </a:p>
          <a:p>
            <a:pPr marL="139286" indent="-139286">
              <a:lnSpc>
                <a:spcPct val="150000"/>
              </a:lnSpc>
              <a:buFontTx/>
              <a:buChar char="-"/>
            </a:pPr>
            <a:endParaRPr lang="en-US" altLang="ko-KR" sz="812" dirty="0"/>
          </a:p>
        </p:txBody>
      </p:sp>
      <p:grpSp>
        <p:nvGrpSpPr>
          <p:cNvPr id="69" name="그룹 68"/>
          <p:cNvGrpSpPr/>
          <p:nvPr/>
        </p:nvGrpSpPr>
        <p:grpSpPr>
          <a:xfrm>
            <a:off x="1988286" y="3744489"/>
            <a:ext cx="2250076" cy="2068273"/>
            <a:chOff x="2447514" y="3817356"/>
            <a:chExt cx="2769768" cy="2545975"/>
          </a:xfrm>
        </p:grpSpPr>
        <p:grpSp>
          <p:nvGrpSpPr>
            <p:cNvPr id="45" name="그룹 44"/>
            <p:cNvGrpSpPr/>
            <p:nvPr/>
          </p:nvGrpSpPr>
          <p:grpSpPr>
            <a:xfrm>
              <a:off x="2447514" y="3817356"/>
              <a:ext cx="2769768" cy="2545975"/>
              <a:chOff x="5602670" y="4067422"/>
              <a:chExt cx="2769768" cy="2545975"/>
            </a:xfrm>
          </p:grpSpPr>
          <p:pic>
            <p:nvPicPr>
              <p:cNvPr id="46" name="그림 4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602670" y="4390659"/>
                <a:ext cx="2769768" cy="2222738"/>
              </a:xfrm>
              <a:prstGeom prst="rect">
                <a:avLst/>
              </a:prstGeom>
            </p:spPr>
          </p:pic>
          <p:sp>
            <p:nvSpPr>
              <p:cNvPr id="47" name="TextBox 46"/>
              <p:cNvSpPr txBox="1"/>
              <p:nvPr/>
            </p:nvSpPr>
            <p:spPr>
              <a:xfrm>
                <a:off x="6092678" y="4067422"/>
                <a:ext cx="1998748" cy="42132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ko-KR" sz="812" dirty="0"/>
                  <a:t>74LS123 </a:t>
                </a:r>
                <a:r>
                  <a:rPr lang="ko-KR" altLang="en-US" sz="812" dirty="0"/>
                  <a:t> </a:t>
                </a:r>
                <a:r>
                  <a:rPr lang="en-US" altLang="ko-KR" sz="812" dirty="0"/>
                  <a:t>RTS </a:t>
                </a:r>
                <a:r>
                  <a:rPr lang="ko-KR" altLang="en-US" sz="812" dirty="0" err="1"/>
                  <a:t>조건표</a:t>
                </a:r>
                <a:r>
                  <a:rPr lang="en-US" altLang="ko-KR" sz="812" dirty="0"/>
                  <a:t>.</a:t>
                </a:r>
              </a:p>
              <a:p>
                <a:r>
                  <a:rPr lang="en-US" altLang="ko-KR" sz="812" dirty="0"/>
                  <a:t> - </a:t>
                </a:r>
                <a:r>
                  <a:rPr lang="en-US" altLang="ko-KR" sz="812" dirty="0" err="1"/>
                  <a:t>Capactior</a:t>
                </a:r>
                <a:r>
                  <a:rPr lang="en-US" altLang="ko-KR" sz="812" dirty="0"/>
                  <a:t> </a:t>
                </a:r>
                <a:r>
                  <a:rPr lang="ko-KR" altLang="en-US" sz="812" dirty="0"/>
                  <a:t>와</a:t>
                </a:r>
                <a:r>
                  <a:rPr lang="en-US" altLang="ko-KR" sz="812" dirty="0"/>
                  <a:t> </a:t>
                </a:r>
                <a:r>
                  <a:rPr lang="ko-KR" altLang="en-US" sz="812" dirty="0" err="1"/>
                  <a:t>저항값</a:t>
                </a:r>
                <a:r>
                  <a:rPr lang="ko-KR" altLang="en-US" sz="812" dirty="0"/>
                  <a:t> </a:t>
                </a:r>
                <a:r>
                  <a:rPr lang="ko-KR" altLang="en-US" sz="812" dirty="0" err="1"/>
                  <a:t>조건표</a:t>
                </a:r>
                <a:r>
                  <a:rPr lang="en-US" altLang="ko-KR" sz="812" dirty="0"/>
                  <a:t>. </a:t>
                </a:r>
                <a:endParaRPr lang="ko-KR" altLang="en-US" sz="812" dirty="0"/>
              </a:p>
            </p:txBody>
          </p:sp>
        </p:grpSp>
        <p:cxnSp>
          <p:nvCxnSpPr>
            <p:cNvPr id="49" name="직선 연결선 48"/>
            <p:cNvCxnSpPr/>
            <p:nvPr/>
          </p:nvCxnSpPr>
          <p:spPr>
            <a:xfrm flipV="1">
              <a:off x="4802085" y="4271354"/>
              <a:ext cx="3278" cy="179048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 flipH="1" flipV="1">
              <a:off x="2723022" y="5029198"/>
              <a:ext cx="2453816" cy="952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타원 52"/>
            <p:cNvSpPr/>
            <p:nvPr/>
          </p:nvSpPr>
          <p:spPr>
            <a:xfrm>
              <a:off x="4743451" y="4957761"/>
              <a:ext cx="114300" cy="1897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2"/>
            </a:p>
          </p:txBody>
        </p:sp>
        <p:cxnSp>
          <p:nvCxnSpPr>
            <p:cNvPr id="55" name="직선 화살표 연결선 54"/>
            <p:cNvCxnSpPr/>
            <p:nvPr/>
          </p:nvCxnSpPr>
          <p:spPr>
            <a:xfrm>
              <a:off x="2639498" y="4061240"/>
              <a:ext cx="546615" cy="9679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그룹 66"/>
          <p:cNvGrpSpPr/>
          <p:nvPr/>
        </p:nvGrpSpPr>
        <p:grpSpPr>
          <a:xfrm>
            <a:off x="8053590" y="1663435"/>
            <a:ext cx="1525854" cy="2018138"/>
            <a:chOff x="9913699" y="1255649"/>
            <a:chExt cx="1878275" cy="2484260"/>
          </a:xfrm>
        </p:grpSpPr>
        <p:grpSp>
          <p:nvGrpSpPr>
            <p:cNvPr id="62" name="그룹 61"/>
            <p:cNvGrpSpPr/>
            <p:nvPr/>
          </p:nvGrpSpPr>
          <p:grpSpPr>
            <a:xfrm>
              <a:off x="9913699" y="1255649"/>
              <a:ext cx="1878275" cy="2484260"/>
              <a:chOff x="9850214" y="1255649"/>
              <a:chExt cx="1878275" cy="2484260"/>
            </a:xfrm>
          </p:grpSpPr>
          <p:pic>
            <p:nvPicPr>
              <p:cNvPr id="57" name="그림 5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6200000">
                <a:off x="9658965" y="1670385"/>
                <a:ext cx="2260773" cy="1878275"/>
              </a:xfrm>
              <a:prstGeom prst="rect">
                <a:avLst/>
              </a:prstGeom>
            </p:spPr>
          </p:pic>
          <p:sp>
            <p:nvSpPr>
              <p:cNvPr id="61" name="TextBox 60"/>
              <p:cNvSpPr txBox="1"/>
              <p:nvPr/>
            </p:nvSpPr>
            <p:spPr>
              <a:xfrm>
                <a:off x="10461100" y="1255649"/>
                <a:ext cx="735685" cy="26749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ko-KR" sz="812" dirty="0"/>
                  <a:t>CCP PCB</a:t>
                </a:r>
                <a:endParaRPr lang="ko-KR" altLang="en-US" sz="812" dirty="0"/>
              </a:p>
            </p:txBody>
          </p:sp>
        </p:grpSp>
        <p:sp>
          <p:nvSpPr>
            <p:cNvPr id="65" name="타원 64"/>
            <p:cNvSpPr/>
            <p:nvPr/>
          </p:nvSpPr>
          <p:spPr>
            <a:xfrm>
              <a:off x="10929938" y="2944219"/>
              <a:ext cx="239378" cy="24414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2"/>
            </a:p>
          </p:txBody>
        </p:sp>
        <p:sp>
          <p:nvSpPr>
            <p:cNvPr id="66" name="아래쪽 화살표 65"/>
            <p:cNvSpPr/>
            <p:nvPr/>
          </p:nvSpPr>
          <p:spPr>
            <a:xfrm>
              <a:off x="10922879" y="2680123"/>
              <a:ext cx="243044" cy="264096"/>
            </a:xfrm>
            <a:prstGeom prst="down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2"/>
            </a:p>
          </p:txBody>
        </p:sp>
      </p:grpSp>
    </p:spTree>
    <p:extLst>
      <p:ext uri="{BB962C8B-B14F-4D97-AF65-F5344CB8AC3E}">
        <p14:creationId xmlns:p14="http://schemas.microsoft.com/office/powerpoint/2010/main" val="393253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787862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1589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MDS </a:t>
                      </a:r>
                      <a:r>
                        <a:rPr lang="ko-KR" altLang="en-US" sz="1800" b="1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고장 발생 조치 방안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 상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차량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운행중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MDS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고장이 다수 발생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( MDS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인터페이스 장치 전체 공통 사항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- 4061,4007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차량 고장내역 상세 분석 결과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4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가지 경우로 원인 분석됨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CBA Change </a:t>
                      </a:r>
                      <a:r>
                        <a:rPr lang="ko-KR" altLang="en-US" sz="1400" b="1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알고리즘 수정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altLang="ko-KR" sz="11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  <a:cs typeface="Verdana" pitchFamily="34" charset="0"/>
                        </a:rPr>
                        <a:t>: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  <a:cs typeface="Verdana" pitchFamily="34" charset="0"/>
                        </a:rPr>
                        <a:t>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  <a:cs typeface="Verdana" pitchFamily="34" charset="0"/>
                        </a:rPr>
                        <a:t>CAB Change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  <a:cs typeface="Verdana" pitchFamily="34" charset="0"/>
                        </a:rPr>
                        <a:t>변경에 따른 차량 중련 정보 확인을 위해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  <a:cs typeface="Verdana" pitchFamily="34" charset="0"/>
                        </a:rPr>
                        <a:t>“Inauguration” 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  <a:cs typeface="Verdana" pitchFamily="34" charset="0"/>
                        </a:rPr>
                        <a:t>동작을 실시 하는데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  <a:cs typeface="Verdana" pitchFamily="34" charset="0"/>
                        </a:rPr>
                        <a:t>, “Inauguration”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  <a:cs typeface="Verdana" pitchFamily="34" charset="0"/>
                        </a:rPr>
                        <a:t>동작 중에는 하부 장치 통신을 차단한다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  <a:cs typeface="Verdana" pitchFamily="34" charset="0"/>
                        </a:rPr>
                        <a:t>. </a:t>
                      </a: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ko-KR" altLang="en-US" sz="1000" b="1" dirty="0" smtClean="0">
                          <a:latin typeface="+mn-ea"/>
                          <a:ea typeface="+mn-ea"/>
                          <a:cs typeface="Verdana" pitchFamily="34" charset="0"/>
                        </a:rPr>
                        <a:t>따라서</a:t>
                      </a:r>
                      <a:r>
                        <a:rPr lang="en-US" altLang="ko-KR" sz="1000" b="1" dirty="0" smtClean="0">
                          <a:latin typeface="+mn-ea"/>
                          <a:ea typeface="+mn-ea"/>
                          <a:cs typeface="Verdana" pitchFamily="34" charset="0"/>
                        </a:rPr>
                        <a:t>, “Inauguration” </a:t>
                      </a:r>
                      <a:r>
                        <a:rPr lang="ko-KR" altLang="en-US" sz="1000" b="1" smtClean="0">
                          <a:latin typeface="+mn-ea"/>
                          <a:ea typeface="+mn-ea"/>
                          <a:cs typeface="Verdana" pitchFamily="34" charset="0"/>
                        </a:rPr>
                        <a:t>시작 부터 끝나는 시점 까지 </a:t>
                      </a:r>
                      <a:r>
                        <a:rPr lang="en-US" altLang="ko-KR" sz="1000" b="1" dirty="0" smtClean="0">
                          <a:latin typeface="+mn-ea"/>
                          <a:ea typeface="+mn-ea"/>
                          <a:cs typeface="Verdana" pitchFamily="34" charset="0"/>
                        </a:rPr>
                        <a:t>MDS </a:t>
                      </a:r>
                      <a:r>
                        <a:rPr lang="ko-KR" altLang="en-US" sz="1000" b="1" smtClean="0">
                          <a:latin typeface="+mn-ea"/>
                          <a:ea typeface="+mn-ea"/>
                          <a:cs typeface="Verdana" pitchFamily="34" charset="0"/>
                        </a:rPr>
                        <a:t>하부장치 통신 상태 체크 동작을 예외 처리 한다</a:t>
                      </a:r>
                      <a:r>
                        <a:rPr lang="en-US" altLang="ko-KR" sz="1000" b="1" dirty="0" smtClean="0">
                          <a:latin typeface="+mn-ea"/>
                          <a:ea typeface="+mn-ea"/>
                          <a:cs typeface="Verdana" pitchFamily="34" charset="0"/>
                        </a:rPr>
                        <a:t>.(</a:t>
                      </a:r>
                      <a:r>
                        <a:rPr lang="ko-KR" altLang="en-US" sz="800" b="1" smtClean="0">
                          <a:latin typeface="+mn-ea"/>
                          <a:ea typeface="+mn-ea"/>
                          <a:cs typeface="Verdana" pitchFamily="34" charset="0"/>
                        </a:rPr>
                        <a:t>그림에서 녹색 블록 타임 동안 하부장치 통신 데이터 체크를 예외 처리 한다</a:t>
                      </a:r>
                      <a:r>
                        <a:rPr lang="en-US" altLang="ko-KR" sz="1000" b="1" dirty="0" smtClean="0">
                          <a:latin typeface="+mn-ea"/>
                          <a:ea typeface="+mn-ea"/>
                          <a:cs typeface="Verdana" pitchFamily="34" charset="0"/>
                        </a:rPr>
                        <a:t>.)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100" b="0" kern="120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Windows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Reboot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just" defTabSz="742859" rtl="0" eaLnBrk="1" fontAlgn="base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baseline="0" dirty="0" smtClean="0">
                          <a:latin typeface="Verdana" pitchFamily="34" charset="0"/>
                          <a:cs typeface="Verdana" pitchFamily="34" charset="0"/>
                        </a:rPr>
                        <a:t>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: </a:t>
                      </a:r>
                      <a:r>
                        <a:rPr lang="ko-KR" altLang="en-US" sz="1000" b="0" kern="120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모든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COMM </a:t>
                      </a:r>
                      <a:r>
                        <a:rPr lang="ko-KR" altLang="en-US" sz="1000" b="0" kern="120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장치는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AM 02:00</a:t>
                      </a:r>
                      <a:r>
                        <a:rPr lang="ko-KR" altLang="en-US" sz="1000" b="0" kern="120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에  </a:t>
                      </a:r>
                      <a:r>
                        <a:rPr lang="en-US" altLang="ko-KR" sz="1000" b="0" dirty="0" smtClean="0">
                          <a:latin typeface="Verdana" pitchFamily="34" charset="0"/>
                          <a:cs typeface="Verdana" pitchFamily="34" charset="0"/>
                        </a:rPr>
                        <a:t>Content data Update</a:t>
                      </a:r>
                      <a:r>
                        <a:rPr lang="en-US" altLang="ko-KR" sz="1000" b="0" baseline="0" dirty="0" smtClean="0">
                          <a:latin typeface="Verdana" pitchFamily="34" charset="0"/>
                          <a:cs typeface="Verdana" pitchFamily="34" charset="0"/>
                        </a:rPr>
                        <a:t> </a:t>
                      </a:r>
                      <a:r>
                        <a:rPr lang="ko-KR" altLang="en-US" sz="1000" b="0" baseline="0" smtClean="0">
                          <a:latin typeface="Verdana" pitchFamily="34" charset="0"/>
                          <a:cs typeface="Verdana" pitchFamily="34" charset="0"/>
                        </a:rPr>
                        <a:t>체크</a:t>
                      </a:r>
                      <a:r>
                        <a:rPr lang="en-US" altLang="ko-KR" sz="1000" b="0" baseline="0" dirty="0" smtClean="0">
                          <a:latin typeface="Verdana" pitchFamily="34" charset="0"/>
                          <a:cs typeface="Verdana" pitchFamily="34" charset="0"/>
                        </a:rPr>
                        <a:t> </a:t>
                      </a:r>
                      <a:r>
                        <a:rPr lang="ko-KR" altLang="en-US" sz="1000" b="0" baseline="0" smtClean="0">
                          <a:latin typeface="Verdana" pitchFamily="34" charset="0"/>
                          <a:cs typeface="Verdana" pitchFamily="34" charset="0"/>
                        </a:rPr>
                        <a:t>및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CRA –CNCS  </a:t>
                      </a:r>
                      <a:r>
                        <a:rPr lang="ko-KR" altLang="en-US" sz="1000" b="0" kern="120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장치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Windows OS</a:t>
                      </a:r>
                      <a:r>
                        <a:rPr lang="ko-KR" altLang="en-US" sz="1000" b="0" kern="120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를  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Reboot </a:t>
                      </a:r>
                      <a:r>
                        <a:rPr lang="ko-KR" altLang="en-US" sz="1000" b="0" kern="120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한다</a:t>
                      </a:r>
                      <a:r>
                        <a:rPr lang="en-US" altLang="ko-KR" sz="1000" b="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.</a:t>
                      </a:r>
                    </a:p>
                    <a:p>
                      <a:pPr marL="0" marR="0" lvl="0" indent="0" algn="just" defTabSz="742859" rtl="0" eaLnBrk="1" fontAlgn="base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  <a:sym typeface="Wingdings"/>
                        </a:rPr>
                        <a:t>따라서 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  <a:sym typeface="Wingdings"/>
                        </a:rPr>
                        <a:t>AM 01 : 50 ~ 02 : 40 </a:t>
                      </a:r>
                      <a:r>
                        <a:rPr lang="ko-KR" altLang="en-US" sz="1000" b="1" kern="120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  <a:sym typeface="Wingdings"/>
                        </a:rPr>
                        <a:t>분 까지 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  <a:sym typeface="Wingdings"/>
                        </a:rPr>
                        <a:t>MDS </a:t>
                      </a:r>
                      <a:r>
                        <a:rPr lang="ko-KR" altLang="en-US" sz="1000" b="1" kern="120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  <a:sym typeface="Wingdings"/>
                        </a:rPr>
                        <a:t>하부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  <a:sym typeface="Wingdings"/>
                        </a:rPr>
                        <a:t> </a:t>
                      </a:r>
                      <a:r>
                        <a:rPr lang="ko-KR" altLang="en-US" sz="1000" b="1" kern="120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  <a:sym typeface="Wingdings"/>
                        </a:rPr>
                        <a:t>장치 통신 상태 체크 동작을 예외 처리 한다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  <a:sym typeface="Wingdings"/>
                        </a:rPr>
                        <a:t>.</a:t>
                      </a:r>
                      <a:r>
                        <a:rPr lang="en-US" altLang="ko-KR" sz="1000" b="1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  <a:sym typeface="Wingdings"/>
                        </a:rPr>
                        <a:t> 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  <a:sym typeface="Wingdings"/>
                        </a:rPr>
                        <a:t>(</a:t>
                      </a:r>
                      <a:r>
                        <a:rPr lang="ko-KR" altLang="en-US" sz="800" b="1" kern="120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  <a:sym typeface="Wingdings"/>
                        </a:rPr>
                        <a:t>그림에서 녹색 블록 타임 동안 하부장치 통신 데이터 체크를 예외 처리 한다</a:t>
                      </a:r>
                      <a:r>
                        <a:rPr lang="en-US" altLang="ko-KR" sz="1000" b="1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  <a:sym typeface="Wingdings"/>
                        </a:rPr>
                        <a:t>.)</a:t>
                      </a:r>
                    </a:p>
                    <a:p>
                      <a:pPr marL="0" marR="0" lvl="0" indent="0" algn="just" defTabSz="742859" rtl="0" eaLnBrk="1" fontAlgn="base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kern="1200" dirty="0" smtClean="0">
                        <a:solidFill>
                          <a:schemeClr val="dk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  <a:p>
                      <a:pPr marL="0" marR="0" lvl="0" indent="0" algn="just" defTabSz="742859" rtl="0" eaLnBrk="1" fontAlgn="base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kern="1200" dirty="0" smtClean="0">
                        <a:solidFill>
                          <a:schemeClr val="dk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: 2</a:t>
                      </a:r>
                      <a:r>
                        <a:rPr lang="ko-KR" altLang="en-US" sz="1100" b="0" kern="120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월말</a:t>
                      </a:r>
                      <a:r>
                        <a:rPr lang="ko-KR" altLang="en-US" sz="1100" b="0" kern="1200" baseline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 까지</a:t>
                      </a:r>
                      <a:r>
                        <a:rPr lang="ko-KR" altLang="en-US" sz="1100" b="0" kern="120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 현차 </a:t>
                      </a:r>
                      <a:r>
                        <a:rPr lang="en-US" altLang="ko-KR" sz="1100" b="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TEST</a:t>
                      </a:r>
                      <a:r>
                        <a:rPr lang="en-US" altLang="ko-KR" sz="1100" b="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 </a:t>
                      </a:r>
                      <a:r>
                        <a:rPr lang="ko-KR" altLang="en-US" sz="1100" b="0" kern="1200" baseline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및 적용 완료 예정</a:t>
                      </a:r>
                      <a:r>
                        <a:rPr lang="en-US" altLang="ko-KR" sz="1100" b="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.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37" name="그림 36" descr="cid:1327819786@ae26c748-d3b1-4312-9539-a2bece245903"/>
          <p:cNvPicPr/>
          <p:nvPr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7710" y="3852934"/>
            <a:ext cx="2880320" cy="14450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8" name="직사각형 37"/>
          <p:cNvSpPr/>
          <p:nvPr/>
        </p:nvSpPr>
        <p:spPr>
          <a:xfrm>
            <a:off x="116625" y="62765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문제점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3832" y="1820152"/>
            <a:ext cx="1997258" cy="13928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직사각형 8"/>
          <p:cNvSpPr/>
          <p:nvPr/>
        </p:nvSpPr>
        <p:spPr>
          <a:xfrm>
            <a:off x="199678" y="3167390"/>
            <a:ext cx="8483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400" b="1" dirty="0"/>
              <a:t>◈ 원 인</a:t>
            </a:r>
            <a:endParaRPr lang="en-US" altLang="ko-KR" sz="1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99678" y="5298018"/>
            <a:ext cx="439248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1000" dirty="0" smtClean="0"/>
              <a:t> 1) CAB </a:t>
            </a:r>
            <a:r>
              <a:rPr lang="en-US" altLang="ko-KR" sz="1000" dirty="0"/>
              <a:t>Change</a:t>
            </a:r>
            <a:r>
              <a:rPr lang="ko-KR" altLang="ko-KR" sz="1000"/>
              <a:t>에 따른 하부 장치 고장을 </a:t>
            </a:r>
            <a:r>
              <a:rPr lang="ko-KR" altLang="ko-KR" sz="1000" smtClean="0"/>
              <a:t>검</a:t>
            </a:r>
            <a:r>
              <a:rPr lang="ko-KR" altLang="en-US" sz="1000" smtClean="0"/>
              <a:t>지</a:t>
            </a:r>
            <a:r>
              <a:rPr lang="en-US" altLang="ko-KR" sz="1000" dirty="0"/>
              <a:t>.</a:t>
            </a:r>
            <a:r>
              <a:rPr lang="en-US" altLang="ko-KR" sz="1000" dirty="0" smtClean="0"/>
              <a:t> </a:t>
            </a:r>
          </a:p>
          <a:p>
            <a:pPr lvl="0"/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en-US" altLang="ko-KR" sz="1000" dirty="0" smtClean="0"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ym typeface="Wingdings" panose="05000000000000000000" pitchFamily="2" charset="2"/>
              </a:rPr>
              <a:t>우진산전 알고리즘 수정</a:t>
            </a:r>
            <a:r>
              <a:rPr lang="en-US" altLang="ko-KR" sz="1000" dirty="0" smtClean="0">
                <a:sym typeface="Wingdings" panose="05000000000000000000" pitchFamily="2" charset="2"/>
              </a:rPr>
              <a:t>.</a:t>
            </a:r>
            <a:endParaRPr lang="en-US" altLang="ko-KR" sz="1000" dirty="0" smtClean="0"/>
          </a:p>
          <a:p>
            <a:pPr lvl="0"/>
            <a:r>
              <a:rPr lang="en-US" altLang="ko-KR" sz="1000" dirty="0" smtClean="0"/>
              <a:t> 2) AM </a:t>
            </a:r>
            <a:r>
              <a:rPr lang="en-US" altLang="ko-KR" sz="1000" dirty="0"/>
              <a:t>02:00 </a:t>
            </a:r>
            <a:r>
              <a:rPr lang="ko-KR" altLang="ko-KR" sz="1000"/>
              <a:t>윈도우 리부팅 관련 </a:t>
            </a:r>
            <a:r>
              <a:rPr lang="en-US" altLang="ko-KR" sz="1000" dirty="0"/>
              <a:t>COMM</a:t>
            </a:r>
            <a:r>
              <a:rPr lang="ko-KR" altLang="ko-KR" sz="1000"/>
              <a:t>장치 고장 </a:t>
            </a:r>
            <a:r>
              <a:rPr lang="ko-KR" altLang="ko-KR" sz="1000" smtClean="0"/>
              <a:t>검지</a:t>
            </a:r>
            <a:r>
              <a:rPr lang="en-US" altLang="ko-KR" sz="1000" dirty="0" smtClean="0"/>
              <a:t>.</a:t>
            </a:r>
          </a:p>
          <a:p>
            <a:pPr lvl="0"/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en-US" altLang="ko-KR" sz="1000" dirty="0" smtClean="0"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ym typeface="Wingdings" panose="05000000000000000000" pitchFamily="2" charset="2"/>
              </a:rPr>
              <a:t>우진산전 알고리즘 수정</a:t>
            </a:r>
            <a:r>
              <a:rPr lang="en-US" altLang="ko-KR" sz="1000" dirty="0" smtClean="0">
                <a:sym typeface="Wingdings" panose="05000000000000000000" pitchFamily="2" charset="2"/>
              </a:rPr>
              <a:t>.</a:t>
            </a:r>
            <a:endParaRPr lang="en-US" altLang="ko-KR" sz="1000" dirty="0" smtClean="0"/>
          </a:p>
          <a:p>
            <a:pPr lvl="0"/>
            <a:r>
              <a:rPr lang="en-US" altLang="ko-KR" sz="1000" dirty="0" smtClean="0"/>
              <a:t> 3) C/I </a:t>
            </a:r>
            <a:r>
              <a:rPr lang="en-US" altLang="ko-KR" sz="1000" dirty="0"/>
              <a:t>Position </a:t>
            </a:r>
            <a:r>
              <a:rPr lang="ko-KR" altLang="en-US" sz="1000" smtClean="0"/>
              <a:t>정보 변경에 따른 </a:t>
            </a:r>
            <a:r>
              <a:rPr lang="ko-KR" altLang="ko-KR" sz="1000" smtClean="0"/>
              <a:t>고장 검지</a:t>
            </a:r>
            <a:r>
              <a:rPr lang="en-US" altLang="ko-KR" sz="1000" dirty="0" smtClean="0"/>
              <a:t> </a:t>
            </a:r>
          </a:p>
          <a:p>
            <a:pPr lvl="0"/>
            <a:r>
              <a:rPr lang="en-US" altLang="ko-KR" sz="1000" dirty="0">
                <a:sym typeface="Wingdings" panose="05000000000000000000" pitchFamily="2" charset="2"/>
              </a:rPr>
              <a:t> </a:t>
            </a:r>
            <a:r>
              <a:rPr lang="en-US" altLang="ko-KR" sz="1000" dirty="0" smtClean="0">
                <a:sym typeface="Wingdings" panose="05000000000000000000" pitchFamily="2" charset="2"/>
              </a:rPr>
              <a:t>   </a:t>
            </a:r>
            <a:r>
              <a:rPr lang="en-US" altLang="ko-KR" sz="1000" dirty="0" smtClean="0"/>
              <a:t> </a:t>
            </a:r>
            <a:r>
              <a:rPr lang="en-US" altLang="ko-KR" sz="1000" dirty="0">
                <a:solidFill>
                  <a:srgbClr val="FF0000"/>
                </a:solidFill>
              </a:rPr>
              <a:t>QT</a:t>
            </a:r>
            <a:r>
              <a:rPr lang="ko-KR" altLang="ko-KR" sz="1000">
                <a:solidFill>
                  <a:srgbClr val="FF0000"/>
                </a:solidFill>
              </a:rPr>
              <a:t>와 확인 필요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ko-KR" sz="1000">
              <a:solidFill>
                <a:srgbClr val="FF0000"/>
              </a:solidFill>
            </a:endParaRPr>
          </a:p>
          <a:p>
            <a:pPr lvl="0"/>
            <a:r>
              <a:rPr lang="en-US" altLang="ko-KR" sz="1000" dirty="0" smtClean="0"/>
              <a:t> 4) </a:t>
            </a:r>
            <a:r>
              <a:rPr lang="ko-KR" altLang="ko-KR" sz="1000" smtClean="0"/>
              <a:t>차량 </a:t>
            </a:r>
            <a:r>
              <a:rPr lang="ko-KR" altLang="ko-KR" sz="1000" dirty="0"/>
              <a:t>기지에서 </a:t>
            </a:r>
            <a:r>
              <a:rPr lang="en-US" altLang="ko-KR" sz="1000" dirty="0"/>
              <a:t>DC </a:t>
            </a:r>
            <a:r>
              <a:rPr lang="ko-KR" altLang="ko-KR" sz="1000"/>
              <a:t>파워 만 </a:t>
            </a:r>
            <a:r>
              <a:rPr lang="en-US" altLang="ko-KR" sz="1000" dirty="0"/>
              <a:t>ON </a:t>
            </a:r>
            <a:r>
              <a:rPr lang="ko-KR" altLang="ko-KR" sz="1000"/>
              <a:t>하고 작업시</a:t>
            </a:r>
            <a:r>
              <a:rPr lang="en-US" altLang="ko-KR" sz="1000" dirty="0"/>
              <a:t>, </a:t>
            </a:r>
            <a:r>
              <a:rPr lang="ko-KR" altLang="ko-KR" sz="1000"/>
              <a:t>하부 장치 고장 </a:t>
            </a:r>
            <a:r>
              <a:rPr lang="ko-KR" altLang="ko-KR" sz="1000" smtClean="0"/>
              <a:t>검지</a:t>
            </a:r>
            <a:r>
              <a:rPr lang="en-US" altLang="ko-KR" sz="1000" dirty="0" smtClean="0"/>
              <a:t>.</a:t>
            </a:r>
            <a:r>
              <a:rPr lang="ko-KR" altLang="ko-KR" sz="1000" smtClean="0"/>
              <a:t> </a:t>
            </a:r>
            <a:endParaRPr lang="en-US" altLang="ko-KR" sz="1000" dirty="0" smtClean="0"/>
          </a:p>
          <a:p>
            <a:pPr lvl="0"/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en-US" altLang="ko-KR" sz="1000" dirty="0" smtClean="0">
                <a:sym typeface="Wingdings" panose="05000000000000000000" pitchFamily="2" charset="2"/>
              </a:rPr>
              <a:t> </a:t>
            </a:r>
            <a:r>
              <a:rPr lang="en-US" altLang="ko-KR" sz="1000" dirty="0" smtClean="0">
                <a:solidFill>
                  <a:srgbClr val="FF0000"/>
                </a:solidFill>
              </a:rPr>
              <a:t>QT</a:t>
            </a:r>
            <a:r>
              <a:rPr lang="ko-KR" altLang="ko-KR" sz="1000">
                <a:solidFill>
                  <a:srgbClr val="FF0000"/>
                </a:solidFill>
              </a:rPr>
              <a:t>와 확인 필요</a:t>
            </a:r>
            <a:r>
              <a:rPr lang="en-US" altLang="ko-KR" sz="1000" dirty="0"/>
              <a:t>.</a:t>
            </a:r>
            <a:endParaRPr lang="ko-KR" altLang="ko-KR" sz="1000"/>
          </a:p>
          <a:p>
            <a:endParaRPr lang="ko-KR" alt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4681508" y="62765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개선대책</a:t>
            </a: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0278" y="2060848"/>
            <a:ext cx="3312368" cy="1314258"/>
          </a:xfrm>
          <a:prstGeom prst="rect">
            <a:avLst/>
          </a:prstGeom>
          <a:solidFill>
            <a:srgbClr val="F2B800"/>
          </a:solidFill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2286" y="4509120"/>
            <a:ext cx="3312368" cy="1156783"/>
          </a:xfrm>
          <a:prstGeom prst="rect">
            <a:avLst/>
          </a:prstGeom>
          <a:solidFill>
            <a:srgbClr val="F2B800"/>
          </a:solidFill>
        </p:spPr>
      </p:pic>
      <p:sp>
        <p:nvSpPr>
          <p:cNvPr id="14" name="직사각형 13"/>
          <p:cNvSpPr/>
          <p:nvPr/>
        </p:nvSpPr>
        <p:spPr>
          <a:xfrm>
            <a:off x="4681508" y="5517232"/>
            <a:ext cx="1420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lnSpc>
                <a:spcPct val="200000"/>
              </a:lnSpc>
              <a:defRPr/>
            </a:pPr>
            <a:r>
              <a:rPr lang="ko-KR" altLang="en-US" b="1" dirty="0"/>
              <a:t>◈ 추진계획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73379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435116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1589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INT/VOIP PCB </a:t>
                      </a:r>
                      <a:r>
                        <a:rPr lang="ko-KR" altLang="en-US" sz="1800" b="1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검증 결과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 상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고장 수리 품 현차 설치시 고장 재발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INT PCB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VOIP PCB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GPIO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인터페이스를 통해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OCC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통화 연결을 결정한다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하지만 현재 단품 시험 결차는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PCB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단품에 대한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시험 결과만 검증 한다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따라서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PCB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간 인터페이스 신호 라인에 대한 검증이 미미하다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PCB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간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인터페이스 신호라인 시험기 제작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100" b="0" kern="120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742859" rtl="0" eaLnBrk="1" fontAlgn="base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kern="1200" dirty="0" smtClean="0">
                        <a:solidFill>
                          <a:schemeClr val="dk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  <a:p>
                      <a:pPr marL="0" marR="0" lvl="0" indent="0" algn="just" defTabSz="742859" rtl="0" eaLnBrk="1" fontAlgn="base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kern="1200" dirty="0" smtClean="0">
                        <a:solidFill>
                          <a:schemeClr val="dk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100" b="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: VOIP PCB</a:t>
                      </a:r>
                      <a:r>
                        <a:rPr lang="en-US" altLang="ko-KR" sz="1100" b="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 </a:t>
                      </a:r>
                      <a:r>
                        <a:rPr lang="ko-KR" altLang="en-US" sz="1100" b="0" kern="1200" baseline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검증 결과</a:t>
                      </a:r>
                      <a:r>
                        <a:rPr lang="en-US" altLang="ko-KR" sz="1100" b="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 VOIP </a:t>
                      </a:r>
                      <a:r>
                        <a:rPr lang="ko-KR" altLang="en-US" sz="1100" b="0" kern="1200" baseline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리녹스 </a:t>
                      </a:r>
                      <a:r>
                        <a:rPr lang="en-US" altLang="ko-KR" sz="1100" b="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OS </a:t>
                      </a:r>
                      <a:r>
                        <a:rPr lang="ko-KR" altLang="en-US" sz="1100" b="0" kern="1200" baseline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에 이상 동작으로</a:t>
                      </a:r>
                      <a:r>
                        <a:rPr lang="en-US" altLang="ko-KR" sz="1100" b="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, </a:t>
                      </a:r>
                      <a:r>
                        <a:rPr lang="ko-KR" altLang="en-US" sz="1100" b="0" kern="1200" baseline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동작 불량 발생</a:t>
                      </a:r>
                      <a:r>
                        <a:rPr lang="en-US" altLang="ko-KR" sz="1100" b="0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         -&gt;1</a:t>
                      </a:r>
                      <a:r>
                        <a:rPr lang="ko-KR" altLang="en-US" sz="1100" b="0" kern="1200" baseline="0" noProof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월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29</a:t>
                      </a:r>
                      <a:r>
                        <a:rPr lang="ko-KR" altLang="en-US" sz="1100" b="0" kern="1200" baseline="0" noProof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일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(</a:t>
                      </a:r>
                      <a:r>
                        <a:rPr lang="ko-KR" altLang="en-US" sz="1100" b="0" kern="1200" baseline="0" noProof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월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)</a:t>
                      </a:r>
                      <a:r>
                        <a:rPr lang="ko-KR" altLang="en-US" sz="1100" b="0" kern="1200" baseline="0" noProof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 불량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VOIP PCB RF-COM </a:t>
                      </a:r>
                      <a:r>
                        <a:rPr lang="ko-KR" altLang="en-US" sz="1100" b="0" kern="1200" baseline="0" noProof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송부 하였으며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, </a:t>
                      </a:r>
                      <a:r>
                        <a:rPr lang="ko-KR" altLang="en-US" sz="1100" b="0" kern="1200" baseline="0" noProof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수요일 광주 원제작사에서 원인 분석 예정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             </a:t>
                      </a:r>
                      <a:endParaRPr lang="en-US" altLang="ko-KR" sz="1100" b="0" kern="120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>
            <a:off x="116625" y="62765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문제점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99678" y="3167390"/>
            <a:ext cx="8483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400" b="1" dirty="0"/>
              <a:t>◈ 원 인</a:t>
            </a:r>
            <a:endParaRPr lang="en-US" altLang="ko-KR" sz="1400" b="1" dirty="0"/>
          </a:p>
        </p:txBody>
      </p:sp>
      <p:sp>
        <p:nvSpPr>
          <p:cNvPr id="39" name="직사각형 38"/>
          <p:cNvSpPr/>
          <p:nvPr/>
        </p:nvSpPr>
        <p:spPr>
          <a:xfrm>
            <a:off x="4681508" y="62765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개선대책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747000" y="3105834"/>
            <a:ext cx="1420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lnSpc>
                <a:spcPct val="200000"/>
              </a:lnSpc>
              <a:defRPr/>
            </a:pPr>
            <a:r>
              <a:rPr lang="ko-KR" altLang="en-US" b="1" dirty="0"/>
              <a:t>◈ 추진계획</a:t>
            </a:r>
            <a:endParaRPr lang="en-US" altLang="ko-KR" b="1" dirty="0"/>
          </a:p>
        </p:txBody>
      </p:sp>
      <p:pic>
        <p:nvPicPr>
          <p:cNvPr id="13" name="그림 12" descr="DPO(15704).g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702" y="1724040"/>
            <a:ext cx="1735991" cy="1056888"/>
          </a:xfrm>
          <a:prstGeom prst="rect">
            <a:avLst/>
          </a:prstGeom>
        </p:spPr>
      </p:pic>
      <p:pic>
        <p:nvPicPr>
          <p:cNvPr id="15" name="그림 14" descr="DPO(15704).gif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2463402" y="1731928"/>
            <a:ext cx="1728192" cy="108012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731693" y="2833786"/>
            <a:ext cx="74732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latin typeface="+mn-ea"/>
              </a:rPr>
              <a:t>&lt;INT PCB </a:t>
            </a:r>
            <a:r>
              <a:rPr lang="en-US" altLang="ko-KR" sz="800" dirty="0">
                <a:latin typeface="+mn-ea"/>
              </a:rPr>
              <a:t>&gt;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887697" y="2835412"/>
            <a:ext cx="81945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latin typeface="+mn-ea"/>
              </a:rPr>
              <a:t>&lt;VOIP PCB </a:t>
            </a:r>
            <a:r>
              <a:rPr lang="en-US" altLang="ko-KR" sz="800" dirty="0">
                <a:latin typeface="+mn-ea"/>
              </a:rPr>
              <a:t>&gt;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559718" y="4466378"/>
            <a:ext cx="3290036" cy="1829584"/>
            <a:chOff x="559718" y="4466378"/>
            <a:chExt cx="3290036" cy="1829584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9718" y="4466378"/>
              <a:ext cx="3290036" cy="1599622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9" name="직사각형 18"/>
            <p:cNvSpPr/>
            <p:nvPr/>
          </p:nvSpPr>
          <p:spPr>
            <a:xfrm>
              <a:off x="1423814" y="6080518"/>
              <a:ext cx="134524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>
                  <a:latin typeface="+mn-ea"/>
                </a:rPr>
                <a:t>&lt; PA System </a:t>
              </a:r>
              <a:r>
                <a:rPr lang="ko-KR" altLang="en-US" sz="800" smtClean="0">
                  <a:latin typeface="+mn-ea"/>
                </a:rPr>
                <a:t>동작</a:t>
              </a:r>
              <a:r>
                <a:rPr lang="en-US" altLang="ko-KR" sz="800" dirty="0" smtClean="0">
                  <a:latin typeface="+mn-ea"/>
                </a:rPr>
                <a:t> </a:t>
              </a:r>
              <a:r>
                <a:rPr lang="ko-KR" altLang="en-US" sz="800" smtClean="0">
                  <a:latin typeface="+mn-ea"/>
                </a:rPr>
                <a:t>절차</a:t>
              </a:r>
              <a:r>
                <a:rPr lang="en-US" altLang="ko-KR" sz="800" dirty="0" smtClean="0">
                  <a:latin typeface="+mn-ea"/>
                </a:rPr>
                <a:t>&gt;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8" name="직선 화살표 연결선 7"/>
          <p:cNvCxnSpPr/>
          <p:nvPr/>
        </p:nvCxnSpPr>
        <p:spPr>
          <a:xfrm flipV="1">
            <a:off x="550095" y="5589240"/>
            <a:ext cx="801711" cy="7067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132280" y="6310480"/>
            <a:ext cx="13917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latin typeface="+mn-ea"/>
              </a:rPr>
              <a:t>GPIO </a:t>
            </a:r>
            <a:r>
              <a:rPr lang="ko-KR" altLang="en-US" sz="800" smtClean="0">
                <a:latin typeface="+mn-ea"/>
              </a:rPr>
              <a:t>신호 라인 체크 누락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5417761" y="1680396"/>
            <a:ext cx="3197816" cy="1270528"/>
            <a:chOff x="5034404" y="1599704"/>
            <a:chExt cx="3197816" cy="1270528"/>
          </a:xfrm>
        </p:grpSpPr>
        <p:sp>
          <p:nvSpPr>
            <p:cNvPr id="42" name="직사각형 41"/>
            <p:cNvSpPr/>
            <p:nvPr/>
          </p:nvSpPr>
          <p:spPr>
            <a:xfrm>
              <a:off x="5115039" y="2654788"/>
              <a:ext cx="881680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800" dirty="0" smtClean="0">
                  <a:latin typeface="+mn-ea"/>
                </a:rPr>
                <a:t>VOIP PCB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6377210" y="2654788"/>
              <a:ext cx="881680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800" dirty="0" smtClean="0">
                  <a:latin typeface="+mn-ea"/>
                </a:rPr>
                <a:t>INT PCB</a:t>
              </a:r>
              <a:endParaRPr lang="ko-KR" altLang="en-US" sz="800" dirty="0">
                <a:latin typeface="+mn-ea"/>
              </a:endParaRPr>
            </a:p>
          </p:txBody>
        </p:sp>
        <p:grpSp>
          <p:nvGrpSpPr>
            <p:cNvPr id="36" name="그룹 35"/>
            <p:cNvGrpSpPr/>
            <p:nvPr/>
          </p:nvGrpSpPr>
          <p:grpSpPr>
            <a:xfrm>
              <a:off x="5034404" y="1599704"/>
              <a:ext cx="3197816" cy="1037208"/>
              <a:chOff x="5034404" y="1599704"/>
              <a:chExt cx="3197816" cy="1037208"/>
            </a:xfrm>
          </p:grpSpPr>
          <p:grpSp>
            <p:nvGrpSpPr>
              <p:cNvPr id="24" name="그룹 23"/>
              <p:cNvGrpSpPr/>
              <p:nvPr/>
            </p:nvGrpSpPr>
            <p:grpSpPr>
              <a:xfrm>
                <a:off x="5034404" y="1897544"/>
                <a:ext cx="2366074" cy="739368"/>
                <a:chOff x="5034404" y="1897544"/>
                <a:chExt cx="2366074" cy="739368"/>
              </a:xfrm>
            </p:grpSpPr>
            <p:sp>
              <p:nvSpPr>
                <p:cNvPr id="20" name="모서리가 둥근 직사각형 19"/>
                <p:cNvSpPr/>
                <p:nvPr/>
              </p:nvSpPr>
              <p:spPr>
                <a:xfrm>
                  <a:off x="5034404" y="1897544"/>
                  <a:ext cx="2366074" cy="576064"/>
                </a:xfrm>
                <a:prstGeom prst="roundRect">
                  <a:avLst/>
                </a:prstGeom>
                <a:solidFill>
                  <a:srgbClr val="F2B8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smtClean="0"/>
                    <a:t>BPB  </a:t>
                  </a:r>
                </a:p>
                <a:p>
                  <a:pPr algn="ctr"/>
                  <a:endParaRPr lang="en-US" altLang="ko-KR" dirty="0"/>
                </a:p>
              </p:txBody>
            </p:sp>
            <p:sp>
              <p:nvSpPr>
                <p:cNvPr id="5" name="정육면체 4"/>
                <p:cNvSpPr/>
                <p:nvPr/>
              </p:nvSpPr>
              <p:spPr>
                <a:xfrm>
                  <a:off x="5438304" y="1916832"/>
                  <a:ext cx="295774" cy="720080"/>
                </a:xfrm>
                <a:prstGeom prst="cube">
                  <a:avLst>
                    <a:gd name="adj" fmla="val 73064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정육면체 17"/>
                <p:cNvSpPr/>
                <p:nvPr/>
              </p:nvSpPr>
              <p:spPr>
                <a:xfrm>
                  <a:off x="6672656" y="1916832"/>
                  <a:ext cx="295774" cy="720080"/>
                </a:xfrm>
                <a:prstGeom prst="cube">
                  <a:avLst>
                    <a:gd name="adj" fmla="val 73064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3" name="그룹 22"/>
                <p:cNvGrpSpPr/>
                <p:nvPr/>
              </p:nvGrpSpPr>
              <p:grpSpPr>
                <a:xfrm>
                  <a:off x="5744294" y="2044080"/>
                  <a:ext cx="864096" cy="304800"/>
                  <a:chOff x="5744294" y="1988840"/>
                  <a:chExt cx="864096" cy="304800"/>
                </a:xfrm>
              </p:grpSpPr>
              <p:cxnSp>
                <p:nvCxnSpPr>
                  <p:cNvPr id="22" name="직선 연결선 21"/>
                  <p:cNvCxnSpPr/>
                  <p:nvPr/>
                </p:nvCxnSpPr>
                <p:spPr>
                  <a:xfrm>
                    <a:off x="5744294" y="2060848"/>
                    <a:ext cx="856354" cy="0"/>
                  </a:xfrm>
                  <a:prstGeom prst="line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직선 연결선 28"/>
                  <p:cNvCxnSpPr/>
                  <p:nvPr/>
                </p:nvCxnSpPr>
                <p:spPr>
                  <a:xfrm>
                    <a:off x="5752036" y="1988840"/>
                    <a:ext cx="856354" cy="0"/>
                  </a:xfrm>
                  <a:prstGeom prst="line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직선 연결선 32"/>
                  <p:cNvCxnSpPr/>
                  <p:nvPr/>
                </p:nvCxnSpPr>
                <p:spPr>
                  <a:xfrm>
                    <a:off x="5744294" y="2213248"/>
                    <a:ext cx="856354" cy="0"/>
                  </a:xfrm>
                  <a:prstGeom prst="line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직선 연결선 33"/>
                  <p:cNvCxnSpPr/>
                  <p:nvPr/>
                </p:nvCxnSpPr>
                <p:spPr>
                  <a:xfrm>
                    <a:off x="5752036" y="2141240"/>
                    <a:ext cx="856354" cy="0"/>
                  </a:xfrm>
                  <a:prstGeom prst="line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직선 연결선 34"/>
                  <p:cNvCxnSpPr/>
                  <p:nvPr/>
                </p:nvCxnSpPr>
                <p:spPr>
                  <a:xfrm>
                    <a:off x="5752036" y="2293640"/>
                    <a:ext cx="856354" cy="0"/>
                  </a:xfrm>
                  <a:prstGeom prst="line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7" name="직선 화살표 연결선 26"/>
              <p:cNvCxnSpPr/>
              <p:nvPr/>
            </p:nvCxnSpPr>
            <p:spPr>
              <a:xfrm flipH="1">
                <a:off x="6377210" y="1716364"/>
                <a:ext cx="447204" cy="327716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직사각형 43"/>
              <p:cNvSpPr/>
              <p:nvPr/>
            </p:nvSpPr>
            <p:spPr>
              <a:xfrm>
                <a:off x="6818050" y="1599704"/>
                <a:ext cx="1414170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800" dirty="0" smtClean="0">
                    <a:latin typeface="+mn-ea"/>
                  </a:rPr>
                  <a:t>GPIO </a:t>
                </a:r>
                <a:r>
                  <a:rPr lang="ko-KR" altLang="en-US" sz="800" smtClean="0">
                    <a:latin typeface="+mn-ea"/>
                  </a:rPr>
                  <a:t>신호 라인 체크 추가</a:t>
                </a:r>
                <a:r>
                  <a:rPr lang="en-US" altLang="ko-KR" sz="800" dirty="0" smtClean="0">
                    <a:latin typeface="+mn-ea"/>
                  </a:rPr>
                  <a:t>.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463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89889</TotalTime>
  <Words>972</Words>
  <Application>Microsoft Office PowerPoint</Application>
  <PresentationFormat>사용자 지정</PresentationFormat>
  <Paragraphs>177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굴림체</vt:lpstr>
      <vt:lpstr>맑은 고딕</vt:lpstr>
      <vt:lpstr>현대하모니 L</vt:lpstr>
      <vt:lpstr>Arial</vt:lpstr>
      <vt:lpstr>Verdana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장덕수</cp:lastModifiedBy>
  <cp:revision>1733</cp:revision>
  <cp:lastPrinted>2017-08-18T01:21:33Z</cp:lastPrinted>
  <dcterms:created xsi:type="dcterms:W3CDTF">2014-12-31T05:09:55Z</dcterms:created>
  <dcterms:modified xsi:type="dcterms:W3CDTF">2018-01-29T15:02:31Z</dcterms:modified>
</cp:coreProperties>
</file>