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"/>
  </p:notesMasterIdLst>
  <p:handoutMasterIdLst>
    <p:handoutMasterId r:id="rId8"/>
  </p:handoutMasterIdLst>
  <p:sldIdLst>
    <p:sldId id="263" r:id="rId2"/>
    <p:sldId id="267" r:id="rId3"/>
    <p:sldId id="266" r:id="rId4"/>
    <p:sldId id="270" r:id="rId5"/>
    <p:sldId id="269" r:id="rId6"/>
  </p:sldIdLst>
  <p:sldSz cx="6988175" cy="9906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20">
          <p15:clr>
            <a:srgbClr val="A4A3A4"/>
          </p15:clr>
        </p15:guide>
        <p15:guide id="2" pos="22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525252"/>
    <a:srgbClr val="454545"/>
    <a:srgbClr val="3A3A3A"/>
    <a:srgbClr val="6699FF"/>
    <a:srgbClr val="9BA9FF"/>
    <a:srgbClr val="B8C6F2"/>
    <a:srgbClr val="232ED5"/>
    <a:srgbClr val="505AE2"/>
    <a:srgbClr val="3D4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37" autoAdjust="0"/>
    <p:restoredTop sz="94760" autoAdjust="0"/>
  </p:normalViewPr>
  <p:slideViewPr>
    <p:cSldViewPr>
      <p:cViewPr>
        <p:scale>
          <a:sx n="120" d="100"/>
          <a:sy n="120" d="100"/>
        </p:scale>
        <p:origin x="-594" y="1218"/>
      </p:cViewPr>
      <p:guideLst>
        <p:guide orient="horz" pos="3120"/>
        <p:guide pos="22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373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r">
              <a:defRPr sz="1200"/>
            </a:lvl1pPr>
          </a:lstStyle>
          <a:p>
            <a:fld id="{0AD87017-A65A-42D4-A501-A150453B371F}" type="datetimeFigureOut">
              <a:rPr lang="ko-KR" altLang="en-US" smtClean="0"/>
              <a:pPr/>
              <a:t>2016-08-11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r">
              <a:defRPr sz="1200"/>
            </a:lvl1pPr>
          </a:lstStyle>
          <a:p>
            <a:fld id="{84438975-6FD6-455A-B07D-34B4DF342EE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241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r">
              <a:defRPr sz="1200"/>
            </a:lvl1pPr>
          </a:lstStyle>
          <a:p>
            <a:fld id="{2C115201-D107-4D71-86EC-BF387F4203A0}" type="datetimeFigureOut">
              <a:rPr lang="ko-KR" altLang="en-US" smtClean="0"/>
              <a:pPr/>
              <a:t>2016-08-11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739775"/>
            <a:ext cx="2608263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73" tIns="45836" rIns="91673" bIns="4583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2"/>
          </a:xfrm>
          <a:prstGeom prst="rect">
            <a:avLst/>
          </a:prstGeom>
        </p:spPr>
        <p:txBody>
          <a:bodyPr vert="horz" lIns="91673" tIns="45836" rIns="91673" bIns="45836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r">
              <a:defRPr sz="1200"/>
            </a:lvl1pPr>
          </a:lstStyle>
          <a:p>
            <a:fld id="{92E9BB83-427B-4420-95D0-6EF6238F95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41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63750" y="739775"/>
            <a:ext cx="26082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9BB83-427B-4420-95D0-6EF6238F9596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059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63750" y="739775"/>
            <a:ext cx="26082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9BB83-427B-4420-95D0-6EF6238F9596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132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63750" y="739775"/>
            <a:ext cx="26082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9BB83-427B-4420-95D0-6EF6238F9596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836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63750" y="739775"/>
            <a:ext cx="26082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9BB83-427B-4420-95D0-6EF6238F9596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836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63750" y="739775"/>
            <a:ext cx="26082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9BB83-427B-4420-95D0-6EF6238F9596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836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24114" y="3077283"/>
            <a:ext cx="5939949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48227" y="5613400"/>
            <a:ext cx="4891723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BDDB-0707-7646-9563-4A3EE71E5328}" type="datetime1">
              <a:rPr lang="ko-KR" altLang="en-US" smtClean="0"/>
              <a:t>2016-08-11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151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0E6D-CF1D-9548-9B04-D60D79177849}" type="datetime1">
              <a:rPr lang="ko-KR" altLang="en-US" smtClean="0"/>
              <a:t>2016-08-11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09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18" y="6365524"/>
            <a:ext cx="5939949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52018" y="4198588"/>
            <a:ext cx="5939949" cy="21669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DCE7-9D27-394D-8DFE-562DA04A45BA}" type="datetime1">
              <a:rPr lang="ko-KR" altLang="en-US" smtClean="0"/>
              <a:t>2016-08-11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088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9409" y="2311402"/>
            <a:ext cx="3086444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52322" y="2311402"/>
            <a:ext cx="3086444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35CED-8B7D-FF45-B3AC-38F23ABFA2CF}" type="datetime1">
              <a:rPr lang="ko-KR" altLang="en-US" smtClean="0"/>
              <a:t>2016-08-11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3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9409" y="2217385"/>
            <a:ext cx="3087658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9409" y="3141486"/>
            <a:ext cx="3087658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549896" y="2217385"/>
            <a:ext cx="3088870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549896" y="3141486"/>
            <a:ext cx="3088870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BCFB-1597-4246-B82C-9EA6DEA5B0CE}" type="datetime1">
              <a:rPr lang="ko-KR" altLang="en-US" smtClean="0"/>
              <a:t>2016-08-11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67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4E1D-0F10-FA4B-A6AD-D4255A0436C2}" type="datetime1">
              <a:rPr lang="ko-KR" altLang="en-US" smtClean="0"/>
              <a:t>2016-08-11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87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123EFFE-E7BB-6847-8704-83DC0459DDE9}" type="datetime1">
              <a:rPr lang="ko-KR" altLang="en-US" smtClean="0"/>
              <a:t>2016-08-11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2" y="0"/>
            <a:ext cx="6988175" cy="990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25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9409" y="394405"/>
            <a:ext cx="2299061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32182" y="394408"/>
            <a:ext cx="3906584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9409" y="2072924"/>
            <a:ext cx="2299061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473B-3A20-2740-A7E9-A8A4D89DEA6F}" type="datetime1">
              <a:rPr lang="ko-KR" altLang="en-US" smtClean="0"/>
              <a:t>2016-08-11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199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69731" y="6934200"/>
            <a:ext cx="4192905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69731" y="885119"/>
            <a:ext cx="4192905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69731" y="7752822"/>
            <a:ext cx="4192905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BD871-06F1-5E4C-B348-71D799677FE6}" type="datetime1">
              <a:rPr lang="ko-KR" altLang="en-US" smtClean="0"/>
              <a:t>2016-08-11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66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6E2-4F28-9646-8461-8FF95A94227E}" type="datetime1">
              <a:rPr lang="ko-KR" altLang="en-US" smtClean="0"/>
              <a:t>2016-08-11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06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5066428" y="396701"/>
            <a:ext cx="1572339" cy="845220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9410" y="396701"/>
            <a:ext cx="4600549" cy="845220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287B-9B14-C244-88CB-8120E239F20A}" type="datetime1">
              <a:rPr lang="ko-KR" altLang="en-US" smtClean="0"/>
              <a:t>2016-08-11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255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" y="0"/>
            <a:ext cx="6988175" cy="990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9409" y="396699"/>
            <a:ext cx="6289358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9409" y="2311402"/>
            <a:ext cx="6289358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9409" y="9181397"/>
            <a:ext cx="1630574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CBB08-587F-274D-B532-4A0C63B51238}" type="datetime1">
              <a:rPr lang="ko-KR" altLang="en-US" smtClean="0"/>
              <a:t>2016-08-11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87627" y="9181397"/>
            <a:ext cx="221292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008192" y="9181397"/>
            <a:ext cx="1630574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60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655" r:id="rId1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1258" y="2639355"/>
            <a:ext cx="6585660" cy="3188136"/>
          </a:xfrm>
          <a:prstGeom prst="rect">
            <a:avLst/>
          </a:prstGeom>
        </p:spPr>
        <p:txBody>
          <a:bodyPr wrap="none" numCol="2" spcCol="180000">
            <a:no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계획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ko-KR" altLang="ko-KR" sz="7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PACU CAB key 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인식 알고리즘 수정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</a:t>
            </a:r>
          </a:p>
          <a:p>
            <a:pPr>
              <a:lnSpc>
                <a:spcPct val="130000"/>
              </a:lnSpc>
            </a:pP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 - 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기능 설계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  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-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S/W 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구현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  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-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9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우진산전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디버깅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9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현차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확인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PACU CAB key </a:t>
            </a:r>
            <a:r>
              <a:rPr lang="ko-KR" altLang="en-US" sz="9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중련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알고리즘 수정</a:t>
            </a:r>
            <a:endParaRPr lang="en-US" altLang="ko-KR" sz="9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    - 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기능 설계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    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-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S/W 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구현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    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-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9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우진산전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디버깅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ko-KR" altLang="en-US" sz="9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현차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확인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en-US" altLang="ko-KR" sz="9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PACU CPLD logic 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알고리즘 수정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endParaRPr lang="en-US" altLang="ko-KR" sz="9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  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- 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기능 설계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    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-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S/W 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구현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    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-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우진산전 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디버깅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01258" y="1730626"/>
            <a:ext cx="6336703" cy="106970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ts val="1400"/>
              </a:lnSpc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CAB Latch function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기능은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SW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기능 수정 사항으로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시행청 추가 요청 사항과 같이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기능 변경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중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추가 기능 변경 사항으로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228600" indent="-228600" algn="just">
              <a:lnSpc>
                <a:spcPts val="1400"/>
              </a:lnSpc>
              <a:buAutoNum type="arabicParenR"/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PACU CAB key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인식 알고리즘 수정</a:t>
            </a: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228600" indent="-228600" algn="just">
              <a:lnSpc>
                <a:spcPts val="1400"/>
              </a:lnSpc>
              <a:buAutoNum type="arabicParenR"/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PACU </a:t>
            </a:r>
            <a:r>
              <a:rPr lang="ko-KR" altLang="en-US" sz="900" dirty="0" err="1" smtClean="0">
                <a:latin typeface="Verdana" pitchFamily="34" charset="0"/>
                <a:cs typeface="Verdana" pitchFamily="34" charset="0"/>
              </a:rPr>
              <a:t>중련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알고리즘 수정</a:t>
            </a: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228600" indent="-228600" algn="just">
              <a:lnSpc>
                <a:spcPts val="1400"/>
              </a:lnSpc>
              <a:buAutoNum type="arabicParenR"/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PACU CPLD logic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알고리즘 수정</a:t>
            </a: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154360" y="95216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DENVER CAB LATCH</a:t>
            </a:r>
          </a:p>
          <a:p>
            <a:pPr algn="r"/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기능 구현 사항 </a:t>
            </a:r>
            <a:endParaRPr lang="en-US" altLang="ko-KR" sz="2000" b="1" dirty="0" smtClean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4648" y="809596"/>
            <a:ext cx="6667088" cy="747723"/>
          </a:xfrm>
          <a:prstGeom prst="roundRect">
            <a:avLst>
              <a:gd name="adj" fmla="val 0"/>
            </a:avLst>
          </a:prstGeom>
          <a:solidFill>
            <a:srgbClr val="1A3382"/>
          </a:solidFill>
          <a:ln w="28575">
            <a:noFill/>
          </a:ln>
          <a:effectLst>
            <a:outerShdw blurRad="342900" dist="330200" dir="1680000" sx="87000" sy="87000" algn="t" rotWithShape="0">
              <a:prstClr val="black">
                <a:alpha val="82000"/>
              </a:prstClr>
            </a:outerShdw>
          </a:effectLst>
          <a:extLst/>
        </p:spPr>
        <p:txBody>
          <a:bodyPr vert="horz" wrap="square" lIns="63500" tIns="63500" rIns="63500" bIns="6350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1.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CAB Latch 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function</a:t>
            </a:r>
            <a:endParaRPr lang="en-US" altLang="ko-KR" sz="2000" dirty="0">
              <a:solidFill>
                <a:schemeClr val="bg1"/>
              </a:solidFill>
              <a:latin typeface="Verdana" pitchFamily="34" charset="0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329392" y="9289588"/>
            <a:ext cx="2329392" cy="45720"/>
          </a:xfrm>
          <a:prstGeom prst="rect">
            <a:avLst/>
          </a:prstGeom>
          <a:solidFill>
            <a:srgbClr val="1A3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658783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063" y="9480212"/>
            <a:ext cx="202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1A3382"/>
                </a:solidFill>
                <a:latin typeface="Times New Roman" pitchFamily="18" charset="0"/>
                <a:cs typeface="Times New Roman" pitchFamily="18" charset="0"/>
              </a:rPr>
              <a:t>www.wjis.co.kr</a:t>
            </a:r>
            <a:endParaRPr lang="ko-KR" altLang="en-US" b="1" dirty="0">
              <a:solidFill>
                <a:srgbClr val="1A338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1719" y="61926"/>
            <a:ext cx="69881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우진로고(영문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9" y="61926"/>
            <a:ext cx="1905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4028" y="14672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01258" y="5975902"/>
            <a:ext cx="6585660" cy="2324466"/>
          </a:xfrm>
          <a:prstGeom prst="rect">
            <a:avLst/>
          </a:prstGeom>
        </p:spPr>
        <p:txBody>
          <a:bodyPr wrap="none" numCol="2" spcCol="180000">
            <a:no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적용 및 시험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ko-KR" altLang="ko-KR" sz="7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알고리즘 수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정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기능 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TEST 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및 디버깅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- 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차량 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CAB key 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인식 후 </a:t>
            </a:r>
            <a:r>
              <a:rPr lang="ko-KR" altLang="en-US" sz="9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중련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동작과</a:t>
            </a: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  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방송 통합 환경 테스트 디버깅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charset="2"/>
              <a:buChar char="l"/>
            </a:pP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전 편성 적용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912993"/>
              </p:ext>
            </p:extLst>
          </p:nvPr>
        </p:nvGraphicFramePr>
        <p:xfrm>
          <a:off x="2630024" y="2800333"/>
          <a:ext cx="4032416" cy="2849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</a:tblGrid>
              <a:tr h="21813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5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6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7536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2" name="직선 화살표 연결선 11"/>
          <p:cNvCxnSpPr/>
          <p:nvPr/>
        </p:nvCxnSpPr>
        <p:spPr>
          <a:xfrm>
            <a:off x="4868523" y="3301792"/>
            <a:ext cx="36004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4903703" y="4160912"/>
            <a:ext cx="36004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3134048" y="5169024"/>
            <a:ext cx="28803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5150271" y="3512840"/>
            <a:ext cx="1008112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5150271" y="4376936"/>
            <a:ext cx="1008112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3422079" y="5313040"/>
            <a:ext cx="504056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5870351" y="3728864"/>
            <a:ext cx="516624" cy="0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5870351" y="4520952"/>
            <a:ext cx="516624" cy="0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>
            <a:off x="3926135" y="5457056"/>
            <a:ext cx="474336" cy="0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40544"/>
              </p:ext>
            </p:extLst>
          </p:nvPr>
        </p:nvGraphicFramePr>
        <p:xfrm>
          <a:off x="2630024" y="6013260"/>
          <a:ext cx="4032416" cy="1808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</a:tblGrid>
              <a:tr h="163374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5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6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3378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7" name="직선 화살표 연결선 36"/>
          <p:cNvCxnSpPr/>
          <p:nvPr/>
        </p:nvCxnSpPr>
        <p:spPr>
          <a:xfrm>
            <a:off x="5150271" y="6609184"/>
            <a:ext cx="77952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5942359" y="7185248"/>
            <a:ext cx="504056" cy="0"/>
          </a:xfrm>
          <a:prstGeom prst="straightConnector1">
            <a:avLst/>
          </a:prstGeom>
          <a:ln w="12700">
            <a:solidFill>
              <a:srgbClr val="33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슬라이드 번호 개체 틀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5295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201258" y="1730626"/>
            <a:ext cx="6336703" cy="106970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ts val="1400"/>
              </a:lnSpc>
            </a:pPr>
            <a:r>
              <a:rPr lang="en-US" altLang="ko-KR" sz="1000" dirty="0" smtClean="0">
                <a:latin typeface="Verdana" pitchFamily="34" charset="0"/>
                <a:cs typeface="Verdana" pitchFamily="34" charset="0"/>
              </a:rPr>
              <a:t>PACU CAB latch </a:t>
            </a:r>
            <a:r>
              <a:rPr lang="ko-KR" altLang="en-US" sz="1000" dirty="0" smtClean="0">
                <a:latin typeface="Verdana" pitchFamily="34" charset="0"/>
                <a:cs typeface="Verdana" pitchFamily="34" charset="0"/>
              </a:rPr>
              <a:t>기능 구현과 </a:t>
            </a:r>
            <a:r>
              <a:rPr lang="ko-KR" altLang="en-US" sz="1000" dirty="0" smtClean="0">
                <a:latin typeface="Verdana" pitchFamily="34" charset="0"/>
                <a:cs typeface="Verdana" pitchFamily="34" charset="0"/>
              </a:rPr>
              <a:t>세트 테스트 및 </a:t>
            </a:r>
            <a:r>
              <a:rPr lang="ko-KR" altLang="en-US" sz="1000" dirty="0" err="1" smtClean="0">
                <a:latin typeface="Verdana" pitchFamily="34" charset="0"/>
                <a:cs typeface="Verdana" pitchFamily="34" charset="0"/>
              </a:rPr>
              <a:t>현차</a:t>
            </a:r>
            <a:r>
              <a:rPr lang="ko-KR" altLang="en-US" sz="1000" dirty="0" smtClean="0">
                <a:latin typeface="Verdana" pitchFamily="34" charset="0"/>
                <a:cs typeface="Verdana" pitchFamily="34" charset="0"/>
              </a:rPr>
              <a:t> 테스트를 위한 인력 구성은 하기와 같다</a:t>
            </a:r>
            <a:r>
              <a:rPr lang="en-US" altLang="ko-KR" sz="1000" dirty="0" smtClean="0">
                <a:latin typeface="Verdana" pitchFamily="34" charset="0"/>
                <a:cs typeface="Verdana" pitchFamily="34" charset="0"/>
              </a:rPr>
              <a:t>.</a:t>
            </a:r>
            <a:endParaRPr lang="en-US" altLang="ko-KR" sz="10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 </a:t>
            </a: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154360" y="95216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DENVER CAB Latch </a:t>
            </a:r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기능 구현인력 투입 현황</a:t>
            </a:r>
            <a:endParaRPr lang="en-US" altLang="ko-KR" sz="2000" b="1" dirty="0" smtClean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4648" y="809596"/>
            <a:ext cx="6667088" cy="747723"/>
          </a:xfrm>
          <a:prstGeom prst="roundRect">
            <a:avLst>
              <a:gd name="adj" fmla="val 0"/>
            </a:avLst>
          </a:prstGeom>
          <a:solidFill>
            <a:srgbClr val="1A3382"/>
          </a:solidFill>
          <a:ln w="28575">
            <a:noFill/>
          </a:ln>
          <a:effectLst>
            <a:outerShdw blurRad="342900" dist="330200" dir="1680000" sx="87000" sy="87000" algn="t" rotWithShape="0">
              <a:prstClr val="black">
                <a:alpha val="82000"/>
              </a:prstClr>
            </a:outerShdw>
          </a:effectLst>
          <a:extLst/>
        </p:spPr>
        <p:txBody>
          <a:bodyPr vert="horz" wrap="square" lIns="63500" tIns="63500" rIns="63500" bIns="6350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noProof="1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2</a:t>
            </a: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인력 투입 현황 </a:t>
            </a:r>
            <a:endParaRPr lang="en-US" altLang="ko-KR" sz="2000" dirty="0">
              <a:solidFill>
                <a:schemeClr val="bg1"/>
              </a:solidFill>
              <a:latin typeface="Verdana" pitchFamily="34" charset="0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329392" y="9289588"/>
            <a:ext cx="2329392" cy="45720"/>
          </a:xfrm>
          <a:prstGeom prst="rect">
            <a:avLst/>
          </a:prstGeom>
          <a:solidFill>
            <a:srgbClr val="1A3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658783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063" y="9480212"/>
            <a:ext cx="202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1A3382"/>
                </a:solidFill>
                <a:latin typeface="Times New Roman" pitchFamily="18" charset="0"/>
                <a:cs typeface="Times New Roman" pitchFamily="18" charset="0"/>
              </a:rPr>
              <a:t>www.wjis.co.kr</a:t>
            </a:r>
            <a:endParaRPr lang="ko-KR" altLang="en-US" b="1" dirty="0">
              <a:solidFill>
                <a:srgbClr val="1A338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1719" y="61926"/>
            <a:ext cx="69881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우진로고(영문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9" y="61926"/>
            <a:ext cx="1905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4028" y="14672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26" name="슬라이드 번호 개체 틀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2</a:t>
            </a:fld>
            <a:endParaRPr kumimoji="0" 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057289"/>
              </p:ext>
            </p:extLst>
          </p:nvPr>
        </p:nvGraphicFramePr>
        <p:xfrm>
          <a:off x="248287" y="2265479"/>
          <a:ext cx="6289674" cy="18680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8945"/>
                <a:gridCol w="1687934"/>
                <a:gridCol w="678945"/>
                <a:gridCol w="678945"/>
                <a:gridCol w="1885960"/>
                <a:gridCol w="678945"/>
              </a:tblGrid>
              <a:tr h="207559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담당 분야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인 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기 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업 무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비 고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</a:tr>
              <a:tr h="4151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PACU Firmware engineer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 month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* 알고리즘 프로그램</a:t>
                      </a:r>
                      <a:br>
                        <a:rPr lang="ko-KR" altLang="en-US" sz="1100" u="none" strike="noStrike">
                          <a:effectLst/>
                        </a:rPr>
                      </a:br>
                      <a:r>
                        <a:rPr lang="ko-KR" altLang="en-US" sz="1100" u="none" strike="noStrike">
                          <a:effectLst/>
                        </a:rPr>
                        <a:t>* 디버깅 작업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</a:tr>
              <a:tr h="4151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PACU Logic programer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 month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* CPLD Logic program 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* Logic program </a:t>
                      </a:r>
                      <a:r>
                        <a:rPr lang="ko-KR" altLang="en-US" sz="1100" u="none" strike="noStrike">
                          <a:effectLst/>
                        </a:rPr>
                        <a:t>분석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외주 처리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</a:tr>
              <a:tr h="4151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Hardware engineer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 month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* 알고리즘 검증 테스트</a:t>
                      </a:r>
                      <a:br>
                        <a:rPr lang="ko-KR" altLang="en-US" sz="1100" u="none" strike="noStrike">
                          <a:effectLst/>
                        </a:rPr>
                      </a:br>
                      <a:r>
                        <a:rPr lang="ko-KR" altLang="en-US" sz="1100" u="none" strike="noStrike">
                          <a:effectLst/>
                        </a:rPr>
                        <a:t>* </a:t>
                      </a:r>
                      <a:r>
                        <a:rPr lang="en-US" altLang="ko-KR" sz="1100" u="none" strike="noStrike">
                          <a:effectLst/>
                        </a:rPr>
                        <a:t>H/W timing </a:t>
                      </a:r>
                      <a:r>
                        <a:rPr lang="ko-KR" altLang="en-US" sz="1100" u="none" strike="noStrike">
                          <a:effectLst/>
                        </a:rPr>
                        <a:t>분석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</a:tr>
              <a:tr h="4151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Denver </a:t>
                      </a:r>
                      <a:r>
                        <a:rPr lang="ko-KR" altLang="en-US" sz="1100" u="none" strike="noStrike">
                          <a:effectLst/>
                        </a:rPr>
                        <a:t>현지 출장 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 week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* 현지 출장 업무 테스트</a:t>
                      </a:r>
                      <a:br>
                        <a:rPr lang="ko-KR" altLang="en-US" sz="1100" u="none" strike="noStrike">
                          <a:effectLst/>
                        </a:rPr>
                      </a:br>
                      <a:r>
                        <a:rPr lang="ko-KR" altLang="en-US" sz="1100" u="none" strike="noStrike">
                          <a:effectLst/>
                        </a:rPr>
                        <a:t>* 현차 확산 작업 진행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435" marR="9435" marT="943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56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3154360" y="95216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DENVER CAB LATCH</a:t>
            </a:r>
          </a:p>
          <a:p>
            <a:pPr algn="r"/>
            <a:r>
              <a:rPr lang="ko-KR" altLang="en-US" sz="20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기능 구현 사항 </a:t>
            </a:r>
            <a:endParaRPr lang="en-US" altLang="ko-KR" sz="20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4648" y="809596"/>
            <a:ext cx="6667088" cy="747723"/>
          </a:xfrm>
          <a:prstGeom prst="roundRect">
            <a:avLst>
              <a:gd name="adj" fmla="val 0"/>
            </a:avLst>
          </a:prstGeom>
          <a:solidFill>
            <a:srgbClr val="1A3382"/>
          </a:solidFill>
          <a:ln w="28575">
            <a:noFill/>
          </a:ln>
          <a:effectLst>
            <a:outerShdw blurRad="342900" dist="330200" dir="1680000" sx="87000" sy="87000" algn="t" rotWithShape="0">
              <a:prstClr val="black">
                <a:alpha val="82000"/>
              </a:prstClr>
            </a:outerShdw>
          </a:effectLst>
          <a:extLst/>
        </p:spPr>
        <p:txBody>
          <a:bodyPr vert="horz" wrap="square" lIns="63500" tIns="63500" rIns="63500" bIns="6350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noProof="1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</a:t>
            </a: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알고리즘 검토 사항 및 수정 사항</a:t>
            </a:r>
            <a:endParaRPr lang="en-US" altLang="ko-KR" sz="2000" dirty="0">
              <a:solidFill>
                <a:schemeClr val="bg1"/>
              </a:solidFill>
              <a:latin typeface="Verdana" pitchFamily="34" charset="0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329392" y="9289588"/>
            <a:ext cx="2329392" cy="45720"/>
          </a:xfrm>
          <a:prstGeom prst="rect">
            <a:avLst/>
          </a:prstGeom>
          <a:solidFill>
            <a:srgbClr val="1A3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658783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063" y="9480212"/>
            <a:ext cx="202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1A3382"/>
                </a:solidFill>
                <a:latin typeface="Times New Roman" pitchFamily="18" charset="0"/>
                <a:cs typeface="Times New Roman" pitchFamily="18" charset="0"/>
              </a:rPr>
              <a:t>www.wjis.co.kr</a:t>
            </a:r>
            <a:endParaRPr lang="ko-KR" altLang="en-US" b="1" dirty="0">
              <a:solidFill>
                <a:srgbClr val="1A338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1719" y="61926"/>
            <a:ext cx="69881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우진로고(영문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9" y="61926"/>
            <a:ext cx="1905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4028" y="14672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3</a:t>
            </a:fld>
            <a:endParaRPr kumimoji="0" 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83" y="2145248"/>
            <a:ext cx="5040000" cy="50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1759" y="1836625"/>
            <a:ext cx="4315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3.1 </a:t>
            </a:r>
            <a:r>
              <a:rPr lang="ko-KR" altLang="en-US" sz="1400" dirty="0" smtClean="0">
                <a:latin typeface="Verdana" panose="020B0604030504040204" pitchFamily="34" charset="0"/>
                <a:cs typeface="Verdana" panose="020B0604030504040204" pitchFamily="34" charset="0"/>
              </a:rPr>
              <a:t>기존 </a:t>
            </a:r>
            <a:r>
              <a:rPr lang="en-US" altLang="ko-KR" sz="1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PAC software decomposition diagram</a:t>
            </a:r>
            <a:endParaRPr lang="ko-KR" altLang="en-US" sz="140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55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3154360" y="95216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DENVER CAB LATCH</a:t>
            </a:r>
          </a:p>
          <a:p>
            <a:pPr algn="r"/>
            <a:r>
              <a:rPr lang="ko-KR" altLang="en-US" sz="20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기능 구현 사항 </a:t>
            </a:r>
            <a:endParaRPr lang="en-US" altLang="ko-KR" sz="20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4648" y="809596"/>
            <a:ext cx="6667088" cy="747723"/>
          </a:xfrm>
          <a:prstGeom prst="roundRect">
            <a:avLst>
              <a:gd name="adj" fmla="val 0"/>
            </a:avLst>
          </a:prstGeom>
          <a:solidFill>
            <a:srgbClr val="1A3382"/>
          </a:solidFill>
          <a:ln w="28575">
            <a:noFill/>
          </a:ln>
          <a:effectLst>
            <a:outerShdw blurRad="342900" dist="330200" dir="1680000" sx="87000" sy="87000" algn="t" rotWithShape="0">
              <a:prstClr val="black">
                <a:alpha val="82000"/>
              </a:prstClr>
            </a:outerShdw>
          </a:effectLst>
          <a:extLst/>
        </p:spPr>
        <p:txBody>
          <a:bodyPr vert="horz" wrap="square" lIns="63500" tIns="63500" rIns="63500" bIns="6350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noProof="1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</a:t>
            </a: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알고리즘 검토 사항 및 수정 사항</a:t>
            </a:r>
            <a:endParaRPr lang="en-US" altLang="ko-KR" sz="2000" dirty="0">
              <a:solidFill>
                <a:schemeClr val="bg1"/>
              </a:solidFill>
              <a:latin typeface="Verdana" pitchFamily="34" charset="0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329392" y="9289588"/>
            <a:ext cx="2329392" cy="45720"/>
          </a:xfrm>
          <a:prstGeom prst="rect">
            <a:avLst/>
          </a:prstGeom>
          <a:solidFill>
            <a:srgbClr val="1A3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658783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063" y="9480212"/>
            <a:ext cx="202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1A3382"/>
                </a:solidFill>
                <a:latin typeface="Times New Roman" pitchFamily="18" charset="0"/>
                <a:cs typeface="Times New Roman" pitchFamily="18" charset="0"/>
              </a:rPr>
              <a:t>www.wjis.co.kr</a:t>
            </a:r>
            <a:endParaRPr lang="ko-KR" altLang="en-US" b="1" dirty="0">
              <a:solidFill>
                <a:srgbClr val="1A338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1719" y="61926"/>
            <a:ext cx="69881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우진로고(영문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9" y="61926"/>
            <a:ext cx="1905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4028" y="14672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4</a:t>
            </a:fld>
            <a:endParaRPr kumimoji="0" lang="en-US"/>
          </a:p>
        </p:txBody>
      </p:sp>
      <p:sp>
        <p:nvSpPr>
          <p:cNvPr id="4" name="TextBox 3"/>
          <p:cNvSpPr txBox="1"/>
          <p:nvPr/>
        </p:nvSpPr>
        <p:spPr>
          <a:xfrm>
            <a:off x="541759" y="1836625"/>
            <a:ext cx="4315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3.2 </a:t>
            </a:r>
            <a:r>
              <a:rPr lang="ko-KR" altLang="en-US" sz="1400" dirty="0" smtClean="0">
                <a:latin typeface="Verdana" panose="020B0604030504040204" pitchFamily="34" charset="0"/>
                <a:cs typeface="Verdana" panose="020B0604030504040204" pitchFamily="34" charset="0"/>
              </a:rPr>
              <a:t>수정 </a:t>
            </a:r>
            <a:r>
              <a:rPr lang="en-US" altLang="ko-KR" sz="1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PAC software decomposition diagram</a:t>
            </a:r>
            <a:endParaRPr lang="ko-KR" altLang="en-US" sz="140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35" y="2144402"/>
            <a:ext cx="4838664" cy="50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402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201258" y="4466930"/>
            <a:ext cx="6336703" cy="315036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ts val="1400"/>
              </a:lnSpc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CAB key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가 없는 경우 대 승객 방송이 되지 않는 증상을 개선 하기 위해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PACU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의 프로그램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 CPLD logic program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을</a:t>
            </a: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수정하였다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1) CPLD CAB key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가 동시에 입력 시 예외 처리 상황 검토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      - CAB key A,B DIO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입력이 모두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‘1’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인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상태인 경우에는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CAB key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를 인식하지 않게 예외 처리됨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2) PACU CAB key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인식 시간 알고리즘 변경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      -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기존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CAB key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인식은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200ms chattering time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을 이용하여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cab key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동작을 하게 설계 되었으나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,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        timer interrupt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를 추가하여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5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초간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cab key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의 상태를 모니터링 한 후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inauguration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을 시작하도록 </a:t>
            </a:r>
            <a:endParaRPr lang="en-US" altLang="ko-KR" sz="900" dirty="0" smtClean="0">
              <a:latin typeface="Verdana" pitchFamily="34" charset="0"/>
              <a:cs typeface="Verdana" pitchFamily="34" charset="0"/>
              <a:sym typeface="Wingdings"/>
            </a:endParaRPr>
          </a:p>
          <a:p>
            <a:pPr algn="just">
              <a:lnSpc>
                <a:spcPts val="1400"/>
              </a:lnSpc>
            </a:pPr>
            <a:r>
              <a:rPr lang="en-US" altLang="ko-KR" sz="900" dirty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       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변경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3) PACU CAB key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인식 후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inauguration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동작 시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TL line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통신의 안정화 코드 추가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      - PACU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의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TL line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통신 데이터의 깨짐 현상을 방지하기 위해 초기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dummy data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를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5byte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를 추가하여</a:t>
            </a:r>
            <a:endParaRPr lang="en-US" altLang="ko-KR" sz="900" dirty="0" smtClean="0">
              <a:latin typeface="Verdana" pitchFamily="34" charset="0"/>
              <a:cs typeface="Verdana" pitchFamily="34" charset="0"/>
              <a:sym typeface="Wingdings"/>
            </a:endParaRPr>
          </a:p>
          <a:p>
            <a:pPr algn="just">
              <a:lnSpc>
                <a:spcPts val="1400"/>
              </a:lnSpc>
            </a:pPr>
            <a:r>
              <a:rPr lang="en-US" altLang="ko-KR" sz="900" dirty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       pay load data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를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안정화</a:t>
            </a:r>
            <a:r>
              <a:rPr lang="ko-KR" altLang="en-US" sz="900" dirty="0">
                <a:latin typeface="Verdana" pitchFamily="34" charset="0"/>
                <a:cs typeface="Verdana" pitchFamily="34" charset="0"/>
                <a:sym typeface="Wingdings"/>
              </a:rPr>
              <a:t>함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4) CAB key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인식 후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inauguration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시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RS485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통신의 문제 발생시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3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회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retry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동작 추가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     -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외부 환경에 의한 초기 </a:t>
            </a:r>
            <a:r>
              <a:rPr lang="ko-KR" altLang="en-US" sz="900" dirty="0" err="1" smtClean="0">
                <a:latin typeface="Verdana" pitchFamily="34" charset="0"/>
                <a:cs typeface="Verdana" pitchFamily="34" charset="0"/>
                <a:sym typeface="Wingdings"/>
              </a:rPr>
              <a:t>중련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 통신 실패 시에 하부 장치의 응답 </a:t>
            </a:r>
            <a:r>
              <a:rPr lang="ko-KR" altLang="en-US" sz="900" dirty="0" err="1" smtClean="0">
                <a:latin typeface="Verdana" pitchFamily="34" charset="0"/>
                <a:cs typeface="Verdana" pitchFamily="34" charset="0"/>
                <a:sym typeface="Wingdings"/>
              </a:rPr>
              <a:t>패킷을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 모니터링 후 이상 발생시에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inauguration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       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재시도 할 수 있게 보안 알고리즘을 추가함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5) PACU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프로그램 안정화 작업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     - CPLD</a:t>
            </a:r>
            <a:r>
              <a:rPr lang="ko-KR" altLang="en-US" sz="900" dirty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interface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를 안정화하기 위해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timer interrupt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상에서 주기적인 통신처리를 할 수 있게 변경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     - </a:t>
            </a:r>
            <a:r>
              <a:rPr lang="ko-KR" altLang="en-US" sz="900" dirty="0" err="1" smtClean="0">
                <a:latin typeface="Verdana" pitchFamily="34" charset="0"/>
                <a:cs typeface="Verdana" pitchFamily="34" charset="0"/>
                <a:sym typeface="Wingdings"/>
              </a:rPr>
              <a:t>중련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inauguration packet data parsing optimization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진행</a:t>
            </a:r>
            <a:r>
              <a:rPr lang="en-US" altLang="ko-KR" sz="900" smtClean="0">
                <a:latin typeface="Verdana" pitchFamily="34" charset="0"/>
                <a:cs typeface="Verdana" pitchFamily="34" charset="0"/>
                <a:sym typeface="Wingdings"/>
              </a:rPr>
              <a:t>.</a:t>
            </a:r>
            <a:endParaRPr lang="en-US" altLang="ko-KR" sz="900" dirty="0" smtClean="0">
              <a:latin typeface="Verdana" pitchFamily="34" charset="0"/>
              <a:cs typeface="Verdana" pitchFamily="34" charset="0"/>
              <a:sym typeface="Wingdings"/>
            </a:endParaRPr>
          </a:p>
          <a:p>
            <a:pPr marL="228600" indent="-228600" algn="just">
              <a:lnSpc>
                <a:spcPts val="1400"/>
              </a:lnSpc>
              <a:buAutoNum type="arabicParenR"/>
            </a:pPr>
            <a:endParaRPr lang="en-US" altLang="ko-KR" sz="900" dirty="0" smtClean="0">
              <a:latin typeface="Verdana" pitchFamily="34" charset="0"/>
              <a:cs typeface="Verdana" pitchFamily="34" charset="0"/>
              <a:sym typeface="Wingdings"/>
            </a:endParaRPr>
          </a:p>
          <a:p>
            <a:pPr marL="228600" indent="-228600" algn="just">
              <a:lnSpc>
                <a:spcPts val="1400"/>
              </a:lnSpc>
              <a:buAutoNum type="arabicParenR"/>
            </a:pPr>
            <a:endParaRPr lang="en-US" altLang="ko-KR" sz="900" dirty="0" smtClean="0">
              <a:latin typeface="Verdana" pitchFamily="34" charset="0"/>
              <a:cs typeface="Verdana" pitchFamily="34" charset="0"/>
              <a:sym typeface="Wingdings"/>
            </a:endParaRPr>
          </a:p>
          <a:p>
            <a:pPr marL="228600" indent="-228600" algn="just">
              <a:lnSpc>
                <a:spcPts val="1400"/>
              </a:lnSpc>
              <a:buAutoNum type="arabicParenR"/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154360" y="95216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DENVER CAB LATCH</a:t>
            </a:r>
          </a:p>
          <a:p>
            <a:pPr algn="r"/>
            <a:r>
              <a:rPr lang="ko-KR" altLang="en-US" sz="20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기능 구현 사항 </a:t>
            </a:r>
            <a:endParaRPr lang="en-US" altLang="ko-KR" sz="20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4648" y="809596"/>
            <a:ext cx="6667088" cy="747723"/>
          </a:xfrm>
          <a:prstGeom prst="roundRect">
            <a:avLst>
              <a:gd name="adj" fmla="val 0"/>
            </a:avLst>
          </a:prstGeom>
          <a:solidFill>
            <a:srgbClr val="1A3382"/>
          </a:solidFill>
          <a:ln w="28575">
            <a:noFill/>
          </a:ln>
          <a:effectLst>
            <a:outerShdw blurRad="342900" dist="330200" dir="1680000" sx="87000" sy="87000" algn="t" rotWithShape="0">
              <a:prstClr val="black">
                <a:alpha val="82000"/>
              </a:prstClr>
            </a:outerShdw>
          </a:effectLst>
          <a:extLst/>
        </p:spPr>
        <p:txBody>
          <a:bodyPr vert="horz" wrap="square" lIns="63500" tIns="63500" rIns="63500" bIns="6350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noProof="1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</a:t>
            </a: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알고리즘 검토 사항 및 수정 사항</a:t>
            </a:r>
            <a:endParaRPr lang="en-US" altLang="ko-KR" sz="2000" dirty="0">
              <a:solidFill>
                <a:schemeClr val="bg1"/>
              </a:solidFill>
              <a:latin typeface="Verdana" pitchFamily="34" charset="0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329392" y="9289588"/>
            <a:ext cx="2329392" cy="45720"/>
          </a:xfrm>
          <a:prstGeom prst="rect">
            <a:avLst/>
          </a:prstGeom>
          <a:solidFill>
            <a:srgbClr val="1A3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658783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063" y="9480212"/>
            <a:ext cx="202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1A3382"/>
                </a:solidFill>
                <a:latin typeface="Times New Roman" pitchFamily="18" charset="0"/>
                <a:cs typeface="Times New Roman" pitchFamily="18" charset="0"/>
              </a:rPr>
              <a:t>www.wjis.co.kr</a:t>
            </a:r>
            <a:endParaRPr lang="ko-KR" altLang="en-US" b="1" dirty="0">
              <a:solidFill>
                <a:srgbClr val="1A338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1719" y="61926"/>
            <a:ext cx="69881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우진로고(영문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9" y="61926"/>
            <a:ext cx="1905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4028" y="14672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5</a:t>
            </a:fld>
            <a:endParaRPr kumimoji="0" lang="en-US"/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208" y="2188096"/>
            <a:ext cx="490537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541759" y="1836625"/>
            <a:ext cx="2765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3.3 </a:t>
            </a:r>
            <a:r>
              <a:rPr lang="ko-KR" altLang="en-US" sz="1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알고리즘과 기능 구현 사항 </a:t>
            </a:r>
            <a:endParaRPr lang="ko-KR" altLang="en-US" sz="140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5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13569</TotalTime>
  <Words>466</Words>
  <Application>Microsoft Office PowerPoint</Application>
  <PresentationFormat>사용자 지정</PresentationFormat>
  <Paragraphs>117</Paragraphs>
  <Slides>5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hplim</cp:lastModifiedBy>
  <cp:revision>547</cp:revision>
  <cp:lastPrinted>2011-01-12T12:08:54Z</cp:lastPrinted>
  <dcterms:created xsi:type="dcterms:W3CDTF">2006-10-05T04:04:58Z</dcterms:created>
  <dcterms:modified xsi:type="dcterms:W3CDTF">2016-08-11T08:29:18Z</dcterms:modified>
</cp:coreProperties>
</file>