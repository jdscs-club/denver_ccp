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"/>
  </p:notesMasterIdLst>
  <p:handoutMasterIdLst>
    <p:handoutMasterId r:id="rId7"/>
  </p:handoutMasterIdLst>
  <p:sldIdLst>
    <p:sldId id="263" r:id="rId2"/>
    <p:sldId id="267" r:id="rId3"/>
    <p:sldId id="268" r:id="rId4"/>
    <p:sldId id="266" r:id="rId5"/>
  </p:sldIdLst>
  <p:sldSz cx="6988175" cy="9906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2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525252"/>
    <a:srgbClr val="454545"/>
    <a:srgbClr val="3A3A3A"/>
    <a:srgbClr val="6699FF"/>
    <a:srgbClr val="9BA9FF"/>
    <a:srgbClr val="B8C6F2"/>
    <a:srgbClr val="232ED5"/>
    <a:srgbClr val="505AE2"/>
    <a:srgbClr val="3D49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44" autoAdjust="0"/>
    <p:restoredTop sz="94831" autoAdjust="0"/>
  </p:normalViewPr>
  <p:slideViewPr>
    <p:cSldViewPr>
      <p:cViewPr>
        <p:scale>
          <a:sx n="128" d="100"/>
          <a:sy n="128" d="100"/>
        </p:scale>
        <p:origin x="1544" y="-480"/>
      </p:cViewPr>
      <p:guideLst>
        <p:guide orient="horz" pos="3120"/>
        <p:guide pos="22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373" y="1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/>
          <a:lstStyle>
            <a:lvl1pPr algn="r">
              <a:defRPr sz="1200"/>
            </a:lvl1pPr>
          </a:lstStyle>
          <a:p>
            <a:fld id="{0AD87017-A65A-42D4-A501-A150453B371F}" type="datetimeFigureOut">
              <a:rPr lang="ko-KR" altLang="en-US" smtClean="0"/>
              <a:pPr/>
              <a:t>2017. 4. 10.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 anchor="b"/>
          <a:lstStyle>
            <a:lvl1pPr algn="r">
              <a:defRPr sz="1200"/>
            </a:lvl1pPr>
          </a:lstStyle>
          <a:p>
            <a:fld id="{84438975-6FD6-455A-B07D-34B4DF342EE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2416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1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/>
          <a:lstStyle>
            <a:lvl1pPr algn="r">
              <a:defRPr sz="1200"/>
            </a:lvl1pPr>
          </a:lstStyle>
          <a:p>
            <a:fld id="{2C115201-D107-4D71-86EC-BF387F4203A0}" type="datetimeFigureOut">
              <a:rPr lang="ko-KR" altLang="en-US" smtClean="0"/>
              <a:pPr/>
              <a:t>2017. 4. 10.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739775"/>
            <a:ext cx="2608263" cy="3698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73" tIns="45836" rIns="91673" bIns="4583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2"/>
          </a:xfrm>
          <a:prstGeom prst="rect">
            <a:avLst/>
          </a:prstGeom>
        </p:spPr>
        <p:txBody>
          <a:bodyPr vert="horz" lIns="91673" tIns="45836" rIns="91673" bIns="45836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3315"/>
          </a:xfrm>
          <a:prstGeom prst="rect">
            <a:avLst/>
          </a:prstGeom>
        </p:spPr>
        <p:txBody>
          <a:bodyPr vert="horz" lIns="91673" tIns="45836" rIns="91673" bIns="45836" rtlCol="0" anchor="b"/>
          <a:lstStyle>
            <a:lvl1pPr algn="r">
              <a:defRPr sz="1200"/>
            </a:lvl1pPr>
          </a:lstStyle>
          <a:p>
            <a:fld id="{92E9BB83-427B-4420-95D0-6EF6238F959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415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063750" y="739775"/>
            <a:ext cx="2608263" cy="36988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9BB83-427B-4420-95D0-6EF6238F9596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059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063750" y="739775"/>
            <a:ext cx="2608263" cy="36988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9BB83-427B-4420-95D0-6EF6238F9596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650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063750" y="739775"/>
            <a:ext cx="2608263" cy="36988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9BB83-427B-4420-95D0-6EF6238F9596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004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063750" y="739775"/>
            <a:ext cx="2608263" cy="36988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E9BB83-427B-4420-95D0-6EF6238F9596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836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24114" y="3077283"/>
            <a:ext cx="5939949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48227" y="5613400"/>
            <a:ext cx="4891723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BDDB-0707-7646-9563-4A3EE71E5328}" type="datetime1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151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D0E6D-CF1D-9548-9B04-D60D79177849}" type="datetime1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099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18" y="6365524"/>
            <a:ext cx="5939949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52018" y="4198588"/>
            <a:ext cx="5939949" cy="21669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FDCE7-9D27-394D-8DFE-562DA04A45BA}" type="datetime1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5088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9409" y="2311402"/>
            <a:ext cx="3086444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52322" y="2311402"/>
            <a:ext cx="3086444" cy="653750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35CED-8B7D-FF45-B3AC-38F23ABFA2CF}" type="datetime1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35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9409" y="2217385"/>
            <a:ext cx="3087658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9409" y="3141486"/>
            <a:ext cx="3087658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549896" y="2217385"/>
            <a:ext cx="3088870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549896" y="3141486"/>
            <a:ext cx="3088870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BCFB-1597-4246-B82C-9EA6DEA5B0CE}" type="datetime1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67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44E1D-0F10-FA4B-A6AD-D4255A0436C2}" type="datetime1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87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123EFFE-E7BB-6847-8704-83DC0459DDE9}" type="datetime1">
              <a:rPr lang="ko-KR" altLang="en-US" smtClean="0"/>
              <a:t>2017. 4. 10.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직사각형 4"/>
          <p:cNvSpPr/>
          <p:nvPr userDrawn="1"/>
        </p:nvSpPr>
        <p:spPr>
          <a:xfrm>
            <a:off x="2" y="0"/>
            <a:ext cx="6988175" cy="990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255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9409" y="394405"/>
            <a:ext cx="2299061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32182" y="394408"/>
            <a:ext cx="3906584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9409" y="2072924"/>
            <a:ext cx="2299061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1473B-3A20-2740-A7E9-A8A4D89DEA6F}" type="datetime1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199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69731" y="6934200"/>
            <a:ext cx="4192905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69731" y="885119"/>
            <a:ext cx="4192905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69731" y="7752822"/>
            <a:ext cx="4192905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BD871-06F1-5E4C-B348-71D799677FE6}" type="datetime1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669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9F6E2-4F28-9646-8461-8FF95A94227E}" type="datetime1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066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5066428" y="396701"/>
            <a:ext cx="1572339" cy="845220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9410" y="396701"/>
            <a:ext cx="4600549" cy="845220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2287B-9B14-C244-88CB-8120E239F20A}" type="datetime1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255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2" y="0"/>
            <a:ext cx="6988175" cy="990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9409" y="396699"/>
            <a:ext cx="6289358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9409" y="2311402"/>
            <a:ext cx="6289358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9409" y="9181397"/>
            <a:ext cx="1630574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CBB08-587F-274D-B532-4A0C63B51238}" type="datetime1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87627" y="9181397"/>
            <a:ext cx="2212922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008192" y="9181397"/>
            <a:ext cx="1630574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60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655" r:id="rId12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.emf"/><Relationship Id="rId5" Type="http://schemas.openxmlformats.org/officeDocument/2006/relationships/image" Target="../media/image3.emf"/><Relationship Id="rId6" Type="http://schemas.openxmlformats.org/officeDocument/2006/relationships/image" Target="../media/image4.emf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5.emf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텍스트 상자 11"/>
          <p:cNvSpPr txBox="1"/>
          <p:nvPr/>
        </p:nvSpPr>
        <p:spPr>
          <a:xfrm>
            <a:off x="226299" y="3168742"/>
            <a:ext cx="6311662" cy="440120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 algn="just">
              <a:lnSpc>
                <a:spcPts val="1400"/>
              </a:lnSpc>
              <a:buFontTx/>
              <a:buChar char="-"/>
            </a:pP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485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통신 방식으로 각 장치간 병렬로 연결 되어 있어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,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각 장치는 외부 조건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(CAB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신호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)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를 이용하여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,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마스터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장치를 식별한다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.</a:t>
            </a:r>
          </a:p>
          <a:p>
            <a:pPr marL="171450" indent="-171450" algn="just">
              <a:lnSpc>
                <a:spcPts val="1400"/>
              </a:lnSpc>
              <a:buFontTx/>
              <a:buChar char="-"/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모든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통신 데이타는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485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통신 라인을 통해 데이타가 공유 된다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</a:t>
            </a:r>
          </a:p>
          <a:p>
            <a:pPr algn="just">
              <a:lnSpc>
                <a:spcPts val="1400"/>
              </a:lnSpc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 algn="just">
              <a:lnSpc>
                <a:spcPts val="1400"/>
              </a:lnSpc>
              <a:buFontTx/>
              <a:buChar char="-"/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외부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조건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(CAB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신호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)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는 각 장치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PCB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로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DI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접점 방식으로 공유한다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 </a:t>
            </a: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 algn="just">
              <a:lnSpc>
                <a:spcPts val="1400"/>
              </a:lnSpc>
              <a:buFontTx/>
              <a:buChar char="-"/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각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장치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PCB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는 장치 동작에 있어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,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외부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DI(CAB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신호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)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를 개별 식별하여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,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동작 여부를 결정한다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</a:t>
            </a: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 algn="just">
              <a:lnSpc>
                <a:spcPts val="1400"/>
              </a:lnSpc>
              <a:buFontTx/>
              <a:buChar char="-"/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 algn="just">
              <a:lnSpc>
                <a:spcPts val="1400"/>
              </a:lnSpc>
              <a:buFontTx/>
              <a:buChar char="-"/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marL="171450" indent="-171450" algn="just">
              <a:lnSpc>
                <a:spcPts val="1400"/>
              </a:lnSpc>
              <a:buFontTx/>
              <a:buChar char="-"/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 algn="just">
              <a:lnSpc>
                <a:spcPts val="1400"/>
              </a:lnSpc>
              <a:buFontTx/>
              <a:buChar char="-"/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marL="171450" indent="-171450" algn="just">
              <a:lnSpc>
                <a:spcPts val="1400"/>
              </a:lnSpc>
              <a:buFontTx/>
              <a:buChar char="-"/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 algn="just">
              <a:lnSpc>
                <a:spcPts val="1400"/>
              </a:lnSpc>
              <a:buFontTx/>
              <a:buChar char="-"/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marL="171450" indent="-171450" algn="just">
              <a:lnSpc>
                <a:spcPts val="1400"/>
              </a:lnSpc>
              <a:buFontTx/>
              <a:buChar char="-"/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 algn="just">
              <a:lnSpc>
                <a:spcPts val="1400"/>
              </a:lnSpc>
              <a:buFontTx/>
              <a:buChar char="-"/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 algn="just">
              <a:lnSpc>
                <a:spcPts val="1400"/>
              </a:lnSpc>
              <a:buFontTx/>
              <a:buChar char="-"/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marL="171450" indent="-171450" algn="just">
              <a:lnSpc>
                <a:spcPts val="1400"/>
              </a:lnSpc>
              <a:buFontTx/>
              <a:buChar char="-"/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 algn="just">
              <a:lnSpc>
                <a:spcPts val="1400"/>
              </a:lnSpc>
              <a:buFontTx/>
              <a:buChar char="-"/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중련시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후부 차량에서 발생하는 이벤트는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,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모든 장치가 수신하며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CAB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신호를 개별 신별하여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,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동작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여부를 결정한다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</a:t>
            </a:r>
            <a:endParaRPr kumimoji="1" lang="ko-KR" altLang="en-US" sz="900" dirty="0"/>
          </a:p>
        </p:txBody>
      </p:sp>
      <p:sp>
        <p:nvSpPr>
          <p:cNvPr id="18" name="직사각형 17"/>
          <p:cNvSpPr/>
          <p:nvPr/>
        </p:nvSpPr>
        <p:spPr>
          <a:xfrm>
            <a:off x="201258" y="1730626"/>
            <a:ext cx="6336703" cy="163819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ts val="1400"/>
              </a:lnSpc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덴버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DTS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비상 방송관련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,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HW CAB Latch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를 이용한 마스터 선택 방식에서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,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SW CAB Latch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방식으로 변경에 대한 개발계획서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.</a:t>
            </a: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 algn="just">
              <a:lnSpc>
                <a:spcPts val="1400"/>
              </a:lnSpc>
              <a:buFont typeface="Wingdings" charset="2"/>
              <a:buChar char="u"/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변경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 SW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리스트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.</a:t>
            </a:r>
          </a:p>
          <a:p>
            <a:pPr algn="just">
              <a:lnSpc>
                <a:spcPts val="1400"/>
              </a:lnSpc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     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-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CCP, CRA-Main, CRA-</a:t>
            </a:r>
            <a:r>
              <a:rPr lang="en-US" altLang="ko-KR" sz="900" dirty="0" err="1" smtClean="0">
                <a:latin typeface="Verdana" pitchFamily="34" charset="0"/>
                <a:cs typeface="Verdana" pitchFamily="34" charset="0"/>
              </a:rPr>
              <a:t>Licm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</a:t>
            </a: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 algn="just">
              <a:lnSpc>
                <a:spcPts val="1400"/>
              </a:lnSpc>
              <a:buFont typeface="Wingdings" charset="2"/>
              <a:buChar char="u"/>
            </a:pP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 </a:t>
            </a:r>
            <a:r>
              <a:rPr lang="ko-KR" altLang="en-US" sz="1200" dirty="0" smtClean="0">
                <a:latin typeface="Verdana" pitchFamily="34" charset="0"/>
                <a:cs typeface="Verdana" pitchFamily="34" charset="0"/>
              </a:rPr>
              <a:t>현재 동작 기능</a:t>
            </a:r>
            <a:r>
              <a:rPr lang="en-US" altLang="ko-KR" sz="1200" dirty="0" smtClean="0">
                <a:latin typeface="Verdana" pitchFamily="34" charset="0"/>
                <a:cs typeface="Verdana" pitchFamily="34" charset="0"/>
              </a:rPr>
              <a:t>(HW CAB latch </a:t>
            </a:r>
            <a:r>
              <a:rPr lang="ko-KR" altLang="en-US" sz="1200" dirty="0" smtClean="0">
                <a:latin typeface="Verdana" pitchFamily="34" charset="0"/>
                <a:cs typeface="Verdana" pitchFamily="34" charset="0"/>
              </a:rPr>
              <a:t>기능</a:t>
            </a:r>
            <a:r>
              <a:rPr lang="en-US" altLang="ko-KR" sz="1200" dirty="0" smtClean="0">
                <a:latin typeface="Verdana" pitchFamily="34" charset="0"/>
                <a:cs typeface="Verdana" pitchFamily="34" charset="0"/>
              </a:rPr>
              <a:t>).</a:t>
            </a:r>
            <a:endParaRPr lang="en-US" altLang="ko-KR" sz="1200" dirty="0">
              <a:latin typeface="Verdana" pitchFamily="34" charset="0"/>
              <a:cs typeface="Verdana" pitchFamily="34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154360" y="95216"/>
            <a:ext cx="3786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덴버 </a:t>
            </a: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DTS </a:t>
            </a:r>
            <a:b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</a:b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SW CAB</a:t>
            </a:r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 </a:t>
            </a: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Latch</a:t>
            </a:r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 개발일정</a:t>
            </a: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 </a:t>
            </a:r>
          </a:p>
        </p:txBody>
      </p:sp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-4648" y="809596"/>
            <a:ext cx="6667088" cy="747723"/>
          </a:xfrm>
          <a:prstGeom prst="roundRect">
            <a:avLst>
              <a:gd name="adj" fmla="val 0"/>
            </a:avLst>
          </a:prstGeom>
          <a:solidFill>
            <a:srgbClr val="1A3382"/>
          </a:solidFill>
          <a:ln w="28575">
            <a:noFill/>
          </a:ln>
          <a:effectLst>
            <a:outerShdw blurRad="342900" dist="330200" dir="1680000" sx="87000" sy="87000" algn="t" rotWithShape="0">
              <a:prstClr val="black">
                <a:alpha val="82000"/>
              </a:prstClr>
            </a:outerShdw>
          </a:effectLst>
          <a:extLst/>
        </p:spPr>
        <p:txBody>
          <a:bodyPr vert="horz" wrap="square" lIns="63500" tIns="63500" rIns="63500" bIns="6350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1.</a:t>
            </a:r>
            <a:r>
              <a:rPr kumimoji="1" lang="ko-KR" altLang="en-US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1" lang="en-US" altLang="ko-KR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HW </a:t>
            </a:r>
            <a:r>
              <a:rPr kumimoji="1" lang="en-US" altLang="ko-KR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CAB Latch</a:t>
            </a:r>
            <a:r>
              <a:rPr kumimoji="1" lang="ko-KR" altLang="en-US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1" lang="ko-KR" altLang="en-US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동작 기능</a:t>
            </a:r>
            <a:r>
              <a:rPr kumimoji="1" lang="en-US" altLang="ko-KR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en-US" altLang="ko-KR" sz="2000" dirty="0">
              <a:solidFill>
                <a:schemeClr val="bg1"/>
              </a:solidFill>
              <a:latin typeface="Verdana" pitchFamily="34" charset="0"/>
              <a:ea typeface="맑은 고딕" pitchFamily="50" charset="-127"/>
              <a:cs typeface="Verdana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0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2329392" y="9289588"/>
            <a:ext cx="2329392" cy="45720"/>
          </a:xfrm>
          <a:prstGeom prst="rect">
            <a:avLst/>
          </a:prstGeom>
          <a:solidFill>
            <a:srgbClr val="1A33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658783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65063" y="9480212"/>
            <a:ext cx="2021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1A3382"/>
                </a:solidFill>
                <a:latin typeface="Times New Roman" pitchFamily="18" charset="0"/>
                <a:cs typeface="Times New Roman" pitchFamily="18" charset="0"/>
              </a:rPr>
              <a:t>www.wjis.co.kr</a:t>
            </a:r>
            <a:endParaRPr lang="ko-KR" altLang="en-US" b="1" dirty="0">
              <a:solidFill>
                <a:srgbClr val="1A338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1719" y="61926"/>
            <a:ext cx="69881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우진로고(영문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19" y="61926"/>
            <a:ext cx="1905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04028" y="14672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40" name="슬라이드 번호 개체 틀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</a:t>
            </a:fld>
            <a:endParaRPr kumimoji="0" 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3887" y="3961568"/>
            <a:ext cx="2962066" cy="87644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9392" y="5600315"/>
            <a:ext cx="1596743" cy="1311232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2442" y="7535314"/>
            <a:ext cx="3241089" cy="109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959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201258" y="1730626"/>
            <a:ext cx="6336703" cy="755896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ts val="1400"/>
              </a:lnSpc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덴버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DTS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비상 방송관련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,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HW CAB Latch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를 이용한 마스터 선택 방식에서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,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SW CAB Latch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방식으로 변경에 대한 개발계획서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.</a:t>
            </a: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 algn="just">
              <a:lnSpc>
                <a:spcPts val="1400"/>
              </a:lnSpc>
              <a:buFont typeface="Wingdings" charset="2"/>
              <a:buChar char="u"/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변경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 SW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리스트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.</a:t>
            </a:r>
          </a:p>
          <a:p>
            <a:pPr algn="just">
              <a:lnSpc>
                <a:spcPts val="1400"/>
              </a:lnSpc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     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-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CCP, CRA-Main, CRA-</a:t>
            </a:r>
            <a:r>
              <a:rPr lang="en-US" altLang="ko-KR" sz="900" dirty="0" err="1" smtClean="0">
                <a:latin typeface="Verdana" pitchFamily="34" charset="0"/>
                <a:cs typeface="Verdana" pitchFamily="34" charset="0"/>
              </a:rPr>
              <a:t>Licm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,</a:t>
            </a: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 algn="just">
              <a:lnSpc>
                <a:spcPts val="1400"/>
              </a:lnSpc>
              <a:buFont typeface="Wingdings" charset="2"/>
              <a:buChar char="u"/>
            </a:pP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ko-KR" altLang="en-US" sz="1200" dirty="0" smtClean="0">
                <a:latin typeface="Verdana" pitchFamily="34" charset="0"/>
                <a:cs typeface="Verdana" pitchFamily="34" charset="0"/>
              </a:rPr>
              <a:t>현재 동작 기능</a:t>
            </a:r>
            <a:r>
              <a:rPr lang="en-US" altLang="ko-KR" sz="1200" dirty="0" smtClean="0">
                <a:latin typeface="Verdana" pitchFamily="34" charset="0"/>
                <a:cs typeface="Verdana" pitchFamily="34" charset="0"/>
              </a:rPr>
              <a:t>(HW CAB latch </a:t>
            </a:r>
            <a:r>
              <a:rPr lang="ko-KR" altLang="en-US" sz="1200" dirty="0" smtClean="0">
                <a:latin typeface="Verdana" pitchFamily="34" charset="0"/>
                <a:cs typeface="Verdana" pitchFamily="34" charset="0"/>
              </a:rPr>
              <a:t>기능</a:t>
            </a:r>
            <a:r>
              <a:rPr lang="en-US" altLang="ko-KR" sz="1200" dirty="0" smtClean="0">
                <a:latin typeface="Verdana" pitchFamily="34" charset="0"/>
                <a:cs typeface="Verdana" pitchFamily="34" charset="0"/>
              </a:rPr>
              <a:t>).</a:t>
            </a:r>
            <a:endParaRPr lang="en-US" altLang="ko-KR" sz="1200" dirty="0">
              <a:latin typeface="Verdana" pitchFamily="34" charset="0"/>
              <a:cs typeface="Verdana" pitchFamily="34" charset="0"/>
            </a:endParaRPr>
          </a:p>
          <a:p>
            <a:pPr marL="171450" indent="-171450" algn="just">
              <a:lnSpc>
                <a:spcPts val="1400"/>
              </a:lnSpc>
              <a:buFont typeface="Wingdings" charset="2"/>
              <a:buChar char="u"/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     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-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중련시 각 차량에 장치는 동일한 동작을 실시 하며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,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CAB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정보를 동작 조건으로 최종 동작을 실시 한다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.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</a:t>
            </a: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154360" y="95216"/>
            <a:ext cx="3786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덴버 </a:t>
            </a: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DTS </a:t>
            </a:r>
            <a:b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</a:b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SW CAB</a:t>
            </a:r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 </a:t>
            </a: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Latch</a:t>
            </a:r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 개발일정</a:t>
            </a: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 </a:t>
            </a:r>
          </a:p>
        </p:txBody>
      </p:sp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-4648" y="809596"/>
            <a:ext cx="6667088" cy="747723"/>
          </a:xfrm>
          <a:prstGeom prst="roundRect">
            <a:avLst>
              <a:gd name="adj" fmla="val 0"/>
            </a:avLst>
          </a:prstGeom>
          <a:solidFill>
            <a:srgbClr val="1A3382"/>
          </a:solidFill>
          <a:ln w="28575">
            <a:noFill/>
          </a:ln>
          <a:effectLst>
            <a:outerShdw blurRad="342900" dist="330200" dir="1680000" sx="87000" sy="87000" algn="t" rotWithShape="0">
              <a:prstClr val="black">
                <a:alpha val="82000"/>
              </a:prstClr>
            </a:outerShdw>
          </a:effectLst>
          <a:extLst/>
        </p:spPr>
        <p:txBody>
          <a:bodyPr vert="horz" wrap="square" lIns="63500" tIns="63500" rIns="63500" bIns="6350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1.</a:t>
            </a:r>
            <a:r>
              <a:rPr kumimoji="1" lang="ko-KR" altLang="en-US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1" lang="en-US" altLang="ko-KR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HW </a:t>
            </a:r>
            <a:r>
              <a:rPr kumimoji="1" lang="en-US" altLang="ko-KR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CAB Latch</a:t>
            </a:r>
            <a:r>
              <a:rPr kumimoji="1" lang="ko-KR" altLang="en-US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1" lang="ko-KR" altLang="en-US" sz="2200" noProof="1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동작 기능</a:t>
            </a:r>
            <a:r>
              <a:rPr kumimoji="1" lang="en-US" altLang="ko-KR" sz="2200" noProof="1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en-US" altLang="ko-KR" sz="2000" dirty="0">
              <a:solidFill>
                <a:schemeClr val="bg1"/>
              </a:solidFill>
              <a:latin typeface="Verdana" pitchFamily="34" charset="0"/>
              <a:ea typeface="맑은 고딕" pitchFamily="50" charset="-127"/>
              <a:cs typeface="Verdana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0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2329392" y="9289588"/>
            <a:ext cx="2329392" cy="45720"/>
          </a:xfrm>
          <a:prstGeom prst="rect">
            <a:avLst/>
          </a:prstGeom>
          <a:solidFill>
            <a:srgbClr val="1A33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658783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65063" y="9480212"/>
            <a:ext cx="2021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1A3382"/>
                </a:solidFill>
                <a:latin typeface="Times New Roman" pitchFamily="18" charset="0"/>
                <a:cs typeface="Times New Roman" pitchFamily="18" charset="0"/>
              </a:rPr>
              <a:t>www.wjis.co.kr</a:t>
            </a:r>
            <a:endParaRPr lang="ko-KR" altLang="en-US" b="1" dirty="0">
              <a:solidFill>
                <a:srgbClr val="1A338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1719" y="61926"/>
            <a:ext cx="69881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우진로고(영문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19" y="61926"/>
            <a:ext cx="1905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04028" y="14672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40" name="슬라이드 번호 개체 틀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2</a:t>
            </a:fld>
            <a:endParaRPr kumimoji="0" 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75" y="3728864"/>
            <a:ext cx="5155913" cy="333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048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201258" y="1730626"/>
            <a:ext cx="6336703" cy="755896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ts val="1400"/>
              </a:lnSpc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덴버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DTS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비상 방송관련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,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HW CAB Latch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를 이용한 마스터 선택 방식에서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,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SW CAB Latch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방식으로 변경에 대한 개발계획서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.</a:t>
            </a: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 algn="just">
              <a:lnSpc>
                <a:spcPts val="1400"/>
              </a:lnSpc>
              <a:buFont typeface="Wingdings" charset="2"/>
              <a:buChar char="u"/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변경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 SW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리스트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.</a:t>
            </a:r>
          </a:p>
          <a:p>
            <a:pPr algn="just">
              <a:lnSpc>
                <a:spcPts val="1400"/>
              </a:lnSpc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     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-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CCP, CRA-Main, CRA-</a:t>
            </a:r>
            <a:r>
              <a:rPr lang="en-US" altLang="ko-KR" sz="900" dirty="0" err="1" smtClean="0">
                <a:latin typeface="Verdana" pitchFamily="34" charset="0"/>
                <a:cs typeface="Verdana" pitchFamily="34" charset="0"/>
              </a:rPr>
              <a:t>Licm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,</a:t>
            </a: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171450" indent="-171450" algn="just">
              <a:lnSpc>
                <a:spcPts val="1400"/>
              </a:lnSpc>
              <a:buFont typeface="Wingdings" charset="2"/>
              <a:buChar char="u"/>
            </a:pP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ko-KR" altLang="en-US" sz="1200" dirty="0" smtClean="0">
                <a:latin typeface="Verdana" pitchFamily="34" charset="0"/>
                <a:cs typeface="Verdana" pitchFamily="34" charset="0"/>
              </a:rPr>
              <a:t>변경 동작 기능</a:t>
            </a:r>
            <a:r>
              <a:rPr lang="en-US" altLang="ko-KR" sz="1200" dirty="0" smtClean="0">
                <a:latin typeface="Verdana" pitchFamily="34" charset="0"/>
                <a:cs typeface="Verdana" pitchFamily="34" charset="0"/>
              </a:rPr>
              <a:t>(</a:t>
            </a:r>
            <a:r>
              <a:rPr lang="en-US" altLang="ko-KR" sz="1200" dirty="0">
                <a:latin typeface="Verdana" pitchFamily="34" charset="0"/>
                <a:cs typeface="Verdana" pitchFamily="34" charset="0"/>
              </a:rPr>
              <a:t>S</a:t>
            </a:r>
            <a:r>
              <a:rPr lang="en-US" altLang="ko-KR" sz="1200" dirty="0" smtClean="0">
                <a:latin typeface="Verdana" pitchFamily="34" charset="0"/>
                <a:cs typeface="Verdana" pitchFamily="34" charset="0"/>
              </a:rPr>
              <a:t>W CAB latch </a:t>
            </a:r>
            <a:r>
              <a:rPr lang="ko-KR" altLang="en-US" sz="1200" dirty="0" smtClean="0">
                <a:latin typeface="Verdana" pitchFamily="34" charset="0"/>
                <a:cs typeface="Verdana" pitchFamily="34" charset="0"/>
              </a:rPr>
              <a:t>기능</a:t>
            </a:r>
            <a:r>
              <a:rPr lang="en-US" altLang="ko-KR" sz="1200" dirty="0" smtClean="0">
                <a:latin typeface="Verdana" pitchFamily="34" charset="0"/>
                <a:cs typeface="Verdana" pitchFamily="34" charset="0"/>
              </a:rPr>
              <a:t>).</a:t>
            </a:r>
            <a:endParaRPr lang="en-US" altLang="ko-KR" sz="1200" dirty="0">
              <a:latin typeface="Verdana" pitchFamily="34" charset="0"/>
              <a:cs typeface="Verdana" pitchFamily="34" charset="0"/>
            </a:endParaRPr>
          </a:p>
          <a:p>
            <a:pPr marL="171450" indent="-171450" algn="just">
              <a:lnSpc>
                <a:spcPts val="1400"/>
              </a:lnSpc>
              <a:buFont typeface="Wingdings" charset="2"/>
              <a:buChar char="u"/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   </a:t>
            </a: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algn="just">
              <a:lnSpc>
                <a:spcPts val="1400"/>
              </a:lnSpc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 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-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차량에 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TCR 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추가 접점 조건을 예외 처리 조건으로 사용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 .</a:t>
            </a:r>
          </a:p>
          <a:p>
            <a:pPr marL="171450" indent="9525" algn="just">
              <a:lnSpc>
                <a:spcPts val="1400"/>
              </a:lnSpc>
              <a:buFont typeface="Wingdings" charset="2"/>
              <a:buChar char="Ø"/>
            </a:pP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CCP S/W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수정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</a:t>
            </a: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marL="342900" indent="19050">
              <a:lnSpc>
                <a:spcPts val="1400"/>
              </a:lnSpc>
              <a:buFont typeface="Arial" charset="0"/>
              <a:buChar char="•"/>
            </a:pP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CAB key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신호 관련 수정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.(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인식 및 해제 조건 수정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)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</a:t>
            </a: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marL="342900" indent="19050" algn="just">
              <a:lnSpc>
                <a:spcPts val="1400"/>
              </a:lnSpc>
              <a:buFont typeface="Arial" charset="0"/>
              <a:buChar char="•"/>
            </a:pP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Conduct Key(TCR)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신호을 도작 조건으로 추가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</a:t>
            </a:r>
          </a:p>
          <a:p>
            <a:pPr marL="342900" indent="19050" algn="just">
              <a:lnSpc>
                <a:spcPts val="1400"/>
              </a:lnSpc>
              <a:buFont typeface="Arial" charset="0"/>
              <a:buChar char="•"/>
            </a:pP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UI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수정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</a:t>
            </a:r>
          </a:p>
          <a:p>
            <a:pPr marL="342900" indent="19050" algn="just">
              <a:lnSpc>
                <a:spcPts val="1400"/>
              </a:lnSpc>
              <a:buFont typeface="Arial" charset="0"/>
              <a:buChar char="•"/>
            </a:pP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CAB key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또는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 Conduct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key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에 따른 화면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Active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조건을 전면적으로 수정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</a:t>
            </a:r>
          </a:p>
          <a:p>
            <a:pPr marL="314325" indent="-133350" algn="just">
              <a:lnSpc>
                <a:spcPts val="1400"/>
              </a:lnSpc>
              <a:buFont typeface="Wingdings" charset="2"/>
              <a:buChar char="Ø"/>
            </a:pP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Main S/W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수정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</a:t>
            </a:r>
          </a:p>
          <a:p>
            <a:pPr marL="352425" indent="9525" algn="just">
              <a:lnSpc>
                <a:spcPts val="1400"/>
              </a:lnSpc>
              <a:buFont typeface="Arial" charset="0"/>
              <a:buChar char="•"/>
            </a:pP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CAB key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신호 관련 수정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.(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인식 및 해제 조건 수정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)</a:t>
            </a:r>
          </a:p>
          <a:p>
            <a:pPr marL="352425" indent="9525" algn="just">
              <a:lnSpc>
                <a:spcPts val="1400"/>
              </a:lnSpc>
              <a:buFont typeface="Arial" charset="0"/>
              <a:buChar char="•"/>
            </a:pP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OCC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대승객 방송 기능 조건 수정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</a:t>
            </a:r>
          </a:p>
          <a:p>
            <a:pPr marL="352425" indent="9525" algn="just">
              <a:lnSpc>
                <a:spcPts val="1400"/>
              </a:lnSpc>
              <a:buFont typeface="Arial" charset="0"/>
              <a:buChar char="•"/>
            </a:pP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OCC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메시지 관련 처리 조건 수정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 marL="352425" indent="9525" algn="just">
              <a:lnSpc>
                <a:spcPts val="1400"/>
              </a:lnSpc>
              <a:buFont typeface="Arial" charset="0"/>
              <a:buChar char="•"/>
            </a:pP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물리적 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Key Off</a:t>
            </a: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시점 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LICM</a:t>
            </a: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공유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.   </a:t>
            </a:r>
          </a:p>
          <a:p>
            <a:pPr marL="228600" indent="-38100">
              <a:lnSpc>
                <a:spcPct val="130000"/>
              </a:lnSpc>
              <a:buFont typeface="Wingdings" charset="2"/>
              <a:buChar char="Ø"/>
            </a:pP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LICM S/W</a:t>
            </a: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수정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361950" indent="-47625">
              <a:lnSpc>
                <a:spcPct val="130000"/>
              </a:lnSpc>
              <a:buFont typeface="Arial" charset="0"/>
              <a:buChar char="•"/>
            </a:pP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CAB key </a:t>
            </a: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신호 관련 수정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.(</a:t>
            </a: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인식 및 해제 조건 수정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)</a:t>
            </a:r>
          </a:p>
          <a:p>
            <a:pPr marL="361950" indent="-47625">
              <a:lnSpc>
                <a:spcPct val="130000"/>
              </a:lnSpc>
              <a:buFont typeface="Arial" charset="0"/>
              <a:buChar char="•"/>
            </a:pP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Key Off </a:t>
            </a: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시점에 따른 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Lon </a:t>
            </a:r>
            <a:r>
              <a:rPr lang="ko-KR" altLang="en-US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통신 처리 조건 수정</a:t>
            </a: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3154360" y="95216"/>
            <a:ext cx="3786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덴버 </a:t>
            </a: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DTS </a:t>
            </a:r>
            <a:b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</a:b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SW CAB</a:t>
            </a:r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 </a:t>
            </a: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Latch</a:t>
            </a:r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 개발일정</a:t>
            </a: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 </a:t>
            </a:r>
          </a:p>
        </p:txBody>
      </p:sp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-4648" y="809596"/>
            <a:ext cx="6667088" cy="747723"/>
          </a:xfrm>
          <a:prstGeom prst="roundRect">
            <a:avLst>
              <a:gd name="adj" fmla="val 0"/>
            </a:avLst>
          </a:prstGeom>
          <a:solidFill>
            <a:srgbClr val="1A3382"/>
          </a:solidFill>
          <a:ln w="28575">
            <a:noFill/>
          </a:ln>
          <a:effectLst>
            <a:outerShdw blurRad="342900" dist="330200" dir="1680000" sx="87000" sy="87000" algn="t" rotWithShape="0">
              <a:prstClr val="black">
                <a:alpha val="82000"/>
              </a:prstClr>
            </a:outerShdw>
          </a:effectLst>
          <a:extLst/>
        </p:spPr>
        <p:txBody>
          <a:bodyPr vert="horz" wrap="square" lIns="63500" tIns="63500" rIns="63500" bIns="6350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1" lang="en-US" altLang="ko-KR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2.</a:t>
            </a:r>
            <a:r>
              <a:rPr kumimoji="1" lang="ko-KR" altLang="en-US" sz="2200" i="0" u="none" strike="noStrike" cap="none" normalizeH="0" baseline="0" noProof="1" smtClean="0">
                <a:ln>
                  <a:noFill/>
                </a:ln>
                <a:solidFill>
                  <a:srgbClr val="FFFFFF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1" lang="en-US" altLang="ko-KR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SW CAB Latch</a:t>
            </a:r>
            <a:r>
              <a:rPr kumimoji="1" lang="ko-KR" altLang="en-US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변경 내용</a:t>
            </a:r>
            <a:r>
              <a:rPr kumimoji="1" lang="en-US" altLang="ko-KR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en-US" altLang="ko-KR" sz="2000" dirty="0">
              <a:solidFill>
                <a:schemeClr val="bg1"/>
              </a:solidFill>
              <a:latin typeface="Verdana" pitchFamily="34" charset="0"/>
              <a:ea typeface="맑은 고딕" pitchFamily="50" charset="-127"/>
              <a:cs typeface="Verdana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0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2329392" y="9289588"/>
            <a:ext cx="2329392" cy="45720"/>
          </a:xfrm>
          <a:prstGeom prst="rect">
            <a:avLst/>
          </a:prstGeom>
          <a:solidFill>
            <a:srgbClr val="1A33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658783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65063" y="9480212"/>
            <a:ext cx="2021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1A3382"/>
                </a:solidFill>
                <a:latin typeface="Times New Roman" pitchFamily="18" charset="0"/>
                <a:cs typeface="Times New Roman" pitchFamily="18" charset="0"/>
              </a:rPr>
              <a:t>www.wjis.co.kr</a:t>
            </a:r>
            <a:endParaRPr lang="ko-KR" altLang="en-US" b="1" dirty="0">
              <a:solidFill>
                <a:srgbClr val="1A338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1719" y="61926"/>
            <a:ext cx="69881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우진로고(영문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19" y="61926"/>
            <a:ext cx="1905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04028" y="14672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40" name="슬라이드 번호 개체 틀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3</a:t>
            </a:fld>
            <a:endParaRPr kumimoji="0" 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91" y="3080792"/>
            <a:ext cx="5023407" cy="325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668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1258" y="2079757"/>
            <a:ext cx="6585660" cy="3484602"/>
          </a:xfrm>
          <a:prstGeom prst="rect">
            <a:avLst/>
          </a:prstGeom>
        </p:spPr>
        <p:txBody>
          <a:bodyPr wrap="none" numCol="2" spcCol="180000">
            <a:noAutofit/>
          </a:bodyPr>
          <a:lstStyle/>
          <a:p>
            <a:pPr lvl="0">
              <a:lnSpc>
                <a:spcPct val="110000"/>
              </a:lnSpc>
            </a:pP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계획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ko-KR" altLang="ko-KR" sz="1400" dirty="0" smtClean="0">
              <a:solidFill>
                <a:srgbClr val="1A3382"/>
              </a:solidFill>
              <a:latin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r>
              <a:rPr lang="en-US" altLang="ko-KR" sz="1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</a:p>
          <a:p>
            <a:pPr marL="180975" lvl="0">
              <a:lnSpc>
                <a:spcPct val="110000"/>
              </a:lnSpc>
              <a:buFont typeface="Wingdings" charset="2"/>
              <a:buChar char="Ø"/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시스템 설계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.</a:t>
            </a: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</a:t>
            </a:r>
            <a:endParaRPr lang="en-US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180975" lvl="0">
              <a:lnSpc>
                <a:spcPct val="110000"/>
              </a:lnSpc>
              <a:buFont typeface="Wingdings" charset="2"/>
              <a:buChar char="Ø"/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프로토콜 설계 및 영향 평가</a:t>
            </a:r>
            <a:r>
              <a:rPr lang="en-US" altLang="ko-KR" sz="900" dirty="0" smtClean="0">
                <a:latin typeface="Verdana" pitchFamily="34" charset="0"/>
                <a:cs typeface="Verdana" pitchFamily="34" charset="0"/>
              </a:rPr>
              <a:t>.</a:t>
            </a:r>
            <a:endParaRPr lang="ko-KR" altLang="ko-KR" sz="900" dirty="0" smtClean="0">
              <a:latin typeface="Verdana" pitchFamily="34" charset="0"/>
              <a:cs typeface="Verdana" pitchFamily="34" charset="0"/>
            </a:endParaRPr>
          </a:p>
          <a:p>
            <a:pPr marL="171450" indent="9525" algn="just">
              <a:lnSpc>
                <a:spcPts val="1400"/>
              </a:lnSpc>
              <a:buFont typeface="Wingdings" charset="2"/>
              <a:buChar char="Ø"/>
            </a:pP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CCP S/W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수정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</a:t>
            </a: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marL="342900" indent="19050">
              <a:lnSpc>
                <a:spcPts val="1400"/>
              </a:lnSpc>
              <a:buFont typeface="Arial" charset="0"/>
              <a:buChar char="•"/>
            </a:pP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CAB key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신호 관련 수정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.(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인식 및 해제 조건 수정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)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</a:t>
            </a:r>
            <a:endParaRPr lang="en-US" altLang="ko-KR" sz="900" dirty="0">
              <a:latin typeface="Verdana" pitchFamily="34" charset="0"/>
              <a:cs typeface="Verdana" pitchFamily="34" charset="0"/>
            </a:endParaRPr>
          </a:p>
          <a:p>
            <a:pPr marL="342900" indent="19050" algn="just">
              <a:lnSpc>
                <a:spcPts val="1400"/>
              </a:lnSpc>
              <a:buFont typeface="Arial" charset="0"/>
              <a:buChar char="•"/>
            </a:pP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Conduct Key(TCR)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신호을 도작 조건으로 추가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</a:t>
            </a:r>
          </a:p>
          <a:p>
            <a:pPr marL="342900" indent="19050" algn="just">
              <a:lnSpc>
                <a:spcPts val="1400"/>
              </a:lnSpc>
              <a:buFont typeface="Arial" charset="0"/>
              <a:buChar char="•"/>
            </a:pP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UI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수정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</a:t>
            </a:r>
          </a:p>
          <a:p>
            <a:pPr marL="342900" indent="19050" algn="just">
              <a:lnSpc>
                <a:spcPts val="1400"/>
              </a:lnSpc>
              <a:buFont typeface="Arial" charset="0"/>
              <a:buChar char="•"/>
            </a:pP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CAB key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또는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 Conduct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key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에 따른 화면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Active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조건을 전면적으로 수정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</a:t>
            </a:r>
          </a:p>
          <a:p>
            <a:pPr marL="314325" indent="-133350" algn="just">
              <a:lnSpc>
                <a:spcPts val="1400"/>
              </a:lnSpc>
              <a:buFont typeface="Wingdings" charset="2"/>
              <a:buChar char="Ø"/>
            </a:pP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Main S/W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수정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</a:t>
            </a:r>
          </a:p>
          <a:p>
            <a:pPr marL="352425" indent="9525" algn="just">
              <a:lnSpc>
                <a:spcPts val="1400"/>
              </a:lnSpc>
              <a:buFont typeface="Arial" charset="0"/>
              <a:buChar char="•"/>
            </a:pP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CAB key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신호 관련 수정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.(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인식 및 해제 조건 수정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)</a:t>
            </a:r>
          </a:p>
          <a:p>
            <a:pPr marL="352425" indent="9525" algn="just">
              <a:lnSpc>
                <a:spcPts val="1400"/>
              </a:lnSpc>
              <a:buFont typeface="Arial" charset="0"/>
              <a:buChar char="•"/>
            </a:pP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OCC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대승객 방송 기능 조건 수정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</a:t>
            </a:r>
          </a:p>
          <a:p>
            <a:pPr marL="352425" indent="9525" algn="just">
              <a:lnSpc>
                <a:spcPts val="1400"/>
              </a:lnSpc>
              <a:buFont typeface="Arial" charset="0"/>
              <a:buChar char="•"/>
            </a:pP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 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OCC </a:t>
            </a:r>
            <a:r>
              <a:rPr lang="ko-KR" altLang="en-US" sz="900" dirty="0">
                <a:latin typeface="Verdana" pitchFamily="34" charset="0"/>
                <a:cs typeface="Verdana" pitchFamily="34" charset="0"/>
              </a:rPr>
              <a:t>메시지 관련 처리 조건 수정</a:t>
            </a:r>
            <a:r>
              <a:rPr lang="en-US" altLang="ko-KR" sz="900" dirty="0">
                <a:latin typeface="Verdana" pitchFamily="34" charset="0"/>
                <a:cs typeface="Verdana" pitchFamily="34" charset="0"/>
              </a:rPr>
              <a:t>.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 marL="352425" indent="9525" algn="just">
              <a:lnSpc>
                <a:spcPts val="1400"/>
              </a:lnSpc>
              <a:buFont typeface="Arial" charset="0"/>
              <a:buChar char="•"/>
            </a:pPr>
            <a:r>
              <a:rPr lang="en-US" altLang="ko-KR" sz="9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물리적 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Key Off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시점 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LICM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공유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  </a:t>
            </a:r>
          </a:p>
          <a:p>
            <a:pPr marL="228600" indent="-38100">
              <a:lnSpc>
                <a:spcPct val="130000"/>
              </a:lnSpc>
              <a:buFont typeface="Wingdings" charset="2"/>
              <a:buChar char="Ø"/>
            </a:pP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LICM S/W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수정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 marL="361950" indent="-47625">
              <a:lnSpc>
                <a:spcPct val="130000"/>
              </a:lnSpc>
              <a:buFont typeface="Arial" charset="0"/>
              <a:buChar char="•"/>
            </a:pP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CAB key 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신호 관련 수정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.(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인식 및 해제 조건 수정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)</a:t>
            </a:r>
          </a:p>
          <a:p>
            <a:pPr marL="361950" indent="-47625">
              <a:lnSpc>
                <a:spcPct val="130000"/>
              </a:lnSpc>
              <a:buFont typeface="Arial" charset="0"/>
              <a:buChar char="•"/>
            </a:pP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Key Off 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시점에 따른 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Lon </a:t>
            </a: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통신 처리 조건 수정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</a:t>
            </a:r>
          </a:p>
          <a:p>
            <a:pPr marL="266700" indent="-88900">
              <a:lnSpc>
                <a:spcPct val="130000"/>
              </a:lnSpc>
              <a:buFont typeface="Wingdings" charset="2"/>
              <a:buChar char="Ø"/>
            </a:pPr>
            <a:r>
              <a:rPr lang="ko-KR" altLang="en-US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디버깅</a:t>
            </a:r>
            <a:r>
              <a:rPr lang="en-US" altLang="ko-KR" sz="9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en-US" altLang="ko-KR" sz="9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361950" indent="-47625">
              <a:lnSpc>
                <a:spcPct val="130000"/>
              </a:lnSpc>
              <a:buFont typeface="Arial" charset="0"/>
              <a:buChar char="•"/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-4648" y="809596"/>
            <a:ext cx="6667088" cy="747723"/>
          </a:xfrm>
          <a:prstGeom prst="roundRect">
            <a:avLst>
              <a:gd name="adj" fmla="val 0"/>
            </a:avLst>
          </a:prstGeom>
          <a:solidFill>
            <a:srgbClr val="1A3382"/>
          </a:solidFill>
          <a:ln w="28575">
            <a:noFill/>
          </a:ln>
          <a:effectLst>
            <a:outerShdw blurRad="342900" dist="330200" dir="1680000" sx="87000" sy="87000" algn="t" rotWithShape="0">
              <a:prstClr val="black">
                <a:alpha val="82000"/>
              </a:prstClr>
            </a:outerShdw>
          </a:effectLst>
          <a:extLst/>
        </p:spPr>
        <p:txBody>
          <a:bodyPr vert="horz" wrap="square" lIns="63500" tIns="63500" rIns="63500" bIns="6350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kumimoji="1" lang="en-US" altLang="ko-KR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3.</a:t>
            </a:r>
            <a:r>
              <a:rPr kumimoji="1" lang="ko-KR" altLang="en-US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일정 및 시험 조건</a:t>
            </a:r>
            <a:r>
              <a:rPr kumimoji="1" lang="en-US" altLang="ko-KR" sz="2200" noProof="1" smtClean="0">
                <a:solidFill>
                  <a:srgbClr val="FFFFFF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en-US" altLang="ko-KR" sz="2000" dirty="0">
              <a:solidFill>
                <a:schemeClr val="bg1"/>
              </a:solidFill>
              <a:latin typeface="Verdana" pitchFamily="34" charset="0"/>
              <a:ea typeface="맑은 고딕" pitchFamily="50" charset="-127"/>
              <a:cs typeface="Verdana" pitchFamily="34" charset="0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0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2329392" y="9289588"/>
            <a:ext cx="2329392" cy="45720"/>
          </a:xfrm>
          <a:prstGeom prst="rect">
            <a:avLst/>
          </a:prstGeom>
          <a:solidFill>
            <a:srgbClr val="1A33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658783" y="9289588"/>
            <a:ext cx="2329392" cy="45720"/>
          </a:xfrm>
          <a:prstGeom prst="rect">
            <a:avLst/>
          </a:prstGeom>
          <a:solidFill>
            <a:srgbClr val="505A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65063" y="9480212"/>
            <a:ext cx="2021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>
                <a:solidFill>
                  <a:srgbClr val="1A3382"/>
                </a:solidFill>
                <a:latin typeface="Times New Roman" pitchFamily="18" charset="0"/>
                <a:cs typeface="Times New Roman" pitchFamily="18" charset="0"/>
              </a:rPr>
              <a:t>www.wjis.co.kr</a:t>
            </a:r>
            <a:endParaRPr lang="ko-KR" altLang="en-US" b="1" dirty="0">
              <a:solidFill>
                <a:srgbClr val="1A338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81719" y="61926"/>
            <a:ext cx="698817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 descr="우진로고(영문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19" y="61926"/>
            <a:ext cx="1905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04028" y="14672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4</a:t>
            </a:fld>
            <a:endParaRPr kumimoji="0" lang="en-US"/>
          </a:p>
        </p:txBody>
      </p:sp>
      <p:sp>
        <p:nvSpPr>
          <p:cNvPr id="26" name="직사각형 25"/>
          <p:cNvSpPr/>
          <p:nvPr/>
        </p:nvSpPr>
        <p:spPr>
          <a:xfrm>
            <a:off x="3154360" y="95216"/>
            <a:ext cx="3786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덴버 </a:t>
            </a: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DTS </a:t>
            </a:r>
            <a:b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</a:b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SW CAB</a:t>
            </a:r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 </a:t>
            </a: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Latch</a:t>
            </a:r>
            <a:r>
              <a:rPr lang="ko-KR" altLang="en-US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 개발일정</a:t>
            </a:r>
            <a:r>
              <a:rPr lang="en-US" altLang="ko-KR" sz="2000" b="1" dirty="0" smtClean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  <a:cs typeface="Verdana" pitchFamily="34" charset="0"/>
              </a:rPr>
              <a:t> 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01259" y="5709263"/>
            <a:ext cx="6461182" cy="3497881"/>
          </a:xfrm>
          <a:prstGeom prst="rect">
            <a:avLst/>
          </a:prstGeom>
        </p:spPr>
        <p:txBody>
          <a:bodyPr wrap="square" numCol="1" spcCol="180000">
            <a:spAutoFit/>
          </a:bodyPr>
          <a:lstStyle/>
          <a:p>
            <a:pPr lvl="0">
              <a:lnSpc>
                <a:spcPct val="110000"/>
              </a:lnSpc>
            </a:pPr>
            <a:r>
              <a:rPr lang="ko-KR" altLang="en-US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시험 조건</a:t>
            </a:r>
            <a:r>
              <a:rPr lang="en-US" altLang="ko-KR" sz="1400" b="1" dirty="0" smtClean="0">
                <a:solidFill>
                  <a:srgbClr val="1A338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  <a:endParaRPr lang="ko-KR" altLang="ko-KR" sz="1400" dirty="0" smtClean="0">
              <a:solidFill>
                <a:srgbClr val="1A3382"/>
              </a:solidFill>
              <a:latin typeface="Verdana" pitchFamily="34" charset="0"/>
              <a:cs typeface="Verdana" pitchFamily="34" charset="0"/>
            </a:endParaRPr>
          </a:p>
          <a:p>
            <a:pPr marL="357188" indent="-198438">
              <a:buFont typeface="Wingdings" charset="2"/>
              <a:buChar char="Ø"/>
            </a:pPr>
            <a:r>
              <a:rPr lang="ko-KR" altLang="en-US" sz="10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ko-KR" altLang="ko-KR" sz="1000" dirty="0" smtClean="0"/>
              <a:t>로템 </a:t>
            </a:r>
            <a:r>
              <a:rPr lang="ko-KR" altLang="ko-KR" sz="1000" dirty="0"/>
              <a:t>측에서 시행청에 </a:t>
            </a:r>
            <a:r>
              <a:rPr lang="en-US" altLang="ko-KR" sz="1000" dirty="0"/>
              <a:t>S/W </a:t>
            </a:r>
            <a:r>
              <a:rPr lang="ko-KR" altLang="ko-KR" sz="1000" dirty="0"/>
              <a:t>변경에 대한 사전 협의가 이루어 져야 함</a:t>
            </a:r>
            <a:r>
              <a:rPr lang="en-US" altLang="ko-KR" sz="1000" dirty="0" smtClean="0"/>
              <a:t>.</a:t>
            </a:r>
            <a:endParaRPr lang="en-US" altLang="ko-KR" sz="1000" dirty="0"/>
          </a:p>
          <a:p>
            <a:pPr marL="357188" indent="-198438">
              <a:buFont typeface="Arial" charset="0"/>
              <a:buChar char="•"/>
            </a:pPr>
            <a:r>
              <a:rPr lang="en-US" altLang="ko-KR" sz="1000" dirty="0" smtClean="0"/>
              <a:t>3</a:t>
            </a:r>
            <a:r>
              <a:rPr lang="ko-KR" altLang="ko-KR" sz="1000" dirty="0"/>
              <a:t>월 출장에서</a:t>
            </a:r>
            <a:r>
              <a:rPr lang="en-US" altLang="ko-KR" sz="1000" dirty="0"/>
              <a:t> (</a:t>
            </a:r>
            <a:r>
              <a:rPr lang="ko-KR" altLang="ko-KR" sz="1000" dirty="0"/>
              <a:t>주</a:t>
            </a:r>
            <a:r>
              <a:rPr lang="en-US" altLang="ko-KR" sz="1000" dirty="0"/>
              <a:t>)</a:t>
            </a:r>
            <a:r>
              <a:rPr lang="ko-KR" altLang="ko-KR" sz="1000" dirty="0"/>
              <a:t>우진산전인 이미 위 기능에 대하여</a:t>
            </a:r>
            <a:r>
              <a:rPr lang="en-US" altLang="ko-KR" sz="1000" dirty="0"/>
              <a:t>, </a:t>
            </a:r>
            <a:r>
              <a:rPr lang="ko-KR" altLang="ko-KR" sz="1000" dirty="0"/>
              <a:t>시행청 입회시험을 완료한 상태임</a:t>
            </a:r>
            <a:r>
              <a:rPr lang="en-US" altLang="ko-KR" sz="1000" dirty="0" smtClean="0"/>
              <a:t>.</a:t>
            </a:r>
          </a:p>
          <a:p>
            <a:pPr marL="357188" indent="-198438">
              <a:buFont typeface="Arial" charset="0"/>
              <a:buChar char="•"/>
            </a:pPr>
            <a:endParaRPr lang="en-US" altLang="ko-KR" sz="1000" dirty="0"/>
          </a:p>
          <a:p>
            <a:pPr marL="357188" indent="-198438">
              <a:buFont typeface="Wingdings" charset="2"/>
              <a:buChar char="Ø"/>
            </a:pPr>
            <a:r>
              <a:rPr lang="en-US" altLang="ko-KR" sz="1000" dirty="0" smtClean="0"/>
              <a:t>S/W </a:t>
            </a:r>
            <a:r>
              <a:rPr lang="ko-KR" altLang="ko-KR" sz="1000" dirty="0"/>
              <a:t>수정 전 로템 측에서</a:t>
            </a:r>
            <a:r>
              <a:rPr lang="en-US" altLang="ko-KR" sz="1000" dirty="0"/>
              <a:t>, Conduct </a:t>
            </a:r>
            <a:r>
              <a:rPr lang="ko-KR" altLang="ko-KR" sz="1000" dirty="0"/>
              <a:t>신호 변경 가능 유무 </a:t>
            </a:r>
            <a:r>
              <a:rPr lang="ko-KR" altLang="ko-KR" sz="1000" dirty="0" smtClean="0"/>
              <a:t>확답</a:t>
            </a:r>
            <a:r>
              <a:rPr lang="ko-KR" altLang="en-US" sz="1000" dirty="0" smtClean="0"/>
              <a:t> 및 신호 정보에 대한 차량동작 조건 확인이</a:t>
            </a:r>
            <a:r>
              <a:rPr lang="ko-KR" altLang="ko-KR" sz="1000" dirty="0" smtClean="0"/>
              <a:t> </a:t>
            </a:r>
            <a:r>
              <a:rPr lang="ko-KR" altLang="ko-KR" sz="1000" dirty="0"/>
              <a:t>이루어 져야 </a:t>
            </a:r>
            <a:r>
              <a:rPr lang="en-US" altLang="ko-KR" sz="1000" dirty="0"/>
              <a:t>S/W </a:t>
            </a:r>
            <a:r>
              <a:rPr lang="ko-KR" altLang="ko-KR" sz="1000" dirty="0"/>
              <a:t>수정이 가능함</a:t>
            </a:r>
            <a:r>
              <a:rPr lang="en-US" altLang="ko-KR" sz="1000" dirty="0"/>
              <a:t>.    </a:t>
            </a:r>
            <a:endParaRPr lang="en-US" altLang="ko-KR" sz="100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>
              <a:lnSpc>
                <a:spcPct val="110000"/>
              </a:lnSpc>
            </a:pPr>
            <a:endParaRPr lang="en-US" altLang="ko-KR" sz="100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171450" lvl="0" indent="9525">
              <a:lnSpc>
                <a:spcPct val="150000"/>
              </a:lnSpc>
              <a:buFont typeface="Wingdings" charset="2"/>
              <a:buChar char="Ø"/>
            </a:pPr>
            <a:r>
              <a:rPr lang="ko-KR" altLang="en-US" sz="900" dirty="0" smtClean="0">
                <a:latin typeface="Verdana" pitchFamily="34" charset="0"/>
                <a:cs typeface="Verdana" pitchFamily="34" charset="0"/>
              </a:rPr>
              <a:t>  </a:t>
            </a:r>
            <a:r>
              <a:rPr lang="ko-KR" altLang="ko-KR" sz="900" dirty="0" smtClean="0"/>
              <a:t>사전 </a:t>
            </a:r>
            <a:r>
              <a:rPr lang="ko-KR" altLang="ko-KR" sz="900" dirty="0"/>
              <a:t>시험 정보</a:t>
            </a:r>
            <a:r>
              <a:rPr lang="en-US" altLang="ko-KR" sz="900" dirty="0"/>
              <a:t> Cab Key</a:t>
            </a:r>
            <a:r>
              <a:rPr lang="ko-KR" altLang="ko-KR" sz="900" dirty="0"/>
              <a:t>와 </a:t>
            </a:r>
            <a:r>
              <a:rPr lang="en-US" altLang="ko-KR" sz="900" dirty="0"/>
              <a:t>Conduct Key</a:t>
            </a:r>
            <a:r>
              <a:rPr lang="ko-KR" altLang="ko-KR" sz="900" dirty="0"/>
              <a:t>가 인가되는 시점 정보 필요</a:t>
            </a:r>
            <a:r>
              <a:rPr lang="en-US" altLang="ko-KR" sz="900" dirty="0"/>
              <a:t>.</a:t>
            </a:r>
            <a:endParaRPr lang="ko-KR" altLang="ko-KR" sz="900" dirty="0"/>
          </a:p>
          <a:p>
            <a:pPr marL="450850" lvl="1" indent="-93663">
              <a:lnSpc>
                <a:spcPct val="150000"/>
              </a:lnSpc>
              <a:buFont typeface="Arial" charset="0"/>
              <a:buChar char="•"/>
            </a:pPr>
            <a:r>
              <a:rPr lang="en-US" altLang="ko-KR" sz="900" dirty="0"/>
              <a:t>4001-4002-4003-4004</a:t>
            </a:r>
            <a:r>
              <a:rPr lang="ko-KR" altLang="ko-KR" sz="900" dirty="0"/>
              <a:t>가 연결되었을 경우</a:t>
            </a:r>
            <a:r>
              <a:rPr lang="en-US" altLang="ko-KR" sz="900" dirty="0"/>
              <a:t>.(</a:t>
            </a:r>
            <a:r>
              <a:rPr lang="ko-KR" altLang="ko-KR" sz="900" dirty="0"/>
              <a:t>중련 구성 예</a:t>
            </a:r>
            <a:r>
              <a:rPr lang="en-US" altLang="ko-KR" sz="900" dirty="0" smtClean="0"/>
              <a:t>)</a:t>
            </a:r>
            <a:endParaRPr lang="en-US" altLang="ko-KR" sz="900" dirty="0"/>
          </a:p>
          <a:p>
            <a:pPr marL="450850" lvl="1" indent="-93663">
              <a:lnSpc>
                <a:spcPct val="150000"/>
              </a:lnSpc>
              <a:buFont typeface="Arial" charset="0"/>
              <a:buChar char="•"/>
            </a:pPr>
            <a:r>
              <a:rPr lang="en-US" altLang="ko-KR" sz="900" dirty="0" smtClean="0"/>
              <a:t>4001</a:t>
            </a:r>
            <a:r>
              <a:rPr lang="ko-KR" altLang="ko-KR" sz="900" dirty="0"/>
              <a:t>에서 </a:t>
            </a:r>
            <a:r>
              <a:rPr lang="en-US" altLang="ko-KR" sz="900" dirty="0"/>
              <a:t>Cab Key On -&gt; Off</a:t>
            </a:r>
            <a:r>
              <a:rPr lang="ko-KR" altLang="ko-KR" sz="900" dirty="0"/>
              <a:t>시 통신 </a:t>
            </a:r>
            <a:r>
              <a:rPr lang="en-US" altLang="ko-KR" sz="900" dirty="0"/>
              <a:t>Master</a:t>
            </a:r>
            <a:r>
              <a:rPr lang="ko-KR" altLang="ko-KR" sz="900" dirty="0"/>
              <a:t>는 </a:t>
            </a:r>
            <a:r>
              <a:rPr lang="en-US" altLang="ko-KR" sz="900" dirty="0"/>
              <a:t>4001</a:t>
            </a:r>
            <a:r>
              <a:rPr lang="ko-KR" altLang="ko-KR" sz="900" dirty="0"/>
              <a:t>상태</a:t>
            </a:r>
            <a:r>
              <a:rPr lang="en-US" altLang="ko-KR" sz="900" dirty="0" smtClean="0"/>
              <a:t>.</a:t>
            </a:r>
            <a:endParaRPr lang="en-US" altLang="ko-KR" sz="900" dirty="0"/>
          </a:p>
          <a:p>
            <a:pPr marL="450850" lvl="1" indent="-93663">
              <a:lnSpc>
                <a:spcPct val="150000"/>
              </a:lnSpc>
              <a:buFont typeface="Arial" charset="0"/>
              <a:buChar char="•"/>
            </a:pPr>
            <a:r>
              <a:rPr lang="en-US" altLang="ko-KR" sz="900" dirty="0" smtClean="0"/>
              <a:t>4004</a:t>
            </a:r>
            <a:r>
              <a:rPr lang="ko-KR" altLang="ko-KR" sz="900" dirty="0"/>
              <a:t>에 </a:t>
            </a:r>
            <a:r>
              <a:rPr lang="en-US" altLang="ko-KR" sz="900" dirty="0"/>
              <a:t>Cab Key</a:t>
            </a:r>
            <a:r>
              <a:rPr lang="ko-KR" altLang="ko-KR" sz="900" dirty="0"/>
              <a:t>를 넣을 경우</a:t>
            </a:r>
            <a:r>
              <a:rPr lang="en-US" altLang="ko-KR" sz="900" dirty="0"/>
              <a:t>, 4001</a:t>
            </a:r>
            <a:r>
              <a:rPr lang="ko-KR" altLang="ko-KR" sz="900" dirty="0"/>
              <a:t>차량의 </a:t>
            </a:r>
            <a:r>
              <a:rPr lang="en-US" altLang="ko-KR" sz="900" dirty="0"/>
              <a:t>Conduct Key </a:t>
            </a:r>
            <a:r>
              <a:rPr lang="ko-KR" altLang="ko-KR" sz="900" dirty="0"/>
              <a:t>신호와</a:t>
            </a:r>
            <a:r>
              <a:rPr lang="en-US" altLang="ko-KR" sz="900" dirty="0"/>
              <a:t>, 4004</a:t>
            </a:r>
            <a:r>
              <a:rPr lang="ko-KR" altLang="ko-KR" sz="900" dirty="0"/>
              <a:t>의 </a:t>
            </a:r>
            <a:r>
              <a:rPr lang="en-US" altLang="ko-KR" sz="900" dirty="0"/>
              <a:t>Cab Key</a:t>
            </a:r>
            <a:r>
              <a:rPr lang="ko-KR" altLang="ko-KR" sz="900" dirty="0"/>
              <a:t>가 인가되는 시점의 정보 필요</a:t>
            </a:r>
            <a:r>
              <a:rPr lang="en-US" altLang="ko-KR" sz="900" dirty="0" smtClean="0"/>
              <a:t>.</a:t>
            </a:r>
            <a:endParaRPr lang="en-US" altLang="ko-KR" sz="900" dirty="0"/>
          </a:p>
          <a:p>
            <a:pPr marL="450850" lvl="1" indent="-93663">
              <a:lnSpc>
                <a:spcPct val="150000"/>
              </a:lnSpc>
              <a:buFont typeface="Arial" charset="0"/>
              <a:buChar char="•"/>
            </a:pPr>
            <a:r>
              <a:rPr lang="en-US" altLang="ko-KR" sz="900" dirty="0" smtClean="0"/>
              <a:t>Cab Key</a:t>
            </a:r>
            <a:r>
              <a:rPr lang="ko-KR" altLang="ko-KR" sz="900" dirty="0" smtClean="0"/>
              <a:t>가 인가된 경우</a:t>
            </a:r>
            <a:r>
              <a:rPr lang="en-US" altLang="ko-KR" sz="900" dirty="0" smtClean="0"/>
              <a:t>, 4001</a:t>
            </a:r>
            <a:r>
              <a:rPr lang="ko-KR" altLang="ko-KR" sz="900" dirty="0" smtClean="0"/>
              <a:t>에서 우선 </a:t>
            </a:r>
            <a:r>
              <a:rPr lang="en-US" altLang="ko-KR" sz="900" dirty="0" smtClean="0"/>
              <a:t>Master </a:t>
            </a:r>
            <a:r>
              <a:rPr lang="ko-KR" altLang="ko-KR" sz="900" dirty="0" smtClean="0"/>
              <a:t>정보를 해제 후</a:t>
            </a:r>
            <a:r>
              <a:rPr lang="en-US" altLang="ko-KR" sz="900" dirty="0" smtClean="0"/>
              <a:t>, 4004</a:t>
            </a:r>
            <a:r>
              <a:rPr lang="ko-KR" altLang="ko-KR" sz="900" dirty="0" smtClean="0"/>
              <a:t>가 통신 </a:t>
            </a:r>
            <a:r>
              <a:rPr lang="en-US" altLang="ko-KR" sz="900" dirty="0" smtClean="0"/>
              <a:t>Master</a:t>
            </a:r>
            <a:r>
              <a:rPr lang="ko-KR" altLang="ko-KR" sz="900" dirty="0" smtClean="0"/>
              <a:t>를 잡아야 함으로 정확한 시간 측정 필요</a:t>
            </a:r>
            <a:r>
              <a:rPr lang="en-US" altLang="ko-KR" sz="900" dirty="0" smtClean="0"/>
              <a:t>.</a:t>
            </a:r>
          </a:p>
          <a:p>
            <a:pPr marL="628650" lvl="1" indent="-171450">
              <a:lnSpc>
                <a:spcPct val="150000"/>
              </a:lnSpc>
              <a:buFont typeface="Arial" charset="0"/>
              <a:buChar char="•"/>
            </a:pPr>
            <a:endParaRPr lang="ko-KR" altLang="ko-KR" sz="900" dirty="0" smtClean="0"/>
          </a:p>
          <a:p>
            <a:pPr>
              <a:lnSpc>
                <a:spcPct val="150000"/>
              </a:lnSpc>
            </a:pPr>
            <a:r>
              <a:rPr lang="en-US" altLang="ko-KR" sz="900" b="1" dirty="0" smtClean="0"/>
              <a:t>※ </a:t>
            </a:r>
            <a:r>
              <a:rPr lang="en-US" altLang="ko-KR" sz="900" b="1" dirty="0"/>
              <a:t>4004</a:t>
            </a:r>
            <a:r>
              <a:rPr lang="ko-KR" altLang="ko-KR" sz="900" b="1" dirty="0"/>
              <a:t>에 </a:t>
            </a:r>
            <a:r>
              <a:rPr lang="en-US" altLang="ko-KR" sz="900" b="1" dirty="0"/>
              <a:t>Cab key</a:t>
            </a:r>
            <a:r>
              <a:rPr lang="ko-KR" altLang="ko-KR" sz="900" b="1" dirty="0"/>
              <a:t>를 넣을 경우</a:t>
            </a:r>
            <a:r>
              <a:rPr lang="en-US" altLang="ko-KR" sz="900" b="1" dirty="0"/>
              <a:t>, 4001, 4002, 4003, 4004</a:t>
            </a:r>
            <a:r>
              <a:rPr lang="ko-KR" altLang="ko-KR" sz="900" b="1" dirty="0"/>
              <a:t>의 </a:t>
            </a:r>
            <a:r>
              <a:rPr lang="en-US" altLang="ko-KR" sz="900" b="1" dirty="0"/>
              <a:t>Conduct Key </a:t>
            </a:r>
            <a:r>
              <a:rPr lang="ko-KR" altLang="ko-KR" sz="900" b="1" dirty="0"/>
              <a:t>신호가 어떻게 변하는지 확인 필요</a:t>
            </a:r>
            <a:r>
              <a:rPr lang="en-US" altLang="ko-KR" sz="900" b="1" dirty="0"/>
              <a:t>.(</a:t>
            </a:r>
            <a:r>
              <a:rPr lang="ko-KR" altLang="ko-KR" sz="900" b="1" dirty="0"/>
              <a:t>방송장치는 중련된 차량의 어느 운전실에서도 </a:t>
            </a:r>
            <a:r>
              <a:rPr lang="en-US" altLang="ko-KR" sz="900" b="1" dirty="0"/>
              <a:t>Cab Key </a:t>
            </a:r>
            <a:r>
              <a:rPr lang="ko-KR" altLang="ko-KR" sz="900" b="1" dirty="0"/>
              <a:t>투입이 가능함으로</a:t>
            </a:r>
            <a:r>
              <a:rPr lang="en-US" altLang="ko-KR" sz="900" b="1" dirty="0"/>
              <a:t>, </a:t>
            </a:r>
            <a:r>
              <a:rPr lang="ko-KR" altLang="ko-KR" sz="900" b="1" dirty="0"/>
              <a:t>명확한 확인이 필요</a:t>
            </a:r>
            <a:r>
              <a:rPr lang="en-US" altLang="ko-KR" sz="900" b="1" dirty="0"/>
              <a:t>)</a:t>
            </a:r>
            <a:endParaRPr lang="ko-KR" altLang="ko-KR" sz="900" dirty="0"/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30000"/>
              </a:lnSpc>
            </a:pPr>
            <a:endParaRPr lang="en-US" altLang="ko-KR" sz="9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246492"/>
              </p:ext>
            </p:extLst>
          </p:nvPr>
        </p:nvGraphicFramePr>
        <p:xfrm>
          <a:off x="3781355" y="2079757"/>
          <a:ext cx="3024312" cy="3629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  <a:gridCol w="252026"/>
              </a:tblGrid>
              <a:tr h="349388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</a:t>
                      </a:r>
                      <a:r>
                        <a:rPr lang="ko-KR" altLang="en-US" sz="1200" dirty="0" smtClean="0"/>
                        <a:t>주</a:t>
                      </a:r>
                      <a:endParaRPr lang="ko-KR" altLang="en-US" sz="12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</a:t>
                      </a:r>
                      <a:r>
                        <a:rPr lang="ko-KR" altLang="en-US" sz="1200" dirty="0" smtClean="0"/>
                        <a:t>주</a:t>
                      </a:r>
                      <a:endParaRPr lang="ko-KR" altLang="en-US" sz="12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디버깅</a:t>
                      </a:r>
                      <a:endParaRPr lang="ko-KR" altLang="en-US" sz="12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28011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12" name="직선 화살표 연결선 11"/>
          <p:cNvCxnSpPr/>
          <p:nvPr/>
        </p:nvCxnSpPr>
        <p:spPr>
          <a:xfrm>
            <a:off x="3854127" y="2504728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4070151" y="2657128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>
            <a:off x="4286175" y="2864768"/>
            <a:ext cx="7220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4790231" y="3944888"/>
            <a:ext cx="7220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5008192" y="4808984"/>
            <a:ext cx="7220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>
            <a:off x="5798343" y="5556178"/>
            <a:ext cx="988575" cy="8181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553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13679</TotalTime>
  <Words>615</Words>
  <Application>Microsoft Macintosh PowerPoint</Application>
  <PresentationFormat>사용자 지정</PresentationFormat>
  <Paragraphs>131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맑은 고딕</vt:lpstr>
      <vt:lpstr>Times New Roman</vt:lpstr>
      <vt:lpstr>Verdana</vt:lpstr>
      <vt:lpstr>Wingdings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장덕수</cp:lastModifiedBy>
  <cp:revision>561</cp:revision>
  <cp:lastPrinted>2011-01-12T12:08:54Z</cp:lastPrinted>
  <dcterms:created xsi:type="dcterms:W3CDTF">2006-10-05T04:04:58Z</dcterms:created>
  <dcterms:modified xsi:type="dcterms:W3CDTF">2017-04-10T19:51:17Z</dcterms:modified>
</cp:coreProperties>
</file>