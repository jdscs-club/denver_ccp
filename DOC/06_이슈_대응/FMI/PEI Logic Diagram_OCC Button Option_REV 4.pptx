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66" r:id="rId4"/>
    <p:sldId id="260" r:id="rId5"/>
    <p:sldId id="258" r:id="rId6"/>
    <p:sldId id="259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113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22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1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065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8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10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527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10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773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289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986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9A2EB-395D-44F3-90DC-D774C8657BF3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04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558766" y="3428382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VoIP Box</a:t>
            </a:r>
          </a:p>
          <a:p>
            <a:pPr algn="ctr"/>
            <a:r>
              <a:rPr lang="en-US" sz="1300" dirty="0"/>
              <a:t>(IP .199)</a:t>
            </a:r>
            <a:endParaRPr lang="en-US" sz="1300" dirty="0"/>
          </a:p>
        </p:txBody>
      </p:sp>
      <p:pic>
        <p:nvPicPr>
          <p:cNvPr id="20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11" r="75904" b="4337"/>
          <a:stretch/>
        </p:blipFill>
        <p:spPr bwMode="auto">
          <a:xfrm>
            <a:off x="3505200" y="762000"/>
            <a:ext cx="5154705" cy="1271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235240" y="228600"/>
            <a:ext cx="2719591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dirty="0" smtClean="0"/>
              <a:t>COMM: PEI Logical Diagram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5562600" y="2332293"/>
            <a:ext cx="1853392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/>
              <a:t>Married Pair 40XX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1958228" y="2209800"/>
            <a:ext cx="1109382" cy="550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600" b="1" dirty="0"/>
              <a:t>WiMAX</a:t>
            </a:r>
          </a:p>
          <a:p>
            <a:pPr algn="ctr"/>
            <a:r>
              <a:rPr lang="en-US" sz="1600" b="1" dirty="0"/>
              <a:t>connection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5241" y="2301515"/>
            <a:ext cx="986116" cy="3654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2000" b="1" dirty="0"/>
              <a:t>OCC</a:t>
            </a:r>
          </a:p>
        </p:txBody>
      </p:sp>
      <p:sp>
        <p:nvSpPr>
          <p:cNvPr id="2" name="Cloud 1"/>
          <p:cNvSpPr/>
          <p:nvPr/>
        </p:nvSpPr>
        <p:spPr>
          <a:xfrm>
            <a:off x="1299883" y="2895600"/>
            <a:ext cx="2052918" cy="2514600"/>
          </a:xfrm>
          <a:prstGeom prst="cloud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spcCol="0"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152400" y="3200400"/>
            <a:ext cx="986116" cy="6578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Phone System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6883" y="4342782"/>
            <a:ext cx="986117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63249" y="4190382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CNCS</a:t>
            </a:r>
          </a:p>
          <a:p>
            <a:pPr algn="ctr"/>
            <a:r>
              <a:rPr lang="en-US" sz="1300" dirty="0"/>
              <a:t>(IP .200)</a:t>
            </a:r>
            <a:endParaRPr lang="en-US" sz="1300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154545" y="3581400"/>
            <a:ext cx="2408704" cy="231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endCxn id="57" idx="1"/>
          </p:cNvCxnSpPr>
          <p:nvPr/>
        </p:nvCxnSpPr>
        <p:spPr>
          <a:xfrm>
            <a:off x="1196565" y="4414982"/>
            <a:ext cx="2366684" cy="4309"/>
          </a:xfrm>
          <a:prstGeom prst="straightConnector1">
            <a:avLst/>
          </a:prstGeom>
          <a:ln w="25400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endCxn id="66" idx="2"/>
          </p:cNvCxnSpPr>
          <p:nvPr/>
        </p:nvCxnSpPr>
        <p:spPr>
          <a:xfrm flipV="1">
            <a:off x="6156621" y="3855510"/>
            <a:ext cx="1" cy="574695"/>
          </a:xfrm>
          <a:prstGeom prst="straightConnector1">
            <a:avLst/>
          </a:prstGeom>
          <a:ln w="25400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11" idx="3"/>
          </p:cNvCxnSpPr>
          <p:nvPr/>
        </p:nvCxnSpPr>
        <p:spPr>
          <a:xfrm>
            <a:off x="4343400" y="3657291"/>
            <a:ext cx="1461247" cy="309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804646" y="3397692"/>
            <a:ext cx="7039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DPO PTT Toggle</a:t>
            </a:r>
            <a:endParaRPr lang="en-US" sz="1300" dirty="0"/>
          </a:p>
        </p:txBody>
      </p:sp>
      <p:sp>
        <p:nvSpPr>
          <p:cNvPr id="67" name="TextBox 66"/>
          <p:cNvSpPr txBox="1"/>
          <p:nvPr/>
        </p:nvSpPr>
        <p:spPr>
          <a:xfrm>
            <a:off x="7772401" y="3352800"/>
            <a:ext cx="1219200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PEI Speakers</a:t>
            </a:r>
            <a:endParaRPr lang="en-US" sz="1300" dirty="0"/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6508597" y="3505200"/>
            <a:ext cx="1263804" cy="1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57" idx="3"/>
          </p:cNvCxnSpPr>
          <p:nvPr/>
        </p:nvCxnSpPr>
        <p:spPr>
          <a:xfrm flipV="1">
            <a:off x="4343400" y="4414982"/>
            <a:ext cx="1813222" cy="4309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600200" y="3657291"/>
            <a:ext cx="1608044" cy="4885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400" dirty="0"/>
              <a:t>SIP</a:t>
            </a:r>
            <a:r>
              <a:rPr lang="en-US" sz="1400" b="1" dirty="0"/>
              <a:t> </a:t>
            </a:r>
            <a:r>
              <a:rPr lang="en-US" sz="1400" dirty="0"/>
              <a:t>digital</a:t>
            </a:r>
            <a:r>
              <a:rPr lang="en-US" sz="1400" b="1" dirty="0"/>
              <a:t> </a:t>
            </a:r>
            <a:r>
              <a:rPr lang="en-US" sz="1400" dirty="0" smtClean="0"/>
              <a:t>audio</a:t>
            </a:r>
          </a:p>
          <a:p>
            <a:pPr algn="ctr"/>
            <a:r>
              <a:rPr lang="en-US" sz="1400" dirty="0" smtClean="0"/>
              <a:t>(full duplex)</a:t>
            </a:r>
            <a:endParaRPr lang="en-US" sz="1400" dirty="0"/>
          </a:p>
        </p:txBody>
      </p:sp>
      <p:sp>
        <p:nvSpPr>
          <p:cNvPr id="79" name="TextBox 78"/>
          <p:cNvSpPr txBox="1"/>
          <p:nvPr/>
        </p:nvSpPr>
        <p:spPr>
          <a:xfrm>
            <a:off x="1447800" y="4455594"/>
            <a:ext cx="1613647" cy="273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400" dirty="0"/>
              <a:t>PTT</a:t>
            </a:r>
            <a:r>
              <a:rPr lang="en-US" sz="1400" b="1" dirty="0"/>
              <a:t> </a:t>
            </a:r>
            <a:r>
              <a:rPr lang="en-US" sz="1400" dirty="0"/>
              <a:t>digital</a:t>
            </a:r>
            <a:r>
              <a:rPr lang="en-US" sz="1400" b="1" dirty="0"/>
              <a:t> </a:t>
            </a:r>
            <a:r>
              <a:rPr lang="en-US" sz="1400" dirty="0"/>
              <a:t>signal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70516" y="4451248"/>
            <a:ext cx="1786106" cy="273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400" dirty="0"/>
              <a:t>PTT dry contact signal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63550" y="3092805"/>
            <a:ext cx="1313371" cy="4885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400" dirty="0"/>
              <a:t>Analog </a:t>
            </a:r>
            <a:r>
              <a:rPr lang="en-US" sz="1400" dirty="0" smtClean="0"/>
              <a:t>audio</a:t>
            </a:r>
            <a:endParaRPr lang="en-US" sz="1400" dirty="0"/>
          </a:p>
          <a:p>
            <a:pPr algn="ctr"/>
            <a:r>
              <a:rPr lang="en-US" sz="1400" dirty="0" smtClean="0"/>
              <a:t>(full duplex)</a:t>
            </a:r>
            <a:endParaRPr lang="en-US" sz="1400" dirty="0"/>
          </a:p>
        </p:txBody>
      </p:sp>
      <p:sp>
        <p:nvSpPr>
          <p:cNvPr id="82" name="TextBox 81"/>
          <p:cNvSpPr txBox="1"/>
          <p:nvPr/>
        </p:nvSpPr>
        <p:spPr>
          <a:xfrm>
            <a:off x="6521248" y="2957588"/>
            <a:ext cx="1219200" cy="4885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400" dirty="0"/>
              <a:t>Analog </a:t>
            </a:r>
            <a:r>
              <a:rPr lang="en-US" sz="1400" dirty="0" smtClean="0"/>
              <a:t>audio</a:t>
            </a:r>
          </a:p>
          <a:p>
            <a:pPr algn="ctr"/>
            <a:r>
              <a:rPr lang="en-US" sz="1400" dirty="0" smtClean="0"/>
              <a:t>(half duplex)</a:t>
            </a:r>
            <a:endParaRPr 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7772401" y="3703766"/>
            <a:ext cx="1219200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PEI Microphone</a:t>
            </a:r>
            <a:endParaRPr lang="en-US" sz="1300" dirty="0"/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6489296" y="3768207"/>
            <a:ext cx="1283105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77866" y="5867400"/>
            <a:ext cx="3253053" cy="273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400" dirty="0" smtClean="0"/>
              <a:t>Note: previousl</a:t>
            </a:r>
            <a:r>
              <a:rPr lang="en-US" sz="1400" dirty="0" smtClean="0"/>
              <a:t>y called “windows box”</a:t>
            </a:r>
            <a:endParaRPr lang="en-US" sz="1400" dirty="0"/>
          </a:p>
        </p:txBody>
      </p:sp>
      <p:cxnSp>
        <p:nvCxnSpPr>
          <p:cNvPr id="30" name="Straight Arrow Connector 29"/>
          <p:cNvCxnSpPr>
            <a:stCxn id="27" idx="0"/>
          </p:cNvCxnSpPr>
          <p:nvPr/>
        </p:nvCxnSpPr>
        <p:spPr>
          <a:xfrm flipH="1" flipV="1">
            <a:off x="3966908" y="4728746"/>
            <a:ext cx="637485" cy="113865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763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11" r="75904" b="4337"/>
          <a:stretch/>
        </p:blipFill>
        <p:spPr bwMode="auto">
          <a:xfrm>
            <a:off x="4800599" y="1123226"/>
            <a:ext cx="3859305" cy="1271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2814532" y="228600"/>
            <a:ext cx="3514937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dirty="0" smtClean="0"/>
              <a:t>Current</a:t>
            </a:r>
            <a:r>
              <a:rPr lang="en-US" b="1" dirty="0" smtClean="0"/>
              <a:t> </a:t>
            </a:r>
            <a:r>
              <a:rPr lang="en-US" dirty="0" smtClean="0"/>
              <a:t>AVAYA </a:t>
            </a:r>
            <a:r>
              <a:rPr lang="en-US" dirty="0" smtClean="0"/>
              <a:t>Phone </a:t>
            </a:r>
            <a:r>
              <a:rPr lang="en-US" dirty="0" smtClean="0"/>
              <a:t>Configuration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5875442" y="1591524"/>
            <a:ext cx="1853392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/>
              <a:t>Married Pair 40XX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2243419" y="792033"/>
            <a:ext cx="1109382" cy="550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600" b="1" dirty="0"/>
              <a:t>WiMAX</a:t>
            </a:r>
          </a:p>
          <a:p>
            <a:pPr algn="ctr"/>
            <a:r>
              <a:rPr lang="en-US" sz="1600" b="1" dirty="0"/>
              <a:t>connection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888" y="685800"/>
            <a:ext cx="986116" cy="365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2000" b="1" dirty="0"/>
              <a:t>OCC</a:t>
            </a:r>
          </a:p>
        </p:txBody>
      </p:sp>
      <p:sp>
        <p:nvSpPr>
          <p:cNvPr id="2" name="Cloud 1"/>
          <p:cNvSpPr/>
          <p:nvPr/>
        </p:nvSpPr>
        <p:spPr>
          <a:xfrm>
            <a:off x="1934323" y="1342184"/>
            <a:ext cx="1748492" cy="5363416"/>
          </a:xfrm>
          <a:prstGeom prst="cloud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spcCol="0"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4800600" y="5257800"/>
            <a:ext cx="4003079" cy="1271304"/>
            <a:chOff x="3624532" y="2124299"/>
            <a:chExt cx="5154705" cy="1271304"/>
          </a:xfrm>
        </p:grpSpPr>
        <p:pic>
          <p:nvPicPr>
            <p:cNvPr id="27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611" r="75904" b="4337"/>
            <a:stretch/>
          </p:blipFill>
          <p:spPr bwMode="auto">
            <a:xfrm>
              <a:off x="3624532" y="2124299"/>
              <a:ext cx="5154705" cy="1271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5275188" y="2592597"/>
              <a:ext cx="1840568" cy="334707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b="1" dirty="0" smtClean="0"/>
                <a:t>Married Pair 40YY</a:t>
              </a:r>
              <a:endParaRPr lang="en-US" b="1" dirty="0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3980238" y="2666736"/>
            <a:ext cx="493516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NOTE: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AVAYA Phone has multiple “open lines” (also called appearance buttons) which allow it to receive multiple calls and place them on “hold” or “active</a:t>
            </a:r>
            <a:r>
              <a:rPr lang="en-US" sz="1600" dirty="0" smtClean="0"/>
              <a:t>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VoIP Calls are routed to any open line sometimes on the same phone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Currently no way to toggle the onboard PTT</a:t>
            </a:r>
            <a:endParaRPr lang="en-US" sz="1600" dirty="0" smtClean="0"/>
          </a:p>
        </p:txBody>
      </p:sp>
      <p:sp>
        <p:nvSpPr>
          <p:cNvPr id="26" name="TextBox 25"/>
          <p:cNvSpPr txBox="1"/>
          <p:nvPr/>
        </p:nvSpPr>
        <p:spPr>
          <a:xfrm>
            <a:off x="3987427" y="1850031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CNCS</a:t>
            </a:r>
          </a:p>
          <a:p>
            <a:pPr algn="ctr"/>
            <a:r>
              <a:rPr lang="en-US" sz="1300" dirty="0" smtClean="0"/>
              <a:t>(IP .200)</a:t>
            </a:r>
            <a:endParaRPr lang="en-US" sz="1300" dirty="0"/>
          </a:p>
        </p:txBody>
      </p:sp>
      <p:sp>
        <p:nvSpPr>
          <p:cNvPr id="28" name="TextBox 27"/>
          <p:cNvSpPr txBox="1"/>
          <p:nvPr/>
        </p:nvSpPr>
        <p:spPr>
          <a:xfrm>
            <a:off x="4020449" y="5893452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CNCS</a:t>
            </a:r>
          </a:p>
          <a:p>
            <a:pPr algn="ctr"/>
            <a:r>
              <a:rPr lang="en-US" sz="1300" dirty="0" smtClean="0"/>
              <a:t>(IP .200)</a:t>
            </a:r>
            <a:endParaRPr lang="en-US" sz="1300" dirty="0"/>
          </a:p>
        </p:txBody>
      </p:sp>
      <p:sp>
        <p:nvSpPr>
          <p:cNvPr id="29" name="TextBox 28"/>
          <p:cNvSpPr txBox="1"/>
          <p:nvPr/>
        </p:nvSpPr>
        <p:spPr>
          <a:xfrm>
            <a:off x="3980238" y="1199426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VoIP Box</a:t>
            </a:r>
          </a:p>
          <a:p>
            <a:pPr algn="ctr"/>
            <a:r>
              <a:rPr lang="en-US" sz="1300" dirty="0" smtClean="0"/>
              <a:t>(IP .199)</a:t>
            </a:r>
            <a:endParaRPr lang="en-US" sz="1300" dirty="0"/>
          </a:p>
        </p:txBody>
      </p:sp>
      <p:sp>
        <p:nvSpPr>
          <p:cNvPr id="35" name="TextBox 34"/>
          <p:cNvSpPr txBox="1"/>
          <p:nvPr/>
        </p:nvSpPr>
        <p:spPr>
          <a:xfrm>
            <a:off x="4019620" y="5181291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VoIP Box</a:t>
            </a:r>
          </a:p>
          <a:p>
            <a:pPr algn="ctr"/>
            <a:r>
              <a:rPr lang="en-US" sz="1300" dirty="0" smtClean="0"/>
              <a:t>(IP .199)</a:t>
            </a:r>
            <a:endParaRPr lang="en-US" sz="1300" dirty="0"/>
          </a:p>
        </p:txBody>
      </p:sp>
      <p:grpSp>
        <p:nvGrpSpPr>
          <p:cNvPr id="36" name="Group 35"/>
          <p:cNvGrpSpPr/>
          <p:nvPr/>
        </p:nvGrpSpPr>
        <p:grpSpPr>
          <a:xfrm>
            <a:off x="183393" y="1199426"/>
            <a:ext cx="1110980" cy="995981"/>
            <a:chOff x="221586" y="2307849"/>
            <a:chExt cx="1110980" cy="995981"/>
          </a:xfrm>
        </p:grpSpPr>
        <p:sp>
          <p:nvSpPr>
            <p:cNvPr id="37" name="TextBox 36"/>
            <p:cNvSpPr txBox="1"/>
            <p:nvPr/>
          </p:nvSpPr>
          <p:spPr>
            <a:xfrm>
              <a:off x="228600" y="2307849"/>
              <a:ext cx="1103966" cy="257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57150" tIns="28575" rIns="57150" bIns="28575" rtlCol="0">
              <a:spAutoFit/>
            </a:bodyPr>
            <a:lstStyle/>
            <a:p>
              <a:pPr algn="ctr"/>
              <a:r>
                <a:rPr lang="en-US" sz="1300" dirty="0"/>
                <a:t>AVAYA </a:t>
              </a:r>
              <a:r>
                <a:rPr lang="en-US" sz="1300" dirty="0" smtClean="0"/>
                <a:t>Phone</a:t>
              </a:r>
              <a:endParaRPr lang="en-US" sz="1300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21586" y="2559704"/>
              <a:ext cx="1110980" cy="257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57150" tIns="28575" rIns="57150" bIns="28575" rtlCol="0">
              <a:spAutoFit/>
            </a:bodyPr>
            <a:lstStyle/>
            <a:p>
              <a:pPr algn="ctr"/>
              <a:r>
                <a:rPr lang="en-US" sz="1300" dirty="0" smtClean="0"/>
                <a:t>OPEN LINE</a:t>
              </a:r>
              <a:endParaRPr lang="en-US" sz="1300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28599" y="2817467"/>
              <a:ext cx="1103967" cy="257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57150" tIns="28575" rIns="57150" bIns="28575" rtlCol="0">
              <a:spAutoFit/>
            </a:bodyPr>
            <a:lstStyle/>
            <a:p>
              <a:pPr algn="ctr"/>
              <a:r>
                <a:rPr lang="en-US" sz="1300" dirty="0"/>
                <a:t>OPEN LINE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28600" y="3046067"/>
              <a:ext cx="1103966" cy="257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57150" tIns="28575" rIns="57150" bIns="28575" rtlCol="0">
              <a:spAutoFit/>
            </a:bodyPr>
            <a:lstStyle/>
            <a:p>
              <a:pPr algn="ctr"/>
              <a:r>
                <a:rPr lang="en-US" sz="1300" dirty="0"/>
                <a:t>OPEN LINE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186900" y="2286000"/>
            <a:ext cx="1103968" cy="995981"/>
            <a:chOff x="228598" y="2307849"/>
            <a:chExt cx="1103968" cy="995981"/>
          </a:xfrm>
        </p:grpSpPr>
        <p:sp>
          <p:nvSpPr>
            <p:cNvPr id="42" name="TextBox 41"/>
            <p:cNvSpPr txBox="1"/>
            <p:nvPr/>
          </p:nvSpPr>
          <p:spPr>
            <a:xfrm>
              <a:off x="228600" y="2307849"/>
              <a:ext cx="1103966" cy="257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57150" tIns="28575" rIns="57150" bIns="28575" rtlCol="0">
              <a:spAutoFit/>
            </a:bodyPr>
            <a:lstStyle/>
            <a:p>
              <a:pPr algn="ctr"/>
              <a:r>
                <a:rPr lang="en-US" sz="1300" dirty="0"/>
                <a:t>AVAYA </a:t>
              </a:r>
              <a:r>
                <a:rPr lang="en-US" sz="1300" dirty="0" smtClean="0"/>
                <a:t>Phone</a:t>
              </a:r>
              <a:endParaRPr lang="en-US" sz="1300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28598" y="2559704"/>
              <a:ext cx="1103967" cy="257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57150" tIns="28575" rIns="57150" bIns="28575" rtlCol="0">
              <a:spAutoFit/>
            </a:bodyPr>
            <a:lstStyle/>
            <a:p>
              <a:pPr algn="ctr"/>
              <a:r>
                <a:rPr lang="en-US" sz="1300" dirty="0" smtClean="0"/>
                <a:t>OPEN LINE</a:t>
              </a:r>
              <a:endParaRPr lang="en-US" sz="1300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28599" y="2817467"/>
              <a:ext cx="1103967" cy="257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57150" tIns="28575" rIns="57150" bIns="28575" rtlCol="0">
              <a:spAutoFit/>
            </a:bodyPr>
            <a:lstStyle/>
            <a:p>
              <a:pPr algn="ctr"/>
              <a:r>
                <a:rPr lang="en-US" sz="1300" dirty="0"/>
                <a:t>OPEN LINE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8600" y="3046067"/>
              <a:ext cx="1103966" cy="257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57150" tIns="28575" rIns="57150" bIns="28575" rtlCol="0">
              <a:spAutoFit/>
            </a:bodyPr>
            <a:lstStyle/>
            <a:p>
              <a:pPr algn="ctr"/>
              <a:r>
                <a:rPr lang="en-US" sz="1300" dirty="0"/>
                <a:t>OPEN LINE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186902" y="3359046"/>
            <a:ext cx="1103968" cy="995981"/>
            <a:chOff x="228598" y="2307849"/>
            <a:chExt cx="1103968" cy="995981"/>
          </a:xfrm>
        </p:grpSpPr>
        <p:sp>
          <p:nvSpPr>
            <p:cNvPr id="59" name="TextBox 58"/>
            <p:cNvSpPr txBox="1"/>
            <p:nvPr/>
          </p:nvSpPr>
          <p:spPr>
            <a:xfrm>
              <a:off x="228600" y="2307849"/>
              <a:ext cx="1103966" cy="257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57150" tIns="28575" rIns="57150" bIns="28575" rtlCol="0">
              <a:spAutoFit/>
            </a:bodyPr>
            <a:lstStyle/>
            <a:p>
              <a:pPr algn="ctr"/>
              <a:r>
                <a:rPr lang="en-US" sz="1300" dirty="0"/>
                <a:t>AVAYA </a:t>
              </a:r>
              <a:r>
                <a:rPr lang="en-US" sz="1300" dirty="0" smtClean="0"/>
                <a:t>Phone</a:t>
              </a:r>
              <a:endParaRPr lang="en-US" sz="1300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28598" y="2559704"/>
              <a:ext cx="1103967" cy="257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57150" tIns="28575" rIns="57150" bIns="28575" rtlCol="0">
              <a:spAutoFit/>
            </a:bodyPr>
            <a:lstStyle/>
            <a:p>
              <a:pPr algn="ctr"/>
              <a:r>
                <a:rPr lang="en-US" sz="1300" dirty="0" smtClean="0"/>
                <a:t>OPEN LINE</a:t>
              </a:r>
              <a:endParaRPr lang="en-US" sz="1300" dirty="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28599" y="2817467"/>
              <a:ext cx="1103967" cy="257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57150" tIns="28575" rIns="57150" bIns="28575" rtlCol="0">
              <a:spAutoFit/>
            </a:bodyPr>
            <a:lstStyle/>
            <a:p>
              <a:pPr algn="ctr"/>
              <a:r>
                <a:rPr lang="en-US" sz="1300" dirty="0"/>
                <a:t>OPEN LINE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28600" y="3046067"/>
              <a:ext cx="1103966" cy="257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57150" tIns="28575" rIns="57150" bIns="28575" rtlCol="0">
              <a:spAutoFit/>
            </a:bodyPr>
            <a:lstStyle/>
            <a:p>
              <a:pPr algn="ctr"/>
              <a:r>
                <a:rPr lang="en-US" sz="1300" dirty="0"/>
                <a:t>OPEN LINE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190407" y="4495800"/>
            <a:ext cx="1103968" cy="995981"/>
            <a:chOff x="228598" y="2307849"/>
            <a:chExt cx="1103968" cy="995981"/>
          </a:xfrm>
        </p:grpSpPr>
        <p:sp>
          <p:nvSpPr>
            <p:cNvPr id="64" name="TextBox 63"/>
            <p:cNvSpPr txBox="1"/>
            <p:nvPr/>
          </p:nvSpPr>
          <p:spPr>
            <a:xfrm>
              <a:off x="228600" y="2307849"/>
              <a:ext cx="1103966" cy="257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57150" tIns="28575" rIns="57150" bIns="28575" rtlCol="0">
              <a:spAutoFit/>
            </a:bodyPr>
            <a:lstStyle/>
            <a:p>
              <a:pPr algn="ctr"/>
              <a:r>
                <a:rPr lang="en-US" sz="1300" dirty="0"/>
                <a:t>AVAYA </a:t>
              </a:r>
              <a:r>
                <a:rPr lang="en-US" sz="1300" dirty="0" smtClean="0"/>
                <a:t>Phone</a:t>
              </a:r>
              <a:endParaRPr lang="en-US" sz="1300" dirty="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28598" y="2559704"/>
              <a:ext cx="1103967" cy="257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57150" tIns="28575" rIns="57150" bIns="28575" rtlCol="0">
              <a:spAutoFit/>
            </a:bodyPr>
            <a:lstStyle/>
            <a:p>
              <a:pPr algn="ctr"/>
              <a:r>
                <a:rPr lang="en-US" sz="1300" dirty="0" smtClean="0"/>
                <a:t>OPEN LINE</a:t>
              </a:r>
              <a:endParaRPr lang="en-US" sz="1300" dirty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28599" y="2817467"/>
              <a:ext cx="1103967" cy="257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57150" tIns="28575" rIns="57150" bIns="28575" rtlCol="0">
              <a:spAutoFit/>
            </a:bodyPr>
            <a:lstStyle/>
            <a:p>
              <a:pPr algn="ctr"/>
              <a:r>
                <a:rPr lang="en-US" sz="1300" dirty="0"/>
                <a:t>OPEN LINE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28600" y="3046067"/>
              <a:ext cx="1103966" cy="257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57150" tIns="28575" rIns="57150" bIns="28575" rtlCol="0">
              <a:spAutoFit/>
            </a:bodyPr>
            <a:lstStyle/>
            <a:p>
              <a:pPr algn="ctr"/>
              <a:r>
                <a:rPr lang="en-US" sz="1300" dirty="0"/>
                <a:t>OPEN LINE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190409" y="5624370"/>
            <a:ext cx="1103968" cy="995981"/>
            <a:chOff x="228598" y="2307849"/>
            <a:chExt cx="1103968" cy="995981"/>
          </a:xfrm>
        </p:grpSpPr>
        <p:sp>
          <p:nvSpPr>
            <p:cNvPr id="69" name="TextBox 68"/>
            <p:cNvSpPr txBox="1"/>
            <p:nvPr/>
          </p:nvSpPr>
          <p:spPr>
            <a:xfrm>
              <a:off x="228600" y="2307849"/>
              <a:ext cx="1103966" cy="257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57150" tIns="28575" rIns="57150" bIns="28575" rtlCol="0">
              <a:spAutoFit/>
            </a:bodyPr>
            <a:lstStyle/>
            <a:p>
              <a:pPr algn="ctr"/>
              <a:r>
                <a:rPr lang="en-US" sz="1300" dirty="0"/>
                <a:t>AVAYA </a:t>
              </a:r>
              <a:r>
                <a:rPr lang="en-US" sz="1300" dirty="0" smtClean="0"/>
                <a:t>Phone</a:t>
              </a:r>
              <a:endParaRPr lang="en-US" sz="1300" dirty="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28598" y="2559704"/>
              <a:ext cx="1103967" cy="257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57150" tIns="28575" rIns="57150" bIns="28575" rtlCol="0">
              <a:spAutoFit/>
            </a:bodyPr>
            <a:lstStyle/>
            <a:p>
              <a:pPr algn="ctr"/>
              <a:r>
                <a:rPr lang="en-US" sz="1300" dirty="0" smtClean="0"/>
                <a:t>OPEN LINE</a:t>
              </a:r>
              <a:endParaRPr lang="en-US" sz="1300" dirty="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228599" y="2817467"/>
              <a:ext cx="1103967" cy="257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57150" tIns="28575" rIns="57150" bIns="28575" rtlCol="0">
              <a:spAutoFit/>
            </a:bodyPr>
            <a:lstStyle/>
            <a:p>
              <a:pPr algn="ctr"/>
              <a:r>
                <a:rPr lang="en-US" sz="1300" dirty="0"/>
                <a:t>OPEN LINE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28600" y="3046067"/>
              <a:ext cx="1103966" cy="257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57150" tIns="28575" rIns="57150" bIns="28575" rtlCol="0">
              <a:spAutoFit/>
            </a:bodyPr>
            <a:lstStyle/>
            <a:p>
              <a:pPr algn="ctr"/>
              <a:r>
                <a:rPr lang="en-US" sz="1300" dirty="0"/>
                <a:t>OPEN LINE</a:t>
              </a:r>
            </a:p>
          </p:txBody>
        </p:sp>
      </p:grpSp>
      <p:cxnSp>
        <p:nvCxnSpPr>
          <p:cNvPr id="73" name="Straight Arrow Connector 72"/>
          <p:cNvCxnSpPr>
            <a:stCxn id="38" idx="3"/>
          </p:cNvCxnSpPr>
          <p:nvPr/>
        </p:nvCxnSpPr>
        <p:spPr>
          <a:xfrm flipV="1">
            <a:off x="1294373" y="1428336"/>
            <a:ext cx="2693054" cy="151827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endCxn id="35" idx="1"/>
          </p:cNvCxnSpPr>
          <p:nvPr/>
        </p:nvCxnSpPr>
        <p:spPr>
          <a:xfrm>
            <a:off x="1290867" y="1834791"/>
            <a:ext cx="2728753" cy="3575409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07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11" r="75904" b="4337"/>
          <a:stretch/>
        </p:blipFill>
        <p:spPr bwMode="auto">
          <a:xfrm>
            <a:off x="4800599" y="1123226"/>
            <a:ext cx="3859305" cy="1271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1600200" y="228599"/>
            <a:ext cx="6807120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OPTION #1: </a:t>
            </a:r>
            <a:r>
              <a:rPr lang="en-US" dirty="0" smtClean="0"/>
              <a:t>All PEI calls are routed to 1 </a:t>
            </a:r>
            <a:r>
              <a:rPr lang="en-US" dirty="0"/>
              <a:t>AVAYA </a:t>
            </a:r>
            <a:r>
              <a:rPr lang="en-US" dirty="0" smtClean="0"/>
              <a:t>Phone &amp; </a:t>
            </a:r>
            <a:r>
              <a:rPr lang="en-US" dirty="0" smtClean="0"/>
              <a:t>1 Woojin </a:t>
            </a:r>
            <a:r>
              <a:rPr lang="en-US" dirty="0" smtClean="0"/>
              <a:t>Button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5875442" y="1591524"/>
            <a:ext cx="1853392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/>
              <a:t>Married Pair 40XX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2243419" y="792033"/>
            <a:ext cx="1109382" cy="550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600" b="1" dirty="0"/>
              <a:t>WiMAX</a:t>
            </a:r>
          </a:p>
          <a:p>
            <a:pPr algn="ctr"/>
            <a:r>
              <a:rPr lang="en-US" sz="1600" b="1" dirty="0"/>
              <a:t>connection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888" y="908507"/>
            <a:ext cx="986116" cy="365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2000" b="1" dirty="0"/>
              <a:t>OCC</a:t>
            </a:r>
          </a:p>
        </p:txBody>
      </p:sp>
      <p:sp>
        <p:nvSpPr>
          <p:cNvPr id="2" name="Cloud 1"/>
          <p:cNvSpPr/>
          <p:nvPr/>
        </p:nvSpPr>
        <p:spPr>
          <a:xfrm>
            <a:off x="1934323" y="1342184"/>
            <a:ext cx="1748492" cy="5363416"/>
          </a:xfrm>
          <a:prstGeom prst="cloud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spcCol="0"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228600" y="2307849"/>
            <a:ext cx="986116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56" name="TextBox 55"/>
          <p:cNvSpPr txBox="1"/>
          <p:nvPr/>
        </p:nvSpPr>
        <p:spPr>
          <a:xfrm>
            <a:off x="179887" y="4345573"/>
            <a:ext cx="986117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800600" y="5257800"/>
            <a:ext cx="4003079" cy="1271304"/>
            <a:chOff x="3624532" y="2124299"/>
            <a:chExt cx="5154705" cy="1271304"/>
          </a:xfrm>
        </p:grpSpPr>
        <p:pic>
          <p:nvPicPr>
            <p:cNvPr id="27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611" r="75904" b="4337"/>
            <a:stretch/>
          </p:blipFill>
          <p:spPr bwMode="auto">
            <a:xfrm>
              <a:off x="3624532" y="2124299"/>
              <a:ext cx="5154705" cy="1271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5275188" y="2592597"/>
              <a:ext cx="1840568" cy="334707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b="1" dirty="0" smtClean="0"/>
                <a:t>Married Pair 40YY</a:t>
              </a:r>
              <a:endParaRPr lang="en-US" b="1" dirty="0"/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228600" y="2769194"/>
            <a:ext cx="986116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OPEN LINE</a:t>
            </a:r>
            <a:endParaRPr lang="en-US" sz="1300" dirty="0"/>
          </a:p>
        </p:txBody>
      </p:sp>
      <p:sp>
        <p:nvSpPr>
          <p:cNvPr id="54" name="TextBox 53"/>
          <p:cNvSpPr txBox="1"/>
          <p:nvPr/>
        </p:nvSpPr>
        <p:spPr>
          <a:xfrm>
            <a:off x="228600" y="3031793"/>
            <a:ext cx="986116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OPEN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80238" y="2726545"/>
            <a:ext cx="493516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NOTE: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AVAYA Phone has multiple “open lines” (also called appearance buttons) which allow it to receive multiple calls and place them on “hold” or “active”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Woojin PTT has ability to connect and toggle </a:t>
            </a:r>
            <a:r>
              <a:rPr lang="en-US" sz="1600" dirty="0"/>
              <a:t>PEI mic/speaker </a:t>
            </a:r>
            <a:r>
              <a:rPr lang="en-US" sz="1600" dirty="0" smtClean="0"/>
              <a:t>function on multiple trains</a:t>
            </a:r>
            <a:endParaRPr lang="en-US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8600" y="3289556"/>
            <a:ext cx="986116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OPEN 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87427" y="1850031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CNCS</a:t>
            </a:r>
          </a:p>
          <a:p>
            <a:pPr algn="ctr"/>
            <a:r>
              <a:rPr lang="en-US" sz="1300" dirty="0" smtClean="0"/>
              <a:t>(IP .200)</a:t>
            </a:r>
            <a:endParaRPr lang="en-US" sz="1300" dirty="0"/>
          </a:p>
        </p:txBody>
      </p:sp>
      <p:sp>
        <p:nvSpPr>
          <p:cNvPr id="28" name="TextBox 27"/>
          <p:cNvSpPr txBox="1"/>
          <p:nvPr/>
        </p:nvSpPr>
        <p:spPr>
          <a:xfrm>
            <a:off x="4020449" y="5893452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CNCS</a:t>
            </a:r>
          </a:p>
          <a:p>
            <a:pPr algn="ctr"/>
            <a:r>
              <a:rPr lang="en-US" sz="1300" dirty="0" smtClean="0"/>
              <a:t>(IP .200)</a:t>
            </a:r>
            <a:endParaRPr lang="en-US" sz="1300" dirty="0"/>
          </a:p>
        </p:txBody>
      </p:sp>
      <p:sp>
        <p:nvSpPr>
          <p:cNvPr id="29" name="TextBox 28"/>
          <p:cNvSpPr txBox="1"/>
          <p:nvPr/>
        </p:nvSpPr>
        <p:spPr>
          <a:xfrm>
            <a:off x="3980238" y="1199426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VoIP Box</a:t>
            </a:r>
          </a:p>
          <a:p>
            <a:pPr algn="ctr"/>
            <a:r>
              <a:rPr lang="en-US" sz="1300" dirty="0" smtClean="0"/>
              <a:t>(IP .199)</a:t>
            </a:r>
            <a:endParaRPr lang="en-US" sz="1300" dirty="0"/>
          </a:p>
        </p:txBody>
      </p:sp>
      <p:sp>
        <p:nvSpPr>
          <p:cNvPr id="35" name="TextBox 34"/>
          <p:cNvSpPr txBox="1"/>
          <p:nvPr/>
        </p:nvSpPr>
        <p:spPr>
          <a:xfrm>
            <a:off x="4019620" y="5181291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VoIP Box</a:t>
            </a:r>
          </a:p>
          <a:p>
            <a:pPr algn="ctr"/>
            <a:r>
              <a:rPr lang="en-US" sz="1300" dirty="0" smtClean="0"/>
              <a:t>(IP .199)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69743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11" r="75904" b="4337"/>
          <a:stretch/>
        </p:blipFill>
        <p:spPr bwMode="auto">
          <a:xfrm>
            <a:off x="4800599" y="1123226"/>
            <a:ext cx="3859305" cy="1271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3430470" y="228600"/>
            <a:ext cx="2283061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dirty="0" smtClean="0"/>
              <a:t>MP 40XX Starts PEI Call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5875442" y="1591524"/>
            <a:ext cx="1853392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/>
              <a:t>Married Pair 40XX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2243419" y="792033"/>
            <a:ext cx="1109382" cy="550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600" b="1" dirty="0"/>
              <a:t>WiMAX</a:t>
            </a:r>
          </a:p>
          <a:p>
            <a:pPr algn="ctr"/>
            <a:r>
              <a:rPr lang="en-US" sz="1600" b="1" dirty="0"/>
              <a:t>connection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888" y="908507"/>
            <a:ext cx="986116" cy="365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2000" b="1" dirty="0"/>
              <a:t>OCC</a:t>
            </a:r>
          </a:p>
        </p:txBody>
      </p:sp>
      <p:sp>
        <p:nvSpPr>
          <p:cNvPr id="2" name="Cloud 1"/>
          <p:cNvSpPr/>
          <p:nvPr/>
        </p:nvSpPr>
        <p:spPr>
          <a:xfrm>
            <a:off x="1934323" y="1342184"/>
            <a:ext cx="1748492" cy="5363416"/>
          </a:xfrm>
          <a:prstGeom prst="cloud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spcCol="0"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228600" y="2307849"/>
            <a:ext cx="986116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56" name="TextBox 55"/>
          <p:cNvSpPr txBox="1"/>
          <p:nvPr/>
        </p:nvSpPr>
        <p:spPr>
          <a:xfrm>
            <a:off x="179887" y="4345573"/>
            <a:ext cx="986117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800600" y="5257800"/>
            <a:ext cx="4003079" cy="1271304"/>
            <a:chOff x="3624532" y="2124299"/>
            <a:chExt cx="5154705" cy="1271304"/>
          </a:xfrm>
        </p:grpSpPr>
        <p:pic>
          <p:nvPicPr>
            <p:cNvPr id="27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611" r="75904" b="4337"/>
            <a:stretch/>
          </p:blipFill>
          <p:spPr bwMode="auto">
            <a:xfrm>
              <a:off x="3624532" y="2124299"/>
              <a:ext cx="5154705" cy="1271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5275188" y="2592597"/>
              <a:ext cx="1840568" cy="334707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b="1" dirty="0" smtClean="0"/>
                <a:t>Married Pair 40YY</a:t>
              </a:r>
              <a:endParaRPr lang="en-US" b="1" dirty="0"/>
            </a:p>
          </p:txBody>
        </p:sp>
      </p:grpSp>
      <p:cxnSp>
        <p:nvCxnSpPr>
          <p:cNvPr id="33" name="Straight Arrow Connector 32"/>
          <p:cNvCxnSpPr>
            <a:stCxn id="52" idx="3"/>
          </p:cNvCxnSpPr>
          <p:nvPr/>
        </p:nvCxnSpPr>
        <p:spPr>
          <a:xfrm flipV="1">
            <a:off x="1214716" y="1428335"/>
            <a:ext cx="2772711" cy="1469741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28600" y="2769194"/>
            <a:ext cx="986116" cy="257763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ACTIVE CALL</a:t>
            </a:r>
            <a:endParaRPr lang="en-US" sz="1300" dirty="0"/>
          </a:p>
        </p:txBody>
      </p:sp>
      <p:sp>
        <p:nvSpPr>
          <p:cNvPr id="54" name="TextBox 53"/>
          <p:cNvSpPr txBox="1"/>
          <p:nvPr/>
        </p:nvSpPr>
        <p:spPr>
          <a:xfrm>
            <a:off x="228600" y="3031793"/>
            <a:ext cx="986116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OPEN LINE</a:t>
            </a:r>
            <a:endParaRPr lang="en-US" sz="1300" dirty="0"/>
          </a:p>
        </p:txBody>
      </p:sp>
      <p:cxnSp>
        <p:nvCxnSpPr>
          <p:cNvPr id="58" name="Straight Arrow Connector 57"/>
          <p:cNvCxnSpPr>
            <a:stCxn id="56" idx="3"/>
          </p:cNvCxnSpPr>
          <p:nvPr/>
        </p:nvCxnSpPr>
        <p:spPr>
          <a:xfrm flipV="1">
            <a:off x="1166004" y="2078940"/>
            <a:ext cx="2821423" cy="2495542"/>
          </a:xfrm>
          <a:prstGeom prst="straightConnector1">
            <a:avLst/>
          </a:prstGeom>
          <a:ln w="254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810000" y="2726545"/>
            <a:ext cx="518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NOTE: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PTT button toggles PEI mic/speaker on </a:t>
            </a:r>
            <a:r>
              <a:rPr lang="en-US" sz="1600" dirty="0" smtClean="0"/>
              <a:t>40XX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AVAYA Phone holds SIP connection with VoIP box in 40XX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Audio is transmitted to the “ACTIVE CALL” with MP 40XX</a:t>
            </a:r>
            <a:endParaRPr lang="en-US" sz="1600" dirty="0"/>
          </a:p>
        </p:txBody>
      </p:sp>
      <p:sp>
        <p:nvSpPr>
          <p:cNvPr id="22" name="TextBox 21"/>
          <p:cNvSpPr txBox="1"/>
          <p:nvPr/>
        </p:nvSpPr>
        <p:spPr>
          <a:xfrm>
            <a:off x="59798" y="61246"/>
            <a:ext cx="1873590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OPTION #1: Step 1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228600" y="3289556"/>
            <a:ext cx="986116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OPEN LINE</a:t>
            </a:r>
            <a:endParaRPr lang="en-US" sz="1300" dirty="0"/>
          </a:p>
        </p:txBody>
      </p:sp>
      <p:sp>
        <p:nvSpPr>
          <p:cNvPr id="26" name="TextBox 25"/>
          <p:cNvSpPr txBox="1"/>
          <p:nvPr/>
        </p:nvSpPr>
        <p:spPr>
          <a:xfrm>
            <a:off x="3987427" y="1850031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CNCS</a:t>
            </a:r>
          </a:p>
          <a:p>
            <a:pPr algn="ctr"/>
            <a:r>
              <a:rPr lang="en-US" sz="1300" dirty="0" smtClean="0"/>
              <a:t>(IP .200)</a:t>
            </a:r>
            <a:endParaRPr lang="en-US" sz="1300" dirty="0"/>
          </a:p>
        </p:txBody>
      </p:sp>
      <p:sp>
        <p:nvSpPr>
          <p:cNvPr id="28" name="TextBox 27"/>
          <p:cNvSpPr txBox="1"/>
          <p:nvPr/>
        </p:nvSpPr>
        <p:spPr>
          <a:xfrm>
            <a:off x="4020449" y="5893452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CNCS</a:t>
            </a:r>
          </a:p>
          <a:p>
            <a:pPr algn="ctr"/>
            <a:r>
              <a:rPr lang="en-US" sz="1300" dirty="0" smtClean="0"/>
              <a:t>(IP .200)</a:t>
            </a:r>
            <a:endParaRPr lang="en-US" sz="1300" dirty="0"/>
          </a:p>
        </p:txBody>
      </p:sp>
      <p:sp>
        <p:nvSpPr>
          <p:cNvPr id="29" name="TextBox 28"/>
          <p:cNvSpPr txBox="1"/>
          <p:nvPr/>
        </p:nvSpPr>
        <p:spPr>
          <a:xfrm>
            <a:off x="3980238" y="1199426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VoIP Box</a:t>
            </a:r>
          </a:p>
          <a:p>
            <a:pPr algn="ctr"/>
            <a:r>
              <a:rPr lang="en-US" sz="1300" dirty="0" smtClean="0"/>
              <a:t>(IP .199)</a:t>
            </a:r>
            <a:endParaRPr lang="en-US" sz="1300" dirty="0"/>
          </a:p>
        </p:txBody>
      </p:sp>
      <p:sp>
        <p:nvSpPr>
          <p:cNvPr id="35" name="TextBox 34"/>
          <p:cNvSpPr txBox="1"/>
          <p:nvPr/>
        </p:nvSpPr>
        <p:spPr>
          <a:xfrm>
            <a:off x="4019620" y="5181291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VoIP Box</a:t>
            </a:r>
          </a:p>
          <a:p>
            <a:pPr algn="ctr"/>
            <a:r>
              <a:rPr lang="en-US" sz="1300" dirty="0" smtClean="0"/>
              <a:t>(IP .199)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06148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11" r="75904" b="4337"/>
          <a:stretch/>
        </p:blipFill>
        <p:spPr bwMode="auto">
          <a:xfrm>
            <a:off x="4800599" y="1123226"/>
            <a:ext cx="3859305" cy="1271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TextBox 43"/>
          <p:cNvSpPr txBox="1"/>
          <p:nvPr/>
        </p:nvSpPr>
        <p:spPr>
          <a:xfrm>
            <a:off x="5875442" y="1591524"/>
            <a:ext cx="1853392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/>
              <a:t>Married Pair 40XX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2243419" y="792033"/>
            <a:ext cx="1109382" cy="550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600" b="1" dirty="0"/>
              <a:t>WiMAX</a:t>
            </a:r>
          </a:p>
          <a:p>
            <a:pPr algn="ctr"/>
            <a:r>
              <a:rPr lang="en-US" sz="1600" b="1" dirty="0"/>
              <a:t>connection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888" y="908507"/>
            <a:ext cx="986116" cy="365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2000" b="1" dirty="0"/>
              <a:t>OCC</a:t>
            </a:r>
          </a:p>
        </p:txBody>
      </p:sp>
      <p:sp>
        <p:nvSpPr>
          <p:cNvPr id="2" name="Cloud 1"/>
          <p:cNvSpPr/>
          <p:nvPr/>
        </p:nvSpPr>
        <p:spPr>
          <a:xfrm>
            <a:off x="1934323" y="1342184"/>
            <a:ext cx="1748492" cy="5363416"/>
          </a:xfrm>
          <a:prstGeom prst="cloud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spcCol="0"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228600" y="2307849"/>
            <a:ext cx="986116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56" name="TextBox 55"/>
          <p:cNvSpPr txBox="1"/>
          <p:nvPr/>
        </p:nvSpPr>
        <p:spPr>
          <a:xfrm>
            <a:off x="179887" y="4345573"/>
            <a:ext cx="986117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800600" y="5257800"/>
            <a:ext cx="4003079" cy="1271304"/>
            <a:chOff x="3624532" y="2124299"/>
            <a:chExt cx="5154705" cy="1271304"/>
          </a:xfrm>
        </p:grpSpPr>
        <p:pic>
          <p:nvPicPr>
            <p:cNvPr id="27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611" r="75904" b="4337"/>
            <a:stretch/>
          </p:blipFill>
          <p:spPr bwMode="auto">
            <a:xfrm>
              <a:off x="3624532" y="2124299"/>
              <a:ext cx="5154705" cy="1271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5275188" y="2592597"/>
              <a:ext cx="1840568" cy="334707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b="1" dirty="0" smtClean="0"/>
                <a:t>Married Pair 40YY</a:t>
              </a:r>
              <a:endParaRPr lang="en-US" b="1" dirty="0"/>
            </a:p>
          </p:txBody>
        </p:sp>
      </p:grpSp>
      <p:cxnSp>
        <p:nvCxnSpPr>
          <p:cNvPr id="33" name="Straight Arrow Connector 32"/>
          <p:cNvCxnSpPr>
            <a:stCxn id="52" idx="3"/>
          </p:cNvCxnSpPr>
          <p:nvPr/>
        </p:nvCxnSpPr>
        <p:spPr>
          <a:xfrm flipV="1">
            <a:off x="1214716" y="1428335"/>
            <a:ext cx="2772711" cy="1469741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28600" y="2769194"/>
            <a:ext cx="986116" cy="257763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ACTIVE CALL</a:t>
            </a:r>
            <a:endParaRPr lang="en-US" sz="1300" dirty="0"/>
          </a:p>
        </p:txBody>
      </p:sp>
      <p:sp>
        <p:nvSpPr>
          <p:cNvPr id="54" name="TextBox 53"/>
          <p:cNvSpPr txBox="1"/>
          <p:nvPr/>
        </p:nvSpPr>
        <p:spPr>
          <a:xfrm>
            <a:off x="228600" y="3031793"/>
            <a:ext cx="986116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ON HOLD</a:t>
            </a:r>
            <a:endParaRPr lang="en-US" sz="1300" dirty="0"/>
          </a:p>
        </p:txBody>
      </p:sp>
      <p:sp>
        <p:nvSpPr>
          <p:cNvPr id="23" name="TextBox 22"/>
          <p:cNvSpPr txBox="1"/>
          <p:nvPr/>
        </p:nvSpPr>
        <p:spPr>
          <a:xfrm>
            <a:off x="3430470" y="228600"/>
            <a:ext cx="2267031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dirty="0" smtClean="0"/>
              <a:t>MP 40YY Starts PEI Call</a:t>
            </a:r>
            <a:endParaRPr lang="en-US" dirty="0"/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1166004" y="2078940"/>
            <a:ext cx="2821423" cy="2340660"/>
          </a:xfrm>
          <a:prstGeom prst="straightConnector1">
            <a:avLst/>
          </a:prstGeom>
          <a:ln w="254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1166004" y="4724400"/>
            <a:ext cx="2825907" cy="1236378"/>
          </a:xfrm>
          <a:prstGeom prst="straightConnector1">
            <a:avLst/>
          </a:prstGeom>
          <a:ln w="254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10000" y="2726545"/>
            <a:ext cx="52578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NOTE: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PTT button toggles PEI mic/speaker on </a:t>
            </a:r>
            <a:r>
              <a:rPr lang="en-US" sz="1600" dirty="0" smtClean="0"/>
              <a:t>40XX </a:t>
            </a:r>
            <a:r>
              <a:rPr lang="en-US" sz="1600" dirty="0"/>
              <a:t>and </a:t>
            </a:r>
            <a:r>
              <a:rPr lang="en-US" sz="1600" dirty="0" smtClean="0"/>
              <a:t>40YY</a:t>
            </a: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AVAYA Phone holds SIP connection with VoIP box in both 40XX &amp; 40YY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Audio is only transmitted to the “ACTIVE CALL” with MP 40XX, MP 40YY does not receive any audio</a:t>
            </a:r>
            <a:endParaRPr lang="en-US"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59798" y="61246"/>
            <a:ext cx="1873590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OPTION #1: Step 2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28600" y="3289556"/>
            <a:ext cx="986116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OPEN LINE</a:t>
            </a:r>
            <a:endParaRPr lang="en-US" sz="1300" dirty="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214715" y="3160675"/>
            <a:ext cx="2777196" cy="2249525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987427" y="1850031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CNCS</a:t>
            </a:r>
          </a:p>
          <a:p>
            <a:pPr algn="ctr"/>
            <a:r>
              <a:rPr lang="en-US" sz="1300" dirty="0" smtClean="0"/>
              <a:t>(IP .200)</a:t>
            </a:r>
            <a:endParaRPr lang="en-US" sz="1300" dirty="0"/>
          </a:p>
        </p:txBody>
      </p:sp>
      <p:sp>
        <p:nvSpPr>
          <p:cNvPr id="36" name="TextBox 35"/>
          <p:cNvSpPr txBox="1"/>
          <p:nvPr/>
        </p:nvSpPr>
        <p:spPr>
          <a:xfrm>
            <a:off x="4020449" y="5893452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CNCS</a:t>
            </a:r>
          </a:p>
          <a:p>
            <a:pPr algn="ctr"/>
            <a:r>
              <a:rPr lang="en-US" sz="1300" dirty="0" smtClean="0"/>
              <a:t>(IP .200)</a:t>
            </a:r>
            <a:endParaRPr lang="en-US" sz="1300" dirty="0"/>
          </a:p>
        </p:txBody>
      </p:sp>
      <p:sp>
        <p:nvSpPr>
          <p:cNvPr id="37" name="TextBox 36"/>
          <p:cNvSpPr txBox="1"/>
          <p:nvPr/>
        </p:nvSpPr>
        <p:spPr>
          <a:xfrm>
            <a:off x="3980238" y="1199426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VoIP Box</a:t>
            </a:r>
          </a:p>
          <a:p>
            <a:pPr algn="ctr"/>
            <a:r>
              <a:rPr lang="en-US" sz="1300" dirty="0" smtClean="0"/>
              <a:t>(IP .199)</a:t>
            </a:r>
            <a:endParaRPr lang="en-US" sz="1300" dirty="0"/>
          </a:p>
        </p:txBody>
      </p:sp>
      <p:sp>
        <p:nvSpPr>
          <p:cNvPr id="38" name="TextBox 37"/>
          <p:cNvSpPr txBox="1"/>
          <p:nvPr/>
        </p:nvSpPr>
        <p:spPr>
          <a:xfrm>
            <a:off x="4019620" y="5181291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VoIP Box</a:t>
            </a:r>
          </a:p>
          <a:p>
            <a:pPr algn="ctr"/>
            <a:r>
              <a:rPr lang="en-US" sz="1300" dirty="0" smtClean="0"/>
              <a:t>(IP .199)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195443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11" r="75904" b="4337"/>
          <a:stretch/>
        </p:blipFill>
        <p:spPr bwMode="auto">
          <a:xfrm>
            <a:off x="4800599" y="1123226"/>
            <a:ext cx="3859305" cy="1271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TextBox 43"/>
          <p:cNvSpPr txBox="1"/>
          <p:nvPr/>
        </p:nvSpPr>
        <p:spPr>
          <a:xfrm>
            <a:off x="5875442" y="1591524"/>
            <a:ext cx="1853392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/>
              <a:t>Married Pair 40XX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2243419" y="792033"/>
            <a:ext cx="1109382" cy="550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600" b="1" dirty="0"/>
              <a:t>WiMAX</a:t>
            </a:r>
          </a:p>
          <a:p>
            <a:pPr algn="ctr"/>
            <a:r>
              <a:rPr lang="en-US" sz="1600" b="1" dirty="0"/>
              <a:t>connection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888" y="908507"/>
            <a:ext cx="986116" cy="365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2000" b="1" dirty="0"/>
              <a:t>OCC</a:t>
            </a:r>
          </a:p>
        </p:txBody>
      </p:sp>
      <p:sp>
        <p:nvSpPr>
          <p:cNvPr id="2" name="Cloud 1"/>
          <p:cNvSpPr/>
          <p:nvPr/>
        </p:nvSpPr>
        <p:spPr>
          <a:xfrm>
            <a:off x="1934323" y="1342184"/>
            <a:ext cx="1748492" cy="5363416"/>
          </a:xfrm>
          <a:prstGeom prst="cloud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spcCol="0"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228600" y="2307849"/>
            <a:ext cx="986116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56" name="TextBox 55"/>
          <p:cNvSpPr txBox="1"/>
          <p:nvPr/>
        </p:nvSpPr>
        <p:spPr>
          <a:xfrm>
            <a:off x="179887" y="4345573"/>
            <a:ext cx="986117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800600" y="5257800"/>
            <a:ext cx="4003079" cy="1271304"/>
            <a:chOff x="3624532" y="2124299"/>
            <a:chExt cx="5154705" cy="1271304"/>
          </a:xfrm>
        </p:grpSpPr>
        <p:pic>
          <p:nvPicPr>
            <p:cNvPr id="27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611" r="75904" b="4337"/>
            <a:stretch/>
          </p:blipFill>
          <p:spPr bwMode="auto">
            <a:xfrm>
              <a:off x="3624532" y="2124299"/>
              <a:ext cx="5154705" cy="1271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5275188" y="2592597"/>
              <a:ext cx="1840568" cy="334707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b="1" dirty="0" smtClean="0"/>
                <a:t>Married Pair 40YY</a:t>
              </a:r>
              <a:endParaRPr lang="en-US" b="1" dirty="0"/>
            </a:p>
          </p:txBody>
        </p:sp>
      </p:grpSp>
      <p:cxnSp>
        <p:nvCxnSpPr>
          <p:cNvPr id="33" name="Straight Arrow Connector 32"/>
          <p:cNvCxnSpPr>
            <a:stCxn id="54" idx="3"/>
            <a:endCxn id="11" idx="1"/>
          </p:cNvCxnSpPr>
          <p:nvPr/>
        </p:nvCxnSpPr>
        <p:spPr>
          <a:xfrm>
            <a:off x="1214716" y="3160675"/>
            <a:ext cx="2804904" cy="2249525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28600" y="2769194"/>
            <a:ext cx="986116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ON </a:t>
            </a:r>
            <a:r>
              <a:rPr lang="en-US" sz="1300" dirty="0" smtClean="0"/>
              <a:t>HOLD</a:t>
            </a:r>
            <a:endParaRPr lang="en-US" sz="1300" dirty="0"/>
          </a:p>
        </p:txBody>
      </p:sp>
      <p:sp>
        <p:nvSpPr>
          <p:cNvPr id="54" name="TextBox 53"/>
          <p:cNvSpPr txBox="1"/>
          <p:nvPr/>
        </p:nvSpPr>
        <p:spPr>
          <a:xfrm>
            <a:off x="228600" y="3031793"/>
            <a:ext cx="986116" cy="257763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ACTIVE 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1025" y="228600"/>
            <a:ext cx="4081951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dirty="0" smtClean="0"/>
              <a:t>Dispatcher switches active call to MP 40YY</a:t>
            </a:r>
            <a:endParaRPr lang="en-US" dirty="0"/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1166004" y="2078940"/>
            <a:ext cx="2821423" cy="2340660"/>
          </a:xfrm>
          <a:prstGeom prst="straightConnector1">
            <a:avLst/>
          </a:prstGeom>
          <a:ln w="254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1166004" y="4724400"/>
            <a:ext cx="2825907" cy="1271882"/>
          </a:xfrm>
          <a:prstGeom prst="straightConnector1">
            <a:avLst/>
          </a:prstGeom>
          <a:ln w="254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10000" y="2726545"/>
            <a:ext cx="51816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NOTE: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PTT button toggles </a:t>
            </a:r>
            <a:r>
              <a:rPr lang="en-US" sz="1600" dirty="0" smtClean="0"/>
              <a:t>PEI mic/speaker </a:t>
            </a:r>
            <a:r>
              <a:rPr lang="en-US" sz="1600" dirty="0"/>
              <a:t>on 40XX and </a:t>
            </a:r>
            <a:r>
              <a:rPr lang="en-US" sz="1600" dirty="0" smtClean="0"/>
              <a:t>40YY</a:t>
            </a: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AVAYA Phone holds SIP connection with VoIP box in both 40XX &amp; 40YY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Audio is only transmitted to the “ACTIVE CALL” with MP </a:t>
            </a:r>
            <a:r>
              <a:rPr lang="en-US" sz="1600" dirty="0"/>
              <a:t>40YY, MP </a:t>
            </a:r>
            <a:r>
              <a:rPr lang="en-US" sz="1600" dirty="0" smtClean="0"/>
              <a:t>40XX </a:t>
            </a:r>
            <a:r>
              <a:rPr lang="en-US" sz="1600" dirty="0"/>
              <a:t>does not receive any audio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59798" y="61246"/>
            <a:ext cx="1873590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OPTION #1: Step 3</a:t>
            </a:r>
            <a:endParaRPr lang="en-US" dirty="0"/>
          </a:p>
        </p:txBody>
      </p:sp>
      <p:cxnSp>
        <p:nvCxnSpPr>
          <p:cNvPr id="25" name="Straight Arrow Connector 24"/>
          <p:cNvCxnSpPr>
            <a:stCxn id="52" idx="3"/>
          </p:cNvCxnSpPr>
          <p:nvPr/>
        </p:nvCxnSpPr>
        <p:spPr>
          <a:xfrm flipV="1">
            <a:off x="1214716" y="1428335"/>
            <a:ext cx="2772711" cy="1469741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28600" y="3289556"/>
            <a:ext cx="986116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OPEN LINE</a:t>
            </a:r>
            <a:endParaRPr lang="en-US" sz="1300" dirty="0"/>
          </a:p>
        </p:txBody>
      </p:sp>
      <p:sp>
        <p:nvSpPr>
          <p:cNvPr id="37" name="TextBox 36"/>
          <p:cNvSpPr txBox="1"/>
          <p:nvPr/>
        </p:nvSpPr>
        <p:spPr>
          <a:xfrm>
            <a:off x="3987427" y="1850031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CNCS</a:t>
            </a:r>
          </a:p>
          <a:p>
            <a:pPr algn="ctr"/>
            <a:r>
              <a:rPr lang="en-US" sz="1300" dirty="0" smtClean="0"/>
              <a:t>(IP .200)</a:t>
            </a:r>
            <a:endParaRPr lang="en-US" sz="1300" dirty="0"/>
          </a:p>
        </p:txBody>
      </p:sp>
      <p:sp>
        <p:nvSpPr>
          <p:cNvPr id="38" name="TextBox 37"/>
          <p:cNvSpPr txBox="1"/>
          <p:nvPr/>
        </p:nvSpPr>
        <p:spPr>
          <a:xfrm>
            <a:off x="4020449" y="5893452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CNCS</a:t>
            </a:r>
          </a:p>
          <a:p>
            <a:pPr algn="ctr"/>
            <a:r>
              <a:rPr lang="en-US" sz="1300" dirty="0" smtClean="0"/>
              <a:t>(IP .200)</a:t>
            </a:r>
            <a:endParaRPr lang="en-US" sz="1300" dirty="0"/>
          </a:p>
        </p:txBody>
      </p:sp>
      <p:sp>
        <p:nvSpPr>
          <p:cNvPr id="39" name="TextBox 38"/>
          <p:cNvSpPr txBox="1"/>
          <p:nvPr/>
        </p:nvSpPr>
        <p:spPr>
          <a:xfrm>
            <a:off x="3980238" y="1199426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VoIP Box</a:t>
            </a:r>
          </a:p>
          <a:p>
            <a:pPr algn="ctr"/>
            <a:r>
              <a:rPr lang="en-US" sz="1300" dirty="0" smtClean="0"/>
              <a:t>(IP .199)</a:t>
            </a:r>
            <a:endParaRPr lang="en-US" sz="1300" dirty="0"/>
          </a:p>
        </p:txBody>
      </p:sp>
      <p:sp>
        <p:nvSpPr>
          <p:cNvPr id="11" name="TextBox 10"/>
          <p:cNvSpPr txBox="1"/>
          <p:nvPr/>
        </p:nvSpPr>
        <p:spPr>
          <a:xfrm>
            <a:off x="4019620" y="5181291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VoIP Box</a:t>
            </a:r>
          </a:p>
          <a:p>
            <a:pPr algn="ctr"/>
            <a:r>
              <a:rPr lang="en-US" sz="1300" dirty="0" smtClean="0"/>
              <a:t>(IP .199)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09602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11" r="75904" b="4337"/>
          <a:stretch/>
        </p:blipFill>
        <p:spPr bwMode="auto">
          <a:xfrm>
            <a:off x="4800599" y="1319496"/>
            <a:ext cx="3859305" cy="1271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952836" y="228600"/>
            <a:ext cx="7238328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OPTION #2: </a:t>
            </a:r>
            <a:r>
              <a:rPr lang="en-US" dirty="0"/>
              <a:t>PEI calls are routed to </a:t>
            </a:r>
            <a:r>
              <a:rPr lang="en-US" dirty="0" smtClean="0"/>
              <a:t>multiple </a:t>
            </a:r>
            <a:r>
              <a:rPr lang="en-US" dirty="0" smtClean="0"/>
              <a:t>AVAYA Phones &amp; Woojin Buttons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75442" y="1787794"/>
            <a:ext cx="1853392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/>
              <a:t>Married Pair 40XX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2243419" y="792033"/>
            <a:ext cx="1109382" cy="550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600" b="1" dirty="0"/>
              <a:t>WiMAX</a:t>
            </a:r>
          </a:p>
          <a:p>
            <a:pPr algn="ctr"/>
            <a:r>
              <a:rPr lang="en-US" sz="1600" b="1" dirty="0"/>
              <a:t>connection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888" y="908507"/>
            <a:ext cx="986116" cy="365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2000" b="1" dirty="0"/>
              <a:t>OCC</a:t>
            </a:r>
          </a:p>
        </p:txBody>
      </p:sp>
      <p:sp>
        <p:nvSpPr>
          <p:cNvPr id="2" name="Cloud 1"/>
          <p:cNvSpPr/>
          <p:nvPr/>
        </p:nvSpPr>
        <p:spPr>
          <a:xfrm>
            <a:off x="1934323" y="1342184"/>
            <a:ext cx="1748492" cy="5363416"/>
          </a:xfrm>
          <a:prstGeom prst="cloud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spcCol="0"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522871" y="2132982"/>
            <a:ext cx="1001129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800600" y="5257800"/>
            <a:ext cx="4003079" cy="1271304"/>
            <a:chOff x="3624532" y="2124299"/>
            <a:chExt cx="5154705" cy="1271304"/>
          </a:xfrm>
        </p:grpSpPr>
        <p:pic>
          <p:nvPicPr>
            <p:cNvPr id="27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611" r="75904" b="4337"/>
            <a:stretch/>
          </p:blipFill>
          <p:spPr bwMode="auto">
            <a:xfrm>
              <a:off x="3624532" y="2124299"/>
              <a:ext cx="5154705" cy="1271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5275188" y="2592597"/>
              <a:ext cx="1840568" cy="334707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b="1" dirty="0" smtClean="0"/>
                <a:t>Married Pair 40YY</a:t>
              </a:r>
              <a:endParaRPr lang="en-US" b="1" dirty="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980238" y="2726545"/>
            <a:ext cx="44958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NOTE: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AVAYA Phones </a:t>
            </a:r>
            <a:r>
              <a:rPr lang="en-US" sz="1600" dirty="0" smtClean="0"/>
              <a:t>are configured for only </a:t>
            </a:r>
            <a:r>
              <a:rPr lang="en-US" sz="1600" dirty="0" smtClean="0"/>
              <a:t>1 “open line” and cannot receive multiple calls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Woojin PTT </a:t>
            </a:r>
            <a:r>
              <a:rPr lang="en-US" sz="1600" dirty="0" smtClean="0"/>
              <a:t>can only connect </a:t>
            </a:r>
            <a:r>
              <a:rPr lang="en-US" sz="1600" dirty="0"/>
              <a:t>and toggle PEI mic/speaker function on </a:t>
            </a:r>
            <a:r>
              <a:rPr lang="en-US" sz="1600" dirty="0" smtClean="0"/>
              <a:t>1 train</a:t>
            </a: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Only 3 phones and buttons are included in the diagram, though the same logic will work with 5 phones and buttons</a:t>
            </a:r>
            <a:endParaRPr lang="en-US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507861" y="1342184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29" name="TextBox 28"/>
          <p:cNvSpPr txBox="1"/>
          <p:nvPr/>
        </p:nvSpPr>
        <p:spPr>
          <a:xfrm>
            <a:off x="118635" y="1351207"/>
            <a:ext cx="315471" cy="12395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vert270"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Work Station #1</a:t>
            </a:r>
            <a:endParaRPr lang="en-US" sz="1300" dirty="0"/>
          </a:p>
        </p:txBody>
      </p:sp>
      <p:sp>
        <p:nvSpPr>
          <p:cNvPr id="33" name="TextBox 32"/>
          <p:cNvSpPr txBox="1"/>
          <p:nvPr/>
        </p:nvSpPr>
        <p:spPr>
          <a:xfrm>
            <a:off x="522871" y="3961782"/>
            <a:ext cx="1001129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861" y="3170984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37" name="TextBox 36"/>
          <p:cNvSpPr txBox="1"/>
          <p:nvPr/>
        </p:nvSpPr>
        <p:spPr>
          <a:xfrm>
            <a:off x="118635" y="3180007"/>
            <a:ext cx="315471" cy="12395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vert270"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Work Station #2</a:t>
            </a:r>
            <a:endParaRPr lang="en-US" sz="1300" dirty="0"/>
          </a:p>
        </p:txBody>
      </p:sp>
      <p:sp>
        <p:nvSpPr>
          <p:cNvPr id="38" name="TextBox 37"/>
          <p:cNvSpPr txBox="1"/>
          <p:nvPr/>
        </p:nvSpPr>
        <p:spPr>
          <a:xfrm>
            <a:off x="586506" y="5831896"/>
            <a:ext cx="1001129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496" y="5041098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41" name="TextBox 40"/>
          <p:cNvSpPr txBox="1"/>
          <p:nvPr/>
        </p:nvSpPr>
        <p:spPr>
          <a:xfrm>
            <a:off x="182270" y="5050121"/>
            <a:ext cx="315471" cy="12395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vert270"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Work Station #3</a:t>
            </a:r>
            <a:endParaRPr lang="en-US" sz="1300" dirty="0"/>
          </a:p>
        </p:txBody>
      </p:sp>
      <p:sp>
        <p:nvSpPr>
          <p:cNvPr id="48" name="TextBox 47"/>
          <p:cNvSpPr txBox="1"/>
          <p:nvPr/>
        </p:nvSpPr>
        <p:spPr>
          <a:xfrm>
            <a:off x="507860" y="1595751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OPEN LINE</a:t>
            </a:r>
            <a:endParaRPr lang="en-US" sz="1300" dirty="0"/>
          </a:p>
        </p:txBody>
      </p:sp>
      <p:sp>
        <p:nvSpPr>
          <p:cNvPr id="49" name="TextBox 48"/>
          <p:cNvSpPr txBox="1"/>
          <p:nvPr/>
        </p:nvSpPr>
        <p:spPr>
          <a:xfrm>
            <a:off x="507859" y="3420712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OPEN LINE</a:t>
            </a:r>
            <a:endParaRPr lang="en-US" sz="1300" dirty="0"/>
          </a:p>
        </p:txBody>
      </p:sp>
      <p:sp>
        <p:nvSpPr>
          <p:cNvPr id="55" name="TextBox 54"/>
          <p:cNvSpPr txBox="1"/>
          <p:nvPr/>
        </p:nvSpPr>
        <p:spPr>
          <a:xfrm>
            <a:off x="571495" y="5298861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OPEN LINE</a:t>
            </a:r>
            <a:endParaRPr lang="en-US" sz="1300" dirty="0"/>
          </a:p>
        </p:txBody>
      </p:sp>
      <p:sp>
        <p:nvSpPr>
          <p:cNvPr id="58" name="TextBox 57"/>
          <p:cNvSpPr txBox="1"/>
          <p:nvPr/>
        </p:nvSpPr>
        <p:spPr>
          <a:xfrm>
            <a:off x="3987427" y="1850031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CNCS</a:t>
            </a:r>
          </a:p>
          <a:p>
            <a:pPr algn="ctr"/>
            <a:r>
              <a:rPr lang="en-US" sz="1300" dirty="0" smtClean="0"/>
              <a:t>(IP .200)</a:t>
            </a:r>
            <a:endParaRPr lang="en-US" sz="1300" dirty="0"/>
          </a:p>
        </p:txBody>
      </p:sp>
      <p:sp>
        <p:nvSpPr>
          <p:cNvPr id="59" name="TextBox 58"/>
          <p:cNvSpPr txBox="1"/>
          <p:nvPr/>
        </p:nvSpPr>
        <p:spPr>
          <a:xfrm>
            <a:off x="4020449" y="5893452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CNCS</a:t>
            </a:r>
          </a:p>
          <a:p>
            <a:pPr algn="ctr"/>
            <a:r>
              <a:rPr lang="en-US" sz="1300" dirty="0" smtClean="0"/>
              <a:t>(IP .200)</a:t>
            </a:r>
            <a:endParaRPr lang="en-US" sz="1300" dirty="0"/>
          </a:p>
        </p:txBody>
      </p:sp>
      <p:sp>
        <p:nvSpPr>
          <p:cNvPr id="60" name="TextBox 59"/>
          <p:cNvSpPr txBox="1"/>
          <p:nvPr/>
        </p:nvSpPr>
        <p:spPr>
          <a:xfrm>
            <a:off x="3980238" y="1199426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VoIP Box</a:t>
            </a:r>
          </a:p>
          <a:p>
            <a:pPr algn="ctr"/>
            <a:r>
              <a:rPr lang="en-US" sz="1300" dirty="0" smtClean="0"/>
              <a:t>(IP .199)</a:t>
            </a:r>
            <a:endParaRPr lang="en-US" sz="1300" dirty="0"/>
          </a:p>
        </p:txBody>
      </p:sp>
      <p:sp>
        <p:nvSpPr>
          <p:cNvPr id="61" name="TextBox 60"/>
          <p:cNvSpPr txBox="1"/>
          <p:nvPr/>
        </p:nvSpPr>
        <p:spPr>
          <a:xfrm>
            <a:off x="4019620" y="5181291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VoIP Box</a:t>
            </a:r>
          </a:p>
          <a:p>
            <a:pPr algn="ctr"/>
            <a:r>
              <a:rPr lang="en-US" sz="1300" dirty="0" smtClean="0"/>
              <a:t>(IP .199)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36413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11" r="75904" b="4337"/>
          <a:stretch/>
        </p:blipFill>
        <p:spPr bwMode="auto">
          <a:xfrm>
            <a:off x="4800599" y="1319496"/>
            <a:ext cx="3859305" cy="1271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TextBox 43"/>
          <p:cNvSpPr txBox="1"/>
          <p:nvPr/>
        </p:nvSpPr>
        <p:spPr>
          <a:xfrm>
            <a:off x="5875442" y="1787794"/>
            <a:ext cx="1853392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/>
              <a:t>Married Pair 40XX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2243419" y="792033"/>
            <a:ext cx="1109382" cy="550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600" b="1" dirty="0"/>
              <a:t>WiMAX</a:t>
            </a:r>
          </a:p>
          <a:p>
            <a:pPr algn="ctr"/>
            <a:r>
              <a:rPr lang="en-US" sz="1600" b="1" dirty="0"/>
              <a:t>connection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888" y="908507"/>
            <a:ext cx="986116" cy="365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2000" b="1" dirty="0"/>
              <a:t>OCC</a:t>
            </a:r>
          </a:p>
        </p:txBody>
      </p:sp>
      <p:sp>
        <p:nvSpPr>
          <p:cNvPr id="2" name="Cloud 1"/>
          <p:cNvSpPr/>
          <p:nvPr/>
        </p:nvSpPr>
        <p:spPr>
          <a:xfrm>
            <a:off x="1934323" y="1342184"/>
            <a:ext cx="1748492" cy="5363416"/>
          </a:xfrm>
          <a:prstGeom prst="cloud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spcCol="0"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522871" y="2132982"/>
            <a:ext cx="1001129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800600" y="5257800"/>
            <a:ext cx="4003079" cy="1271304"/>
            <a:chOff x="3624532" y="2124299"/>
            <a:chExt cx="5154705" cy="1271304"/>
          </a:xfrm>
        </p:grpSpPr>
        <p:pic>
          <p:nvPicPr>
            <p:cNvPr id="27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611" r="75904" b="4337"/>
            <a:stretch/>
          </p:blipFill>
          <p:spPr bwMode="auto">
            <a:xfrm>
              <a:off x="3624532" y="2124299"/>
              <a:ext cx="5154705" cy="1271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5275188" y="2592597"/>
              <a:ext cx="1840568" cy="334707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b="1" dirty="0" smtClean="0"/>
                <a:t>Married Pair 40YY</a:t>
              </a:r>
              <a:endParaRPr lang="en-US" b="1" dirty="0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07861" y="1342184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29" name="TextBox 28"/>
          <p:cNvSpPr txBox="1"/>
          <p:nvPr/>
        </p:nvSpPr>
        <p:spPr>
          <a:xfrm>
            <a:off x="118635" y="1351207"/>
            <a:ext cx="315471" cy="12395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vert270"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Work Station #1</a:t>
            </a:r>
            <a:endParaRPr lang="en-US" sz="1300" dirty="0"/>
          </a:p>
        </p:txBody>
      </p:sp>
      <p:sp>
        <p:nvSpPr>
          <p:cNvPr id="33" name="TextBox 32"/>
          <p:cNvSpPr txBox="1"/>
          <p:nvPr/>
        </p:nvSpPr>
        <p:spPr>
          <a:xfrm>
            <a:off x="522871" y="3961782"/>
            <a:ext cx="1001129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861" y="3170984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37" name="TextBox 36"/>
          <p:cNvSpPr txBox="1"/>
          <p:nvPr/>
        </p:nvSpPr>
        <p:spPr>
          <a:xfrm>
            <a:off x="118635" y="3180007"/>
            <a:ext cx="315471" cy="12395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vert270"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Work Station #2</a:t>
            </a:r>
            <a:endParaRPr lang="en-US" sz="1300" dirty="0"/>
          </a:p>
        </p:txBody>
      </p:sp>
      <p:sp>
        <p:nvSpPr>
          <p:cNvPr id="38" name="TextBox 37"/>
          <p:cNvSpPr txBox="1"/>
          <p:nvPr/>
        </p:nvSpPr>
        <p:spPr>
          <a:xfrm>
            <a:off x="586506" y="5831896"/>
            <a:ext cx="1001129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496" y="5041098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41" name="TextBox 40"/>
          <p:cNvSpPr txBox="1"/>
          <p:nvPr/>
        </p:nvSpPr>
        <p:spPr>
          <a:xfrm>
            <a:off x="182270" y="5050121"/>
            <a:ext cx="315471" cy="12395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vert270"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Work Station #3</a:t>
            </a:r>
            <a:endParaRPr lang="en-US" sz="1300" dirty="0"/>
          </a:p>
        </p:txBody>
      </p:sp>
      <p:sp>
        <p:nvSpPr>
          <p:cNvPr id="28" name="TextBox 27"/>
          <p:cNvSpPr txBox="1"/>
          <p:nvPr/>
        </p:nvSpPr>
        <p:spPr>
          <a:xfrm>
            <a:off x="59798" y="61246"/>
            <a:ext cx="1873590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OPTION #2: Step 1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3430470" y="228600"/>
            <a:ext cx="2283061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dirty="0" smtClean="0"/>
              <a:t>MP 40XX Starts PEI Call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980238" y="2726545"/>
            <a:ext cx="4495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NOTE: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All </a:t>
            </a:r>
            <a:r>
              <a:rPr lang="en-US" sz="1600" dirty="0" smtClean="0"/>
              <a:t>work station AVAYA Phones and Woojin PTT buttons receive a “call” signal from car 40XX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All work </a:t>
            </a:r>
            <a:r>
              <a:rPr lang="en-US" sz="1600" dirty="0"/>
              <a:t>station </a:t>
            </a:r>
            <a:r>
              <a:rPr lang="en-US" sz="1600" dirty="0" smtClean="0"/>
              <a:t>phones ring and buttons blink</a:t>
            </a:r>
            <a:endParaRPr lang="en-US" sz="1600" dirty="0"/>
          </a:p>
        </p:txBody>
      </p:sp>
      <p:sp>
        <p:nvSpPr>
          <p:cNvPr id="46" name="TextBox 45"/>
          <p:cNvSpPr txBox="1"/>
          <p:nvPr/>
        </p:nvSpPr>
        <p:spPr>
          <a:xfrm>
            <a:off x="507860" y="1595751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OPEN LINE</a:t>
            </a:r>
            <a:endParaRPr lang="en-US" sz="1300" dirty="0"/>
          </a:p>
        </p:txBody>
      </p:sp>
      <p:cxnSp>
        <p:nvCxnSpPr>
          <p:cNvPr id="47" name="Straight Arrow Connector 46"/>
          <p:cNvCxnSpPr/>
          <p:nvPr/>
        </p:nvCxnSpPr>
        <p:spPr>
          <a:xfrm flipV="1">
            <a:off x="1549945" y="2260072"/>
            <a:ext cx="2463427" cy="108060"/>
          </a:xfrm>
          <a:prstGeom prst="straightConnector1">
            <a:avLst/>
          </a:prstGeom>
          <a:ln w="25400">
            <a:solidFill>
              <a:schemeClr val="accent4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1528484" y="2275210"/>
            <a:ext cx="2458943" cy="1897401"/>
          </a:xfrm>
          <a:prstGeom prst="straightConnector1">
            <a:avLst/>
          </a:prstGeom>
          <a:ln w="25400">
            <a:solidFill>
              <a:schemeClr val="accent4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1587635" y="2275210"/>
            <a:ext cx="2399792" cy="3785596"/>
          </a:xfrm>
          <a:prstGeom prst="straightConnector1">
            <a:avLst/>
          </a:prstGeom>
          <a:ln w="25400">
            <a:solidFill>
              <a:schemeClr val="accent4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61" idx="1"/>
          </p:cNvCxnSpPr>
          <p:nvPr/>
        </p:nvCxnSpPr>
        <p:spPr>
          <a:xfrm flipV="1">
            <a:off x="1526241" y="1428335"/>
            <a:ext cx="2453997" cy="304723"/>
          </a:xfrm>
          <a:prstGeom prst="straightConnector1">
            <a:avLst/>
          </a:prstGeom>
          <a:ln w="25400"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61" idx="1"/>
          </p:cNvCxnSpPr>
          <p:nvPr/>
        </p:nvCxnSpPr>
        <p:spPr>
          <a:xfrm flipV="1">
            <a:off x="1551709" y="1428335"/>
            <a:ext cx="2428529" cy="2146138"/>
          </a:xfrm>
          <a:prstGeom prst="straightConnector1">
            <a:avLst/>
          </a:prstGeom>
          <a:ln w="25400"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endCxn id="61" idx="1"/>
          </p:cNvCxnSpPr>
          <p:nvPr/>
        </p:nvCxnSpPr>
        <p:spPr>
          <a:xfrm flipV="1">
            <a:off x="1563931" y="1428335"/>
            <a:ext cx="2416307" cy="3997397"/>
          </a:xfrm>
          <a:prstGeom prst="straightConnector1">
            <a:avLst/>
          </a:prstGeom>
          <a:ln w="25400"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12345" y="3404052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OPEN LINE</a:t>
            </a:r>
            <a:endParaRPr lang="en-US" sz="1300" dirty="0"/>
          </a:p>
        </p:txBody>
      </p:sp>
      <p:sp>
        <p:nvSpPr>
          <p:cNvPr id="58" name="TextBox 57"/>
          <p:cNvSpPr txBox="1"/>
          <p:nvPr/>
        </p:nvSpPr>
        <p:spPr>
          <a:xfrm>
            <a:off x="571495" y="5313667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OPEN LINE</a:t>
            </a:r>
            <a:endParaRPr lang="en-US" sz="1300" dirty="0"/>
          </a:p>
        </p:txBody>
      </p:sp>
      <p:sp>
        <p:nvSpPr>
          <p:cNvPr id="59" name="TextBox 58"/>
          <p:cNvSpPr txBox="1"/>
          <p:nvPr/>
        </p:nvSpPr>
        <p:spPr>
          <a:xfrm>
            <a:off x="3987427" y="1850031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CNCS</a:t>
            </a:r>
          </a:p>
          <a:p>
            <a:pPr algn="ctr"/>
            <a:r>
              <a:rPr lang="en-US" sz="1300" dirty="0" smtClean="0"/>
              <a:t>(IP .200)</a:t>
            </a:r>
            <a:endParaRPr lang="en-US" sz="1300" dirty="0"/>
          </a:p>
        </p:txBody>
      </p:sp>
      <p:sp>
        <p:nvSpPr>
          <p:cNvPr id="60" name="TextBox 59"/>
          <p:cNvSpPr txBox="1"/>
          <p:nvPr/>
        </p:nvSpPr>
        <p:spPr>
          <a:xfrm>
            <a:off x="4020449" y="5893452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CNCS</a:t>
            </a:r>
          </a:p>
          <a:p>
            <a:pPr algn="ctr"/>
            <a:r>
              <a:rPr lang="en-US" sz="1300" dirty="0" smtClean="0"/>
              <a:t>(IP .200)</a:t>
            </a:r>
            <a:endParaRPr lang="en-US" sz="1300" dirty="0"/>
          </a:p>
        </p:txBody>
      </p:sp>
      <p:sp>
        <p:nvSpPr>
          <p:cNvPr id="61" name="TextBox 60"/>
          <p:cNvSpPr txBox="1"/>
          <p:nvPr/>
        </p:nvSpPr>
        <p:spPr>
          <a:xfrm>
            <a:off x="3980238" y="1199426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VoIP Box</a:t>
            </a:r>
          </a:p>
          <a:p>
            <a:pPr algn="ctr"/>
            <a:r>
              <a:rPr lang="en-US" sz="1300" dirty="0" smtClean="0"/>
              <a:t>(IP .199)</a:t>
            </a:r>
            <a:endParaRPr lang="en-US" sz="1300" dirty="0"/>
          </a:p>
        </p:txBody>
      </p:sp>
      <p:sp>
        <p:nvSpPr>
          <p:cNvPr id="62" name="TextBox 61"/>
          <p:cNvSpPr txBox="1"/>
          <p:nvPr/>
        </p:nvSpPr>
        <p:spPr>
          <a:xfrm>
            <a:off x="4019620" y="5181291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VoIP Box</a:t>
            </a:r>
          </a:p>
          <a:p>
            <a:pPr algn="ctr"/>
            <a:r>
              <a:rPr lang="en-US" sz="1300" dirty="0" smtClean="0"/>
              <a:t>(IP .199)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736663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11" r="75904" b="4337"/>
          <a:stretch/>
        </p:blipFill>
        <p:spPr bwMode="auto">
          <a:xfrm>
            <a:off x="4800599" y="1319496"/>
            <a:ext cx="3859305" cy="1271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TextBox 43"/>
          <p:cNvSpPr txBox="1"/>
          <p:nvPr/>
        </p:nvSpPr>
        <p:spPr>
          <a:xfrm>
            <a:off x="5875442" y="1787794"/>
            <a:ext cx="1853392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/>
              <a:t>Married Pair 40XX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2243419" y="792033"/>
            <a:ext cx="1109382" cy="550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600" b="1" dirty="0"/>
              <a:t>WiMAX</a:t>
            </a:r>
          </a:p>
          <a:p>
            <a:pPr algn="ctr"/>
            <a:r>
              <a:rPr lang="en-US" sz="1600" b="1" dirty="0"/>
              <a:t>connection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888" y="908507"/>
            <a:ext cx="986116" cy="365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2000" b="1" dirty="0"/>
              <a:t>OCC</a:t>
            </a:r>
          </a:p>
        </p:txBody>
      </p:sp>
      <p:sp>
        <p:nvSpPr>
          <p:cNvPr id="2" name="Cloud 1"/>
          <p:cNvSpPr/>
          <p:nvPr/>
        </p:nvSpPr>
        <p:spPr>
          <a:xfrm>
            <a:off x="1934323" y="1342184"/>
            <a:ext cx="1748492" cy="5363416"/>
          </a:xfrm>
          <a:prstGeom prst="cloud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spcCol="0"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522871" y="2132982"/>
            <a:ext cx="1001129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800600" y="5257800"/>
            <a:ext cx="4003079" cy="1271304"/>
            <a:chOff x="3624532" y="2124299"/>
            <a:chExt cx="5154705" cy="1271304"/>
          </a:xfrm>
        </p:grpSpPr>
        <p:pic>
          <p:nvPicPr>
            <p:cNvPr id="27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611" r="75904" b="4337"/>
            <a:stretch/>
          </p:blipFill>
          <p:spPr bwMode="auto">
            <a:xfrm>
              <a:off x="3624532" y="2124299"/>
              <a:ext cx="5154705" cy="1271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5275188" y="2592597"/>
              <a:ext cx="1840568" cy="334707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b="1" dirty="0" smtClean="0"/>
                <a:t>Married Pair 40YY</a:t>
              </a:r>
              <a:endParaRPr lang="en-US" b="1" dirty="0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07861" y="1342184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29" name="TextBox 28"/>
          <p:cNvSpPr txBox="1"/>
          <p:nvPr/>
        </p:nvSpPr>
        <p:spPr>
          <a:xfrm>
            <a:off x="118635" y="1351207"/>
            <a:ext cx="315471" cy="12395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vert270"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Work Station #1</a:t>
            </a:r>
            <a:endParaRPr lang="en-US" sz="1300" dirty="0"/>
          </a:p>
        </p:txBody>
      </p:sp>
      <p:sp>
        <p:nvSpPr>
          <p:cNvPr id="33" name="TextBox 32"/>
          <p:cNvSpPr txBox="1"/>
          <p:nvPr/>
        </p:nvSpPr>
        <p:spPr>
          <a:xfrm>
            <a:off x="522871" y="3961782"/>
            <a:ext cx="1001129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861" y="3170984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37" name="TextBox 36"/>
          <p:cNvSpPr txBox="1"/>
          <p:nvPr/>
        </p:nvSpPr>
        <p:spPr>
          <a:xfrm>
            <a:off x="118635" y="3180007"/>
            <a:ext cx="315471" cy="12395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vert270"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Work Station #2</a:t>
            </a:r>
            <a:endParaRPr lang="en-US" sz="1300" dirty="0"/>
          </a:p>
        </p:txBody>
      </p:sp>
      <p:sp>
        <p:nvSpPr>
          <p:cNvPr id="38" name="TextBox 37"/>
          <p:cNvSpPr txBox="1"/>
          <p:nvPr/>
        </p:nvSpPr>
        <p:spPr>
          <a:xfrm>
            <a:off x="586506" y="5831896"/>
            <a:ext cx="1001129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496" y="5041098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41" name="TextBox 40"/>
          <p:cNvSpPr txBox="1"/>
          <p:nvPr/>
        </p:nvSpPr>
        <p:spPr>
          <a:xfrm>
            <a:off x="182270" y="5050121"/>
            <a:ext cx="315471" cy="12395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vert270"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Work Station #3</a:t>
            </a:r>
            <a:endParaRPr lang="en-US" sz="1300" dirty="0"/>
          </a:p>
        </p:txBody>
      </p:sp>
      <p:sp>
        <p:nvSpPr>
          <p:cNvPr id="28" name="TextBox 27"/>
          <p:cNvSpPr txBox="1"/>
          <p:nvPr/>
        </p:nvSpPr>
        <p:spPr>
          <a:xfrm>
            <a:off x="59798" y="61246"/>
            <a:ext cx="1873590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OPTION #2: Step 2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2486461" y="228600"/>
            <a:ext cx="4171078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dirty="0" smtClean="0"/>
              <a:t>Work Station #1 picks up PEI call from 40XX</a:t>
            </a:r>
            <a:endParaRPr lang="en-US" dirty="0"/>
          </a:p>
        </p:txBody>
      </p:sp>
      <p:cxnSp>
        <p:nvCxnSpPr>
          <p:cNvPr id="34" name="Straight Arrow Connector 33"/>
          <p:cNvCxnSpPr>
            <a:endCxn id="52" idx="1"/>
          </p:cNvCxnSpPr>
          <p:nvPr/>
        </p:nvCxnSpPr>
        <p:spPr>
          <a:xfrm flipV="1">
            <a:off x="1524000" y="1428335"/>
            <a:ext cx="2456238" cy="30433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07861" y="1603783"/>
            <a:ext cx="1016139" cy="257763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ACTIVE CALL</a:t>
            </a:r>
            <a:endParaRPr lang="en-US" sz="1300" dirty="0"/>
          </a:p>
        </p:txBody>
      </p:sp>
      <p:cxnSp>
        <p:nvCxnSpPr>
          <p:cNvPr id="46" name="Straight Arrow Connector 45"/>
          <p:cNvCxnSpPr>
            <a:endCxn id="48" idx="1"/>
          </p:cNvCxnSpPr>
          <p:nvPr/>
        </p:nvCxnSpPr>
        <p:spPr>
          <a:xfrm flipV="1">
            <a:off x="1549945" y="2078940"/>
            <a:ext cx="2437482" cy="289192"/>
          </a:xfrm>
          <a:prstGeom prst="straightConnector1">
            <a:avLst/>
          </a:prstGeom>
          <a:ln w="254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987427" y="1850031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CNCS</a:t>
            </a:r>
          </a:p>
          <a:p>
            <a:pPr algn="ctr"/>
            <a:r>
              <a:rPr lang="en-US" sz="1300" dirty="0" smtClean="0"/>
              <a:t>(IP .200)</a:t>
            </a:r>
            <a:endParaRPr lang="en-US" sz="1300" dirty="0"/>
          </a:p>
        </p:txBody>
      </p:sp>
      <p:sp>
        <p:nvSpPr>
          <p:cNvPr id="49" name="TextBox 48"/>
          <p:cNvSpPr txBox="1"/>
          <p:nvPr/>
        </p:nvSpPr>
        <p:spPr>
          <a:xfrm>
            <a:off x="4020449" y="5893452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CNCS</a:t>
            </a:r>
          </a:p>
          <a:p>
            <a:pPr algn="ctr"/>
            <a:r>
              <a:rPr lang="en-US" sz="1300" dirty="0" smtClean="0"/>
              <a:t>(IP .200)</a:t>
            </a:r>
            <a:endParaRPr lang="en-US" sz="1300" dirty="0"/>
          </a:p>
        </p:txBody>
      </p:sp>
      <p:sp>
        <p:nvSpPr>
          <p:cNvPr id="52" name="TextBox 51"/>
          <p:cNvSpPr txBox="1"/>
          <p:nvPr/>
        </p:nvSpPr>
        <p:spPr>
          <a:xfrm>
            <a:off x="3980238" y="1199426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VoIP Box</a:t>
            </a:r>
          </a:p>
          <a:p>
            <a:pPr algn="ctr"/>
            <a:r>
              <a:rPr lang="en-US" sz="1300" dirty="0" smtClean="0"/>
              <a:t>(IP .199)</a:t>
            </a:r>
            <a:endParaRPr lang="en-US" sz="1300" dirty="0"/>
          </a:p>
        </p:txBody>
      </p:sp>
      <p:sp>
        <p:nvSpPr>
          <p:cNvPr id="53" name="TextBox 52"/>
          <p:cNvSpPr txBox="1"/>
          <p:nvPr/>
        </p:nvSpPr>
        <p:spPr>
          <a:xfrm>
            <a:off x="4019620" y="5181291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VoIP Box</a:t>
            </a:r>
          </a:p>
          <a:p>
            <a:pPr algn="ctr"/>
            <a:r>
              <a:rPr lang="en-US" sz="1300" dirty="0" smtClean="0"/>
              <a:t>(IP .199)</a:t>
            </a:r>
            <a:endParaRPr lang="en-US" sz="1300" dirty="0"/>
          </a:p>
        </p:txBody>
      </p:sp>
      <p:sp>
        <p:nvSpPr>
          <p:cNvPr id="54" name="TextBox 53"/>
          <p:cNvSpPr txBox="1"/>
          <p:nvPr/>
        </p:nvSpPr>
        <p:spPr>
          <a:xfrm>
            <a:off x="3810000" y="2726545"/>
            <a:ext cx="52578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NOTE:</a:t>
            </a:r>
            <a:endParaRPr lang="en-US" sz="1600" i="1" dirty="0" smtClean="0"/>
          </a:p>
          <a:p>
            <a:r>
              <a:rPr lang="en-US" sz="1600" i="1" dirty="0" smtClean="0"/>
              <a:t>At Workstation #1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PTT </a:t>
            </a:r>
            <a:r>
              <a:rPr lang="en-US" sz="1600" dirty="0"/>
              <a:t>button toggles PEI mic/speaker on 40XX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AVAYA Phone holds SIP connection with VoIP box in 40XX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Audio is transmitted to MP 40XX</a:t>
            </a:r>
          </a:p>
        </p:txBody>
      </p:sp>
    </p:spTree>
    <p:extLst>
      <p:ext uri="{BB962C8B-B14F-4D97-AF65-F5344CB8AC3E}">
        <p14:creationId xmlns:p14="http://schemas.microsoft.com/office/powerpoint/2010/main" val="100766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11" r="75904" b="4337"/>
          <a:stretch/>
        </p:blipFill>
        <p:spPr bwMode="auto">
          <a:xfrm>
            <a:off x="4800599" y="1319496"/>
            <a:ext cx="3859305" cy="1271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TextBox 43"/>
          <p:cNvSpPr txBox="1"/>
          <p:nvPr/>
        </p:nvSpPr>
        <p:spPr>
          <a:xfrm>
            <a:off x="5875442" y="1787794"/>
            <a:ext cx="1853392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/>
              <a:t>Married Pair 40XX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2243419" y="792033"/>
            <a:ext cx="1109382" cy="550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600" b="1" dirty="0"/>
              <a:t>WiMAX</a:t>
            </a:r>
          </a:p>
          <a:p>
            <a:pPr algn="ctr"/>
            <a:r>
              <a:rPr lang="en-US" sz="1600" b="1" dirty="0"/>
              <a:t>connection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888" y="908507"/>
            <a:ext cx="986116" cy="365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2000" b="1" dirty="0"/>
              <a:t>OCC</a:t>
            </a:r>
          </a:p>
        </p:txBody>
      </p:sp>
      <p:sp>
        <p:nvSpPr>
          <p:cNvPr id="2" name="Cloud 1"/>
          <p:cNvSpPr/>
          <p:nvPr/>
        </p:nvSpPr>
        <p:spPr>
          <a:xfrm>
            <a:off x="1934323" y="1342184"/>
            <a:ext cx="1748492" cy="5363416"/>
          </a:xfrm>
          <a:prstGeom prst="cloud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spcCol="0"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522871" y="2132982"/>
            <a:ext cx="1001129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800600" y="5257800"/>
            <a:ext cx="4003079" cy="1271304"/>
            <a:chOff x="3624532" y="2124299"/>
            <a:chExt cx="5154705" cy="1271304"/>
          </a:xfrm>
        </p:grpSpPr>
        <p:pic>
          <p:nvPicPr>
            <p:cNvPr id="27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611" r="75904" b="4337"/>
            <a:stretch/>
          </p:blipFill>
          <p:spPr bwMode="auto">
            <a:xfrm>
              <a:off x="3624532" y="2124299"/>
              <a:ext cx="5154705" cy="1271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5275188" y="2592597"/>
              <a:ext cx="1840568" cy="334707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b="1" dirty="0" smtClean="0"/>
                <a:t>Married Pair 40YY</a:t>
              </a:r>
              <a:endParaRPr lang="en-US" b="1" dirty="0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07861" y="1342184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24" name="TextBox 23"/>
          <p:cNvSpPr txBox="1"/>
          <p:nvPr/>
        </p:nvSpPr>
        <p:spPr>
          <a:xfrm>
            <a:off x="507861" y="1603783"/>
            <a:ext cx="1016139" cy="257763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ACTIVE CALL</a:t>
            </a:r>
            <a:endParaRPr lang="en-US" sz="1300" dirty="0"/>
          </a:p>
        </p:txBody>
      </p:sp>
      <p:sp>
        <p:nvSpPr>
          <p:cNvPr id="29" name="TextBox 28"/>
          <p:cNvSpPr txBox="1"/>
          <p:nvPr/>
        </p:nvSpPr>
        <p:spPr>
          <a:xfrm>
            <a:off x="118635" y="1351207"/>
            <a:ext cx="315471" cy="12395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vert270"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Work Station #1</a:t>
            </a:r>
            <a:endParaRPr lang="en-US" sz="1300" dirty="0"/>
          </a:p>
        </p:txBody>
      </p:sp>
      <p:sp>
        <p:nvSpPr>
          <p:cNvPr id="33" name="TextBox 32"/>
          <p:cNvSpPr txBox="1"/>
          <p:nvPr/>
        </p:nvSpPr>
        <p:spPr>
          <a:xfrm>
            <a:off x="522871" y="3961782"/>
            <a:ext cx="1001129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861" y="3170984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37" name="TextBox 36"/>
          <p:cNvSpPr txBox="1"/>
          <p:nvPr/>
        </p:nvSpPr>
        <p:spPr>
          <a:xfrm>
            <a:off x="118635" y="3180007"/>
            <a:ext cx="315471" cy="12395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vert270"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Work Station #2</a:t>
            </a:r>
            <a:endParaRPr lang="en-US" sz="1300" dirty="0"/>
          </a:p>
        </p:txBody>
      </p:sp>
      <p:sp>
        <p:nvSpPr>
          <p:cNvPr id="38" name="TextBox 37"/>
          <p:cNvSpPr txBox="1"/>
          <p:nvPr/>
        </p:nvSpPr>
        <p:spPr>
          <a:xfrm>
            <a:off x="586506" y="5831896"/>
            <a:ext cx="1001129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496" y="5041098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41" name="TextBox 40"/>
          <p:cNvSpPr txBox="1"/>
          <p:nvPr/>
        </p:nvSpPr>
        <p:spPr>
          <a:xfrm>
            <a:off x="182270" y="5050121"/>
            <a:ext cx="315471" cy="12395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vert270"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Work Station #3</a:t>
            </a:r>
            <a:endParaRPr lang="en-US" sz="1300" dirty="0"/>
          </a:p>
        </p:txBody>
      </p:sp>
      <p:sp>
        <p:nvSpPr>
          <p:cNvPr id="28" name="TextBox 27"/>
          <p:cNvSpPr txBox="1"/>
          <p:nvPr/>
        </p:nvSpPr>
        <p:spPr>
          <a:xfrm>
            <a:off x="59798" y="61246"/>
            <a:ext cx="1873590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OPTION #2: Step 3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3430470" y="228600"/>
            <a:ext cx="2267031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dirty="0" smtClean="0"/>
              <a:t>MP 40YY Starts PEI Call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987427" y="1850031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CNCS</a:t>
            </a:r>
          </a:p>
          <a:p>
            <a:pPr algn="ctr"/>
            <a:r>
              <a:rPr lang="en-US" sz="1300" dirty="0" smtClean="0"/>
              <a:t>(IP .200)</a:t>
            </a:r>
            <a:endParaRPr lang="en-US" sz="1300" dirty="0"/>
          </a:p>
        </p:txBody>
      </p:sp>
      <p:sp>
        <p:nvSpPr>
          <p:cNvPr id="46" name="TextBox 45"/>
          <p:cNvSpPr txBox="1"/>
          <p:nvPr/>
        </p:nvSpPr>
        <p:spPr>
          <a:xfrm>
            <a:off x="4020449" y="5893452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CNCS</a:t>
            </a:r>
          </a:p>
          <a:p>
            <a:pPr algn="ctr"/>
            <a:r>
              <a:rPr lang="en-US" sz="1300" dirty="0" smtClean="0"/>
              <a:t>(IP .200)</a:t>
            </a:r>
            <a:endParaRPr lang="en-US" sz="1300" dirty="0"/>
          </a:p>
        </p:txBody>
      </p:sp>
      <p:sp>
        <p:nvSpPr>
          <p:cNvPr id="47" name="TextBox 46"/>
          <p:cNvSpPr txBox="1"/>
          <p:nvPr/>
        </p:nvSpPr>
        <p:spPr>
          <a:xfrm>
            <a:off x="3980238" y="1199426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VoIP Box</a:t>
            </a:r>
          </a:p>
          <a:p>
            <a:pPr algn="ctr"/>
            <a:r>
              <a:rPr lang="en-US" sz="1300" dirty="0" smtClean="0"/>
              <a:t>(IP .199)</a:t>
            </a:r>
            <a:endParaRPr lang="en-US" sz="1300" dirty="0"/>
          </a:p>
        </p:txBody>
      </p:sp>
      <p:sp>
        <p:nvSpPr>
          <p:cNvPr id="48" name="TextBox 47"/>
          <p:cNvSpPr txBox="1"/>
          <p:nvPr/>
        </p:nvSpPr>
        <p:spPr>
          <a:xfrm>
            <a:off x="4019620" y="5181291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VoIP Box</a:t>
            </a:r>
          </a:p>
          <a:p>
            <a:pPr algn="ctr"/>
            <a:r>
              <a:rPr lang="en-US" sz="1300" dirty="0" smtClean="0"/>
              <a:t>(IP .199)</a:t>
            </a:r>
            <a:endParaRPr lang="en-US" sz="1300" dirty="0"/>
          </a:p>
        </p:txBody>
      </p:sp>
      <p:cxnSp>
        <p:nvCxnSpPr>
          <p:cNvPr id="49" name="Straight Arrow Connector 48"/>
          <p:cNvCxnSpPr>
            <a:endCxn id="48" idx="1"/>
          </p:cNvCxnSpPr>
          <p:nvPr/>
        </p:nvCxnSpPr>
        <p:spPr>
          <a:xfrm>
            <a:off x="1524000" y="3561465"/>
            <a:ext cx="2495620" cy="1848735"/>
          </a:xfrm>
          <a:prstGeom prst="straightConnector1">
            <a:avLst/>
          </a:prstGeom>
          <a:ln w="25400"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48" idx="1"/>
          </p:cNvCxnSpPr>
          <p:nvPr/>
        </p:nvCxnSpPr>
        <p:spPr>
          <a:xfrm flipV="1">
            <a:off x="1587635" y="5410200"/>
            <a:ext cx="2431985" cy="21379"/>
          </a:xfrm>
          <a:prstGeom prst="straightConnector1">
            <a:avLst/>
          </a:prstGeom>
          <a:ln w="25400"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12345" y="3404052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OPEN LINE</a:t>
            </a:r>
            <a:endParaRPr lang="en-US" sz="1300" dirty="0"/>
          </a:p>
        </p:txBody>
      </p:sp>
      <p:sp>
        <p:nvSpPr>
          <p:cNvPr id="54" name="TextBox 53"/>
          <p:cNvSpPr txBox="1"/>
          <p:nvPr/>
        </p:nvSpPr>
        <p:spPr>
          <a:xfrm>
            <a:off x="571495" y="5302697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OPEN LINE</a:t>
            </a:r>
            <a:endParaRPr lang="en-US" sz="1300" dirty="0"/>
          </a:p>
        </p:txBody>
      </p:sp>
      <p:cxnSp>
        <p:nvCxnSpPr>
          <p:cNvPr id="55" name="Straight Arrow Connector 54"/>
          <p:cNvCxnSpPr/>
          <p:nvPr/>
        </p:nvCxnSpPr>
        <p:spPr>
          <a:xfrm flipV="1">
            <a:off x="1524000" y="1428335"/>
            <a:ext cx="2456238" cy="30433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1549945" y="2078940"/>
            <a:ext cx="2437482" cy="289192"/>
          </a:xfrm>
          <a:prstGeom prst="straightConnector1">
            <a:avLst/>
          </a:prstGeom>
          <a:ln w="254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810000" y="2726545"/>
            <a:ext cx="525780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NOTE:</a:t>
            </a:r>
          </a:p>
          <a:p>
            <a:r>
              <a:rPr lang="en-US" sz="1600" i="1" dirty="0" smtClean="0"/>
              <a:t>STILL at Work </a:t>
            </a:r>
            <a:r>
              <a:rPr lang="en-US" sz="1600" i="1" dirty="0"/>
              <a:t>station #1 </a:t>
            </a:r>
            <a:endParaRPr lang="en-US" sz="1600" i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PTT </a:t>
            </a:r>
            <a:r>
              <a:rPr lang="en-US" sz="1600" dirty="0"/>
              <a:t>button toggles PEI mic/speaker on 40XX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AVAYA Phone holds SIP connection with VoIP box in 40XX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Audio is transmitted to MP 40XX</a:t>
            </a:r>
          </a:p>
          <a:p>
            <a:r>
              <a:rPr lang="en-US" sz="1600" i="1" dirty="0" smtClean="0"/>
              <a:t>AND now</a:t>
            </a:r>
            <a:endParaRPr lang="en-US" sz="1600" i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Workstation #2 &amp; #3 </a:t>
            </a:r>
            <a:r>
              <a:rPr lang="en-US" sz="1600" dirty="0" smtClean="0"/>
              <a:t>AVAYA </a:t>
            </a:r>
            <a:r>
              <a:rPr lang="en-US" sz="1600" dirty="0"/>
              <a:t>Phones and Woojin PTT buttons receive a “call” signal from car </a:t>
            </a:r>
            <a:r>
              <a:rPr lang="en-US" sz="1600" dirty="0" smtClean="0"/>
              <a:t>40YY</a:t>
            </a: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Workstation #2 &amp; #3 phones </a:t>
            </a:r>
            <a:r>
              <a:rPr lang="en-US" sz="1600" dirty="0"/>
              <a:t>ring and </a:t>
            </a:r>
            <a:r>
              <a:rPr lang="en-US" sz="1600" dirty="0" smtClean="0"/>
              <a:t>buttons blink</a:t>
            </a:r>
            <a:endParaRPr lang="en-US" sz="1600" dirty="0"/>
          </a:p>
        </p:txBody>
      </p:sp>
      <p:cxnSp>
        <p:nvCxnSpPr>
          <p:cNvPr id="60" name="Straight Arrow Connector 59"/>
          <p:cNvCxnSpPr>
            <a:stCxn id="33" idx="3"/>
            <a:endCxn id="46" idx="1"/>
          </p:cNvCxnSpPr>
          <p:nvPr/>
        </p:nvCxnSpPr>
        <p:spPr>
          <a:xfrm>
            <a:off x="1524000" y="4190691"/>
            <a:ext cx="2496449" cy="1931670"/>
          </a:xfrm>
          <a:prstGeom prst="straightConnector1">
            <a:avLst/>
          </a:prstGeom>
          <a:ln w="25400">
            <a:solidFill>
              <a:schemeClr val="accent4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38" idx="3"/>
            <a:endCxn id="46" idx="1"/>
          </p:cNvCxnSpPr>
          <p:nvPr/>
        </p:nvCxnSpPr>
        <p:spPr>
          <a:xfrm>
            <a:off x="1587635" y="6060805"/>
            <a:ext cx="2432814" cy="61556"/>
          </a:xfrm>
          <a:prstGeom prst="straightConnector1">
            <a:avLst/>
          </a:prstGeom>
          <a:ln w="25400">
            <a:solidFill>
              <a:schemeClr val="accent4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66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11" r="75904" b="4337"/>
          <a:stretch/>
        </p:blipFill>
        <p:spPr bwMode="auto">
          <a:xfrm>
            <a:off x="4800599" y="1319496"/>
            <a:ext cx="3859305" cy="1271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TextBox 43"/>
          <p:cNvSpPr txBox="1"/>
          <p:nvPr/>
        </p:nvSpPr>
        <p:spPr>
          <a:xfrm>
            <a:off x="5875442" y="1787794"/>
            <a:ext cx="1853392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/>
              <a:t>Married Pair 40XX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2243419" y="792033"/>
            <a:ext cx="1109382" cy="550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600" b="1" dirty="0"/>
              <a:t>WiMAX</a:t>
            </a:r>
          </a:p>
          <a:p>
            <a:pPr algn="ctr"/>
            <a:r>
              <a:rPr lang="en-US" sz="1600" b="1" dirty="0"/>
              <a:t>connection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888" y="908507"/>
            <a:ext cx="986116" cy="365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2000" b="1" dirty="0"/>
              <a:t>OCC</a:t>
            </a:r>
          </a:p>
        </p:txBody>
      </p:sp>
      <p:sp>
        <p:nvSpPr>
          <p:cNvPr id="2" name="Cloud 1"/>
          <p:cNvSpPr/>
          <p:nvPr/>
        </p:nvSpPr>
        <p:spPr>
          <a:xfrm>
            <a:off x="1934323" y="1342184"/>
            <a:ext cx="1748492" cy="5363416"/>
          </a:xfrm>
          <a:prstGeom prst="cloud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spcCol="0"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522871" y="2132982"/>
            <a:ext cx="1001129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800600" y="5257800"/>
            <a:ext cx="4003079" cy="1271304"/>
            <a:chOff x="3624532" y="2124299"/>
            <a:chExt cx="5154705" cy="1271304"/>
          </a:xfrm>
        </p:grpSpPr>
        <p:pic>
          <p:nvPicPr>
            <p:cNvPr id="27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611" r="75904" b="4337"/>
            <a:stretch/>
          </p:blipFill>
          <p:spPr bwMode="auto">
            <a:xfrm>
              <a:off x="3624532" y="2124299"/>
              <a:ext cx="5154705" cy="1271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5275188" y="2592597"/>
              <a:ext cx="1840568" cy="334707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b="1" dirty="0" smtClean="0"/>
                <a:t>Married Pair 40YY</a:t>
              </a:r>
              <a:endParaRPr lang="en-US" b="1" dirty="0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07861" y="1342184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24" name="TextBox 23"/>
          <p:cNvSpPr txBox="1"/>
          <p:nvPr/>
        </p:nvSpPr>
        <p:spPr>
          <a:xfrm>
            <a:off x="507861" y="1603783"/>
            <a:ext cx="1016139" cy="257763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ACTIVE CALL</a:t>
            </a:r>
            <a:endParaRPr lang="en-US" sz="1300" dirty="0"/>
          </a:p>
        </p:txBody>
      </p:sp>
      <p:sp>
        <p:nvSpPr>
          <p:cNvPr id="29" name="TextBox 28"/>
          <p:cNvSpPr txBox="1"/>
          <p:nvPr/>
        </p:nvSpPr>
        <p:spPr>
          <a:xfrm>
            <a:off x="118635" y="1351207"/>
            <a:ext cx="315471" cy="12395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vert270"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Work Station #1</a:t>
            </a:r>
            <a:endParaRPr lang="en-US" sz="1300" dirty="0"/>
          </a:p>
        </p:txBody>
      </p:sp>
      <p:sp>
        <p:nvSpPr>
          <p:cNvPr id="33" name="TextBox 32"/>
          <p:cNvSpPr txBox="1"/>
          <p:nvPr/>
        </p:nvSpPr>
        <p:spPr>
          <a:xfrm>
            <a:off x="522871" y="3961782"/>
            <a:ext cx="1001129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861" y="3170984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37" name="TextBox 36"/>
          <p:cNvSpPr txBox="1"/>
          <p:nvPr/>
        </p:nvSpPr>
        <p:spPr>
          <a:xfrm>
            <a:off x="118635" y="3180007"/>
            <a:ext cx="315471" cy="12395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vert270"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Work Station #2</a:t>
            </a:r>
            <a:endParaRPr lang="en-US" sz="1300" dirty="0"/>
          </a:p>
        </p:txBody>
      </p:sp>
      <p:sp>
        <p:nvSpPr>
          <p:cNvPr id="38" name="TextBox 37"/>
          <p:cNvSpPr txBox="1"/>
          <p:nvPr/>
        </p:nvSpPr>
        <p:spPr>
          <a:xfrm>
            <a:off x="586506" y="5831896"/>
            <a:ext cx="1001129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496" y="5041098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41" name="TextBox 40"/>
          <p:cNvSpPr txBox="1"/>
          <p:nvPr/>
        </p:nvSpPr>
        <p:spPr>
          <a:xfrm>
            <a:off x="182270" y="5050121"/>
            <a:ext cx="315471" cy="12395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vert270"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Work Station #3</a:t>
            </a:r>
            <a:endParaRPr lang="en-US" sz="1300" dirty="0"/>
          </a:p>
        </p:txBody>
      </p:sp>
      <p:sp>
        <p:nvSpPr>
          <p:cNvPr id="28" name="TextBox 27"/>
          <p:cNvSpPr txBox="1"/>
          <p:nvPr/>
        </p:nvSpPr>
        <p:spPr>
          <a:xfrm>
            <a:off x="59798" y="61246"/>
            <a:ext cx="1873590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OPTION #2: Step 4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2486461" y="228600"/>
            <a:ext cx="4155048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dirty="0"/>
              <a:t>Work Station </a:t>
            </a:r>
            <a:r>
              <a:rPr lang="en-US" dirty="0" smtClean="0"/>
              <a:t>#3 </a:t>
            </a:r>
            <a:r>
              <a:rPr lang="en-US" dirty="0"/>
              <a:t>picks up PEI call from </a:t>
            </a:r>
            <a:r>
              <a:rPr lang="en-US" dirty="0" smtClean="0"/>
              <a:t>40YY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987427" y="1850031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CNCS</a:t>
            </a:r>
          </a:p>
          <a:p>
            <a:pPr algn="ctr"/>
            <a:r>
              <a:rPr lang="en-US" sz="1300" dirty="0" smtClean="0"/>
              <a:t>(IP .200)</a:t>
            </a:r>
            <a:endParaRPr lang="en-US" sz="1300" dirty="0"/>
          </a:p>
        </p:txBody>
      </p:sp>
      <p:sp>
        <p:nvSpPr>
          <p:cNvPr id="46" name="TextBox 45"/>
          <p:cNvSpPr txBox="1"/>
          <p:nvPr/>
        </p:nvSpPr>
        <p:spPr>
          <a:xfrm>
            <a:off x="4020449" y="5893452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CNCS</a:t>
            </a:r>
          </a:p>
          <a:p>
            <a:pPr algn="ctr"/>
            <a:r>
              <a:rPr lang="en-US" sz="1300" dirty="0" smtClean="0"/>
              <a:t>(IP .200)</a:t>
            </a:r>
            <a:endParaRPr lang="en-US" sz="1300" dirty="0"/>
          </a:p>
        </p:txBody>
      </p:sp>
      <p:sp>
        <p:nvSpPr>
          <p:cNvPr id="47" name="TextBox 46"/>
          <p:cNvSpPr txBox="1"/>
          <p:nvPr/>
        </p:nvSpPr>
        <p:spPr>
          <a:xfrm>
            <a:off x="3980238" y="1199426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VoIP Box</a:t>
            </a:r>
          </a:p>
          <a:p>
            <a:pPr algn="ctr"/>
            <a:r>
              <a:rPr lang="en-US" sz="1300" dirty="0" smtClean="0"/>
              <a:t>(IP .199)</a:t>
            </a:r>
            <a:endParaRPr lang="en-US" sz="1300" dirty="0"/>
          </a:p>
        </p:txBody>
      </p:sp>
      <p:sp>
        <p:nvSpPr>
          <p:cNvPr id="48" name="TextBox 47"/>
          <p:cNvSpPr txBox="1"/>
          <p:nvPr/>
        </p:nvSpPr>
        <p:spPr>
          <a:xfrm>
            <a:off x="4019620" y="5181291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VoIP Box</a:t>
            </a:r>
          </a:p>
          <a:p>
            <a:pPr algn="ctr"/>
            <a:r>
              <a:rPr lang="en-US" sz="1300" dirty="0" smtClean="0"/>
              <a:t>(IP .199)</a:t>
            </a:r>
            <a:endParaRPr lang="en-US" sz="1300" dirty="0"/>
          </a:p>
        </p:txBody>
      </p:sp>
      <p:cxnSp>
        <p:nvCxnSpPr>
          <p:cNvPr id="52" name="Straight Arrow Connector 51"/>
          <p:cNvCxnSpPr>
            <a:endCxn id="48" idx="1"/>
          </p:cNvCxnSpPr>
          <p:nvPr/>
        </p:nvCxnSpPr>
        <p:spPr>
          <a:xfrm flipV="1">
            <a:off x="1587635" y="5410200"/>
            <a:ext cx="2431985" cy="21379"/>
          </a:xfrm>
          <a:prstGeom prst="straightConnector1">
            <a:avLst/>
          </a:prstGeom>
          <a:ln w="25400">
            <a:prstDash val="solid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12345" y="3404052"/>
            <a:ext cx="1016139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OPEN LINE</a:t>
            </a:r>
            <a:endParaRPr lang="en-US" sz="1300" dirty="0"/>
          </a:p>
        </p:txBody>
      </p:sp>
      <p:cxnSp>
        <p:nvCxnSpPr>
          <p:cNvPr id="55" name="Straight Arrow Connector 54"/>
          <p:cNvCxnSpPr/>
          <p:nvPr/>
        </p:nvCxnSpPr>
        <p:spPr>
          <a:xfrm flipV="1">
            <a:off x="1524000" y="1428335"/>
            <a:ext cx="2456238" cy="30433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1549945" y="2078940"/>
            <a:ext cx="2437482" cy="289192"/>
          </a:xfrm>
          <a:prstGeom prst="straightConnector1">
            <a:avLst/>
          </a:prstGeom>
          <a:ln w="254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810000" y="2726545"/>
            <a:ext cx="525780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NOTE:</a:t>
            </a:r>
          </a:p>
          <a:p>
            <a:r>
              <a:rPr lang="en-US" sz="1600" i="1" dirty="0" smtClean="0"/>
              <a:t>STILL at Work </a:t>
            </a:r>
            <a:r>
              <a:rPr lang="en-US" sz="1600" i="1" dirty="0"/>
              <a:t>station #1 </a:t>
            </a:r>
            <a:endParaRPr lang="en-US" sz="1600" i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PTT </a:t>
            </a:r>
            <a:r>
              <a:rPr lang="en-US" sz="1600" dirty="0"/>
              <a:t>button toggles PEI mic/speaker on 40XX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AVAYA Phone holds SIP connection with VoIP box in 40XX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Audio is transmitted to MP 40XX</a:t>
            </a:r>
          </a:p>
          <a:p>
            <a:r>
              <a:rPr lang="en-US" sz="1600" i="1" dirty="0" smtClean="0"/>
              <a:t>AND now</a:t>
            </a:r>
            <a:r>
              <a:rPr lang="en-US" sz="1600" i="1" dirty="0"/>
              <a:t> at Work station </a:t>
            </a:r>
            <a:r>
              <a:rPr lang="en-US" sz="1600" i="1" dirty="0" smtClean="0"/>
              <a:t>#3</a:t>
            </a:r>
            <a:endParaRPr lang="en-US" sz="1600" i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PTT button toggles PEI mic/speaker on </a:t>
            </a:r>
            <a:r>
              <a:rPr lang="en-US" sz="1600" dirty="0" smtClean="0"/>
              <a:t>40YY</a:t>
            </a: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AVAYA Phone holds SIP connection with VoIP box in </a:t>
            </a:r>
            <a:r>
              <a:rPr lang="en-US" sz="1600" dirty="0" smtClean="0"/>
              <a:t>40YY</a:t>
            </a: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Audio is transmitted to MP </a:t>
            </a:r>
            <a:r>
              <a:rPr lang="en-US" sz="1600" dirty="0" smtClean="0"/>
              <a:t>40YY</a:t>
            </a:r>
            <a:endParaRPr lang="en-US" sz="1600" dirty="0"/>
          </a:p>
        </p:txBody>
      </p:sp>
      <p:cxnSp>
        <p:nvCxnSpPr>
          <p:cNvPr id="61" name="Straight Arrow Connector 60"/>
          <p:cNvCxnSpPr>
            <a:stCxn id="38" idx="3"/>
            <a:endCxn id="46" idx="1"/>
          </p:cNvCxnSpPr>
          <p:nvPr/>
        </p:nvCxnSpPr>
        <p:spPr>
          <a:xfrm>
            <a:off x="1587635" y="6060805"/>
            <a:ext cx="2432814" cy="61556"/>
          </a:xfrm>
          <a:prstGeom prst="straightConnector1">
            <a:avLst/>
          </a:prstGeom>
          <a:ln w="25400">
            <a:solidFill>
              <a:schemeClr val="accent4"/>
            </a:solidFill>
            <a:prstDash val="solid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71495" y="5304837"/>
            <a:ext cx="1016139" cy="257763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ACTIVE CALL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694797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1251</Words>
  <Application>Microsoft Office PowerPoint</Application>
  <PresentationFormat>On-screen Show (4:3)</PresentationFormat>
  <Paragraphs>316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Demarais</dc:creator>
  <cp:lastModifiedBy>Alex Demarais</cp:lastModifiedBy>
  <cp:revision>15</cp:revision>
  <dcterms:created xsi:type="dcterms:W3CDTF">2015-12-10T15:29:47Z</dcterms:created>
  <dcterms:modified xsi:type="dcterms:W3CDTF">2016-01-21T03:03:37Z</dcterms:modified>
</cp:coreProperties>
</file>