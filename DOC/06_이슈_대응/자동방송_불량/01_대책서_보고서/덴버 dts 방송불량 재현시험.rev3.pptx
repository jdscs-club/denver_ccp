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2" r:id="rId1"/>
  </p:sldMasterIdLst>
  <p:notesMasterIdLst>
    <p:notesMasterId r:id="rId5"/>
  </p:notesMasterIdLst>
  <p:handoutMasterIdLst>
    <p:handoutMasterId r:id="rId6"/>
  </p:handoutMasterIdLst>
  <p:sldIdLst>
    <p:sldId id="442" r:id="rId2"/>
    <p:sldId id="447" r:id="rId3"/>
    <p:sldId id="448" r:id="rId4"/>
  </p:sldIdLst>
  <p:sldSz cx="9904413" cy="6858000"/>
  <p:notesSz cx="6807200" cy="9939338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251">
          <p15:clr>
            <a:srgbClr val="A4A3A4"/>
          </p15:clr>
        </p15:guide>
        <p15:guide id="2" pos="1302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3737"/>
    <a:srgbClr val="0000FF"/>
    <a:srgbClr val="7979FF"/>
    <a:srgbClr val="A3A3FF"/>
    <a:srgbClr val="FF3B3B"/>
    <a:srgbClr val="ECECEC"/>
    <a:srgbClr val="BDBD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7578" autoAdjust="0"/>
    <p:restoredTop sz="95595" autoAdjust="0"/>
  </p:normalViewPr>
  <p:slideViewPr>
    <p:cSldViewPr>
      <p:cViewPr varScale="1">
        <p:scale>
          <a:sx n="114" d="100"/>
          <a:sy n="114" d="100"/>
        </p:scale>
        <p:origin x="1551" y="63"/>
      </p:cViewPr>
      <p:guideLst>
        <p:guide orient="horz" pos="2251"/>
        <p:guide pos="1302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handoutMaster" Target="handoutMasters/handoutMaster1.xml"/><Relationship Id="rId5" Type="http://schemas.openxmlformats.org/officeDocument/2006/relationships/notesMaster" Target="notesMasters/notesMaster1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9575" cy="4984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quarter" idx="1"/>
          </p:nvPr>
        </p:nvSpPr>
        <p:spPr>
          <a:xfrm>
            <a:off x="3856038" y="0"/>
            <a:ext cx="2949575" cy="4984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EF19808-07F7-44A4-9714-165D9326F30E}" type="datetimeFigureOut">
              <a:rPr lang="ko-KR" altLang="en-US" smtClean="0"/>
              <a:pPr/>
              <a:t>2017-09-28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2"/>
          </p:nvPr>
        </p:nvSpPr>
        <p:spPr>
          <a:xfrm>
            <a:off x="0" y="9440863"/>
            <a:ext cx="2949575" cy="4984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3"/>
          </p:nvPr>
        </p:nvSpPr>
        <p:spPr>
          <a:xfrm>
            <a:off x="3856038" y="9440863"/>
            <a:ext cx="2949575" cy="4984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8D82EC-425F-4DE6-8A86-E6512495E6BA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209917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9575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56038" y="0"/>
            <a:ext cx="2949575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344DFA3-142A-4FFA-B264-88948DCACF03}" type="datetimeFigureOut">
              <a:rPr lang="ko-KR" altLang="en-US" smtClean="0"/>
              <a:pPr/>
              <a:t>2017-09-28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714375" y="746125"/>
            <a:ext cx="5378450" cy="3725863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1038" y="4721225"/>
            <a:ext cx="5445125" cy="447198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9440863"/>
            <a:ext cx="2949575" cy="4968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56038" y="9440863"/>
            <a:ext cx="2949575" cy="4968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5B10042-E339-4781-8D95-CF275B61334A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909900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714375" y="746125"/>
            <a:ext cx="5378450" cy="3725863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942D71A-2BB0-4599-B8A7-1BF2341DF1AB}" type="slidenum">
              <a:rPr lang="ko-KR" altLang="en-US" smtClean="0">
                <a:solidFill>
                  <a:prstClr val="black"/>
                </a:solidFill>
              </a:rPr>
              <a:pPr/>
              <a:t>1</a:t>
            </a:fld>
            <a:endParaRPr lang="ko-KR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6605071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714375" y="746125"/>
            <a:ext cx="5378450" cy="3725863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942D71A-2BB0-4599-B8A7-1BF2341DF1AB}" type="slidenum">
              <a:rPr lang="ko-KR" altLang="en-US" smtClean="0">
                <a:solidFill>
                  <a:prstClr val="black"/>
                </a:solidFill>
              </a:rPr>
              <a:pPr/>
              <a:t>2</a:t>
            </a:fld>
            <a:endParaRPr lang="ko-KR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1061545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714375" y="746125"/>
            <a:ext cx="5378450" cy="3725863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942D71A-2BB0-4599-B8A7-1BF2341DF1AB}" type="slidenum">
              <a:rPr lang="ko-KR" altLang="en-US" smtClean="0">
                <a:solidFill>
                  <a:prstClr val="black"/>
                </a:solidFill>
              </a:rPr>
              <a:pPr/>
              <a:t>3</a:t>
            </a:fld>
            <a:endParaRPr lang="ko-KR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63089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238052" y="1122363"/>
            <a:ext cx="7428310" cy="2387600"/>
          </a:xfrm>
        </p:spPr>
        <p:txBody>
          <a:bodyPr anchor="b"/>
          <a:lstStyle>
            <a:lvl1pPr algn="ctr">
              <a:defRPr sz="4874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238052" y="3602038"/>
            <a:ext cx="7428310" cy="1655762"/>
          </a:xfrm>
        </p:spPr>
        <p:txBody>
          <a:bodyPr/>
          <a:lstStyle>
            <a:lvl1pPr marL="0" indent="0" algn="ctr">
              <a:buNone/>
              <a:defRPr sz="1950"/>
            </a:lvl1pPr>
            <a:lvl2pPr marL="371429" indent="0" algn="ctr">
              <a:buNone/>
              <a:defRPr sz="1625"/>
            </a:lvl2pPr>
            <a:lvl3pPr marL="742859" indent="0" algn="ctr">
              <a:buNone/>
              <a:defRPr sz="1462"/>
            </a:lvl3pPr>
            <a:lvl4pPr marL="1114288" indent="0" algn="ctr">
              <a:buNone/>
              <a:defRPr sz="1300"/>
            </a:lvl4pPr>
            <a:lvl5pPr marL="1485717" indent="0" algn="ctr">
              <a:buNone/>
              <a:defRPr sz="1300"/>
            </a:lvl5pPr>
            <a:lvl6pPr marL="1857146" indent="0" algn="ctr">
              <a:buNone/>
              <a:defRPr sz="1300"/>
            </a:lvl6pPr>
            <a:lvl7pPr marL="2228576" indent="0" algn="ctr">
              <a:buNone/>
              <a:defRPr sz="1300"/>
            </a:lvl7pPr>
            <a:lvl8pPr marL="2600005" indent="0" algn="ctr">
              <a:buNone/>
              <a:defRPr sz="1300"/>
            </a:lvl8pPr>
            <a:lvl9pPr marL="2971434" indent="0" algn="ctr">
              <a:buNone/>
              <a:defRPr sz="1300"/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666AE3-AE87-4205-853D-484C272D61D0}" type="datetimeFigureOut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2017-09-28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D88EC7-7381-4F8B-AD5F-60609EA3E91F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652240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666AE3-AE87-4205-853D-484C272D61D0}" type="datetimeFigureOut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2017-09-28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D88EC7-7381-4F8B-AD5F-60609EA3E91F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383972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675770" y="1709739"/>
            <a:ext cx="8542556" cy="2852737"/>
          </a:xfrm>
        </p:spPr>
        <p:txBody>
          <a:bodyPr anchor="b"/>
          <a:lstStyle>
            <a:lvl1pPr>
              <a:defRPr sz="4874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675770" y="4589464"/>
            <a:ext cx="8542556" cy="1500187"/>
          </a:xfrm>
        </p:spPr>
        <p:txBody>
          <a:bodyPr/>
          <a:lstStyle>
            <a:lvl1pPr marL="0" indent="0">
              <a:buNone/>
              <a:defRPr sz="1950">
                <a:solidFill>
                  <a:schemeClr val="tx1">
                    <a:tint val="75000"/>
                  </a:schemeClr>
                </a:solidFill>
              </a:defRPr>
            </a:lvl1pPr>
            <a:lvl2pPr marL="371429" indent="0">
              <a:buNone/>
              <a:defRPr sz="1625">
                <a:solidFill>
                  <a:schemeClr val="tx1">
                    <a:tint val="75000"/>
                  </a:schemeClr>
                </a:solidFill>
              </a:defRPr>
            </a:lvl2pPr>
            <a:lvl3pPr marL="742859" indent="0">
              <a:buNone/>
              <a:defRPr sz="1462">
                <a:solidFill>
                  <a:schemeClr val="tx1">
                    <a:tint val="75000"/>
                  </a:schemeClr>
                </a:solidFill>
              </a:defRPr>
            </a:lvl3pPr>
            <a:lvl4pPr marL="1114288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4pPr>
            <a:lvl5pPr marL="1485717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5pPr>
            <a:lvl6pPr marL="1857146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6pPr>
            <a:lvl7pPr marL="2228576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7pPr>
            <a:lvl8pPr marL="2600005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8pPr>
            <a:lvl9pPr marL="2971434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666AE3-AE87-4205-853D-484C272D61D0}" type="datetimeFigureOut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2017-09-28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D88EC7-7381-4F8B-AD5F-60609EA3E91F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2434451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680928" y="1825625"/>
            <a:ext cx="4209376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5014109" y="1825625"/>
            <a:ext cx="4209376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666AE3-AE87-4205-853D-484C272D61D0}" type="datetimeFigureOut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2017-09-28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D88EC7-7381-4F8B-AD5F-60609EA3E91F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912947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682219" y="365126"/>
            <a:ext cx="8542556" cy="1325563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682219" y="1681163"/>
            <a:ext cx="4190031" cy="823912"/>
          </a:xfrm>
        </p:spPr>
        <p:txBody>
          <a:bodyPr anchor="b"/>
          <a:lstStyle>
            <a:lvl1pPr marL="0" indent="0">
              <a:buNone/>
              <a:defRPr sz="1950" b="1"/>
            </a:lvl1pPr>
            <a:lvl2pPr marL="371429" indent="0">
              <a:buNone/>
              <a:defRPr sz="1625" b="1"/>
            </a:lvl2pPr>
            <a:lvl3pPr marL="742859" indent="0">
              <a:buNone/>
              <a:defRPr sz="1462" b="1"/>
            </a:lvl3pPr>
            <a:lvl4pPr marL="1114288" indent="0">
              <a:buNone/>
              <a:defRPr sz="1300" b="1"/>
            </a:lvl4pPr>
            <a:lvl5pPr marL="1485717" indent="0">
              <a:buNone/>
              <a:defRPr sz="1300" b="1"/>
            </a:lvl5pPr>
            <a:lvl6pPr marL="1857146" indent="0">
              <a:buNone/>
              <a:defRPr sz="1300" b="1"/>
            </a:lvl6pPr>
            <a:lvl7pPr marL="2228576" indent="0">
              <a:buNone/>
              <a:defRPr sz="1300" b="1"/>
            </a:lvl7pPr>
            <a:lvl8pPr marL="2600005" indent="0">
              <a:buNone/>
              <a:defRPr sz="1300" b="1"/>
            </a:lvl8pPr>
            <a:lvl9pPr marL="2971434" indent="0">
              <a:buNone/>
              <a:defRPr sz="13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82219" y="2505075"/>
            <a:ext cx="4190031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5014109" y="1681163"/>
            <a:ext cx="4210666" cy="823912"/>
          </a:xfrm>
        </p:spPr>
        <p:txBody>
          <a:bodyPr anchor="b"/>
          <a:lstStyle>
            <a:lvl1pPr marL="0" indent="0">
              <a:buNone/>
              <a:defRPr sz="1950" b="1"/>
            </a:lvl1pPr>
            <a:lvl2pPr marL="371429" indent="0">
              <a:buNone/>
              <a:defRPr sz="1625" b="1"/>
            </a:lvl2pPr>
            <a:lvl3pPr marL="742859" indent="0">
              <a:buNone/>
              <a:defRPr sz="1462" b="1"/>
            </a:lvl3pPr>
            <a:lvl4pPr marL="1114288" indent="0">
              <a:buNone/>
              <a:defRPr sz="1300" b="1"/>
            </a:lvl4pPr>
            <a:lvl5pPr marL="1485717" indent="0">
              <a:buNone/>
              <a:defRPr sz="1300" b="1"/>
            </a:lvl5pPr>
            <a:lvl6pPr marL="1857146" indent="0">
              <a:buNone/>
              <a:defRPr sz="1300" b="1"/>
            </a:lvl6pPr>
            <a:lvl7pPr marL="2228576" indent="0">
              <a:buNone/>
              <a:defRPr sz="1300" b="1"/>
            </a:lvl7pPr>
            <a:lvl8pPr marL="2600005" indent="0">
              <a:buNone/>
              <a:defRPr sz="1300" b="1"/>
            </a:lvl8pPr>
            <a:lvl9pPr marL="2971434" indent="0">
              <a:buNone/>
              <a:defRPr sz="13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5014109" y="2505075"/>
            <a:ext cx="4210666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666AE3-AE87-4205-853D-484C272D61D0}" type="datetimeFigureOut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2017-09-28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D88EC7-7381-4F8B-AD5F-60609EA3E91F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494752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666AE3-AE87-4205-853D-484C272D61D0}" type="datetimeFigureOut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2017-09-28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D88EC7-7381-4F8B-AD5F-60609EA3E91F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903494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666AE3-AE87-4205-853D-484C272D61D0}" type="datetimeFigureOut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2017-09-28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D88EC7-7381-4F8B-AD5F-60609EA3E91F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644432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682219" y="457200"/>
            <a:ext cx="3194431" cy="1600200"/>
          </a:xfrm>
        </p:spPr>
        <p:txBody>
          <a:bodyPr anchor="b"/>
          <a:lstStyle>
            <a:lvl1pPr>
              <a:defRPr sz="26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4210666" y="987426"/>
            <a:ext cx="5014109" cy="4873625"/>
          </a:xfrm>
        </p:spPr>
        <p:txBody>
          <a:bodyPr/>
          <a:lstStyle>
            <a:lvl1pPr>
              <a:defRPr sz="2600"/>
            </a:lvl1pPr>
            <a:lvl2pPr>
              <a:defRPr sz="2275"/>
            </a:lvl2pPr>
            <a:lvl3pPr>
              <a:defRPr sz="1950"/>
            </a:lvl3pPr>
            <a:lvl4pPr>
              <a:defRPr sz="1625"/>
            </a:lvl4pPr>
            <a:lvl5pPr>
              <a:defRPr sz="1625"/>
            </a:lvl5pPr>
            <a:lvl6pPr>
              <a:defRPr sz="1625"/>
            </a:lvl6pPr>
            <a:lvl7pPr>
              <a:defRPr sz="1625"/>
            </a:lvl7pPr>
            <a:lvl8pPr>
              <a:defRPr sz="1625"/>
            </a:lvl8pPr>
            <a:lvl9pPr>
              <a:defRPr sz="1625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682219" y="2057400"/>
            <a:ext cx="3194431" cy="3811588"/>
          </a:xfrm>
        </p:spPr>
        <p:txBody>
          <a:bodyPr/>
          <a:lstStyle>
            <a:lvl1pPr marL="0" indent="0">
              <a:buNone/>
              <a:defRPr sz="1300"/>
            </a:lvl1pPr>
            <a:lvl2pPr marL="371429" indent="0">
              <a:buNone/>
              <a:defRPr sz="1137"/>
            </a:lvl2pPr>
            <a:lvl3pPr marL="742859" indent="0">
              <a:buNone/>
              <a:defRPr sz="975"/>
            </a:lvl3pPr>
            <a:lvl4pPr marL="1114288" indent="0">
              <a:buNone/>
              <a:defRPr sz="812"/>
            </a:lvl4pPr>
            <a:lvl5pPr marL="1485717" indent="0">
              <a:buNone/>
              <a:defRPr sz="812"/>
            </a:lvl5pPr>
            <a:lvl6pPr marL="1857146" indent="0">
              <a:buNone/>
              <a:defRPr sz="812"/>
            </a:lvl6pPr>
            <a:lvl7pPr marL="2228576" indent="0">
              <a:buNone/>
              <a:defRPr sz="812"/>
            </a:lvl7pPr>
            <a:lvl8pPr marL="2600005" indent="0">
              <a:buNone/>
              <a:defRPr sz="812"/>
            </a:lvl8pPr>
            <a:lvl9pPr marL="2971434" indent="0">
              <a:buNone/>
              <a:defRPr sz="812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666AE3-AE87-4205-853D-484C272D61D0}" type="datetimeFigureOut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2017-09-28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D88EC7-7381-4F8B-AD5F-60609EA3E91F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2358548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682219" y="457200"/>
            <a:ext cx="3194431" cy="1600200"/>
          </a:xfrm>
        </p:spPr>
        <p:txBody>
          <a:bodyPr anchor="b"/>
          <a:lstStyle>
            <a:lvl1pPr>
              <a:defRPr sz="26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4210666" y="987426"/>
            <a:ext cx="5014109" cy="4873625"/>
          </a:xfrm>
        </p:spPr>
        <p:txBody>
          <a:bodyPr/>
          <a:lstStyle>
            <a:lvl1pPr marL="0" indent="0">
              <a:buNone/>
              <a:defRPr sz="2600"/>
            </a:lvl1pPr>
            <a:lvl2pPr marL="371429" indent="0">
              <a:buNone/>
              <a:defRPr sz="2275"/>
            </a:lvl2pPr>
            <a:lvl3pPr marL="742859" indent="0">
              <a:buNone/>
              <a:defRPr sz="1950"/>
            </a:lvl3pPr>
            <a:lvl4pPr marL="1114288" indent="0">
              <a:buNone/>
              <a:defRPr sz="1625"/>
            </a:lvl4pPr>
            <a:lvl5pPr marL="1485717" indent="0">
              <a:buNone/>
              <a:defRPr sz="1625"/>
            </a:lvl5pPr>
            <a:lvl6pPr marL="1857146" indent="0">
              <a:buNone/>
              <a:defRPr sz="1625"/>
            </a:lvl6pPr>
            <a:lvl7pPr marL="2228576" indent="0">
              <a:buNone/>
              <a:defRPr sz="1625"/>
            </a:lvl7pPr>
            <a:lvl8pPr marL="2600005" indent="0">
              <a:buNone/>
              <a:defRPr sz="1625"/>
            </a:lvl8pPr>
            <a:lvl9pPr marL="2971434" indent="0">
              <a:buNone/>
              <a:defRPr sz="1625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682219" y="2057400"/>
            <a:ext cx="3194431" cy="3811588"/>
          </a:xfrm>
        </p:spPr>
        <p:txBody>
          <a:bodyPr/>
          <a:lstStyle>
            <a:lvl1pPr marL="0" indent="0">
              <a:buNone/>
              <a:defRPr sz="1300"/>
            </a:lvl1pPr>
            <a:lvl2pPr marL="371429" indent="0">
              <a:buNone/>
              <a:defRPr sz="1137"/>
            </a:lvl2pPr>
            <a:lvl3pPr marL="742859" indent="0">
              <a:buNone/>
              <a:defRPr sz="975"/>
            </a:lvl3pPr>
            <a:lvl4pPr marL="1114288" indent="0">
              <a:buNone/>
              <a:defRPr sz="812"/>
            </a:lvl4pPr>
            <a:lvl5pPr marL="1485717" indent="0">
              <a:buNone/>
              <a:defRPr sz="812"/>
            </a:lvl5pPr>
            <a:lvl6pPr marL="1857146" indent="0">
              <a:buNone/>
              <a:defRPr sz="812"/>
            </a:lvl6pPr>
            <a:lvl7pPr marL="2228576" indent="0">
              <a:buNone/>
              <a:defRPr sz="812"/>
            </a:lvl7pPr>
            <a:lvl8pPr marL="2600005" indent="0">
              <a:buNone/>
              <a:defRPr sz="812"/>
            </a:lvl8pPr>
            <a:lvl9pPr marL="2971434" indent="0">
              <a:buNone/>
              <a:defRPr sz="812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666AE3-AE87-4205-853D-484C272D61D0}" type="datetimeFigureOut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2017-09-28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D88EC7-7381-4F8B-AD5F-60609EA3E91F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5775119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666AE3-AE87-4205-853D-484C272D61D0}" type="datetimeFigureOut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2017-09-28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D88EC7-7381-4F8B-AD5F-60609EA3E91F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8249474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7087846" y="365125"/>
            <a:ext cx="2135639" cy="5811838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680928" y="365125"/>
            <a:ext cx="6283112" cy="5811838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666AE3-AE87-4205-853D-484C272D61D0}" type="datetimeFigureOut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2017-09-28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D88EC7-7381-4F8B-AD5F-60609EA3E91F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386345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680929" y="365126"/>
            <a:ext cx="8542556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680929" y="1825625"/>
            <a:ext cx="8542556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680928" y="6356351"/>
            <a:ext cx="222849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7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3666AE3-AE87-4205-853D-484C272D61D0}" type="datetimeFigureOut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2017-09-28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280837" y="6356351"/>
            <a:ext cx="33427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7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994992" y="6356351"/>
            <a:ext cx="222849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7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DD88EC7-7381-4F8B-AD5F-60609EA3E91F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897873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742859" rtl="0" eaLnBrk="1" latinLnBrk="1" hangingPunct="1">
        <a:lnSpc>
          <a:spcPct val="90000"/>
        </a:lnSpc>
        <a:spcBef>
          <a:spcPct val="0"/>
        </a:spcBef>
        <a:buNone/>
        <a:defRPr sz="3575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85715" indent="-185715" algn="l" defTabSz="742859" rtl="0" eaLnBrk="1" latinLnBrk="1" hangingPunct="1">
        <a:lnSpc>
          <a:spcPct val="90000"/>
        </a:lnSpc>
        <a:spcBef>
          <a:spcPts val="812"/>
        </a:spcBef>
        <a:buFont typeface="Arial" panose="020B0604020202020204" pitchFamily="34" charset="0"/>
        <a:buChar char="•"/>
        <a:defRPr sz="2275" kern="1200">
          <a:solidFill>
            <a:schemeClr val="tx1"/>
          </a:solidFill>
          <a:latin typeface="+mn-lt"/>
          <a:ea typeface="+mn-ea"/>
          <a:cs typeface="+mn-cs"/>
        </a:defRPr>
      </a:lvl1pPr>
      <a:lvl2pPr marL="557144" indent="-185715" algn="l" defTabSz="742859" rtl="0" eaLnBrk="1" latinLnBrk="1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950" kern="1200">
          <a:solidFill>
            <a:schemeClr val="tx1"/>
          </a:solidFill>
          <a:latin typeface="+mn-lt"/>
          <a:ea typeface="+mn-ea"/>
          <a:cs typeface="+mn-cs"/>
        </a:defRPr>
      </a:lvl2pPr>
      <a:lvl3pPr marL="928573" indent="-185715" algn="l" defTabSz="742859" rtl="0" eaLnBrk="1" latinLnBrk="1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625" kern="1200">
          <a:solidFill>
            <a:schemeClr val="tx1"/>
          </a:solidFill>
          <a:latin typeface="+mn-lt"/>
          <a:ea typeface="+mn-ea"/>
          <a:cs typeface="+mn-cs"/>
        </a:defRPr>
      </a:lvl3pPr>
      <a:lvl4pPr marL="1300002" indent="-185715" algn="l" defTabSz="742859" rtl="0" eaLnBrk="1" latinLnBrk="1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462" kern="1200">
          <a:solidFill>
            <a:schemeClr val="tx1"/>
          </a:solidFill>
          <a:latin typeface="+mn-lt"/>
          <a:ea typeface="+mn-ea"/>
          <a:cs typeface="+mn-cs"/>
        </a:defRPr>
      </a:lvl4pPr>
      <a:lvl5pPr marL="1671432" indent="-185715" algn="l" defTabSz="742859" rtl="0" eaLnBrk="1" latinLnBrk="1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462" kern="1200">
          <a:solidFill>
            <a:schemeClr val="tx1"/>
          </a:solidFill>
          <a:latin typeface="+mn-lt"/>
          <a:ea typeface="+mn-ea"/>
          <a:cs typeface="+mn-cs"/>
        </a:defRPr>
      </a:lvl5pPr>
      <a:lvl6pPr marL="2042861" indent="-185715" algn="l" defTabSz="742859" rtl="0" eaLnBrk="1" latinLnBrk="1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462" kern="1200">
          <a:solidFill>
            <a:schemeClr val="tx1"/>
          </a:solidFill>
          <a:latin typeface="+mn-lt"/>
          <a:ea typeface="+mn-ea"/>
          <a:cs typeface="+mn-cs"/>
        </a:defRPr>
      </a:lvl6pPr>
      <a:lvl7pPr marL="2414290" indent="-185715" algn="l" defTabSz="742859" rtl="0" eaLnBrk="1" latinLnBrk="1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462" kern="1200">
          <a:solidFill>
            <a:schemeClr val="tx1"/>
          </a:solidFill>
          <a:latin typeface="+mn-lt"/>
          <a:ea typeface="+mn-ea"/>
          <a:cs typeface="+mn-cs"/>
        </a:defRPr>
      </a:lvl7pPr>
      <a:lvl8pPr marL="2785720" indent="-185715" algn="l" defTabSz="742859" rtl="0" eaLnBrk="1" latinLnBrk="1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462" kern="1200">
          <a:solidFill>
            <a:schemeClr val="tx1"/>
          </a:solidFill>
          <a:latin typeface="+mn-lt"/>
          <a:ea typeface="+mn-ea"/>
          <a:cs typeface="+mn-cs"/>
        </a:defRPr>
      </a:lvl8pPr>
      <a:lvl9pPr marL="3157149" indent="-185715" algn="l" defTabSz="742859" rtl="0" eaLnBrk="1" latinLnBrk="1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462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742859" rtl="0" eaLnBrk="1" latinLnBrk="1" hangingPunct="1">
        <a:defRPr sz="1462" kern="1200">
          <a:solidFill>
            <a:schemeClr val="tx1"/>
          </a:solidFill>
          <a:latin typeface="+mn-lt"/>
          <a:ea typeface="+mn-ea"/>
          <a:cs typeface="+mn-cs"/>
        </a:defRPr>
      </a:lvl1pPr>
      <a:lvl2pPr marL="371429" algn="l" defTabSz="742859" rtl="0" eaLnBrk="1" latinLnBrk="1" hangingPunct="1">
        <a:defRPr sz="1462" kern="1200">
          <a:solidFill>
            <a:schemeClr val="tx1"/>
          </a:solidFill>
          <a:latin typeface="+mn-lt"/>
          <a:ea typeface="+mn-ea"/>
          <a:cs typeface="+mn-cs"/>
        </a:defRPr>
      </a:lvl2pPr>
      <a:lvl3pPr marL="742859" algn="l" defTabSz="742859" rtl="0" eaLnBrk="1" latinLnBrk="1" hangingPunct="1">
        <a:defRPr sz="1462" kern="1200">
          <a:solidFill>
            <a:schemeClr val="tx1"/>
          </a:solidFill>
          <a:latin typeface="+mn-lt"/>
          <a:ea typeface="+mn-ea"/>
          <a:cs typeface="+mn-cs"/>
        </a:defRPr>
      </a:lvl3pPr>
      <a:lvl4pPr marL="1114288" algn="l" defTabSz="742859" rtl="0" eaLnBrk="1" latinLnBrk="1" hangingPunct="1">
        <a:defRPr sz="1462" kern="1200">
          <a:solidFill>
            <a:schemeClr val="tx1"/>
          </a:solidFill>
          <a:latin typeface="+mn-lt"/>
          <a:ea typeface="+mn-ea"/>
          <a:cs typeface="+mn-cs"/>
        </a:defRPr>
      </a:lvl4pPr>
      <a:lvl5pPr marL="1485717" algn="l" defTabSz="742859" rtl="0" eaLnBrk="1" latinLnBrk="1" hangingPunct="1">
        <a:defRPr sz="1462" kern="1200">
          <a:solidFill>
            <a:schemeClr val="tx1"/>
          </a:solidFill>
          <a:latin typeface="+mn-lt"/>
          <a:ea typeface="+mn-ea"/>
          <a:cs typeface="+mn-cs"/>
        </a:defRPr>
      </a:lvl5pPr>
      <a:lvl6pPr marL="1857146" algn="l" defTabSz="742859" rtl="0" eaLnBrk="1" latinLnBrk="1" hangingPunct="1">
        <a:defRPr sz="1462" kern="1200">
          <a:solidFill>
            <a:schemeClr val="tx1"/>
          </a:solidFill>
          <a:latin typeface="+mn-lt"/>
          <a:ea typeface="+mn-ea"/>
          <a:cs typeface="+mn-cs"/>
        </a:defRPr>
      </a:lvl6pPr>
      <a:lvl7pPr marL="2228576" algn="l" defTabSz="742859" rtl="0" eaLnBrk="1" latinLnBrk="1" hangingPunct="1">
        <a:defRPr sz="1462" kern="1200">
          <a:solidFill>
            <a:schemeClr val="tx1"/>
          </a:solidFill>
          <a:latin typeface="+mn-lt"/>
          <a:ea typeface="+mn-ea"/>
          <a:cs typeface="+mn-cs"/>
        </a:defRPr>
      </a:lvl7pPr>
      <a:lvl8pPr marL="2600005" algn="l" defTabSz="742859" rtl="0" eaLnBrk="1" latinLnBrk="1" hangingPunct="1">
        <a:defRPr sz="1462" kern="1200">
          <a:solidFill>
            <a:schemeClr val="tx1"/>
          </a:solidFill>
          <a:latin typeface="+mn-lt"/>
          <a:ea typeface="+mn-ea"/>
          <a:cs typeface="+mn-cs"/>
        </a:defRPr>
      </a:lvl8pPr>
      <a:lvl9pPr marL="2971434" algn="l" defTabSz="742859" rtl="0" eaLnBrk="1" latinLnBrk="1" hangingPunct="1">
        <a:defRPr sz="1462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jpe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jpe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7" Type="http://schemas.openxmlformats.org/officeDocument/2006/relationships/image" Target="../media/image15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jpeg"/><Relationship Id="rId5" Type="http://schemas.openxmlformats.org/officeDocument/2006/relationships/image" Target="../media/image13.jpeg"/><Relationship Id="rId4" Type="http://schemas.openxmlformats.org/officeDocument/2006/relationships/image" Target="../media/image12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표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89095547"/>
              </p:ext>
            </p:extLst>
          </p:nvPr>
        </p:nvGraphicFramePr>
        <p:xfrm>
          <a:off x="89811" y="44624"/>
          <a:ext cx="9733322" cy="669674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76375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96956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32048">
                <a:tc gridSpan="2">
                  <a:txBody>
                    <a:bodyPr/>
                    <a:lstStyle/>
                    <a:p>
                      <a:pPr defTabSz="741363" latinLnBrk="1"/>
                      <a:r>
                        <a:rPr lang="ko-KR" altLang="en-US" sz="1800" b="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▣</a:t>
                      </a:r>
                      <a:r>
                        <a:rPr lang="en-US" altLang="ko-KR" sz="1800" b="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en-US" sz="1800" b="0" kern="1200" baseline="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덴버</a:t>
                      </a:r>
                      <a:r>
                        <a:rPr lang="ko-KR" altLang="en-US" sz="1800" b="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en-US" altLang="ko-KR" sz="1800" b="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DTS </a:t>
                      </a:r>
                      <a:r>
                        <a:rPr lang="ko-KR" altLang="en-US" sz="1800" b="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방송 검증 시험 </a:t>
                      </a:r>
                      <a:r>
                        <a:rPr lang="en-US" altLang="ko-KR" sz="1100" b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1100" b="0" baseline="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덴버</a:t>
                      </a:r>
                      <a:r>
                        <a:rPr lang="ko-KR" altLang="en-US" sz="1100" b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lang="en-US" altLang="ko-KR" sz="1100" b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DTS 66</a:t>
                      </a:r>
                      <a:r>
                        <a:rPr lang="ko-KR" altLang="en-US" sz="1100" b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량</a:t>
                      </a:r>
                      <a:r>
                        <a:rPr lang="en-US" altLang="ko-KR" sz="1100" b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)</a:t>
                      </a:r>
                      <a:endParaRPr lang="ko-KR" altLang="en-US" sz="1100" b="0" dirty="0">
                        <a:solidFill>
                          <a:srgbClr val="FF0000"/>
                        </a:solidFill>
                        <a:latin typeface="+mn-ea"/>
                        <a:ea typeface="+mn-ea"/>
                      </a:endParaRPr>
                    </a:p>
                  </a:txBody>
                  <a:tcPr marL="99044" marR="99044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264696">
                <a:tc>
                  <a:txBody>
                    <a:bodyPr/>
                    <a:lstStyle/>
                    <a:p>
                      <a:pPr latinLnBrk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b="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◈ 시험개요</a:t>
                      </a:r>
                      <a:endParaRPr lang="en-US" altLang="ko-KR" sz="1400" b="0" kern="120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latinLnBrk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200" b="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  1) </a:t>
                      </a:r>
                      <a:r>
                        <a:rPr lang="ko-KR" altLang="en-US" sz="1200" b="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목적 </a:t>
                      </a:r>
                      <a:r>
                        <a:rPr lang="en-US" altLang="ko-KR" sz="1200" b="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:</a:t>
                      </a:r>
                      <a:r>
                        <a:rPr lang="ko-KR" altLang="en-US" sz="1200" b="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덴버 방송 장치</a:t>
                      </a:r>
                      <a:r>
                        <a:rPr lang="en-US" altLang="ko-KR" sz="1200" b="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(CRA) </a:t>
                      </a:r>
                      <a:r>
                        <a:rPr lang="ko-KR" altLang="en-US" sz="1200" b="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주변 온도를 측정 하여 설치 위치에 따른 온도 상승 상관 관계를 확인 한다</a:t>
                      </a:r>
                      <a:r>
                        <a:rPr lang="en-US" altLang="ko-KR" sz="1200" b="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.</a:t>
                      </a:r>
                      <a:r>
                        <a:rPr lang="ko-KR" altLang="en-US" sz="1200" b="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endParaRPr lang="en-US" altLang="ko-KR" sz="1200" b="0" kern="1200" baseline="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latinLnBrk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200" b="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   2)</a:t>
                      </a:r>
                      <a:r>
                        <a:rPr lang="ko-KR" altLang="en-US" sz="1200" b="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온도 측저은 </a:t>
                      </a:r>
                      <a:r>
                        <a:rPr lang="en-US" altLang="ko-KR" sz="1200" b="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TR-71Ui</a:t>
                      </a:r>
                      <a:r>
                        <a:rPr lang="ko-KR" altLang="en-US" sz="1200" b="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를 사용 한다</a:t>
                      </a:r>
                      <a:r>
                        <a:rPr lang="en-US" altLang="ko-KR" sz="1200" b="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.</a:t>
                      </a:r>
                      <a:r>
                        <a:rPr lang="ko-KR" altLang="en-US" sz="1200" b="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endParaRPr lang="en-US" altLang="ko-KR" sz="1200" b="0" kern="1200" baseline="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latinLnBrk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b="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◈ 시험구성</a:t>
                      </a:r>
                      <a:endParaRPr lang="en-US" altLang="ko-KR" sz="1400" b="0" kern="120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latinLnBrk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/>
                      </a:pPr>
                      <a:r>
                        <a:rPr lang="en-US" altLang="ko-KR" sz="1200" b="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  1) </a:t>
                      </a:r>
                      <a:r>
                        <a:rPr lang="ko-KR" altLang="en-US" sz="1200" b="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시험대상 </a:t>
                      </a:r>
                      <a:r>
                        <a:rPr lang="en-US" altLang="ko-KR" sz="1200" b="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: CRA</a:t>
                      </a:r>
                      <a:r>
                        <a:rPr lang="ko-KR" altLang="en-US" sz="1200" b="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랙</a:t>
                      </a:r>
                      <a:endParaRPr lang="en-US" altLang="ko-KR" sz="1000" b="0" kern="1200" baseline="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latinLnBrk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200" b="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  2) </a:t>
                      </a:r>
                      <a:r>
                        <a:rPr lang="ko-KR" altLang="en-US" sz="1200" b="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시험구성 및 방법</a:t>
                      </a:r>
                      <a:endParaRPr lang="en-US" altLang="ko-KR" sz="1200" b="0" kern="1200" baseline="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latinLnBrk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200" b="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     ①</a:t>
                      </a:r>
                      <a:r>
                        <a:rPr lang="ko-KR" altLang="en-US" sz="1200" b="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 덴버 방송 방치</a:t>
                      </a:r>
                      <a:r>
                        <a:rPr lang="en-US" altLang="ko-KR" sz="1200" b="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(CRA)</a:t>
                      </a:r>
                      <a:r>
                        <a:rPr lang="ko-KR" altLang="en-US" sz="1200" b="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주변 온도 및</a:t>
                      </a:r>
                      <a:r>
                        <a:rPr lang="en-US" altLang="ko-KR" sz="1200" b="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Heatsink </a:t>
                      </a:r>
                      <a:r>
                        <a:rPr lang="ko-KR" altLang="en-US" sz="1200" b="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온도 측정</a:t>
                      </a:r>
                      <a:r>
                        <a:rPr lang="en-US" altLang="ko-KR" sz="1200" b="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.</a:t>
                      </a:r>
                    </a:p>
                    <a:p>
                      <a:pPr latinLnBrk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altLang="ko-KR" sz="1200" b="0" kern="1200" baseline="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latinLnBrk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altLang="ko-KR" sz="1200" b="0" kern="1200" baseline="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latinLnBrk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altLang="ko-KR" sz="1200" b="0" kern="1200" baseline="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latinLnBrk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altLang="ko-KR" sz="1200" b="0" kern="1200" baseline="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latinLnBrk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altLang="ko-KR" sz="1200" b="0" kern="1200" baseline="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latinLnBrk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altLang="ko-KR" sz="1200" b="0" kern="1200" baseline="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latinLnBrk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altLang="ko-KR" sz="1200" b="0" kern="1200" baseline="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742859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b="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    </a:t>
                      </a:r>
                      <a:r>
                        <a:rPr lang="en-US" altLang="ko-KR" sz="1200" b="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② </a:t>
                      </a:r>
                      <a:r>
                        <a:rPr lang="ko-KR" altLang="en-US" sz="1200" b="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덴버 </a:t>
                      </a:r>
                      <a:r>
                        <a:rPr lang="en-US" altLang="ko-KR" sz="1200" b="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PTC </a:t>
                      </a:r>
                      <a:r>
                        <a:rPr lang="ko-KR" altLang="en-US" sz="1200" b="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및 </a:t>
                      </a:r>
                      <a:r>
                        <a:rPr lang="en-US" altLang="ko-KR" sz="1200" b="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NVR </a:t>
                      </a:r>
                      <a:r>
                        <a:rPr lang="ko-KR" altLang="en-US" sz="1200" b="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장치 주변 온도</a:t>
                      </a:r>
                      <a:r>
                        <a:rPr lang="en-US" altLang="ko-KR" sz="1200" b="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en-US" sz="1200" b="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측정</a:t>
                      </a:r>
                      <a:r>
                        <a:rPr lang="en-US" altLang="ko-KR" sz="1200" b="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.</a:t>
                      </a:r>
                    </a:p>
                    <a:p>
                      <a:pPr latinLnBrk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altLang="ko-KR" sz="1200" b="0" kern="1200" baseline="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latinLnBrk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altLang="ko-KR" sz="1200" b="0" kern="1200" baseline="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latinLnBrk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altLang="ko-KR" sz="1200" b="0" kern="1200" baseline="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latinLnBrk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200" b="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         </a:t>
                      </a:r>
                    </a:p>
                  </a:txBody>
                  <a:tcPr marL="99044" marR="99044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742859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b="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◈ 시험결과</a:t>
                      </a:r>
                      <a:endParaRPr lang="en-US" altLang="ko-KR" sz="1400" b="0" kern="120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742859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400" b="0" kern="120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742859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400" b="0" kern="120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742859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400" b="0" kern="120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742859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400" b="0" kern="120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742859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400" b="0" kern="120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742859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400" b="0" kern="120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742859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400" b="0" kern="120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742859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400" b="0" kern="120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742859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400" b="0" kern="120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742859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400" b="0" kern="120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742859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400" b="0" kern="120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latinLnBrk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/>
                      </a:pPr>
                      <a:r>
                        <a:rPr lang="en-US" altLang="ko-KR" sz="1200" b="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  1)</a:t>
                      </a:r>
                      <a:r>
                        <a:rPr lang="ko-KR" altLang="en-US" sz="1200" b="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주변 온도 변화 측정 결과</a:t>
                      </a:r>
                      <a:r>
                        <a:rPr lang="en-US" altLang="ko-KR" sz="1200" b="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.      </a:t>
                      </a:r>
                    </a:p>
                    <a:p>
                      <a:pPr marL="0" marR="0" indent="0" algn="l" defTabSz="742859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b="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     </a:t>
                      </a:r>
                      <a:r>
                        <a:rPr lang="en-US" altLang="ko-KR" sz="1200" b="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a.</a:t>
                      </a:r>
                      <a:r>
                        <a:rPr lang="ko-KR" altLang="en-US" sz="1200" b="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en-US" altLang="ko-KR" sz="1200" b="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CRA : 25</a:t>
                      </a:r>
                      <a:r>
                        <a:rPr lang="en-US" altLang="ko-KR" sz="1200" b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℃</a:t>
                      </a:r>
                      <a:r>
                        <a:rPr lang="en-US" altLang="ko-KR" sz="1200" b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~ 38</a:t>
                      </a:r>
                      <a:r>
                        <a:rPr lang="en-US" altLang="ko-KR" sz="1200" b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℃</a:t>
                      </a:r>
                      <a:r>
                        <a:rPr lang="en-US" altLang="ko-KR" sz="1200" b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(13</a:t>
                      </a:r>
                      <a:r>
                        <a:rPr lang="en-US" altLang="ko-KR" sz="1200" b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℃</a:t>
                      </a:r>
                      <a:r>
                        <a:rPr lang="en-US" altLang="ko-KR" sz="1200" b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lang="ko-KR" altLang="en-US" sz="1200" b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온도 변화율</a:t>
                      </a:r>
                      <a:r>
                        <a:rPr lang="en-US" altLang="ko-KR" sz="1200" b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)</a:t>
                      </a:r>
                    </a:p>
                    <a:p>
                      <a:pPr marL="0" marR="0" indent="0" algn="l" defTabSz="742859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b="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     </a:t>
                      </a:r>
                      <a:r>
                        <a:rPr lang="en-US" altLang="ko-KR" sz="1200" b="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b. PTC : 29</a:t>
                      </a:r>
                      <a:r>
                        <a:rPr lang="en-US" altLang="ko-KR" sz="1200" b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℃ ~ 32℃ (3℃ </a:t>
                      </a:r>
                      <a:r>
                        <a:rPr lang="ko-KR" altLang="en-US" sz="1200" b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온도 변화율</a:t>
                      </a:r>
                      <a:r>
                        <a:rPr lang="en-US" altLang="ko-KR" sz="1200" b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)</a:t>
                      </a:r>
                    </a:p>
                    <a:p>
                      <a:pPr marL="0" marR="0" indent="0" algn="l" defTabSz="742859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b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     </a:t>
                      </a:r>
                      <a:r>
                        <a:rPr lang="en-US" altLang="ko-KR" sz="1200" b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c.</a:t>
                      </a:r>
                      <a:r>
                        <a:rPr lang="en-US" altLang="ko-KR" sz="1200" b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CCTV : 32</a:t>
                      </a:r>
                      <a:r>
                        <a:rPr lang="en-US" altLang="ko-KR" sz="1200" b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℃ ~ 41℃ ( 9℃</a:t>
                      </a:r>
                      <a:r>
                        <a:rPr lang="en-US" altLang="ko-KR" sz="1200" b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lang="ko-KR" altLang="en-US" sz="1200" b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온도 변화율</a:t>
                      </a:r>
                      <a:r>
                        <a:rPr lang="en-US" altLang="ko-KR" sz="1200" b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)</a:t>
                      </a:r>
                    </a:p>
                    <a:p>
                      <a:pPr marL="0" marR="0" indent="0" algn="l" defTabSz="742859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b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  </a:t>
                      </a:r>
                      <a:r>
                        <a:rPr lang="en-US" altLang="ko-KR" sz="1200" b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2)</a:t>
                      </a:r>
                      <a:r>
                        <a:rPr lang="ko-KR" altLang="en-US" sz="1200" b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결과</a:t>
                      </a:r>
                      <a:r>
                        <a:rPr lang="en-US" altLang="ko-KR" sz="1200" b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.</a:t>
                      </a:r>
                    </a:p>
                    <a:p>
                      <a:pPr marL="0" marR="0" indent="0" algn="l" defTabSz="742859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b="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     </a:t>
                      </a:r>
                      <a:r>
                        <a:rPr lang="en-US" altLang="ko-KR" sz="1200" b="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a. </a:t>
                      </a:r>
                      <a:r>
                        <a:rPr lang="ko-KR" altLang="en-US" sz="1200" b="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각 장치의 차량 설치 위치에 따른 온도 차이를 확인 할수 있으나 </a:t>
                      </a:r>
                      <a:endParaRPr lang="en-US" altLang="ko-KR" sz="1200" b="0" kern="1200" baseline="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marR="0" indent="0" algn="l" defTabSz="742859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b="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en-US" altLang="ko-KR" sz="1200" b="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en-US" sz="1200" b="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     그 차이가 </a:t>
                      </a:r>
                      <a:r>
                        <a:rPr lang="ko-KR" altLang="en-US" sz="1200" b="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미비하여 장치 동작에 미치는 영향이 확인 할 수 없다</a:t>
                      </a:r>
                      <a:r>
                        <a:rPr lang="en-US" altLang="ko-KR" sz="1200" b="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.</a:t>
                      </a:r>
                      <a:endParaRPr lang="en-US" altLang="ko-KR" sz="1200" b="0" kern="1200" baseline="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99044" marR="0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pSp>
        <p:nvGrpSpPr>
          <p:cNvPr id="12" name="그룹 11"/>
          <p:cNvGrpSpPr/>
          <p:nvPr/>
        </p:nvGrpSpPr>
        <p:grpSpPr>
          <a:xfrm>
            <a:off x="572036" y="2852936"/>
            <a:ext cx="2880320" cy="1872208"/>
            <a:chOff x="487710" y="2924944"/>
            <a:chExt cx="3755745" cy="2761027"/>
          </a:xfrm>
        </p:grpSpPr>
        <p:pic>
          <p:nvPicPr>
            <p:cNvPr id="3" name="그림 2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487710" y="2924944"/>
              <a:ext cx="2070770" cy="2761027"/>
            </a:xfrm>
            <a:prstGeom prst="rect">
              <a:avLst/>
            </a:prstGeom>
          </p:spPr>
        </p:pic>
        <p:sp>
          <p:nvSpPr>
            <p:cNvPr id="6" name="아래쪽 화살표[D] 5"/>
            <p:cNvSpPr/>
            <p:nvPr/>
          </p:nvSpPr>
          <p:spPr>
            <a:xfrm rot="2658184">
              <a:off x="1613791" y="3508869"/>
              <a:ext cx="211063" cy="345630"/>
            </a:xfrm>
            <a:prstGeom prst="downArrow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 sz="600"/>
            </a:p>
          </p:txBody>
        </p:sp>
        <p:sp>
          <p:nvSpPr>
            <p:cNvPr id="80" name="아래쪽 화살표[D] 79"/>
            <p:cNvSpPr/>
            <p:nvPr/>
          </p:nvSpPr>
          <p:spPr>
            <a:xfrm rot="2658184">
              <a:off x="1221335" y="4565357"/>
              <a:ext cx="211063" cy="345630"/>
            </a:xfrm>
            <a:prstGeom prst="downArrow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 sz="600"/>
            </a:p>
          </p:txBody>
        </p:sp>
        <p:sp>
          <p:nvSpPr>
            <p:cNvPr id="7" name="텍스트 상자 6"/>
            <p:cNvSpPr txBox="1"/>
            <p:nvPr/>
          </p:nvSpPr>
          <p:spPr>
            <a:xfrm>
              <a:off x="1915549" y="3392997"/>
              <a:ext cx="642930" cy="272335"/>
            </a:xfrm>
            <a:prstGeom prst="rect">
              <a:avLst/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wrap="square" rtlCol="0">
              <a:spAutoFit/>
            </a:bodyPr>
            <a:lstStyle/>
            <a:p>
              <a:r>
                <a:rPr kumimoji="1" lang="en-US" altLang="ko-KR" sz="600" dirty="0" smtClean="0"/>
                <a:t>Heatsink</a:t>
              </a:r>
              <a:endParaRPr kumimoji="1" lang="ko-KR" altLang="en-US" sz="600" dirty="0"/>
            </a:p>
          </p:txBody>
        </p:sp>
        <p:sp>
          <p:nvSpPr>
            <p:cNvPr id="82" name="텍스트 상자 81"/>
            <p:cNvSpPr txBox="1"/>
            <p:nvPr/>
          </p:nvSpPr>
          <p:spPr>
            <a:xfrm>
              <a:off x="1501740" y="4522729"/>
              <a:ext cx="1223354" cy="272335"/>
            </a:xfrm>
            <a:prstGeom prst="rect">
              <a:avLst/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wrap="square" rtlCol="0">
              <a:spAutoFit/>
            </a:bodyPr>
            <a:lstStyle/>
            <a:p>
              <a:r>
                <a:rPr kumimoji="1" lang="en-US" altLang="ko-KR" sz="600" dirty="0" smtClean="0"/>
                <a:t>CRA </a:t>
              </a:r>
              <a:r>
                <a:rPr kumimoji="1" lang="ko-KR" altLang="en-US" sz="600" dirty="0" smtClean="0"/>
                <a:t>주변 온도 측정</a:t>
              </a:r>
              <a:endParaRPr kumimoji="1" lang="ko-KR" altLang="en-US" sz="600" dirty="0"/>
            </a:p>
          </p:txBody>
        </p:sp>
        <p:grpSp>
          <p:nvGrpSpPr>
            <p:cNvPr id="83" name="그룹 82"/>
            <p:cNvGrpSpPr/>
            <p:nvPr/>
          </p:nvGrpSpPr>
          <p:grpSpPr>
            <a:xfrm>
              <a:off x="3152006" y="3488326"/>
              <a:ext cx="1091449" cy="691424"/>
              <a:chOff x="316421" y="5973151"/>
              <a:chExt cx="1015243" cy="697961"/>
            </a:xfrm>
          </p:grpSpPr>
          <p:pic>
            <p:nvPicPr>
              <p:cNvPr id="84" name="그림 83"/>
              <p:cNvPicPr>
                <a:picLocks noChangeAspect="1"/>
              </p:cNvPicPr>
              <p:nvPr/>
            </p:nvPicPr>
            <p:blipFill rotWithShape="1">
              <a:blip r:embed="rId4" cstate="print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rcRect/>
              <a:stretch/>
            </p:blipFill>
            <p:spPr>
              <a:xfrm>
                <a:off x="316421" y="6119546"/>
                <a:ext cx="1015243" cy="551566"/>
              </a:xfrm>
              <a:prstGeom prst="rect">
                <a:avLst/>
              </a:prstGeom>
            </p:spPr>
          </p:pic>
          <p:sp>
            <p:nvSpPr>
              <p:cNvPr id="85" name="텍스트 상자 84"/>
              <p:cNvSpPr txBox="1"/>
              <p:nvPr/>
            </p:nvSpPr>
            <p:spPr>
              <a:xfrm>
                <a:off x="571898" y="5973151"/>
                <a:ext cx="560339" cy="4123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mr-IN" altLang="ko-KR" sz="600" dirty="0"/>
                  <a:t>TR-71Ui</a:t>
                </a:r>
              </a:p>
              <a:p>
                <a:endParaRPr kumimoji="1" lang="ko-KR" altLang="en-US" sz="600" dirty="0"/>
              </a:p>
            </p:txBody>
          </p:sp>
        </p:grpSp>
        <p:sp>
          <p:nvSpPr>
            <p:cNvPr id="9" name="타원 8"/>
            <p:cNvSpPr/>
            <p:nvPr/>
          </p:nvSpPr>
          <p:spPr>
            <a:xfrm>
              <a:off x="631726" y="3681684"/>
              <a:ext cx="498913" cy="623773"/>
            </a:xfrm>
            <a:prstGeom prst="ellipse">
              <a:avLst/>
            </a:prstGeom>
            <a:noFill/>
            <a:ln w="28575">
              <a:solidFill>
                <a:srgbClr val="FF3737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 sz="600"/>
            </a:p>
          </p:txBody>
        </p:sp>
        <p:cxnSp>
          <p:nvCxnSpPr>
            <p:cNvPr id="11" name="직선 화살표 연결선 10"/>
            <p:cNvCxnSpPr>
              <a:stCxn id="84" idx="1"/>
              <a:endCxn id="9" idx="6"/>
            </p:cNvCxnSpPr>
            <p:nvPr/>
          </p:nvCxnSpPr>
          <p:spPr>
            <a:xfrm flipH="1">
              <a:off x="1130639" y="3906550"/>
              <a:ext cx="2021367" cy="87021"/>
            </a:xfrm>
            <a:prstGeom prst="straightConnector1">
              <a:avLst/>
            </a:prstGeom>
            <a:ln w="38100">
              <a:solidFill>
                <a:srgbClr val="FF3737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" name="그룹 1"/>
          <p:cNvGrpSpPr/>
          <p:nvPr/>
        </p:nvGrpSpPr>
        <p:grpSpPr>
          <a:xfrm>
            <a:off x="609685" y="5042523"/>
            <a:ext cx="2870937" cy="1615758"/>
            <a:chOff x="609685" y="5042523"/>
            <a:chExt cx="2870937" cy="1615758"/>
          </a:xfrm>
        </p:grpSpPr>
        <p:pic>
          <p:nvPicPr>
            <p:cNvPr id="5" name="그림 4"/>
            <p:cNvPicPr>
              <a:picLocks noChangeAspect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609685" y="5042523"/>
              <a:ext cx="1211818" cy="1615758"/>
            </a:xfrm>
            <a:prstGeom prst="rect">
              <a:avLst/>
            </a:prstGeom>
          </p:spPr>
        </p:pic>
        <p:sp>
          <p:nvSpPr>
            <p:cNvPr id="90" name="아래쪽 화살표[D] 89"/>
            <p:cNvSpPr/>
            <p:nvPr/>
          </p:nvSpPr>
          <p:spPr>
            <a:xfrm rot="2658184">
              <a:off x="1189104" y="6247807"/>
              <a:ext cx="161866" cy="234366"/>
            </a:xfrm>
            <a:prstGeom prst="downArrow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 sz="600"/>
            </a:p>
          </p:txBody>
        </p:sp>
        <p:sp>
          <p:nvSpPr>
            <p:cNvPr id="91" name="텍스트 상자 90"/>
            <p:cNvSpPr txBox="1"/>
            <p:nvPr/>
          </p:nvSpPr>
          <p:spPr>
            <a:xfrm>
              <a:off x="1420526" y="6169236"/>
              <a:ext cx="867384" cy="184666"/>
            </a:xfrm>
            <a:prstGeom prst="rect">
              <a:avLst/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wrap="square" rtlCol="0">
              <a:spAutoFit/>
            </a:bodyPr>
            <a:lstStyle/>
            <a:p>
              <a:r>
                <a:rPr kumimoji="1" lang="en-US" altLang="ko-KR" sz="600" smtClean="0"/>
                <a:t>NVR </a:t>
              </a:r>
              <a:r>
                <a:rPr kumimoji="1" lang="ko-KR" altLang="en-US" sz="600" dirty="0" smtClean="0"/>
                <a:t>주변온도 측정</a:t>
              </a:r>
              <a:endParaRPr kumimoji="1" lang="ko-KR" altLang="en-US" sz="600" dirty="0"/>
            </a:p>
          </p:txBody>
        </p:sp>
        <p:sp>
          <p:nvSpPr>
            <p:cNvPr id="92" name="아래쪽 화살표[D] 91"/>
            <p:cNvSpPr/>
            <p:nvPr/>
          </p:nvSpPr>
          <p:spPr>
            <a:xfrm rot="2658184">
              <a:off x="1357793" y="5606691"/>
              <a:ext cx="161866" cy="234366"/>
            </a:xfrm>
            <a:prstGeom prst="downArrow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 sz="600"/>
            </a:p>
          </p:txBody>
        </p:sp>
        <p:sp>
          <p:nvSpPr>
            <p:cNvPr id="93" name="텍스트 상자 92"/>
            <p:cNvSpPr txBox="1"/>
            <p:nvPr/>
          </p:nvSpPr>
          <p:spPr>
            <a:xfrm>
              <a:off x="1589214" y="5528120"/>
              <a:ext cx="842711" cy="184666"/>
            </a:xfrm>
            <a:prstGeom prst="rect">
              <a:avLst/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wrap="square" rtlCol="0">
              <a:spAutoFit/>
            </a:bodyPr>
            <a:lstStyle/>
            <a:p>
              <a:r>
                <a:rPr kumimoji="1" lang="en-US" altLang="ko-KR" sz="600" dirty="0" smtClean="0"/>
                <a:t>PTC </a:t>
              </a:r>
              <a:r>
                <a:rPr kumimoji="1" lang="ko-KR" altLang="en-US" sz="600" dirty="0" smtClean="0"/>
                <a:t>주변오도 측정</a:t>
              </a:r>
              <a:endParaRPr kumimoji="1" lang="ko-KR" altLang="en-US" sz="600" dirty="0"/>
            </a:p>
          </p:txBody>
        </p:sp>
        <p:pic>
          <p:nvPicPr>
            <p:cNvPr id="94" name="그림 93"/>
            <p:cNvPicPr>
              <a:picLocks noChangeAspect="1"/>
            </p:cNvPicPr>
            <p:nvPr/>
          </p:nvPicPr>
          <p:blipFill rotWithShape="1">
            <a:blip r:embed="rId6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2538066" y="5921876"/>
              <a:ext cx="942556" cy="370505"/>
            </a:xfrm>
            <a:prstGeom prst="rect">
              <a:avLst/>
            </a:prstGeom>
          </p:spPr>
        </p:pic>
        <p:sp>
          <p:nvSpPr>
            <p:cNvPr id="136" name="텍스트 상자 135"/>
            <p:cNvSpPr txBox="1"/>
            <p:nvPr/>
          </p:nvSpPr>
          <p:spPr>
            <a:xfrm>
              <a:off x="2796829" y="5760160"/>
              <a:ext cx="520221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mr-IN" altLang="ko-KR" sz="600" dirty="0"/>
                <a:t>TR-71Ui</a:t>
              </a:r>
            </a:p>
            <a:p>
              <a:endParaRPr kumimoji="1" lang="ko-KR" altLang="en-US" sz="600" dirty="0"/>
            </a:p>
          </p:txBody>
        </p:sp>
        <p:sp>
          <p:nvSpPr>
            <p:cNvPr id="143" name="타원 142"/>
            <p:cNvSpPr/>
            <p:nvPr/>
          </p:nvSpPr>
          <p:spPr>
            <a:xfrm>
              <a:off x="693202" y="5475690"/>
              <a:ext cx="430853" cy="422970"/>
            </a:xfrm>
            <a:prstGeom prst="ellipse">
              <a:avLst/>
            </a:prstGeom>
            <a:noFill/>
            <a:ln w="28575">
              <a:solidFill>
                <a:srgbClr val="FF3737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 sz="600"/>
            </a:p>
          </p:txBody>
        </p:sp>
        <p:cxnSp>
          <p:nvCxnSpPr>
            <p:cNvPr id="144" name="직선 화살표 연결선 143"/>
            <p:cNvCxnSpPr>
              <a:stCxn id="94" idx="1"/>
              <a:endCxn id="143" idx="5"/>
            </p:cNvCxnSpPr>
            <p:nvPr/>
          </p:nvCxnSpPr>
          <p:spPr>
            <a:xfrm flipH="1" flipV="1">
              <a:off x="1060958" y="5836717"/>
              <a:ext cx="1477108" cy="270412"/>
            </a:xfrm>
            <a:prstGeom prst="straightConnector1">
              <a:avLst/>
            </a:prstGeom>
            <a:ln w="38100">
              <a:solidFill>
                <a:srgbClr val="FF3737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7" name="그룹 16"/>
          <p:cNvGrpSpPr/>
          <p:nvPr/>
        </p:nvGrpSpPr>
        <p:grpSpPr>
          <a:xfrm>
            <a:off x="5096222" y="1067818"/>
            <a:ext cx="4476885" cy="2960883"/>
            <a:chOff x="5096222" y="1165030"/>
            <a:chExt cx="4476885" cy="2960883"/>
          </a:xfrm>
        </p:grpSpPr>
        <p:pic>
          <p:nvPicPr>
            <p:cNvPr id="16" name="그림 15"/>
            <p:cNvPicPr>
              <a:picLocks noChangeAspect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5096222" y="1165030"/>
              <a:ext cx="4476885" cy="2960883"/>
            </a:xfrm>
            <a:prstGeom prst="rect">
              <a:avLst/>
            </a:prstGeom>
          </p:spPr>
        </p:pic>
        <p:pic>
          <p:nvPicPr>
            <p:cNvPr id="145" name="그림 144"/>
            <p:cNvPicPr>
              <a:picLocks noChangeAspect="1"/>
            </p:cNvPicPr>
            <p:nvPr/>
          </p:nvPicPr>
          <p:blipFill rotWithShape="1">
            <a:blip r:embed="rId8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6896422" y="1268760"/>
              <a:ext cx="1224136" cy="614128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9498905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표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18701304"/>
              </p:ext>
            </p:extLst>
          </p:nvPr>
        </p:nvGraphicFramePr>
        <p:xfrm>
          <a:off x="89811" y="44625"/>
          <a:ext cx="9733322" cy="677647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76375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96956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21391">
                <a:tc gridSpan="2">
                  <a:txBody>
                    <a:bodyPr/>
                    <a:lstStyle/>
                    <a:p>
                      <a:pPr defTabSz="741363" latinLnBrk="1"/>
                      <a:r>
                        <a:rPr lang="ko-KR" altLang="en-US" sz="1800" b="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▣</a:t>
                      </a:r>
                      <a:r>
                        <a:rPr lang="en-US" altLang="ko-KR" sz="1800" b="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en-US" sz="1800" b="0" kern="1200" baseline="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덴버</a:t>
                      </a:r>
                      <a:r>
                        <a:rPr lang="ko-KR" altLang="en-US" sz="1800" b="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en-US" altLang="ko-KR" sz="1800" b="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DTS </a:t>
                      </a:r>
                      <a:r>
                        <a:rPr lang="ko-KR" altLang="en-US" sz="1800" b="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방송 검증 시험 </a:t>
                      </a:r>
                      <a:r>
                        <a:rPr lang="en-US" altLang="ko-KR" sz="1100" b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1100" b="0" baseline="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덴버</a:t>
                      </a:r>
                      <a:r>
                        <a:rPr lang="ko-KR" altLang="en-US" sz="1100" b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lang="en-US" altLang="ko-KR" sz="1100" b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DTS 66</a:t>
                      </a:r>
                      <a:r>
                        <a:rPr lang="ko-KR" altLang="en-US" sz="1100" b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량</a:t>
                      </a:r>
                      <a:r>
                        <a:rPr lang="en-US" altLang="ko-KR" sz="1100" b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)</a:t>
                      </a:r>
                      <a:endParaRPr lang="ko-KR" altLang="en-US" sz="1100" b="0" dirty="0">
                        <a:solidFill>
                          <a:srgbClr val="FF0000"/>
                        </a:solidFill>
                        <a:latin typeface="+mn-ea"/>
                        <a:ea typeface="+mn-ea"/>
                      </a:endParaRPr>
                    </a:p>
                  </a:txBody>
                  <a:tcPr marL="99044" marR="99044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203344">
                <a:tc>
                  <a:txBody>
                    <a:bodyPr/>
                    <a:lstStyle/>
                    <a:p>
                      <a:pPr latinLnBrk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b="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◈ 시험개요</a:t>
                      </a:r>
                      <a:endParaRPr lang="en-US" altLang="ko-KR" sz="1400" b="0" kern="120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latinLnBrk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200" b="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  1) </a:t>
                      </a:r>
                      <a:r>
                        <a:rPr lang="ko-KR" altLang="en-US" sz="1200" b="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목적 </a:t>
                      </a:r>
                      <a:r>
                        <a:rPr lang="en-US" altLang="ko-KR" sz="1200" b="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:</a:t>
                      </a:r>
                      <a:r>
                        <a:rPr lang="ko-KR" altLang="en-US" sz="1200" b="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항온 항습기 고온 방치 시험시 장치 동작 상태 확인</a:t>
                      </a:r>
                      <a:r>
                        <a:rPr lang="en-US" altLang="ko-KR" sz="1200" b="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.</a:t>
                      </a:r>
                    </a:p>
                    <a:p>
                      <a:pPr latinLnBrk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b="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  </a:t>
                      </a:r>
                      <a:r>
                        <a:rPr lang="en-US" altLang="ko-KR" sz="1200" b="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2)</a:t>
                      </a:r>
                      <a:r>
                        <a:rPr lang="ko-KR" altLang="en-US" sz="1200" b="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en-US" altLang="ko-KR" sz="1200" b="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Conga X945 </a:t>
                      </a:r>
                      <a:r>
                        <a:rPr lang="ko-KR" altLang="en-US" sz="1200" b="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독일 본사 </a:t>
                      </a:r>
                      <a:r>
                        <a:rPr lang="en-US" altLang="ko-KR" sz="1200" b="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AS</a:t>
                      </a:r>
                      <a:r>
                        <a:rPr lang="ko-KR" altLang="en-US" sz="1200" b="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수리 완료 제품에 대하여 동작시험</a:t>
                      </a:r>
                      <a:r>
                        <a:rPr lang="en-US" altLang="ko-KR" sz="1200" b="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.</a:t>
                      </a:r>
                    </a:p>
                    <a:p>
                      <a:pPr latinLnBrk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b="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◈ 시험구성</a:t>
                      </a:r>
                      <a:endParaRPr lang="en-US" altLang="ko-KR" sz="1400" b="0" kern="120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latinLnBrk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/>
                      </a:pPr>
                      <a:r>
                        <a:rPr lang="en-US" altLang="ko-KR" sz="1200" b="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  1) </a:t>
                      </a:r>
                      <a:r>
                        <a:rPr lang="ko-KR" altLang="en-US" sz="1200" b="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시험대상 </a:t>
                      </a:r>
                      <a:r>
                        <a:rPr lang="en-US" altLang="ko-KR" sz="1200" b="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: CRA</a:t>
                      </a:r>
                      <a:r>
                        <a:rPr lang="ko-KR" altLang="en-US" sz="1200" b="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랙</a:t>
                      </a:r>
                      <a:endParaRPr lang="en-US" altLang="ko-KR" sz="1000" b="0" kern="1200" baseline="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latinLnBrk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200" b="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  2) </a:t>
                      </a:r>
                      <a:r>
                        <a:rPr lang="ko-KR" altLang="en-US" sz="1200" b="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시험구성 및 방법</a:t>
                      </a:r>
                      <a:endParaRPr lang="en-US" altLang="ko-KR" sz="1200" b="0" kern="1200" baseline="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latinLnBrk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200" b="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     ①</a:t>
                      </a:r>
                      <a:r>
                        <a:rPr lang="ko-KR" altLang="en-US" sz="1200" b="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 덴버 방송 장치</a:t>
                      </a:r>
                      <a:r>
                        <a:rPr lang="en-US" altLang="ko-KR" sz="1200" b="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(CRA)</a:t>
                      </a:r>
                      <a:r>
                        <a:rPr lang="ko-KR" altLang="en-US" sz="1200" b="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en-US" altLang="ko-KR" sz="1200" b="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70</a:t>
                      </a:r>
                      <a:r>
                        <a:rPr lang="en-US" altLang="ko-KR" sz="1200" b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℃</a:t>
                      </a:r>
                      <a:r>
                        <a:rPr lang="ko-KR" altLang="en-US" sz="1200" b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lang="en-US" altLang="ko-KR" sz="1200" b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16</a:t>
                      </a:r>
                      <a:r>
                        <a:rPr lang="ko-KR" altLang="en-US" sz="1200" b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시간 고온 유지 시험</a:t>
                      </a:r>
                      <a:r>
                        <a:rPr lang="en-US" altLang="ko-KR" sz="1200" b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.</a:t>
                      </a:r>
                      <a:endParaRPr lang="en-US" altLang="ko-KR" sz="1200" b="0" kern="1200" baseline="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latinLnBrk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altLang="ko-KR" sz="1200" b="0" kern="1200" baseline="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latinLnBrk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altLang="ko-KR" sz="1200" b="0" kern="1200" baseline="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latinLnBrk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altLang="ko-KR" sz="1200" b="0" kern="1200" baseline="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latinLnBrk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altLang="ko-KR" sz="1200" b="0" kern="1200" baseline="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latinLnBrk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altLang="ko-KR" sz="1200" b="0" kern="1200" baseline="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latinLnBrk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altLang="ko-KR" sz="1200" b="0" kern="1200" baseline="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742859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b="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◈ 시험 진행 과정</a:t>
                      </a:r>
                      <a:r>
                        <a:rPr lang="en-US" altLang="ko-KR" sz="1400" b="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.</a:t>
                      </a:r>
                    </a:p>
                    <a:p>
                      <a:pPr marL="0" marR="0" lvl="0" indent="0" algn="l" defTabSz="742859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b="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   </a:t>
                      </a:r>
                      <a:r>
                        <a:rPr lang="en-US" altLang="ko-KR" sz="1200" b="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1)</a:t>
                      </a:r>
                      <a:r>
                        <a:rPr lang="ko-KR" altLang="en-US" sz="1200" b="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en-US" altLang="ko-KR" sz="1200" b="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2017</a:t>
                      </a:r>
                      <a:r>
                        <a:rPr lang="ko-KR" altLang="en-US" sz="1200" b="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년 </a:t>
                      </a:r>
                      <a:r>
                        <a:rPr lang="en-US" altLang="ko-KR" sz="1200" b="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9</a:t>
                      </a:r>
                      <a:r>
                        <a:rPr lang="ko-KR" altLang="en-US" sz="1200" b="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월 </a:t>
                      </a:r>
                      <a:r>
                        <a:rPr lang="en-US" altLang="ko-KR" sz="1200" b="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14</a:t>
                      </a:r>
                      <a:r>
                        <a:rPr lang="ko-KR" altLang="en-US" sz="1200" b="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일 </a:t>
                      </a:r>
                      <a:r>
                        <a:rPr lang="en-US" altLang="ko-KR" sz="1200" b="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17</a:t>
                      </a:r>
                      <a:r>
                        <a:rPr lang="ko-KR" altLang="en-US" sz="1200" b="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시 </a:t>
                      </a:r>
                      <a:r>
                        <a:rPr lang="en-US" altLang="ko-KR" sz="1200" b="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21</a:t>
                      </a:r>
                      <a:r>
                        <a:rPr lang="ko-KR" altLang="en-US" sz="1200" b="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분 시험 시작</a:t>
                      </a:r>
                      <a:r>
                        <a:rPr lang="en-US" altLang="ko-KR" sz="1200" b="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.</a:t>
                      </a:r>
                    </a:p>
                    <a:p>
                      <a:pPr marL="0" marR="0" lvl="0" indent="0" algn="l" defTabSz="742859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200" b="0" kern="1200" baseline="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latinLnBrk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altLang="ko-KR" sz="1200" b="0" kern="1200" baseline="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latinLnBrk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altLang="ko-KR" sz="1200" b="0" kern="1200" baseline="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latinLnBrk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200" b="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         </a:t>
                      </a:r>
                    </a:p>
                  </a:txBody>
                  <a:tcPr marL="99044" marR="99044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742859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2)</a:t>
                      </a:r>
                      <a:r>
                        <a:rPr lang="ko-KR" altLang="en-US" sz="1200" b="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en-US" altLang="ko-KR" sz="1200" b="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2017</a:t>
                      </a:r>
                      <a:r>
                        <a:rPr lang="ko-KR" altLang="en-US" sz="1200" b="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년 </a:t>
                      </a:r>
                      <a:r>
                        <a:rPr lang="en-US" altLang="ko-KR" sz="1200" b="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9</a:t>
                      </a:r>
                      <a:r>
                        <a:rPr lang="ko-KR" altLang="en-US" sz="1200" b="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월 </a:t>
                      </a:r>
                      <a:r>
                        <a:rPr lang="en-US" altLang="ko-KR" sz="1200" b="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15</a:t>
                      </a:r>
                      <a:r>
                        <a:rPr lang="ko-KR" altLang="en-US" sz="1200" b="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일 </a:t>
                      </a:r>
                      <a:r>
                        <a:rPr lang="en-US" altLang="ko-KR" sz="1200" b="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00</a:t>
                      </a:r>
                      <a:r>
                        <a:rPr lang="ko-KR" altLang="en-US" sz="1200" b="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시 </a:t>
                      </a:r>
                      <a:r>
                        <a:rPr lang="en-US" altLang="ko-KR" sz="1200" b="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00</a:t>
                      </a:r>
                      <a:r>
                        <a:rPr lang="ko-KR" altLang="en-US" sz="1200" b="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분 </a:t>
                      </a:r>
                      <a:r>
                        <a:rPr lang="en-US" altLang="ko-KR" sz="1200" b="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4.5</a:t>
                      </a:r>
                      <a:r>
                        <a:rPr lang="ko-KR" altLang="en-US" sz="1200" b="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시간 경과</a:t>
                      </a:r>
                      <a:r>
                        <a:rPr lang="en-US" altLang="ko-KR" sz="1200" b="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.</a:t>
                      </a:r>
                    </a:p>
                    <a:p>
                      <a:pPr marL="0" marR="0" lvl="0" indent="0" algn="l" defTabSz="742859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400" b="0" kern="120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742859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400" b="0" kern="120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742859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400" b="0" kern="120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742859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400" b="0" kern="120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742859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400" b="0" kern="120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742859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400" b="0" kern="120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742859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400" b="0" kern="120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742859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3)</a:t>
                      </a:r>
                      <a:r>
                        <a:rPr lang="ko-KR" altLang="en-US" sz="1200" b="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en-US" altLang="ko-KR" sz="1200" b="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2017</a:t>
                      </a:r>
                      <a:r>
                        <a:rPr lang="ko-KR" altLang="en-US" sz="1200" b="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년 </a:t>
                      </a:r>
                      <a:r>
                        <a:rPr lang="en-US" altLang="ko-KR" sz="1200" b="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9</a:t>
                      </a:r>
                      <a:r>
                        <a:rPr lang="ko-KR" altLang="en-US" sz="1200" b="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월 </a:t>
                      </a:r>
                      <a:r>
                        <a:rPr lang="en-US" altLang="ko-KR" sz="1200" b="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15</a:t>
                      </a:r>
                      <a:r>
                        <a:rPr lang="ko-KR" altLang="en-US" sz="1200" b="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일 </a:t>
                      </a:r>
                      <a:r>
                        <a:rPr lang="en-US" altLang="ko-KR" sz="1200" b="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11</a:t>
                      </a:r>
                      <a:r>
                        <a:rPr lang="ko-KR" altLang="en-US" sz="1200" b="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시 </a:t>
                      </a:r>
                      <a:r>
                        <a:rPr lang="en-US" altLang="ko-KR" sz="1200" b="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26</a:t>
                      </a:r>
                      <a:r>
                        <a:rPr lang="ko-KR" altLang="en-US" sz="1200" b="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분 </a:t>
                      </a:r>
                      <a:r>
                        <a:rPr lang="en-US" altLang="ko-KR" sz="1200" b="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16</a:t>
                      </a:r>
                      <a:r>
                        <a:rPr lang="ko-KR" altLang="en-US" sz="1200" b="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시간 경과</a:t>
                      </a:r>
                      <a:r>
                        <a:rPr lang="en-US" altLang="ko-KR" sz="1200" b="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.</a:t>
                      </a:r>
                    </a:p>
                    <a:p>
                      <a:pPr marL="0" marR="0" lvl="0" indent="0" algn="l" defTabSz="742859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400" b="0" kern="120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742859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400" b="0" kern="120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742859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400" b="0" kern="120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742859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400" b="0" kern="120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742859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400" b="0" kern="120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742859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400" b="0" kern="120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742859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400" b="0" kern="120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742859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b="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◈ 시험결과</a:t>
                      </a:r>
                      <a:endParaRPr lang="en-US" altLang="ko-KR" sz="1400" b="0" kern="120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742859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b="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  </a:t>
                      </a:r>
                      <a:r>
                        <a:rPr lang="en-US" altLang="ko-KR" sz="1200" b="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1)</a:t>
                      </a:r>
                      <a:r>
                        <a:rPr lang="ko-KR" altLang="en-US" sz="1200" b="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en-US" altLang="ko-KR" sz="1200" b="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Conga X945 </a:t>
                      </a:r>
                      <a:r>
                        <a:rPr lang="ko-KR" altLang="en-US" sz="1200" b="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독일 본사 </a:t>
                      </a:r>
                      <a:r>
                        <a:rPr lang="en-US" altLang="ko-KR" sz="1200" b="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AS </a:t>
                      </a:r>
                      <a:r>
                        <a:rPr lang="ko-KR" altLang="en-US" sz="1200" b="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수리 완료 제품에 대하여</a:t>
                      </a:r>
                      <a:r>
                        <a:rPr lang="en-US" altLang="ko-KR" sz="1200" b="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,</a:t>
                      </a:r>
                      <a:r>
                        <a:rPr lang="ko-KR" altLang="en-US" sz="1200" b="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고온 유지 </a:t>
                      </a:r>
                      <a:endParaRPr lang="en-US" altLang="ko-KR" sz="1200" b="0" kern="1200" baseline="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742859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b="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시험</a:t>
                      </a:r>
                      <a:r>
                        <a:rPr lang="en-US" altLang="ko-KR" sz="1200" b="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(16</a:t>
                      </a:r>
                      <a:r>
                        <a:rPr lang="ko-KR" altLang="en-US" sz="1200" b="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시간</a:t>
                      </a:r>
                      <a:r>
                        <a:rPr lang="en-US" altLang="ko-KR" sz="1200" b="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)</a:t>
                      </a:r>
                      <a:r>
                        <a:rPr lang="ko-KR" altLang="en-US" sz="1200" b="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확인 결과</a:t>
                      </a:r>
                      <a:r>
                        <a:rPr lang="en-US" altLang="ko-KR" sz="1200" b="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,</a:t>
                      </a:r>
                      <a:r>
                        <a:rPr lang="ko-KR" altLang="en-US" sz="1200" b="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동작 상태 이상 없을을 확인</a:t>
                      </a:r>
                      <a:r>
                        <a:rPr lang="en-US" altLang="ko-KR" sz="1200" b="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.</a:t>
                      </a:r>
                      <a:r>
                        <a:rPr lang="ko-KR" altLang="en-US" sz="1200" b="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endParaRPr lang="en-US" altLang="ko-KR" sz="1400" b="0" kern="120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742859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400" b="0" kern="120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99044" marR="0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pic>
        <p:nvPicPr>
          <p:cNvPr id="27" name="Picture 2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673229" y="2557793"/>
            <a:ext cx="1728192" cy="15359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pSp>
        <p:nvGrpSpPr>
          <p:cNvPr id="18" name="그룹 17"/>
          <p:cNvGrpSpPr/>
          <p:nvPr/>
        </p:nvGrpSpPr>
        <p:grpSpPr>
          <a:xfrm>
            <a:off x="487710" y="4691857"/>
            <a:ext cx="3683282" cy="1872655"/>
            <a:chOff x="487710" y="4797152"/>
            <a:chExt cx="3683282" cy="1872655"/>
          </a:xfrm>
        </p:grpSpPr>
        <p:grpSp>
          <p:nvGrpSpPr>
            <p:cNvPr id="13" name="그룹 12"/>
            <p:cNvGrpSpPr/>
            <p:nvPr/>
          </p:nvGrpSpPr>
          <p:grpSpPr>
            <a:xfrm>
              <a:off x="487710" y="4797152"/>
              <a:ext cx="3683282" cy="1872655"/>
              <a:chOff x="487710" y="4797152"/>
              <a:chExt cx="3683282" cy="1872655"/>
            </a:xfrm>
          </p:grpSpPr>
          <p:grpSp>
            <p:nvGrpSpPr>
              <p:cNvPr id="2" name="그룹 1"/>
              <p:cNvGrpSpPr/>
              <p:nvPr/>
            </p:nvGrpSpPr>
            <p:grpSpPr>
              <a:xfrm>
                <a:off x="487710" y="4797152"/>
                <a:ext cx="3683282" cy="1872655"/>
                <a:chOff x="3800078" y="1700808"/>
                <a:chExt cx="3683282" cy="1872655"/>
              </a:xfrm>
            </p:grpSpPr>
            <p:pic>
              <p:nvPicPr>
                <p:cNvPr id="32" name="그림 31"/>
                <p:cNvPicPr>
                  <a:picLocks noChangeAspect="1"/>
                </p:cNvPicPr>
                <p:nvPr/>
              </p:nvPicPr>
              <p:blipFill>
                <a:blip r:embed="rId4" cstate="print">
                  <a:extLst>
                    <a:ext uri="{28A0092B-C50C-407E-A947-70E740481C1C}">
                      <a14:useLocalDpi xmlns:a14="http://schemas.microsoft.com/office/drawing/2010/main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3800078" y="1700808"/>
                  <a:ext cx="3329163" cy="1872655"/>
                </a:xfrm>
                <a:prstGeom prst="rect">
                  <a:avLst/>
                </a:prstGeom>
              </p:spPr>
            </p:pic>
            <p:sp>
              <p:nvSpPr>
                <p:cNvPr id="33" name="TextBox 4"/>
                <p:cNvSpPr txBox="1"/>
                <p:nvPr/>
              </p:nvSpPr>
              <p:spPr>
                <a:xfrm>
                  <a:off x="5240238" y="1772816"/>
                  <a:ext cx="2243122" cy="46166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ko-KR" altLang="en-US" sz="1200" dirty="0" smtClean="0">
                      <a:solidFill>
                        <a:srgbClr val="FF0000"/>
                      </a:solidFill>
                      <a:latin typeface="+mn-ea"/>
                    </a:rPr>
                    <a:t>시험 시작</a:t>
                  </a:r>
                  <a:endParaRPr lang="en-US" altLang="ko-KR" sz="1200" dirty="0" smtClean="0">
                    <a:solidFill>
                      <a:srgbClr val="FF0000"/>
                    </a:solidFill>
                    <a:latin typeface="+mn-ea"/>
                  </a:endParaRPr>
                </a:p>
                <a:p>
                  <a:pPr algn="ctr"/>
                  <a:r>
                    <a:rPr lang="en-US" altLang="ko-KR" sz="1200" dirty="0" smtClean="0">
                      <a:solidFill>
                        <a:srgbClr val="FF0000"/>
                      </a:solidFill>
                      <a:latin typeface="+mn-ea"/>
                    </a:rPr>
                    <a:t>2017-09-14 17:21</a:t>
                  </a:r>
                  <a:endParaRPr lang="ko-KR" altLang="en-US" sz="1200" dirty="0">
                    <a:solidFill>
                      <a:srgbClr val="FF0000"/>
                    </a:solidFill>
                    <a:latin typeface="+mn-ea"/>
                  </a:endParaRPr>
                </a:p>
              </p:txBody>
            </p:sp>
          </p:grpSp>
          <p:sp>
            <p:nvSpPr>
              <p:cNvPr id="41" name="아래쪽 화살표[D] 40"/>
              <p:cNvSpPr/>
              <p:nvPr/>
            </p:nvSpPr>
            <p:spPr>
              <a:xfrm rot="2658184">
                <a:off x="3482486" y="6092290"/>
                <a:ext cx="161866" cy="234366"/>
              </a:xfrm>
              <a:prstGeom prst="downArrow">
                <a:avLst/>
              </a:prstGeom>
              <a:solidFill>
                <a:srgbClr val="FF0000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ko-KR" altLang="en-US" sz="600"/>
              </a:p>
            </p:txBody>
          </p:sp>
          <p:sp>
            <p:nvSpPr>
              <p:cNvPr id="42" name="텍스트 상자 41"/>
              <p:cNvSpPr txBox="1"/>
              <p:nvPr/>
            </p:nvSpPr>
            <p:spPr>
              <a:xfrm>
                <a:off x="3375007" y="5835151"/>
                <a:ext cx="795985" cy="184666"/>
              </a:xfrm>
              <a:prstGeom prst="rect">
                <a:avLst/>
              </a:prstGeom>
            </p:spPr>
            <p:style>
              <a:lnRef idx="2">
                <a:schemeClr val="accent2">
                  <a:shade val="50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wrap="square" rtlCol="0">
                <a:spAutoFit/>
              </a:bodyPr>
              <a:lstStyle/>
              <a:p>
                <a:r>
                  <a:rPr kumimoji="1" lang="en-US" altLang="ko-KR" sz="600" dirty="0" smtClean="0"/>
                  <a:t>70</a:t>
                </a:r>
                <a:r>
                  <a:rPr kumimoji="1" lang="ko-KR" altLang="en-US" sz="600" dirty="0" smtClean="0"/>
                  <a:t>도 온도 시험</a:t>
                </a:r>
                <a:endParaRPr kumimoji="1" lang="ko-KR" altLang="en-US" sz="600" dirty="0"/>
              </a:p>
            </p:txBody>
          </p:sp>
          <p:sp>
            <p:nvSpPr>
              <p:cNvPr id="43" name="아래쪽 화살표[D] 42"/>
              <p:cNvSpPr/>
              <p:nvPr/>
            </p:nvSpPr>
            <p:spPr>
              <a:xfrm rot="2658184">
                <a:off x="2180720" y="5694625"/>
                <a:ext cx="161866" cy="234366"/>
              </a:xfrm>
              <a:prstGeom prst="downArrow">
                <a:avLst/>
              </a:prstGeom>
              <a:solidFill>
                <a:srgbClr val="FF0000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ko-KR" altLang="en-US" sz="600"/>
              </a:p>
            </p:txBody>
          </p:sp>
          <p:sp>
            <p:nvSpPr>
              <p:cNvPr id="44" name="텍스트 상자 43"/>
              <p:cNvSpPr txBox="1"/>
              <p:nvPr/>
            </p:nvSpPr>
            <p:spPr>
              <a:xfrm>
                <a:off x="2073241" y="5437486"/>
                <a:ext cx="795985" cy="184666"/>
              </a:xfrm>
              <a:prstGeom prst="rect">
                <a:avLst/>
              </a:prstGeom>
            </p:spPr>
            <p:style>
              <a:lnRef idx="2">
                <a:schemeClr val="accent2">
                  <a:shade val="50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wrap="square" rtlCol="0">
                <a:spAutoFit/>
              </a:bodyPr>
              <a:lstStyle/>
              <a:p>
                <a:r>
                  <a:rPr kumimoji="1" lang="en-US" altLang="ko-KR" sz="600" dirty="0" smtClean="0"/>
                  <a:t>CPU 14% </a:t>
                </a:r>
                <a:r>
                  <a:rPr kumimoji="1" lang="ko-KR" altLang="en-US" sz="600" dirty="0" smtClean="0"/>
                  <a:t>동작중</a:t>
                </a:r>
                <a:r>
                  <a:rPr kumimoji="1" lang="en-US" altLang="ko-KR" sz="600" dirty="0" smtClean="0"/>
                  <a:t>.</a:t>
                </a:r>
                <a:endParaRPr kumimoji="1" lang="ko-KR" altLang="en-US" sz="600" dirty="0"/>
              </a:p>
            </p:txBody>
          </p:sp>
          <p:sp>
            <p:nvSpPr>
              <p:cNvPr id="45" name="아래쪽 화살표[D] 44"/>
              <p:cNvSpPr/>
              <p:nvPr/>
            </p:nvSpPr>
            <p:spPr>
              <a:xfrm rot="2658184">
                <a:off x="1066545" y="5344983"/>
                <a:ext cx="161866" cy="234366"/>
              </a:xfrm>
              <a:prstGeom prst="downArrow">
                <a:avLst/>
              </a:prstGeom>
              <a:solidFill>
                <a:srgbClr val="FF0000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ko-KR" altLang="en-US" sz="600"/>
              </a:p>
            </p:txBody>
          </p:sp>
          <p:sp>
            <p:nvSpPr>
              <p:cNvPr id="46" name="텍스트 상자 45"/>
              <p:cNvSpPr txBox="1"/>
              <p:nvPr/>
            </p:nvSpPr>
            <p:spPr>
              <a:xfrm>
                <a:off x="959066" y="5087844"/>
                <a:ext cx="896796" cy="184666"/>
              </a:xfrm>
              <a:prstGeom prst="rect">
                <a:avLst/>
              </a:prstGeom>
            </p:spPr>
            <p:style>
              <a:lnRef idx="2">
                <a:schemeClr val="accent2">
                  <a:shade val="50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wrap="square" rtlCol="0">
                <a:spAutoFit/>
              </a:bodyPr>
              <a:lstStyle/>
              <a:p>
                <a:r>
                  <a:rPr kumimoji="1" lang="en-US" altLang="ko-KR" sz="600" dirty="0" smtClean="0"/>
                  <a:t>CPU</a:t>
                </a:r>
                <a:r>
                  <a:rPr kumimoji="1" lang="ko-KR" altLang="en-US" sz="600" dirty="0" smtClean="0"/>
                  <a:t> 내부 온도 </a:t>
                </a:r>
                <a:r>
                  <a:rPr kumimoji="1" lang="en-US" altLang="ko-KR" sz="600" dirty="0" smtClean="0"/>
                  <a:t>91</a:t>
                </a:r>
                <a:r>
                  <a:rPr kumimoji="1" lang="ko-KR" altLang="en-US" sz="600" dirty="0" smtClean="0"/>
                  <a:t>도</a:t>
                </a:r>
                <a:endParaRPr kumimoji="1" lang="ko-KR" altLang="en-US" sz="600" dirty="0"/>
              </a:p>
            </p:txBody>
          </p:sp>
        </p:grpSp>
        <p:sp>
          <p:nvSpPr>
            <p:cNvPr id="55" name="아래쪽 화살표[D] 54"/>
            <p:cNvSpPr/>
            <p:nvPr/>
          </p:nvSpPr>
          <p:spPr>
            <a:xfrm rot="2658184">
              <a:off x="1394725" y="5951298"/>
              <a:ext cx="161866" cy="234366"/>
            </a:xfrm>
            <a:prstGeom prst="downArrow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 sz="600"/>
            </a:p>
          </p:txBody>
        </p:sp>
        <p:sp>
          <p:nvSpPr>
            <p:cNvPr id="56" name="텍스트 상자 55"/>
            <p:cNvSpPr txBox="1"/>
            <p:nvPr/>
          </p:nvSpPr>
          <p:spPr>
            <a:xfrm>
              <a:off x="1185060" y="5681649"/>
              <a:ext cx="795985" cy="184666"/>
            </a:xfrm>
            <a:prstGeom prst="rect">
              <a:avLst/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wrap="square" rtlCol="0">
              <a:spAutoFit/>
            </a:bodyPr>
            <a:lstStyle/>
            <a:p>
              <a:r>
                <a:rPr kumimoji="1" lang="ko-KR" altLang="en-US" sz="600" dirty="0" smtClean="0"/>
                <a:t>시험 시작 시간</a:t>
              </a:r>
              <a:endParaRPr kumimoji="1" lang="ko-KR" altLang="en-US" sz="600" dirty="0"/>
            </a:p>
          </p:txBody>
        </p:sp>
      </p:grpSp>
      <p:grpSp>
        <p:nvGrpSpPr>
          <p:cNvPr id="15" name="그룹 14"/>
          <p:cNvGrpSpPr/>
          <p:nvPr/>
        </p:nvGrpSpPr>
        <p:grpSpPr>
          <a:xfrm>
            <a:off x="5096222" y="764704"/>
            <a:ext cx="3663315" cy="1893627"/>
            <a:chOff x="5096222" y="764704"/>
            <a:chExt cx="3663315" cy="1893627"/>
          </a:xfrm>
        </p:grpSpPr>
        <p:grpSp>
          <p:nvGrpSpPr>
            <p:cNvPr id="8" name="그룹 7"/>
            <p:cNvGrpSpPr/>
            <p:nvPr/>
          </p:nvGrpSpPr>
          <p:grpSpPr>
            <a:xfrm>
              <a:off x="5096222" y="764704"/>
              <a:ext cx="3373677" cy="1893627"/>
              <a:chOff x="5240238" y="3274050"/>
              <a:chExt cx="3373677" cy="1893627"/>
            </a:xfrm>
          </p:grpSpPr>
          <p:pic>
            <p:nvPicPr>
              <p:cNvPr id="35" name="그림 34"/>
              <p:cNvPicPr>
                <a:picLocks noChangeAspect="1"/>
              </p:cNvPicPr>
              <p:nvPr/>
            </p:nvPicPr>
            <p:blipFill>
              <a:blip r:embed="rId5" cstate="print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>
                <a:off x="5240238" y="3274050"/>
                <a:ext cx="3366448" cy="1893627"/>
              </a:xfrm>
              <a:prstGeom prst="rect">
                <a:avLst/>
              </a:prstGeom>
            </p:spPr>
          </p:pic>
          <p:sp>
            <p:nvSpPr>
              <p:cNvPr id="36" name="TextBox 6"/>
              <p:cNvSpPr txBox="1"/>
              <p:nvPr/>
            </p:nvSpPr>
            <p:spPr>
              <a:xfrm>
                <a:off x="6450713" y="3322132"/>
                <a:ext cx="2163202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ko-KR" altLang="en-US" sz="1200" dirty="0" smtClean="0">
                    <a:solidFill>
                      <a:srgbClr val="FF0000"/>
                    </a:solidFill>
                    <a:latin typeface="+mn-ea"/>
                  </a:rPr>
                  <a:t>시험 </a:t>
                </a:r>
                <a:r>
                  <a:rPr lang="ko-KR" altLang="en-US" sz="1200" dirty="0" err="1" smtClean="0">
                    <a:solidFill>
                      <a:srgbClr val="FF0000"/>
                    </a:solidFill>
                    <a:latin typeface="+mn-ea"/>
                  </a:rPr>
                  <a:t>시작후</a:t>
                </a:r>
                <a:r>
                  <a:rPr lang="ko-KR" altLang="en-US" sz="1200" dirty="0" smtClean="0">
                    <a:solidFill>
                      <a:srgbClr val="FF0000"/>
                    </a:solidFill>
                    <a:latin typeface="+mn-ea"/>
                  </a:rPr>
                  <a:t> </a:t>
                </a:r>
                <a:r>
                  <a:rPr lang="en-US" altLang="ko-KR" sz="1200" dirty="0" smtClean="0">
                    <a:solidFill>
                      <a:srgbClr val="FF0000"/>
                    </a:solidFill>
                    <a:latin typeface="+mn-ea"/>
                  </a:rPr>
                  <a:t>4.5</a:t>
                </a:r>
                <a:r>
                  <a:rPr lang="ko-KR" altLang="en-US" sz="1200" dirty="0" smtClean="0">
                    <a:solidFill>
                      <a:srgbClr val="FF0000"/>
                    </a:solidFill>
                    <a:latin typeface="+mn-ea"/>
                  </a:rPr>
                  <a:t>시간 경과</a:t>
                </a:r>
                <a:endParaRPr lang="en-US" altLang="ko-KR" sz="1200" dirty="0" smtClean="0">
                  <a:solidFill>
                    <a:srgbClr val="FF0000"/>
                  </a:solidFill>
                  <a:latin typeface="+mn-ea"/>
                </a:endParaRPr>
              </a:p>
              <a:p>
                <a:pPr algn="ctr"/>
                <a:r>
                  <a:rPr lang="en-US" altLang="ko-KR" sz="1200" dirty="0" smtClean="0">
                    <a:solidFill>
                      <a:srgbClr val="FF0000"/>
                    </a:solidFill>
                    <a:latin typeface="+mn-ea"/>
                  </a:rPr>
                  <a:t>2017-09-15 00:00</a:t>
                </a:r>
                <a:endParaRPr lang="ko-KR" altLang="en-US" sz="1200" dirty="0">
                  <a:solidFill>
                    <a:srgbClr val="FF0000"/>
                  </a:solidFill>
                  <a:latin typeface="+mn-ea"/>
                </a:endParaRPr>
              </a:p>
            </p:txBody>
          </p:sp>
        </p:grpSp>
        <p:sp>
          <p:nvSpPr>
            <p:cNvPr id="48" name="아래쪽 화살표[D] 47"/>
            <p:cNvSpPr/>
            <p:nvPr/>
          </p:nvSpPr>
          <p:spPr>
            <a:xfrm rot="2658184">
              <a:off x="5779765" y="1400026"/>
              <a:ext cx="161866" cy="234366"/>
            </a:xfrm>
            <a:prstGeom prst="downArrow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 sz="600"/>
            </a:p>
          </p:txBody>
        </p:sp>
        <p:sp>
          <p:nvSpPr>
            <p:cNvPr id="50" name="아래쪽 화살표[D] 49"/>
            <p:cNvSpPr/>
            <p:nvPr/>
          </p:nvSpPr>
          <p:spPr>
            <a:xfrm rot="2658184">
              <a:off x="8071031" y="2136222"/>
              <a:ext cx="161866" cy="234366"/>
            </a:xfrm>
            <a:prstGeom prst="downArrow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 sz="600"/>
            </a:p>
          </p:txBody>
        </p:sp>
        <p:sp>
          <p:nvSpPr>
            <p:cNvPr id="51" name="텍스트 상자 50"/>
            <p:cNvSpPr txBox="1"/>
            <p:nvPr/>
          </p:nvSpPr>
          <p:spPr>
            <a:xfrm>
              <a:off x="7963552" y="1879083"/>
              <a:ext cx="795985" cy="184666"/>
            </a:xfrm>
            <a:prstGeom prst="rect">
              <a:avLst/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wrap="square" rtlCol="0">
              <a:spAutoFit/>
            </a:bodyPr>
            <a:lstStyle/>
            <a:p>
              <a:r>
                <a:rPr kumimoji="1" lang="en-US" altLang="ko-KR" sz="600" dirty="0" smtClean="0"/>
                <a:t>70</a:t>
              </a:r>
              <a:r>
                <a:rPr kumimoji="1" lang="ko-KR" altLang="en-US" sz="600" dirty="0" smtClean="0"/>
                <a:t>도 온도 시험</a:t>
              </a:r>
              <a:endParaRPr kumimoji="1" lang="ko-KR" altLang="en-US" sz="600" dirty="0"/>
            </a:p>
          </p:txBody>
        </p:sp>
        <p:sp>
          <p:nvSpPr>
            <p:cNvPr id="52" name="아래쪽 화살표[D] 51"/>
            <p:cNvSpPr/>
            <p:nvPr/>
          </p:nvSpPr>
          <p:spPr>
            <a:xfrm rot="2658184">
              <a:off x="6859885" y="1723584"/>
              <a:ext cx="161866" cy="234366"/>
            </a:xfrm>
            <a:prstGeom prst="downArrow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 sz="600"/>
            </a:p>
          </p:txBody>
        </p:sp>
        <p:sp>
          <p:nvSpPr>
            <p:cNvPr id="53" name="텍스트 상자 52"/>
            <p:cNvSpPr txBox="1"/>
            <p:nvPr/>
          </p:nvSpPr>
          <p:spPr>
            <a:xfrm>
              <a:off x="6752406" y="1466445"/>
              <a:ext cx="795985" cy="184666"/>
            </a:xfrm>
            <a:prstGeom prst="rect">
              <a:avLst/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wrap="square" rtlCol="0">
              <a:spAutoFit/>
            </a:bodyPr>
            <a:lstStyle/>
            <a:p>
              <a:r>
                <a:rPr kumimoji="1" lang="en-US" altLang="ko-KR" sz="600" dirty="0" smtClean="0"/>
                <a:t>CPU 14% </a:t>
              </a:r>
              <a:r>
                <a:rPr kumimoji="1" lang="ko-KR" altLang="en-US" sz="600" dirty="0" smtClean="0"/>
                <a:t>동작중</a:t>
              </a:r>
              <a:r>
                <a:rPr kumimoji="1" lang="en-US" altLang="ko-KR" sz="600" dirty="0" smtClean="0"/>
                <a:t>.</a:t>
              </a:r>
              <a:endParaRPr kumimoji="1" lang="ko-KR" altLang="en-US" sz="600" dirty="0"/>
            </a:p>
          </p:txBody>
        </p:sp>
        <p:sp>
          <p:nvSpPr>
            <p:cNvPr id="54" name="텍스트 상자 53"/>
            <p:cNvSpPr txBox="1"/>
            <p:nvPr/>
          </p:nvSpPr>
          <p:spPr>
            <a:xfrm>
              <a:off x="5757046" y="1192152"/>
              <a:ext cx="896796" cy="184666"/>
            </a:xfrm>
            <a:prstGeom prst="rect">
              <a:avLst/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wrap="square" rtlCol="0">
              <a:spAutoFit/>
            </a:bodyPr>
            <a:lstStyle/>
            <a:p>
              <a:r>
                <a:rPr kumimoji="1" lang="en-US" altLang="ko-KR" sz="600" dirty="0" smtClean="0"/>
                <a:t>CPU</a:t>
              </a:r>
              <a:r>
                <a:rPr kumimoji="1" lang="ko-KR" altLang="en-US" sz="600" dirty="0" smtClean="0"/>
                <a:t> 내부 온도 </a:t>
              </a:r>
              <a:r>
                <a:rPr kumimoji="1" lang="en-US" altLang="ko-KR" sz="600" dirty="0" smtClean="0"/>
                <a:t>91</a:t>
              </a:r>
              <a:r>
                <a:rPr kumimoji="1" lang="ko-KR" altLang="en-US" sz="600" dirty="0" smtClean="0"/>
                <a:t>도</a:t>
              </a:r>
              <a:endParaRPr kumimoji="1" lang="ko-KR" altLang="en-US" sz="600" dirty="0"/>
            </a:p>
          </p:txBody>
        </p:sp>
        <p:sp>
          <p:nvSpPr>
            <p:cNvPr id="60" name="아래쪽 화살표[D] 59"/>
            <p:cNvSpPr/>
            <p:nvPr/>
          </p:nvSpPr>
          <p:spPr>
            <a:xfrm rot="2658184">
              <a:off x="6079105" y="1918290"/>
              <a:ext cx="161866" cy="234366"/>
            </a:xfrm>
            <a:prstGeom prst="downArrow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 sz="600"/>
            </a:p>
          </p:txBody>
        </p:sp>
        <p:sp>
          <p:nvSpPr>
            <p:cNvPr id="61" name="텍스트 상자 60"/>
            <p:cNvSpPr txBox="1"/>
            <p:nvPr/>
          </p:nvSpPr>
          <p:spPr>
            <a:xfrm>
              <a:off x="5869440" y="1648641"/>
              <a:ext cx="795985" cy="184666"/>
            </a:xfrm>
            <a:prstGeom prst="rect">
              <a:avLst/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wrap="square" rtlCol="0">
              <a:spAutoFit/>
            </a:bodyPr>
            <a:lstStyle/>
            <a:p>
              <a:r>
                <a:rPr kumimoji="1" lang="ko-KR" altLang="en-US" sz="600" dirty="0" smtClean="0"/>
                <a:t>시험 중간 시간</a:t>
              </a:r>
              <a:endParaRPr kumimoji="1" lang="ko-KR" altLang="en-US" sz="600" dirty="0"/>
            </a:p>
          </p:txBody>
        </p:sp>
      </p:grpSp>
      <p:grpSp>
        <p:nvGrpSpPr>
          <p:cNvPr id="14" name="그룹 13"/>
          <p:cNvGrpSpPr/>
          <p:nvPr/>
        </p:nvGrpSpPr>
        <p:grpSpPr>
          <a:xfrm>
            <a:off x="5096529" y="3320375"/>
            <a:ext cx="3683757" cy="1897693"/>
            <a:chOff x="5096529" y="3320375"/>
            <a:chExt cx="3683757" cy="1897693"/>
          </a:xfrm>
        </p:grpSpPr>
        <p:grpSp>
          <p:nvGrpSpPr>
            <p:cNvPr id="10" name="그룹 9"/>
            <p:cNvGrpSpPr/>
            <p:nvPr/>
          </p:nvGrpSpPr>
          <p:grpSpPr>
            <a:xfrm>
              <a:off x="5096529" y="3320375"/>
              <a:ext cx="3605672" cy="1897693"/>
              <a:chOff x="5248657" y="4597586"/>
              <a:chExt cx="3605672" cy="1897693"/>
            </a:xfrm>
          </p:grpSpPr>
          <p:pic>
            <p:nvPicPr>
              <p:cNvPr id="38" name="그림 37"/>
              <p:cNvPicPr>
                <a:picLocks noChangeAspect="1"/>
              </p:cNvPicPr>
              <p:nvPr/>
            </p:nvPicPr>
            <p:blipFill>
              <a:blip r:embed="rId6" cstate="print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>
                <a:off x="5248657" y="4597586"/>
                <a:ext cx="3373678" cy="1897693"/>
              </a:xfrm>
              <a:prstGeom prst="rect">
                <a:avLst/>
              </a:prstGeom>
            </p:spPr>
          </p:pic>
          <p:sp>
            <p:nvSpPr>
              <p:cNvPr id="39" name="TextBox 9"/>
              <p:cNvSpPr txBox="1"/>
              <p:nvPr/>
            </p:nvSpPr>
            <p:spPr>
              <a:xfrm>
                <a:off x="6653842" y="4626179"/>
                <a:ext cx="2200487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ko-KR" altLang="en-US" sz="1200" dirty="0" smtClean="0">
                    <a:solidFill>
                      <a:srgbClr val="FF0000"/>
                    </a:solidFill>
                    <a:latin typeface="+mn-ea"/>
                  </a:rPr>
                  <a:t>시험 </a:t>
                </a:r>
                <a:r>
                  <a:rPr lang="ko-KR" altLang="en-US" sz="1200" dirty="0" err="1" smtClean="0">
                    <a:solidFill>
                      <a:srgbClr val="FF0000"/>
                    </a:solidFill>
                    <a:latin typeface="+mn-ea"/>
                  </a:rPr>
                  <a:t>시작후</a:t>
                </a:r>
                <a:r>
                  <a:rPr lang="ko-KR" altLang="en-US" sz="1200" dirty="0" smtClean="0">
                    <a:solidFill>
                      <a:srgbClr val="FF0000"/>
                    </a:solidFill>
                    <a:latin typeface="+mn-ea"/>
                  </a:rPr>
                  <a:t> </a:t>
                </a:r>
                <a:r>
                  <a:rPr lang="en-US" altLang="ko-KR" sz="1200" dirty="0" smtClean="0">
                    <a:solidFill>
                      <a:srgbClr val="FF0000"/>
                    </a:solidFill>
                    <a:latin typeface="+mn-ea"/>
                  </a:rPr>
                  <a:t>16</a:t>
                </a:r>
                <a:r>
                  <a:rPr lang="ko-KR" altLang="en-US" sz="1200" dirty="0" smtClean="0">
                    <a:solidFill>
                      <a:srgbClr val="FF0000"/>
                    </a:solidFill>
                    <a:latin typeface="+mn-ea"/>
                  </a:rPr>
                  <a:t>시간 경과</a:t>
                </a:r>
                <a:endParaRPr lang="en-US" altLang="ko-KR" sz="1200" dirty="0" smtClean="0">
                  <a:solidFill>
                    <a:srgbClr val="FF0000"/>
                  </a:solidFill>
                  <a:latin typeface="+mn-ea"/>
                </a:endParaRPr>
              </a:p>
              <a:p>
                <a:pPr algn="ctr"/>
                <a:r>
                  <a:rPr lang="en-US" altLang="ko-KR" sz="1200" dirty="0" smtClean="0">
                    <a:solidFill>
                      <a:srgbClr val="FF0000"/>
                    </a:solidFill>
                    <a:latin typeface="+mn-ea"/>
                  </a:rPr>
                  <a:t>2017-09-15 11:26</a:t>
                </a:r>
                <a:endParaRPr lang="ko-KR" altLang="en-US" sz="1200" dirty="0">
                  <a:solidFill>
                    <a:srgbClr val="FF0000"/>
                  </a:solidFill>
                  <a:latin typeface="+mn-ea"/>
                </a:endParaRPr>
              </a:p>
            </p:txBody>
          </p:sp>
        </p:grpSp>
        <p:sp>
          <p:nvSpPr>
            <p:cNvPr id="62" name="아래쪽 화살표[D] 61"/>
            <p:cNvSpPr/>
            <p:nvPr/>
          </p:nvSpPr>
          <p:spPr>
            <a:xfrm rot="2658184">
              <a:off x="5800514" y="3807753"/>
              <a:ext cx="161866" cy="234366"/>
            </a:xfrm>
            <a:prstGeom prst="downArrow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 sz="600"/>
            </a:p>
          </p:txBody>
        </p:sp>
        <p:sp>
          <p:nvSpPr>
            <p:cNvPr id="63" name="아래쪽 화살표[D] 62"/>
            <p:cNvSpPr/>
            <p:nvPr/>
          </p:nvSpPr>
          <p:spPr>
            <a:xfrm rot="2658184">
              <a:off x="8091780" y="4543949"/>
              <a:ext cx="161866" cy="234366"/>
            </a:xfrm>
            <a:prstGeom prst="downArrow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 sz="600"/>
            </a:p>
          </p:txBody>
        </p:sp>
        <p:sp>
          <p:nvSpPr>
            <p:cNvPr id="64" name="텍스트 상자 63"/>
            <p:cNvSpPr txBox="1"/>
            <p:nvPr/>
          </p:nvSpPr>
          <p:spPr>
            <a:xfrm>
              <a:off x="7984301" y="4286810"/>
              <a:ext cx="795985" cy="184666"/>
            </a:xfrm>
            <a:prstGeom prst="rect">
              <a:avLst/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wrap="square" rtlCol="0">
              <a:spAutoFit/>
            </a:bodyPr>
            <a:lstStyle/>
            <a:p>
              <a:r>
                <a:rPr kumimoji="1" lang="en-US" altLang="ko-KR" sz="600" dirty="0" smtClean="0"/>
                <a:t>70</a:t>
              </a:r>
              <a:r>
                <a:rPr kumimoji="1" lang="ko-KR" altLang="en-US" sz="600" dirty="0" smtClean="0"/>
                <a:t>도 온도 시험</a:t>
              </a:r>
              <a:endParaRPr kumimoji="1" lang="ko-KR" altLang="en-US" sz="600" dirty="0"/>
            </a:p>
          </p:txBody>
        </p:sp>
        <p:sp>
          <p:nvSpPr>
            <p:cNvPr id="65" name="아래쪽 화살표[D] 64"/>
            <p:cNvSpPr/>
            <p:nvPr/>
          </p:nvSpPr>
          <p:spPr>
            <a:xfrm rot="2658184">
              <a:off x="6880634" y="4131311"/>
              <a:ext cx="161866" cy="234366"/>
            </a:xfrm>
            <a:prstGeom prst="downArrow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 sz="600"/>
            </a:p>
          </p:txBody>
        </p:sp>
        <p:sp>
          <p:nvSpPr>
            <p:cNvPr id="66" name="텍스트 상자 65"/>
            <p:cNvSpPr txBox="1"/>
            <p:nvPr/>
          </p:nvSpPr>
          <p:spPr>
            <a:xfrm>
              <a:off x="6773155" y="3874172"/>
              <a:ext cx="795985" cy="184666"/>
            </a:xfrm>
            <a:prstGeom prst="rect">
              <a:avLst/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wrap="square" rtlCol="0">
              <a:spAutoFit/>
            </a:bodyPr>
            <a:lstStyle/>
            <a:p>
              <a:r>
                <a:rPr kumimoji="1" lang="en-US" altLang="ko-KR" sz="600" dirty="0" smtClean="0"/>
                <a:t>CPU 16% </a:t>
              </a:r>
              <a:r>
                <a:rPr kumimoji="1" lang="ko-KR" altLang="en-US" sz="600" dirty="0" smtClean="0"/>
                <a:t>동작중</a:t>
              </a:r>
              <a:r>
                <a:rPr kumimoji="1" lang="en-US" altLang="ko-KR" sz="600" dirty="0" smtClean="0"/>
                <a:t>.</a:t>
              </a:r>
              <a:endParaRPr kumimoji="1" lang="ko-KR" altLang="en-US" sz="600" dirty="0"/>
            </a:p>
          </p:txBody>
        </p:sp>
        <p:sp>
          <p:nvSpPr>
            <p:cNvPr id="67" name="텍스트 상자 66"/>
            <p:cNvSpPr txBox="1"/>
            <p:nvPr/>
          </p:nvSpPr>
          <p:spPr>
            <a:xfrm>
              <a:off x="5777795" y="3599879"/>
              <a:ext cx="896796" cy="184666"/>
            </a:xfrm>
            <a:prstGeom prst="rect">
              <a:avLst/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wrap="square" rtlCol="0">
              <a:spAutoFit/>
            </a:bodyPr>
            <a:lstStyle/>
            <a:p>
              <a:r>
                <a:rPr kumimoji="1" lang="en-US" altLang="ko-KR" sz="600" dirty="0" smtClean="0"/>
                <a:t>CPU</a:t>
              </a:r>
              <a:r>
                <a:rPr kumimoji="1" lang="ko-KR" altLang="en-US" sz="600" dirty="0" smtClean="0"/>
                <a:t> 내부 온도 </a:t>
              </a:r>
              <a:r>
                <a:rPr kumimoji="1" lang="en-US" altLang="ko-KR" sz="600" dirty="0" smtClean="0"/>
                <a:t>90</a:t>
              </a:r>
              <a:r>
                <a:rPr kumimoji="1" lang="ko-KR" altLang="en-US" sz="600" dirty="0" smtClean="0"/>
                <a:t>도</a:t>
              </a:r>
              <a:endParaRPr kumimoji="1" lang="ko-KR" altLang="en-US" sz="600" dirty="0"/>
            </a:p>
          </p:txBody>
        </p:sp>
        <p:sp>
          <p:nvSpPr>
            <p:cNvPr id="68" name="아래쪽 화살표[D] 67"/>
            <p:cNvSpPr/>
            <p:nvPr/>
          </p:nvSpPr>
          <p:spPr>
            <a:xfrm rot="2658184">
              <a:off x="6099854" y="4326017"/>
              <a:ext cx="161866" cy="234366"/>
            </a:xfrm>
            <a:prstGeom prst="downArrow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 sz="600"/>
            </a:p>
          </p:txBody>
        </p:sp>
        <p:sp>
          <p:nvSpPr>
            <p:cNvPr id="69" name="텍스트 상자 68"/>
            <p:cNvSpPr txBox="1"/>
            <p:nvPr/>
          </p:nvSpPr>
          <p:spPr>
            <a:xfrm>
              <a:off x="5890189" y="4056368"/>
              <a:ext cx="795985" cy="184666"/>
            </a:xfrm>
            <a:prstGeom prst="rect">
              <a:avLst/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wrap="square" rtlCol="0">
              <a:spAutoFit/>
            </a:bodyPr>
            <a:lstStyle/>
            <a:p>
              <a:r>
                <a:rPr kumimoji="1" lang="ko-KR" altLang="en-US" sz="600" dirty="0" smtClean="0"/>
                <a:t>시험 종료 시간</a:t>
              </a:r>
              <a:endParaRPr kumimoji="1" lang="ko-KR" altLang="en-US" sz="600" dirty="0"/>
            </a:p>
          </p:txBody>
        </p:sp>
      </p:grpSp>
    </p:spTree>
    <p:extLst>
      <p:ext uri="{BB962C8B-B14F-4D97-AF65-F5344CB8AC3E}">
        <p14:creationId xmlns:p14="http://schemas.microsoft.com/office/powerpoint/2010/main" val="9599040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표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52709401"/>
              </p:ext>
            </p:extLst>
          </p:nvPr>
        </p:nvGraphicFramePr>
        <p:xfrm>
          <a:off x="89811" y="44625"/>
          <a:ext cx="9733322" cy="663931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76375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96956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21391">
                <a:tc gridSpan="2">
                  <a:txBody>
                    <a:bodyPr/>
                    <a:lstStyle/>
                    <a:p>
                      <a:pPr defTabSz="741363" latinLnBrk="1"/>
                      <a:r>
                        <a:rPr lang="ko-KR" altLang="en-US" sz="1800" b="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▣</a:t>
                      </a:r>
                      <a:r>
                        <a:rPr lang="en-US" altLang="ko-KR" sz="1800" b="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en-US" sz="1800" b="0" kern="1200" baseline="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덴버</a:t>
                      </a:r>
                      <a:r>
                        <a:rPr lang="ko-KR" altLang="en-US" sz="1800" b="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en-US" altLang="ko-KR" sz="1800" b="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DTS </a:t>
                      </a:r>
                      <a:r>
                        <a:rPr lang="ko-KR" altLang="en-US" sz="1800" b="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방송 검증 시험 </a:t>
                      </a:r>
                      <a:r>
                        <a:rPr lang="en-US" altLang="ko-KR" sz="1100" b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1100" b="0" baseline="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덴버</a:t>
                      </a:r>
                      <a:r>
                        <a:rPr lang="ko-KR" altLang="en-US" sz="1100" b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lang="en-US" altLang="ko-KR" sz="1100" b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DTS 66</a:t>
                      </a:r>
                      <a:r>
                        <a:rPr lang="ko-KR" altLang="en-US" sz="1100" b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량</a:t>
                      </a:r>
                      <a:r>
                        <a:rPr lang="en-US" altLang="ko-KR" sz="1100" b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)</a:t>
                      </a:r>
                      <a:endParaRPr lang="ko-KR" altLang="en-US" sz="1100" b="0" dirty="0">
                        <a:solidFill>
                          <a:srgbClr val="FF0000"/>
                        </a:solidFill>
                        <a:latin typeface="+mn-ea"/>
                        <a:ea typeface="+mn-ea"/>
                      </a:endParaRPr>
                    </a:p>
                  </a:txBody>
                  <a:tcPr marL="99044" marR="99044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203344">
                <a:tc>
                  <a:txBody>
                    <a:bodyPr/>
                    <a:lstStyle/>
                    <a:p>
                      <a:pPr latinLnBrk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b="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◈ 시험개요</a:t>
                      </a:r>
                      <a:endParaRPr lang="en-US" altLang="ko-KR" sz="1400" b="0" kern="120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latinLnBrk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200" b="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  1) </a:t>
                      </a:r>
                      <a:r>
                        <a:rPr lang="ko-KR" altLang="en-US" sz="1200" b="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목적 </a:t>
                      </a:r>
                      <a:r>
                        <a:rPr lang="en-US" altLang="ko-KR" sz="1200" b="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:</a:t>
                      </a:r>
                      <a:r>
                        <a:rPr lang="ko-KR" altLang="en-US" sz="1200" b="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en-US" altLang="ko-KR" sz="1200" b="0" kern="1200" baseline="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Moxa</a:t>
                      </a:r>
                      <a:r>
                        <a:rPr lang="ko-KR" altLang="en-US" sz="1200" b="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스위치 </a:t>
                      </a:r>
                      <a:r>
                        <a:rPr lang="en-US" altLang="ko-KR" sz="1200" b="0" kern="1200" baseline="0" dirty="0" smtClean="0">
                          <a:solidFill>
                            <a:srgbClr val="FF0000"/>
                          </a:solidFill>
                          <a:latin typeface="+mn-ea"/>
                          <a:ea typeface="+mn-ea"/>
                          <a:cs typeface="+mn-cs"/>
                        </a:rPr>
                        <a:t>“Broadcast storms” </a:t>
                      </a:r>
                      <a:r>
                        <a:rPr lang="ko-KR" altLang="en-US" sz="1200" b="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방지 기능 확인</a:t>
                      </a:r>
                      <a:r>
                        <a:rPr lang="en-US" altLang="ko-KR" sz="1200" b="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.</a:t>
                      </a:r>
                    </a:p>
                    <a:p>
                      <a:pPr latinLnBrk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b="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  </a:t>
                      </a:r>
                      <a:r>
                        <a:rPr lang="en-US" altLang="ko-KR" sz="1200" b="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2)</a:t>
                      </a:r>
                      <a:r>
                        <a:rPr lang="ko-KR" altLang="en-US" sz="1200" b="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en-US" altLang="ko-KR" sz="1200" b="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CRA</a:t>
                      </a:r>
                      <a:r>
                        <a:rPr lang="ko-KR" altLang="en-US" sz="1200" b="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와 연결되는 </a:t>
                      </a:r>
                      <a:r>
                        <a:rPr lang="en-US" altLang="ko-KR" sz="1200" b="0" kern="1200" baseline="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Moxa</a:t>
                      </a:r>
                      <a:r>
                        <a:rPr lang="en-US" altLang="ko-KR" sz="1200" b="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en-US" sz="1200" b="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스위치 </a:t>
                      </a:r>
                      <a:r>
                        <a:rPr lang="en-US" altLang="ko-KR" sz="1200" b="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Port</a:t>
                      </a:r>
                      <a:r>
                        <a:rPr lang="ko-KR" altLang="en-US" sz="1200" b="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제어 기능 확인</a:t>
                      </a:r>
                      <a:r>
                        <a:rPr lang="en-US" altLang="ko-KR" sz="1200" b="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.</a:t>
                      </a:r>
                    </a:p>
                    <a:p>
                      <a:pPr latinLnBrk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altLang="ko-KR" sz="1200" b="0" kern="1200" baseline="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latinLnBrk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altLang="ko-KR" sz="1200" b="0" kern="1200" baseline="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latinLnBrk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altLang="ko-KR" sz="1200" b="0" kern="1200" baseline="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latinLnBrk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b="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endParaRPr lang="en-US" altLang="ko-KR" sz="1200" b="0" kern="1200" baseline="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latinLnBrk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altLang="ko-KR" sz="1200" b="0" kern="1200" baseline="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latinLnBrk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altLang="ko-KR" sz="1200" b="0" kern="1200" baseline="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latinLnBrk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b="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◈ 시험구성</a:t>
                      </a:r>
                      <a:endParaRPr lang="en-US" altLang="ko-KR" sz="1400" b="0" kern="120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latinLnBrk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/>
                      </a:pPr>
                      <a:r>
                        <a:rPr lang="en-US" altLang="ko-KR" sz="1200" b="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  1) </a:t>
                      </a:r>
                      <a:r>
                        <a:rPr lang="ko-KR" altLang="en-US" sz="1200" b="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시험대상 </a:t>
                      </a:r>
                      <a:r>
                        <a:rPr lang="en-US" altLang="ko-KR" sz="1200" b="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: CRA</a:t>
                      </a:r>
                      <a:r>
                        <a:rPr lang="ko-KR" altLang="en-US" sz="1200" b="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와 차량 </a:t>
                      </a:r>
                      <a:r>
                        <a:rPr lang="en-US" altLang="ko-KR" sz="1200" b="0" kern="1200" baseline="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Moxa</a:t>
                      </a:r>
                      <a:r>
                        <a:rPr lang="ko-KR" altLang="en-US" sz="1200" b="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스위치</a:t>
                      </a:r>
                      <a:r>
                        <a:rPr lang="en-US" altLang="ko-KR" sz="1200" b="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.</a:t>
                      </a:r>
                      <a:endParaRPr lang="en-US" altLang="ko-KR" sz="1000" b="0" kern="1200" baseline="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latinLnBrk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200" b="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  2) </a:t>
                      </a:r>
                      <a:r>
                        <a:rPr lang="ko-KR" altLang="en-US" sz="1200" b="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시험구성 및 방법</a:t>
                      </a:r>
                      <a:endParaRPr lang="en-US" altLang="ko-KR" sz="1200" b="0" kern="1200" baseline="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latinLnBrk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200" b="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     ①</a:t>
                      </a:r>
                      <a:r>
                        <a:rPr lang="ko-KR" altLang="en-US" sz="1200" b="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en-US" altLang="ko-KR" sz="1200" b="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Fluke </a:t>
                      </a:r>
                      <a:r>
                        <a:rPr lang="en-US" altLang="ko-KR" sz="1200" b="0" kern="1200" baseline="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Optiview</a:t>
                      </a:r>
                      <a:r>
                        <a:rPr lang="ko-KR" altLang="en-US" sz="1200" b="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장치를 이용하여 네트워크 트래픽 발생</a:t>
                      </a:r>
                      <a:r>
                        <a:rPr lang="en-US" altLang="ko-KR" sz="1200" b="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.</a:t>
                      </a:r>
                    </a:p>
                    <a:p>
                      <a:pPr latinLnBrk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b="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          </a:t>
                      </a:r>
                      <a:endParaRPr lang="en-US" altLang="ko-KR" sz="1200" b="0" kern="1200" baseline="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latinLnBrk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altLang="ko-KR" sz="1200" b="0" kern="1200" baseline="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latinLnBrk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altLang="ko-KR" sz="1200" b="0" kern="1200" baseline="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latinLnBrk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b="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         </a:t>
                      </a:r>
                      <a:r>
                        <a:rPr lang="en-US" altLang="ko-KR" sz="1200" b="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a. </a:t>
                      </a:r>
                      <a:r>
                        <a:rPr lang="ko-KR" altLang="en-US" sz="1200" b="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en-US" altLang="ko-KR" sz="1200" b="0" kern="1200" baseline="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Moxa</a:t>
                      </a:r>
                      <a:r>
                        <a:rPr lang="en-US" altLang="ko-KR" sz="1200" b="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en-US" sz="1200" b="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스위치 </a:t>
                      </a:r>
                      <a:r>
                        <a:rPr lang="en-US" altLang="ko-KR" sz="1200" b="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1</a:t>
                      </a:r>
                      <a:r>
                        <a:rPr lang="ko-KR" altLang="en-US" sz="1200" b="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번 </a:t>
                      </a:r>
                      <a:r>
                        <a:rPr lang="en-US" altLang="ko-KR" sz="1200" b="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Port Not Limited</a:t>
                      </a:r>
                      <a:r>
                        <a:rPr lang="ko-KR" altLang="en-US" sz="1200" b="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설정</a:t>
                      </a:r>
                      <a:r>
                        <a:rPr lang="en-US" altLang="ko-KR" sz="1200" b="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.</a:t>
                      </a:r>
                    </a:p>
                    <a:p>
                      <a:pPr marL="0" marR="0" indent="0" algn="l" defTabSz="742859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         b.  </a:t>
                      </a:r>
                      <a:r>
                        <a:rPr lang="en-US" altLang="ko-KR" sz="1200" b="0" kern="1200" baseline="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Moxa</a:t>
                      </a:r>
                      <a:r>
                        <a:rPr lang="en-US" altLang="ko-KR" sz="1200" b="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en-US" sz="1200" b="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스위치 </a:t>
                      </a:r>
                      <a:r>
                        <a:rPr lang="en-US" altLang="ko-KR" sz="1200" b="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1</a:t>
                      </a:r>
                      <a:r>
                        <a:rPr lang="ko-KR" altLang="en-US" sz="1200" b="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번 </a:t>
                      </a:r>
                      <a:r>
                        <a:rPr lang="en-US" altLang="ko-KR" sz="1200" b="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Port 50% Limited</a:t>
                      </a:r>
                      <a:r>
                        <a:rPr lang="ko-KR" altLang="en-US" sz="1200" b="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설정</a:t>
                      </a:r>
                      <a:r>
                        <a:rPr lang="en-US" altLang="ko-KR" sz="1200" b="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.</a:t>
                      </a:r>
                    </a:p>
                    <a:p>
                      <a:pPr marL="0" marR="0" indent="0" algn="l" defTabSz="742859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         c.  </a:t>
                      </a:r>
                      <a:r>
                        <a:rPr lang="en-US" altLang="ko-KR" sz="1200" b="0" kern="1200" baseline="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Moxa</a:t>
                      </a:r>
                      <a:r>
                        <a:rPr lang="en-US" altLang="ko-KR" sz="1200" b="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en-US" sz="1200" b="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스위치 </a:t>
                      </a:r>
                      <a:r>
                        <a:rPr lang="en-US" altLang="ko-KR" sz="1200" b="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1</a:t>
                      </a:r>
                      <a:r>
                        <a:rPr lang="ko-KR" altLang="en-US" sz="1200" b="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번 </a:t>
                      </a:r>
                      <a:r>
                        <a:rPr lang="en-US" altLang="ko-KR" sz="1200" b="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Port 20% Limited</a:t>
                      </a:r>
                      <a:r>
                        <a:rPr lang="ko-KR" altLang="en-US" sz="1200" b="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설정</a:t>
                      </a:r>
                      <a:r>
                        <a:rPr lang="en-US" altLang="ko-KR" sz="1200" b="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.</a:t>
                      </a:r>
                    </a:p>
                    <a:p>
                      <a:pPr latinLnBrk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200" b="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       * </a:t>
                      </a:r>
                      <a:r>
                        <a:rPr lang="ko-KR" altLang="en-US" sz="1200" b="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각 설정에 따른 네트워크 트래픽 측정</a:t>
                      </a:r>
                      <a:r>
                        <a:rPr lang="en-US" altLang="ko-KR" sz="1200" b="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.</a:t>
                      </a:r>
                    </a:p>
                    <a:p>
                      <a:pPr latinLnBrk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200" b="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    </a:t>
                      </a:r>
                    </a:p>
                    <a:p>
                      <a:pPr latinLnBrk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b="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endParaRPr lang="en-US" altLang="ko-KR" sz="1200" b="0" kern="1200" baseline="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99044" marR="99044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742859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b="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◈ 시험 결과</a:t>
                      </a:r>
                      <a:r>
                        <a:rPr lang="en-US" altLang="ko-KR" sz="1400" b="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.</a:t>
                      </a:r>
                    </a:p>
                    <a:p>
                      <a:pPr marL="0" marR="0" lvl="0" indent="0" algn="l" defTabSz="742859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b="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  </a:t>
                      </a:r>
                      <a:r>
                        <a:rPr lang="ko-KR" altLang="en-US" sz="1200" b="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en-US" altLang="ko-KR" sz="1200" b="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:</a:t>
                      </a:r>
                      <a:r>
                        <a:rPr lang="ko-KR" altLang="en-US" sz="1200" b="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 일정한 네트워크 트래픽이</a:t>
                      </a:r>
                      <a:r>
                        <a:rPr lang="en-US" altLang="ko-KR" sz="1200" b="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(100MB)</a:t>
                      </a:r>
                      <a:r>
                        <a:rPr lang="ko-KR" altLang="en-US" sz="1200" b="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발생하는</a:t>
                      </a:r>
                      <a:r>
                        <a:rPr lang="en-US" altLang="ko-KR" sz="1200" b="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en-US" sz="1200" b="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조건에서 </a:t>
                      </a:r>
                      <a:r>
                        <a:rPr lang="en-US" altLang="ko-KR" sz="1200" b="0" kern="1200" baseline="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Moxa</a:t>
                      </a:r>
                      <a:r>
                        <a:rPr lang="ko-KR" altLang="en-US" sz="1200" b="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en-US" altLang="ko-KR" sz="1200" b="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Port</a:t>
                      </a:r>
                    </a:p>
                    <a:p>
                      <a:pPr marL="0" marR="0" lvl="0" indent="0" algn="l" defTabSz="742859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      </a:t>
                      </a:r>
                      <a:r>
                        <a:rPr lang="ko-KR" altLang="en-US" sz="1200" b="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설정에 따라 네트워크 트래픽 조절이 가능 한것을 확인 하였다</a:t>
                      </a:r>
                      <a:r>
                        <a:rPr lang="en-US" altLang="ko-KR" sz="1200" b="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.</a:t>
                      </a:r>
                      <a:endParaRPr lang="en-US" altLang="ko-KR" sz="1200" b="0" kern="120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742859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400" b="0" kern="120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742859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400" b="0" kern="120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742859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400" b="0" kern="120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742859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400" b="0" kern="120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742859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400" b="0" kern="120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742859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400" b="0" kern="120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742859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400" b="0" kern="120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742859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400" b="0" kern="120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742859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400" b="0" kern="120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742859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400" b="0" kern="120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742859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400" b="0" kern="120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742859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400" b="0" kern="120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742859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400" b="0" kern="120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742859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600" b="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en-US" sz="1400" b="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 </a:t>
                      </a:r>
                      <a:r>
                        <a:rPr lang="en-US" altLang="ko-KR" sz="1200" b="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-</a:t>
                      </a:r>
                      <a:r>
                        <a:rPr lang="ko-KR" altLang="en-US" sz="1200" b="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덴버 현차에서도 </a:t>
                      </a:r>
                      <a:r>
                        <a:rPr lang="en-US" altLang="ko-KR" sz="1200" b="0" kern="1200" baseline="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Moxa</a:t>
                      </a:r>
                      <a:r>
                        <a:rPr lang="en-US" altLang="ko-KR" sz="1200" b="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en-US" sz="1200" b="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스위치 </a:t>
                      </a:r>
                      <a:r>
                        <a:rPr lang="en-US" altLang="ko-KR" sz="1200" b="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Port </a:t>
                      </a:r>
                      <a:r>
                        <a:rPr lang="ko-KR" altLang="en-US" sz="1200" b="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제어 기능을 활성화 하여</a:t>
                      </a:r>
                      <a:r>
                        <a:rPr lang="en-US" altLang="ko-KR" sz="1200" b="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,</a:t>
                      </a:r>
                      <a:r>
                        <a:rPr lang="ko-KR" altLang="en-US" sz="1200" b="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en-US" altLang="ko-KR" sz="1200" b="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Broadcast storms</a:t>
                      </a:r>
                      <a:r>
                        <a:rPr lang="ko-KR" altLang="en-US" sz="1200" b="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에 예방을 할 수 있을 것으로 판단</a:t>
                      </a:r>
                      <a:r>
                        <a:rPr lang="en-US" altLang="ko-KR" sz="1200" b="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.</a:t>
                      </a:r>
                      <a:endParaRPr lang="en-US" altLang="ko-KR" sz="1200" b="0" kern="120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99044" marR="0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pSp>
        <p:nvGrpSpPr>
          <p:cNvPr id="22" name="그룹 21"/>
          <p:cNvGrpSpPr/>
          <p:nvPr/>
        </p:nvGrpSpPr>
        <p:grpSpPr>
          <a:xfrm>
            <a:off x="532666" y="4481274"/>
            <a:ext cx="3695938" cy="453238"/>
            <a:chOff x="617121" y="2842520"/>
            <a:chExt cx="3695938" cy="453238"/>
          </a:xfrm>
        </p:grpSpPr>
        <p:sp>
          <p:nvSpPr>
            <p:cNvPr id="3" name="직사각형 2"/>
            <p:cNvSpPr/>
            <p:nvPr/>
          </p:nvSpPr>
          <p:spPr>
            <a:xfrm>
              <a:off x="617121" y="2842521"/>
              <a:ext cx="621594" cy="453237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ko-KR" sz="1200" dirty="0" smtClean="0"/>
                <a:t>CRA</a:t>
              </a:r>
              <a:endParaRPr kumimoji="1" lang="ko-KR" altLang="en-US" sz="1200" dirty="0"/>
            </a:p>
          </p:txBody>
        </p:sp>
        <p:sp>
          <p:nvSpPr>
            <p:cNvPr id="47" name="직사각형 46"/>
            <p:cNvSpPr/>
            <p:nvPr/>
          </p:nvSpPr>
          <p:spPr>
            <a:xfrm>
              <a:off x="1892566" y="2842520"/>
              <a:ext cx="623759" cy="453237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ko-KR" sz="1200" dirty="0" err="1" smtClean="0"/>
                <a:t>Moxa</a:t>
              </a:r>
              <a:endParaRPr kumimoji="1" lang="ko-KR" altLang="en-US" sz="1200" dirty="0"/>
            </a:p>
          </p:txBody>
        </p:sp>
        <p:sp>
          <p:nvSpPr>
            <p:cNvPr id="58" name="직사각형 57"/>
            <p:cNvSpPr/>
            <p:nvPr/>
          </p:nvSpPr>
          <p:spPr>
            <a:xfrm>
              <a:off x="3232939" y="2842520"/>
              <a:ext cx="1080120" cy="453237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ko-KR" sz="1000" dirty="0" smtClean="0"/>
                <a:t>Fluke </a:t>
              </a:r>
              <a:r>
                <a:rPr kumimoji="1" lang="en-US" altLang="ko-KR" sz="1000" dirty="0" err="1" smtClean="0"/>
                <a:t>Optiview</a:t>
              </a:r>
              <a:endParaRPr kumimoji="1" lang="ko-KR" altLang="en-US" sz="1000" dirty="0"/>
            </a:p>
          </p:txBody>
        </p:sp>
        <p:cxnSp>
          <p:nvCxnSpPr>
            <p:cNvPr id="9" name="직선 화살표 연결선 8"/>
            <p:cNvCxnSpPr>
              <a:stCxn id="3" idx="3"/>
            </p:cNvCxnSpPr>
            <p:nvPr/>
          </p:nvCxnSpPr>
          <p:spPr>
            <a:xfrm flipV="1">
              <a:off x="1238715" y="3069139"/>
              <a:ext cx="648197" cy="1"/>
            </a:xfrm>
            <a:prstGeom prst="straightConnector1">
              <a:avLst/>
            </a:prstGeom>
            <a:ln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직선 화살표 연결선 58"/>
            <p:cNvCxnSpPr/>
            <p:nvPr/>
          </p:nvCxnSpPr>
          <p:spPr>
            <a:xfrm>
              <a:off x="2510671" y="3069139"/>
              <a:ext cx="716614" cy="0"/>
            </a:xfrm>
            <a:prstGeom prst="straightConnector1">
              <a:avLst/>
            </a:prstGeom>
            <a:ln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23" name="그림 22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46767" y="1698823"/>
            <a:ext cx="3838007" cy="812639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grpSp>
        <p:nvGrpSpPr>
          <p:cNvPr id="87" name="그룹 86"/>
          <p:cNvGrpSpPr/>
          <p:nvPr/>
        </p:nvGrpSpPr>
        <p:grpSpPr>
          <a:xfrm>
            <a:off x="4956472" y="1607635"/>
            <a:ext cx="4724094" cy="3549557"/>
            <a:chOff x="4956472" y="1391611"/>
            <a:chExt cx="4724094" cy="3549557"/>
          </a:xfrm>
        </p:grpSpPr>
        <p:grpSp>
          <p:nvGrpSpPr>
            <p:cNvPr id="82" name="그룹 81"/>
            <p:cNvGrpSpPr/>
            <p:nvPr/>
          </p:nvGrpSpPr>
          <p:grpSpPr>
            <a:xfrm>
              <a:off x="4956472" y="1391611"/>
              <a:ext cx="4724094" cy="3549557"/>
              <a:chOff x="4956472" y="624174"/>
              <a:chExt cx="4724094" cy="3549557"/>
            </a:xfrm>
          </p:grpSpPr>
          <p:grpSp>
            <p:nvGrpSpPr>
              <p:cNvPr id="26" name="그룹 25"/>
              <p:cNvGrpSpPr/>
              <p:nvPr/>
            </p:nvGrpSpPr>
            <p:grpSpPr>
              <a:xfrm>
                <a:off x="4956472" y="662489"/>
                <a:ext cx="1574525" cy="1145109"/>
                <a:chOff x="716533" y="4509120"/>
                <a:chExt cx="1574525" cy="1145109"/>
              </a:xfrm>
            </p:grpSpPr>
            <p:pic>
              <p:nvPicPr>
                <p:cNvPr id="24" name="그림 23"/>
                <p:cNvPicPr>
                  <a:picLocks noChangeAspect="1"/>
                </p:cNvPicPr>
                <p:nvPr/>
              </p:nvPicPr>
              <p:blipFill rotWithShape="1">
                <a:blip r:embed="rId4" cstate="print">
                  <a:extLst>
                    <a:ext uri="{28A0092B-C50C-407E-A947-70E740481C1C}">
                      <a14:useLocalDpi xmlns:a14="http://schemas.microsoft.com/office/drawing/2010/main"/>
                    </a:ext>
                  </a:extLst>
                </a:blip>
                <a:srcRect/>
                <a:stretch/>
              </p:blipFill>
              <p:spPr>
                <a:xfrm rot="10800000">
                  <a:off x="716533" y="4509120"/>
                  <a:ext cx="1574525" cy="1145109"/>
                </a:xfrm>
                <a:prstGeom prst="rect">
                  <a:avLst/>
                </a:prstGeom>
                <a:solidFill>
                  <a:srgbClr val="FFFFFF">
                    <a:shade val="85000"/>
                  </a:srgbClr>
                </a:solidFill>
                <a:ln w="88900" cap="sq">
                  <a:solidFill>
                    <a:srgbClr val="FFFFFF"/>
                  </a:solidFill>
                  <a:miter lim="800000"/>
                </a:ln>
                <a:effectLst>
                  <a:outerShdw blurRad="55000" dist="18000" dir="5400000" algn="tl" rotWithShape="0">
                    <a:srgbClr val="000000">
                      <a:alpha val="40000"/>
                    </a:srgbClr>
                  </a:outerShdw>
                </a:effectLst>
                <a:scene3d>
                  <a:camera prst="orthographicFront"/>
                  <a:lightRig rig="twoPt" dir="t">
                    <a:rot lat="0" lon="0" rev="7200000"/>
                  </a:lightRig>
                </a:scene3d>
                <a:sp3d>
                  <a:bevelT w="25400" h="19050"/>
                  <a:contourClr>
                    <a:srgbClr val="FFFFFF"/>
                  </a:contourClr>
                </a:sp3d>
              </p:spPr>
            </p:pic>
            <p:sp>
              <p:nvSpPr>
                <p:cNvPr id="70" name="아래쪽 화살표[D] 69"/>
                <p:cNvSpPr/>
                <p:nvPr/>
              </p:nvSpPr>
              <p:spPr>
                <a:xfrm rot="2658184">
                  <a:off x="1776411" y="5126299"/>
                  <a:ext cx="161866" cy="234366"/>
                </a:xfrm>
                <a:prstGeom prst="downArrow">
                  <a:avLst/>
                </a:prstGeom>
                <a:solidFill>
                  <a:srgbClr val="FF0000"/>
                </a:solid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ko-KR" altLang="en-US" sz="600"/>
                </a:p>
              </p:txBody>
            </p:sp>
            <p:sp>
              <p:nvSpPr>
                <p:cNvPr id="71" name="텍스트 상자 70"/>
                <p:cNvSpPr txBox="1"/>
                <p:nvPr/>
              </p:nvSpPr>
              <p:spPr>
                <a:xfrm>
                  <a:off x="1571136" y="4918425"/>
                  <a:ext cx="679918" cy="184666"/>
                </a:xfrm>
                <a:prstGeom prst="rect">
                  <a:avLst/>
                </a:prstGeom>
              </p:spPr>
              <p:style>
                <a:lnRef idx="2">
                  <a:schemeClr val="accent2">
                    <a:shade val="50000"/>
                  </a:schemeClr>
                </a:lnRef>
                <a:fillRef idx="1">
                  <a:schemeClr val="accent2"/>
                </a:fillRef>
                <a:effectRef idx="0">
                  <a:schemeClr val="accent2"/>
                </a:effectRef>
                <a:fontRef idx="minor">
                  <a:schemeClr val="lt1"/>
                </a:fontRef>
              </p:style>
              <p:txBody>
                <a:bodyPr wrap="square" rtlCol="0">
                  <a:spAutoFit/>
                </a:bodyPr>
                <a:lstStyle/>
                <a:p>
                  <a:r>
                    <a:rPr kumimoji="1" lang="en-US" altLang="ko-KR" sz="600" dirty="0" smtClean="0"/>
                    <a:t>NOT Limited </a:t>
                  </a:r>
                  <a:endParaRPr kumimoji="1" lang="ko-KR" altLang="en-US" sz="600" dirty="0"/>
                </a:p>
              </p:txBody>
            </p:sp>
          </p:grpSp>
          <p:pic>
            <p:nvPicPr>
              <p:cNvPr id="28" name="그림 27"/>
              <p:cNvPicPr>
                <a:picLocks noChangeAspect="1"/>
              </p:cNvPicPr>
              <p:nvPr/>
            </p:nvPicPr>
            <p:blipFill>
              <a:blip r:embed="rId5" cstate="print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 rot="10800000">
                <a:off x="7016543" y="2175714"/>
                <a:ext cx="2664023" cy="1998017"/>
              </a:xfrm>
              <a:prstGeom prst="rect">
                <a:avLst/>
              </a:prstGeom>
            </p:spPr>
          </p:pic>
          <p:grpSp>
            <p:nvGrpSpPr>
              <p:cNvPr id="30" name="그룹 29"/>
              <p:cNvGrpSpPr/>
              <p:nvPr/>
            </p:nvGrpSpPr>
            <p:grpSpPr>
              <a:xfrm>
                <a:off x="7874392" y="624174"/>
                <a:ext cx="1561816" cy="1221737"/>
                <a:chOff x="7220908" y="683321"/>
                <a:chExt cx="1561816" cy="1221737"/>
              </a:xfrm>
            </p:grpSpPr>
            <p:pic>
              <p:nvPicPr>
                <p:cNvPr id="29" name="그림 28"/>
                <p:cNvPicPr>
                  <a:picLocks noChangeAspect="1"/>
                </p:cNvPicPr>
                <p:nvPr/>
              </p:nvPicPr>
              <p:blipFill rotWithShape="1">
                <a:blip r:embed="rId6" cstate="print">
                  <a:extLst>
                    <a:ext uri="{28A0092B-C50C-407E-A947-70E740481C1C}">
                      <a14:useLocalDpi xmlns:a14="http://schemas.microsoft.com/office/drawing/2010/main"/>
                    </a:ext>
                  </a:extLst>
                </a:blip>
                <a:srcRect/>
                <a:stretch/>
              </p:blipFill>
              <p:spPr>
                <a:xfrm rot="10800000">
                  <a:off x="7220908" y="683321"/>
                  <a:ext cx="1561816" cy="1221737"/>
                </a:xfrm>
                <a:prstGeom prst="rect">
                  <a:avLst/>
                </a:prstGeom>
                <a:solidFill>
                  <a:srgbClr val="FFFFFF">
                    <a:shade val="85000"/>
                  </a:srgbClr>
                </a:solidFill>
                <a:ln w="88900" cap="sq">
                  <a:solidFill>
                    <a:srgbClr val="FFFFFF"/>
                  </a:solidFill>
                  <a:miter lim="800000"/>
                </a:ln>
                <a:effectLst>
                  <a:outerShdw blurRad="55000" dist="18000" dir="5400000" algn="tl" rotWithShape="0">
                    <a:srgbClr val="000000">
                      <a:alpha val="40000"/>
                    </a:srgbClr>
                  </a:outerShdw>
                </a:effectLst>
                <a:scene3d>
                  <a:camera prst="orthographicFront"/>
                  <a:lightRig rig="twoPt" dir="t">
                    <a:rot lat="0" lon="0" rev="7200000"/>
                  </a:lightRig>
                </a:scene3d>
                <a:sp3d>
                  <a:bevelT w="25400" h="19050"/>
                  <a:contourClr>
                    <a:srgbClr val="FFFFFF"/>
                  </a:contourClr>
                </a:sp3d>
              </p:spPr>
            </p:pic>
            <p:sp>
              <p:nvSpPr>
                <p:cNvPr id="72" name="아래쪽 화살표[D] 71"/>
                <p:cNvSpPr/>
                <p:nvPr/>
              </p:nvSpPr>
              <p:spPr>
                <a:xfrm rot="2658184">
                  <a:off x="7839176" y="1279670"/>
                  <a:ext cx="161866" cy="234366"/>
                </a:xfrm>
                <a:prstGeom prst="downArrow">
                  <a:avLst/>
                </a:prstGeom>
                <a:solidFill>
                  <a:srgbClr val="FF0000"/>
                </a:solid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ko-KR" altLang="en-US" sz="600"/>
                </a:p>
              </p:txBody>
            </p:sp>
            <p:sp>
              <p:nvSpPr>
                <p:cNvPr id="73" name="텍스트 상자 72"/>
                <p:cNvSpPr txBox="1"/>
                <p:nvPr/>
              </p:nvSpPr>
              <p:spPr>
                <a:xfrm>
                  <a:off x="8102806" y="1142712"/>
                  <a:ext cx="679918" cy="184666"/>
                </a:xfrm>
                <a:prstGeom prst="rect">
                  <a:avLst/>
                </a:prstGeom>
              </p:spPr>
              <p:style>
                <a:lnRef idx="2">
                  <a:schemeClr val="accent2">
                    <a:shade val="50000"/>
                  </a:schemeClr>
                </a:lnRef>
                <a:fillRef idx="1">
                  <a:schemeClr val="accent2"/>
                </a:fillRef>
                <a:effectRef idx="0">
                  <a:schemeClr val="accent2"/>
                </a:effectRef>
                <a:fontRef idx="minor">
                  <a:schemeClr val="lt1"/>
                </a:fontRef>
              </p:style>
              <p:txBody>
                <a:bodyPr wrap="square" rtlCol="0">
                  <a:spAutoFit/>
                </a:bodyPr>
                <a:lstStyle/>
                <a:p>
                  <a:r>
                    <a:rPr kumimoji="1" lang="en-US" altLang="ko-KR" sz="600" dirty="0" smtClean="0"/>
                    <a:t>50%</a:t>
                  </a:r>
                  <a:r>
                    <a:rPr kumimoji="1" lang="ko-KR" altLang="en-US" sz="600" dirty="0" smtClean="0"/>
                    <a:t> </a:t>
                  </a:r>
                  <a:r>
                    <a:rPr kumimoji="1" lang="en-US" altLang="ko-KR" sz="600" dirty="0" smtClean="0"/>
                    <a:t>Limited </a:t>
                  </a:r>
                  <a:endParaRPr kumimoji="1" lang="ko-KR" altLang="en-US" sz="600" dirty="0"/>
                </a:p>
              </p:txBody>
            </p:sp>
          </p:grpSp>
          <p:grpSp>
            <p:nvGrpSpPr>
              <p:cNvPr id="34" name="그룹 33"/>
              <p:cNvGrpSpPr/>
              <p:nvPr/>
            </p:nvGrpSpPr>
            <p:grpSpPr>
              <a:xfrm>
                <a:off x="5027974" y="2787390"/>
                <a:ext cx="1566201" cy="1139203"/>
                <a:chOff x="6482349" y="1886596"/>
                <a:chExt cx="1566201" cy="1139203"/>
              </a:xfrm>
            </p:grpSpPr>
            <p:pic>
              <p:nvPicPr>
                <p:cNvPr id="31" name="그림 30"/>
                <p:cNvPicPr>
                  <a:picLocks noChangeAspect="1"/>
                </p:cNvPicPr>
                <p:nvPr/>
              </p:nvPicPr>
              <p:blipFill rotWithShape="1">
                <a:blip r:embed="rId7" cstate="print">
                  <a:extLst>
                    <a:ext uri="{28A0092B-C50C-407E-A947-70E740481C1C}">
                      <a14:useLocalDpi xmlns:a14="http://schemas.microsoft.com/office/drawing/2010/main"/>
                    </a:ext>
                  </a:extLst>
                </a:blip>
                <a:srcRect/>
                <a:stretch/>
              </p:blipFill>
              <p:spPr>
                <a:xfrm rot="10800000">
                  <a:off x="6482349" y="1886596"/>
                  <a:ext cx="1566201" cy="1139203"/>
                </a:xfrm>
                <a:prstGeom prst="rect">
                  <a:avLst/>
                </a:prstGeom>
                <a:solidFill>
                  <a:srgbClr val="FFFFFF">
                    <a:shade val="85000"/>
                  </a:srgbClr>
                </a:solidFill>
                <a:ln w="88900" cap="sq">
                  <a:solidFill>
                    <a:srgbClr val="FFFFFF"/>
                  </a:solidFill>
                  <a:miter lim="800000"/>
                </a:ln>
                <a:effectLst>
                  <a:outerShdw blurRad="55000" dist="18000" dir="5400000" algn="tl" rotWithShape="0">
                    <a:srgbClr val="000000">
                      <a:alpha val="40000"/>
                    </a:srgbClr>
                  </a:outerShdw>
                </a:effectLst>
                <a:scene3d>
                  <a:camera prst="orthographicFront"/>
                  <a:lightRig rig="twoPt" dir="t">
                    <a:rot lat="0" lon="0" rev="7200000"/>
                  </a:lightRig>
                </a:scene3d>
                <a:sp3d>
                  <a:bevelT w="25400" h="19050"/>
                  <a:contourClr>
                    <a:srgbClr val="FFFFFF"/>
                  </a:contourClr>
                </a:sp3d>
              </p:spPr>
            </p:pic>
            <p:sp>
              <p:nvSpPr>
                <p:cNvPr id="74" name="아래쪽 화살표[D] 73"/>
                <p:cNvSpPr/>
                <p:nvPr/>
              </p:nvSpPr>
              <p:spPr>
                <a:xfrm rot="2658184">
                  <a:off x="7222140" y="2416579"/>
                  <a:ext cx="161866" cy="234366"/>
                </a:xfrm>
                <a:prstGeom prst="downArrow">
                  <a:avLst/>
                </a:prstGeom>
                <a:solidFill>
                  <a:srgbClr val="FF0000"/>
                </a:solid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ko-KR" altLang="en-US" sz="600"/>
                </a:p>
              </p:txBody>
            </p:sp>
            <p:sp>
              <p:nvSpPr>
                <p:cNvPr id="75" name="텍스트 상자 74"/>
                <p:cNvSpPr txBox="1"/>
                <p:nvPr/>
              </p:nvSpPr>
              <p:spPr>
                <a:xfrm>
                  <a:off x="7337211" y="2228189"/>
                  <a:ext cx="679918" cy="184666"/>
                </a:xfrm>
                <a:prstGeom prst="rect">
                  <a:avLst/>
                </a:prstGeom>
              </p:spPr>
              <p:style>
                <a:lnRef idx="2">
                  <a:schemeClr val="accent2">
                    <a:shade val="50000"/>
                  </a:schemeClr>
                </a:lnRef>
                <a:fillRef idx="1">
                  <a:schemeClr val="accent2"/>
                </a:fillRef>
                <a:effectRef idx="0">
                  <a:schemeClr val="accent2"/>
                </a:effectRef>
                <a:fontRef idx="minor">
                  <a:schemeClr val="lt1"/>
                </a:fontRef>
              </p:style>
              <p:txBody>
                <a:bodyPr wrap="square" rtlCol="0">
                  <a:spAutoFit/>
                </a:bodyPr>
                <a:lstStyle/>
                <a:p>
                  <a:r>
                    <a:rPr kumimoji="1" lang="en-US" altLang="ko-KR" sz="600" dirty="0" smtClean="0"/>
                    <a:t>10%</a:t>
                  </a:r>
                  <a:r>
                    <a:rPr kumimoji="1" lang="ko-KR" altLang="en-US" sz="600" dirty="0" smtClean="0"/>
                    <a:t> </a:t>
                  </a:r>
                  <a:r>
                    <a:rPr kumimoji="1" lang="en-US" altLang="ko-KR" sz="600" dirty="0" smtClean="0"/>
                    <a:t>Limited </a:t>
                  </a:r>
                  <a:endParaRPr kumimoji="1" lang="ko-KR" altLang="en-US" sz="600" dirty="0"/>
                </a:p>
              </p:txBody>
            </p:sp>
          </p:grpSp>
          <p:cxnSp>
            <p:nvCxnSpPr>
              <p:cNvPr id="40" name="직선 화살표 연결선 39"/>
              <p:cNvCxnSpPr/>
              <p:nvPr/>
            </p:nvCxnSpPr>
            <p:spPr>
              <a:xfrm>
                <a:off x="6530997" y="1628800"/>
                <a:ext cx="1445545" cy="1158589"/>
              </a:xfrm>
              <a:prstGeom prst="straightConnector1">
                <a:avLst/>
              </a:prstGeom>
              <a:ln w="12700">
                <a:solidFill>
                  <a:srgbClr val="FF000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6" name="직선 화살표 연결선 75"/>
              <p:cNvCxnSpPr/>
              <p:nvPr/>
            </p:nvCxnSpPr>
            <p:spPr>
              <a:xfrm>
                <a:off x="8573594" y="1628800"/>
                <a:ext cx="589632" cy="1545923"/>
              </a:xfrm>
              <a:prstGeom prst="straightConnector1">
                <a:avLst/>
              </a:prstGeom>
              <a:ln w="12700">
                <a:solidFill>
                  <a:srgbClr val="FF000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9" name="직선 화살표 연결선 78"/>
              <p:cNvCxnSpPr/>
              <p:nvPr/>
            </p:nvCxnSpPr>
            <p:spPr>
              <a:xfrm flipV="1">
                <a:off x="6151034" y="3470060"/>
                <a:ext cx="2504266" cy="103403"/>
              </a:xfrm>
              <a:prstGeom prst="straightConnector1">
                <a:avLst/>
              </a:prstGeom>
              <a:ln w="12700">
                <a:solidFill>
                  <a:srgbClr val="FF000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84" name="텍스트 상자 83"/>
            <p:cNvSpPr txBox="1"/>
            <p:nvPr/>
          </p:nvSpPr>
          <p:spPr>
            <a:xfrm>
              <a:off x="7042702" y="3481130"/>
              <a:ext cx="857019" cy="184666"/>
            </a:xfrm>
            <a:prstGeom prst="rect">
              <a:avLst/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wrap="square" rtlCol="0">
              <a:spAutoFit/>
            </a:bodyPr>
            <a:lstStyle/>
            <a:p>
              <a:r>
                <a:rPr kumimoji="1" lang="en-US" altLang="ko-KR" sz="600" dirty="0" smtClean="0"/>
                <a:t>100%</a:t>
              </a:r>
              <a:r>
                <a:rPr kumimoji="1" lang="ko-KR" altLang="en-US" sz="600" dirty="0" smtClean="0"/>
                <a:t> </a:t>
              </a:r>
              <a:r>
                <a:rPr kumimoji="1" lang="en-US" altLang="ko-KR" sz="600" dirty="0"/>
                <a:t> </a:t>
              </a:r>
              <a:r>
                <a:rPr kumimoji="1" lang="ko-KR" altLang="en-US" sz="600" dirty="0" smtClean="0"/>
                <a:t>트래픽 발생</a:t>
              </a:r>
              <a:r>
                <a:rPr kumimoji="1" lang="en-US" altLang="ko-KR" sz="600" dirty="0" smtClean="0"/>
                <a:t> </a:t>
              </a:r>
              <a:endParaRPr kumimoji="1" lang="ko-KR" altLang="en-US" sz="600" dirty="0"/>
            </a:p>
          </p:txBody>
        </p:sp>
        <p:sp>
          <p:nvSpPr>
            <p:cNvPr id="85" name="텍스트 상자 84"/>
            <p:cNvSpPr txBox="1"/>
            <p:nvPr/>
          </p:nvSpPr>
          <p:spPr>
            <a:xfrm>
              <a:off x="7856342" y="4340900"/>
              <a:ext cx="857019" cy="184666"/>
            </a:xfrm>
            <a:prstGeom prst="rect">
              <a:avLst/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wrap="square" rtlCol="0">
              <a:spAutoFit/>
            </a:bodyPr>
            <a:lstStyle/>
            <a:p>
              <a:r>
                <a:rPr kumimoji="1" lang="en-US" altLang="ko-KR" sz="600" dirty="0" smtClean="0"/>
                <a:t>10%</a:t>
              </a:r>
              <a:r>
                <a:rPr kumimoji="1" lang="ko-KR" altLang="en-US" sz="600" dirty="0" smtClean="0"/>
                <a:t> </a:t>
              </a:r>
              <a:r>
                <a:rPr kumimoji="1" lang="en-US" altLang="ko-KR" sz="600" dirty="0" smtClean="0"/>
                <a:t> </a:t>
              </a:r>
              <a:r>
                <a:rPr kumimoji="1" lang="ko-KR" altLang="en-US" sz="600" dirty="0" smtClean="0"/>
                <a:t>트래픽 발생</a:t>
              </a:r>
              <a:r>
                <a:rPr kumimoji="1" lang="en-US" altLang="ko-KR" sz="600" dirty="0" smtClean="0"/>
                <a:t> </a:t>
              </a:r>
              <a:endParaRPr kumimoji="1" lang="ko-KR" altLang="en-US" sz="600" dirty="0"/>
            </a:p>
          </p:txBody>
        </p:sp>
        <p:sp>
          <p:nvSpPr>
            <p:cNvPr id="86" name="텍스트 상자 85"/>
            <p:cNvSpPr txBox="1"/>
            <p:nvPr/>
          </p:nvSpPr>
          <p:spPr>
            <a:xfrm>
              <a:off x="8786999" y="3666425"/>
              <a:ext cx="857019" cy="184666"/>
            </a:xfrm>
            <a:prstGeom prst="rect">
              <a:avLst/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wrap="square" rtlCol="0">
              <a:spAutoFit/>
            </a:bodyPr>
            <a:lstStyle/>
            <a:p>
              <a:r>
                <a:rPr kumimoji="1" lang="en-US" altLang="ko-KR" sz="600" dirty="0"/>
                <a:t>5</a:t>
              </a:r>
              <a:r>
                <a:rPr kumimoji="1" lang="en-US" altLang="ko-KR" sz="600" dirty="0" smtClean="0"/>
                <a:t>0%</a:t>
              </a:r>
              <a:r>
                <a:rPr kumimoji="1" lang="ko-KR" altLang="en-US" sz="600" dirty="0" smtClean="0"/>
                <a:t> </a:t>
              </a:r>
              <a:r>
                <a:rPr kumimoji="1" lang="en-US" altLang="ko-KR" sz="600" dirty="0"/>
                <a:t> </a:t>
              </a:r>
              <a:r>
                <a:rPr kumimoji="1" lang="ko-KR" altLang="en-US" sz="600" dirty="0" smtClean="0"/>
                <a:t>트래픽 발생</a:t>
              </a:r>
              <a:r>
                <a:rPr kumimoji="1" lang="en-US" altLang="ko-KR" sz="600" dirty="0" smtClean="0"/>
                <a:t> </a:t>
              </a:r>
              <a:endParaRPr kumimoji="1" lang="ko-KR" altLang="en-US" sz="600" dirty="0"/>
            </a:p>
          </p:txBody>
        </p:sp>
      </p:grpSp>
    </p:spTree>
    <p:extLst>
      <p:ext uri="{BB962C8B-B14F-4D97-AF65-F5344CB8AC3E}">
        <p14:creationId xmlns:p14="http://schemas.microsoft.com/office/powerpoint/2010/main" val="13648736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64955</TotalTime>
  <Words>621</Words>
  <Application>Microsoft Office PowerPoint</Application>
  <PresentationFormat>사용자 지정</PresentationFormat>
  <Paragraphs>154</Paragraphs>
  <Slides>3</Slides>
  <Notes>3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</vt:i4>
      </vt:variant>
    </vt:vector>
  </HeadingPairs>
  <TitlesOfParts>
    <vt:vector size="7" baseType="lpstr">
      <vt:lpstr>Mangal</vt:lpstr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user</dc:creator>
  <cp:lastModifiedBy>장덕수</cp:lastModifiedBy>
  <cp:revision>1306</cp:revision>
  <cp:lastPrinted>2017-02-07T10:43:21Z</cp:lastPrinted>
  <dcterms:created xsi:type="dcterms:W3CDTF">2014-12-31T05:09:55Z</dcterms:created>
  <dcterms:modified xsi:type="dcterms:W3CDTF">2017-09-28T01:12:34Z</dcterms:modified>
</cp:coreProperties>
</file>