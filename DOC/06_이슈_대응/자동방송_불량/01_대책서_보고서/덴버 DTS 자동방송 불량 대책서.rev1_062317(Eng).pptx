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500" r:id="rId2"/>
  </p:sldIdLst>
  <p:sldSz cx="9904413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13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737"/>
    <a:srgbClr val="FF3B3B"/>
    <a:srgbClr val="D09E00"/>
    <a:srgbClr val="F2B800"/>
    <a:srgbClr val="0000FF"/>
    <a:srgbClr val="7979FF"/>
    <a:srgbClr val="A3A3FF"/>
    <a:srgbClr val="ECECEC"/>
    <a:srgbClr val="BD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4" autoAdjust="0"/>
    <p:restoredTop sz="96476" autoAdjust="0"/>
  </p:normalViewPr>
  <p:slideViewPr>
    <p:cSldViewPr>
      <p:cViewPr>
        <p:scale>
          <a:sx n="140" d="100"/>
          <a:sy n="140" d="100"/>
        </p:scale>
        <p:origin x="1984" y="408"/>
      </p:cViewPr>
      <p:guideLst>
        <p:guide orient="horz" pos="2251"/>
        <p:guide pos="1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4EF19808-07F7-44A4-9714-165D9326F30E}" type="datetimeFigureOut">
              <a:rPr lang="ko-KR" altLang="en-US" smtClean="0"/>
              <a:pPr/>
              <a:t>2017. 6. 26.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CE8D82EC-425F-4DE6-8A86-E6512495E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6344DFA3-142A-4FFA-B264-88948DCACF03}" type="datetimeFigureOut">
              <a:rPr lang="ko-KR" altLang="en-US" smtClean="0"/>
              <a:pPr/>
              <a:t>2017. 6. 26.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784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9" y="4721226"/>
            <a:ext cx="5445125" cy="4471988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5B10042-E339-4781-8D95-CF275B613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57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052" y="1122363"/>
            <a:ext cx="7428310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052" y="3602038"/>
            <a:ext cx="742831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29" indent="0" algn="ctr">
              <a:buNone/>
              <a:defRPr sz="1625"/>
            </a:lvl2pPr>
            <a:lvl3pPr marL="742859" indent="0" algn="ctr">
              <a:buNone/>
              <a:defRPr sz="1462"/>
            </a:lvl3pPr>
            <a:lvl4pPr marL="1114288" indent="0" algn="ctr">
              <a:buNone/>
              <a:defRPr sz="1300"/>
            </a:lvl4pPr>
            <a:lvl5pPr marL="1485717" indent="0" algn="ctr">
              <a:buNone/>
              <a:defRPr sz="1300"/>
            </a:lvl5pPr>
            <a:lvl6pPr marL="1857146" indent="0" algn="ctr">
              <a:buNone/>
              <a:defRPr sz="1300"/>
            </a:lvl6pPr>
            <a:lvl7pPr marL="2228576" indent="0" algn="ctr">
              <a:buNone/>
              <a:defRPr sz="1300"/>
            </a:lvl7pPr>
            <a:lvl8pPr marL="2600005" indent="0" algn="ctr">
              <a:buNone/>
              <a:defRPr sz="1300"/>
            </a:lvl8pPr>
            <a:lvl9pPr marL="2971434" indent="0" algn="ctr">
              <a:buNone/>
              <a:defRPr sz="13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2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770" y="1709739"/>
            <a:ext cx="8542556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770" y="4589464"/>
            <a:ext cx="8542556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29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859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2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71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14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57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0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4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4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0928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109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2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365126"/>
            <a:ext cx="8542556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219" y="1681163"/>
            <a:ext cx="4190031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219" y="2505075"/>
            <a:ext cx="419003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109" y="1681163"/>
            <a:ext cx="4210666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109" y="2505075"/>
            <a:ext cx="4210666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7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29" indent="0">
              <a:buNone/>
              <a:defRPr sz="2275"/>
            </a:lvl2pPr>
            <a:lvl3pPr marL="742859" indent="0">
              <a:buNone/>
              <a:defRPr sz="1950"/>
            </a:lvl3pPr>
            <a:lvl4pPr marL="1114288" indent="0">
              <a:buNone/>
              <a:defRPr sz="1625"/>
            </a:lvl4pPr>
            <a:lvl5pPr marL="1485717" indent="0">
              <a:buNone/>
              <a:defRPr sz="1625"/>
            </a:lvl5pPr>
            <a:lvl6pPr marL="1857146" indent="0">
              <a:buNone/>
              <a:defRPr sz="1625"/>
            </a:lvl6pPr>
            <a:lvl7pPr marL="2228576" indent="0">
              <a:buNone/>
              <a:defRPr sz="1625"/>
            </a:lvl7pPr>
            <a:lvl8pPr marL="2600005" indent="0">
              <a:buNone/>
              <a:defRPr sz="1625"/>
            </a:lvl8pPr>
            <a:lvl9pPr marL="2971434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7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7846" y="365125"/>
            <a:ext cx="2135639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0928" y="365125"/>
            <a:ext cx="6283112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6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0929" y="365126"/>
            <a:ext cx="85425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0929" y="1825625"/>
            <a:ext cx="8542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0928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2017. 6. 26.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837" y="6356351"/>
            <a:ext cx="3342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4992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859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15" indent="-185715" algn="l" defTabSz="742859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144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573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00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67143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2042861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72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149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2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85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288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717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14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57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005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434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336659"/>
              </p:ext>
            </p:extLst>
          </p:nvPr>
        </p:nvGraphicFramePr>
        <p:xfrm>
          <a:off x="55661" y="-5382"/>
          <a:ext cx="9848751" cy="686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611"/>
                <a:gridCol w="1794599"/>
                <a:gridCol w="3425541"/>
              </a:tblGrid>
              <a:tr h="510326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Communication System Failure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(DENVER DTS 66cars)   </a:t>
                      </a:r>
                      <a:endParaRPr lang="ko-KR" altLang="en-US" sz="11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103260">
                <a:tc rowSpan="3"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Details</a:t>
                      </a:r>
                    </a:p>
                    <a:p>
                      <a:pPr marL="268288" indent="-268288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1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Woojin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engineer has investigated the fault event log data from 29</a:t>
                      </a:r>
                      <a:r>
                        <a:rPr lang="en-US" altLang="ko-KR" sz="1100" b="0" kern="1200" baseline="3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May to 16</a:t>
                      </a:r>
                      <a:r>
                        <a:rPr lang="en-US" altLang="ko-KR" sz="1100" b="0" kern="1200" baseline="3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June. The communication system in saloon is not operated periodically due to GPS data failure. (Normal operation after restarting the device)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Cause</a:t>
                      </a:r>
                    </a:p>
                    <a:p>
                      <a:pPr marL="268288" marR="0" indent="-182563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1) Confirm that wrong position value is received from GPS data received through the network switch.</a:t>
                      </a:r>
                    </a:p>
                    <a:p>
                      <a:pPr marL="268288" marR="0" indent="-182563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lang="en-US" altLang="ko-KR" sz="1100" dirty="0" smtClean="0"/>
                        <a:t>When GPS data is received through the network switch, the CNCS is overloaded due to the data proliferation by an unknown reason.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Occurrence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Period: 2017.05~06 (</a:t>
                      </a:r>
                      <a:r>
                        <a:rPr lang="en-US" altLang="ko-KR" sz="1200" dirty="0" smtClean="0"/>
                        <a:t>About 20 events / 33</a:t>
                      </a:r>
                      <a:r>
                        <a:rPr lang="en-US" altLang="ko-KR" sz="1200" baseline="0" dirty="0" smtClean="0"/>
                        <a:t> trains</a:t>
                      </a:r>
                      <a:r>
                        <a:rPr lang="en-US" altLang="ko-KR" sz="12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Responsibility (Company) : -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temporary measure </a:t>
                      </a:r>
                    </a:p>
                    <a:p>
                      <a:pPr marL="268288" marR="0" lvl="0" indent="-268288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Restart the devices when CNCS is overloaded (Network data proliferation occurs)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Action Plan</a:t>
                      </a:r>
                    </a:p>
                    <a:p>
                      <a:pPr marL="268288" marR="0" lvl="0" indent="-85725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altLang="ko-KR" sz="11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Woojin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engineer is planning to have on-site analysis that the GPS data abnormality input to the communication system using the network analysis tool (Wireshark) after capturing the input/output data from Network switch.</a:t>
                      </a:r>
                    </a:p>
                    <a:p>
                      <a:pPr marL="268288" marR="0" lvl="0" indent="-85725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⇒ Plan</a:t>
                      </a:r>
                      <a:r>
                        <a:rPr lang="en-US" altLang="ko-KR" sz="11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100" b="0" kern="1200" baseline="0" noProof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6/30~7/12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(The plan is subject to change according to the program modification)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4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 to entire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trains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(Plan)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257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altLang="ko-KR" sz="1200" dirty="0" smtClean="0"/>
                        <a:t>Registration and reflection to the train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en-US" altLang="ko-KR" sz="1200" dirty="0" smtClean="0"/>
                        <a:t>fault history for </a:t>
                      </a:r>
                    </a:p>
                    <a:p>
                      <a:pPr marL="182563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dirty="0" smtClean="0"/>
                        <a:t>Prevention of similar failure recurrence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63864" y="505640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Issue</a:t>
            </a:r>
            <a:endParaRPr lang="ko-KR" altLang="en-US" sz="14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627002" y="505640"/>
            <a:ext cx="1598860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Corrective </a:t>
            </a:r>
            <a:r>
              <a:rPr lang="en-US" altLang="ko-KR" sz="1400" dirty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action</a:t>
            </a:r>
            <a:endParaRPr lang="ko-KR" altLang="en-US" sz="14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631969" y="5847021"/>
            <a:ext cx="2430580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</a:t>
            </a:r>
            <a:r>
              <a:rPr lang="en-US" altLang="ko-KR" sz="14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ecurrence </a:t>
            </a:r>
            <a:r>
              <a:rPr lang="en-US" altLang="ko-KR" sz="1400" dirty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prevention Plan</a:t>
            </a:r>
            <a:endParaRPr lang="ko-KR" altLang="en-US" sz="14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7832526" y="29461"/>
            <a:ext cx="351467" cy="2551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2" name="그룹 18"/>
          <p:cNvGrpSpPr/>
          <p:nvPr/>
        </p:nvGrpSpPr>
        <p:grpSpPr>
          <a:xfrm>
            <a:off x="3603301" y="20933"/>
            <a:ext cx="4566497" cy="512482"/>
            <a:chOff x="3567729" y="171222"/>
            <a:chExt cx="4566497" cy="512482"/>
          </a:xfrm>
        </p:grpSpPr>
        <p:sp>
          <p:nvSpPr>
            <p:cNvPr id="17" name="직사각형 16"/>
            <p:cNvSpPr/>
            <p:nvPr/>
          </p:nvSpPr>
          <p:spPr>
            <a:xfrm>
              <a:off x="3567729" y="171222"/>
              <a:ext cx="456649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000" b="1" dirty="0" smtClean="0">
                  <a:solidFill>
                    <a:prstClr val="black"/>
                  </a:solidFill>
                  <a:latin typeface="+mn-ea"/>
                </a:rPr>
                <a:t>S/W, H/W, Process, Circuit, Component, Etc.</a:t>
              </a:r>
              <a:endParaRPr lang="ko-KR" altLang="en-US" sz="1000" b="1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295921" y="437483"/>
              <a:ext cx="282525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000" b="1" dirty="0" smtClean="0">
                  <a:solidFill>
                    <a:prstClr val="black"/>
                  </a:solidFill>
                  <a:latin typeface="+mn-ea"/>
                </a:rPr>
                <a:t>(17.06.23) / </a:t>
              </a:r>
              <a:r>
                <a:rPr lang="en-US" altLang="ko-KR" sz="1000" b="1" dirty="0"/>
                <a:t>C</a:t>
              </a:r>
              <a:r>
                <a:rPr lang="en-US" altLang="ko-KR" sz="1000" b="1" dirty="0" smtClean="0"/>
                <a:t>ountermeasures in progress</a:t>
              </a:r>
              <a:endParaRPr lang="ko-KR" altLang="en-US" sz="1000" b="1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3" name="그룹 21"/>
          <p:cNvGrpSpPr/>
          <p:nvPr/>
        </p:nvGrpSpPr>
        <p:grpSpPr>
          <a:xfrm>
            <a:off x="8336581" y="10072"/>
            <a:ext cx="1576033" cy="523344"/>
            <a:chOff x="8134226" y="188640"/>
            <a:chExt cx="1570508" cy="538609"/>
          </a:xfrm>
        </p:grpSpPr>
        <p:sp>
          <p:nvSpPr>
            <p:cNvPr id="21" name="직사각형 20"/>
            <p:cNvSpPr/>
            <p:nvPr/>
          </p:nvSpPr>
          <p:spPr>
            <a:xfrm>
              <a:off x="8134226" y="188640"/>
              <a:ext cx="785563" cy="128273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prstClr val="black"/>
                  </a:solidFill>
                  <a:latin typeface="+mn-ea"/>
                </a:rPr>
                <a:t>Written</a:t>
              </a:r>
              <a:endParaRPr lang="ko-KR" altLang="en-US" sz="80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919171" y="188640"/>
              <a:ext cx="785563" cy="128273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prstClr val="black"/>
                  </a:solidFill>
                  <a:latin typeface="+mn-ea"/>
                </a:rPr>
                <a:t>Approved</a:t>
              </a:r>
              <a:endParaRPr lang="ko-KR" altLang="en-US" sz="80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8134226" y="316913"/>
              <a:ext cx="785563" cy="410336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8919171" y="316913"/>
              <a:ext cx="785563" cy="410336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228451" y="4005064"/>
            <a:ext cx="4571396" cy="1728192"/>
            <a:chOff x="271686" y="3933056"/>
            <a:chExt cx="4405822" cy="1665594"/>
          </a:xfrm>
        </p:grpSpPr>
        <p:sp>
          <p:nvSpPr>
            <p:cNvPr id="62" name="TextBox 7"/>
            <p:cNvSpPr txBox="1">
              <a:spLocks noChangeArrowheads="1"/>
            </p:cNvSpPr>
            <p:nvPr/>
          </p:nvSpPr>
          <p:spPr bwMode="auto">
            <a:xfrm>
              <a:off x="343694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3" name="TextBox 7"/>
            <p:cNvSpPr txBox="1">
              <a:spLocks noChangeArrowheads="1"/>
            </p:cNvSpPr>
            <p:nvPr/>
          </p:nvSpPr>
          <p:spPr bwMode="auto">
            <a:xfrm>
              <a:off x="559718" y="3933056"/>
              <a:ext cx="35458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7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GPS</a:t>
              </a:r>
              <a:endParaRPr lang="ko-KR" altLang="en-US" sz="7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74" name="그룹 73"/>
            <p:cNvGrpSpPr/>
            <p:nvPr/>
          </p:nvGrpSpPr>
          <p:grpSpPr>
            <a:xfrm>
              <a:off x="502950" y="4077072"/>
              <a:ext cx="126147" cy="128853"/>
              <a:chOff x="2271714" y="5581250"/>
              <a:chExt cx="126147" cy="128853"/>
            </a:xfrm>
          </p:grpSpPr>
          <p:sp>
            <p:nvSpPr>
              <p:cNvPr id="53" name="이등변 삼각형 52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cxnSp>
            <p:nvCxnSpPr>
              <p:cNvPr id="54" name="직선 연결선 53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"/>
            <p:cNvSpPr txBox="1">
              <a:spLocks noChangeArrowheads="1"/>
            </p:cNvSpPr>
            <p:nvPr/>
          </p:nvSpPr>
          <p:spPr bwMode="auto">
            <a:xfrm>
              <a:off x="343694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271686" y="5085184"/>
              <a:ext cx="1608133" cy="513466"/>
              <a:chOff x="1669172" y="3244886"/>
              <a:chExt cx="1608133" cy="513466"/>
            </a:xfrm>
          </p:grpSpPr>
          <p:sp>
            <p:nvSpPr>
              <p:cNvPr id="63" name="TextBox 7"/>
              <p:cNvSpPr txBox="1">
                <a:spLocks noChangeArrowheads="1"/>
              </p:cNvSpPr>
              <p:nvPr/>
            </p:nvSpPr>
            <p:spPr bwMode="auto">
              <a:xfrm>
                <a:off x="1669172" y="3542908"/>
                <a:ext cx="1608133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r>
                  <a:rPr lang="en-US" altLang="ko-KR" sz="800" b="0" dirty="0" smtClean="0">
                    <a:solidFill>
                      <a:srgbClr val="7030A0"/>
                    </a:solidFill>
                    <a:latin typeface="+mn-ea"/>
                    <a:ea typeface="+mn-ea"/>
                  </a:rPr>
                  <a:t>*CRA(Communication Rack A)</a:t>
                </a:r>
                <a:endParaRPr lang="ko-KR" altLang="en-US" sz="800" b="0" dirty="0">
                  <a:solidFill>
                    <a:srgbClr val="7030A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3" name="직사각형 72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78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9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0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83" name="직선 연결선 82"/>
            <p:cNvCxnSpPr>
              <a:stCxn id="62" idx="2"/>
              <a:endCxn id="75" idx="0"/>
            </p:cNvCxnSpPr>
            <p:nvPr/>
          </p:nvCxnSpPr>
          <p:spPr>
            <a:xfrm>
              <a:off x="559718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/>
            <p:cNvCxnSpPr>
              <a:stCxn id="75" idx="2"/>
            </p:cNvCxnSpPr>
            <p:nvPr/>
          </p:nvCxnSpPr>
          <p:spPr>
            <a:xfrm>
              <a:off x="559718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7"/>
            <p:cNvSpPr txBox="1">
              <a:spLocks noChangeArrowheads="1"/>
            </p:cNvSpPr>
            <p:nvPr/>
          </p:nvSpPr>
          <p:spPr bwMode="auto">
            <a:xfrm>
              <a:off x="2071886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90" name="그룹 89"/>
            <p:cNvGrpSpPr/>
            <p:nvPr/>
          </p:nvGrpSpPr>
          <p:grpSpPr>
            <a:xfrm>
              <a:off x="2231142" y="4077072"/>
              <a:ext cx="126147" cy="128853"/>
              <a:chOff x="2271714" y="5581250"/>
              <a:chExt cx="126147" cy="128853"/>
            </a:xfrm>
          </p:grpSpPr>
          <p:sp>
            <p:nvSpPr>
              <p:cNvPr id="91" name="이등변 삼각형 90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cxnSp>
            <p:nvCxnSpPr>
              <p:cNvPr id="92" name="직선 연결선 91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3" name="TextBox 7"/>
            <p:cNvSpPr txBox="1">
              <a:spLocks noChangeArrowheads="1"/>
            </p:cNvSpPr>
            <p:nvPr/>
          </p:nvSpPr>
          <p:spPr bwMode="auto">
            <a:xfrm>
              <a:off x="2071886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94" name="그룹 93"/>
            <p:cNvGrpSpPr/>
            <p:nvPr/>
          </p:nvGrpSpPr>
          <p:grpSpPr>
            <a:xfrm>
              <a:off x="2061441" y="5085184"/>
              <a:ext cx="1262968" cy="276884"/>
              <a:chOff x="1730735" y="3244886"/>
              <a:chExt cx="1262968" cy="276884"/>
            </a:xfrm>
          </p:grpSpPr>
          <p:sp>
            <p:nvSpPr>
              <p:cNvPr id="96" name="직사각형 95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97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8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9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100" name="직선 연결선 99"/>
            <p:cNvCxnSpPr>
              <a:stCxn id="89" idx="2"/>
              <a:endCxn id="93" idx="0"/>
            </p:cNvCxnSpPr>
            <p:nvPr/>
          </p:nvCxnSpPr>
          <p:spPr>
            <a:xfrm>
              <a:off x="2287910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/>
            <p:cNvCxnSpPr>
              <a:stCxn id="93" idx="2"/>
            </p:cNvCxnSpPr>
            <p:nvPr/>
          </p:nvCxnSpPr>
          <p:spPr>
            <a:xfrm>
              <a:off x="2287910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>
              <a:stCxn id="75" idx="3"/>
              <a:endCxn id="93" idx="1"/>
            </p:cNvCxnSpPr>
            <p:nvPr/>
          </p:nvCxnSpPr>
          <p:spPr>
            <a:xfrm>
              <a:off x="775742" y="4749461"/>
              <a:ext cx="1296144" cy="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7"/>
            <p:cNvSpPr txBox="1">
              <a:spLocks noChangeArrowheads="1"/>
            </p:cNvSpPr>
            <p:nvPr/>
          </p:nvSpPr>
          <p:spPr bwMode="auto">
            <a:xfrm>
              <a:off x="2631694" y="4416899"/>
              <a:ext cx="2045814" cy="622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800" b="0" dirty="0" smtClean="0">
                  <a:solidFill>
                    <a:srgbClr val="D09E00"/>
                  </a:solidFill>
                  <a:latin typeface="+mn-ea"/>
                  <a:ea typeface="+mn-ea"/>
                </a:rPr>
                <a:t>The communication system performance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b="0" dirty="0" smtClean="0">
                  <a:solidFill>
                    <a:srgbClr val="D09E00"/>
                  </a:solidFill>
                  <a:latin typeface="+mn-ea"/>
                  <a:ea typeface="+mn-ea"/>
                </a:rPr>
                <a:t>deteriorates and incapacity occurred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b="0" dirty="0" smtClean="0">
                  <a:solidFill>
                    <a:srgbClr val="D09E00"/>
                  </a:solidFill>
                  <a:latin typeface="+mn-ea"/>
                  <a:ea typeface="+mn-ea"/>
                </a:rPr>
                <a:t>when </a:t>
              </a:r>
              <a:r>
                <a:rPr lang="en-US" altLang="ko-KR" sz="800" b="0" dirty="0">
                  <a:solidFill>
                    <a:srgbClr val="D09E00"/>
                  </a:solidFill>
                  <a:latin typeface="+mn-ea"/>
                  <a:ea typeface="+mn-ea"/>
                </a:rPr>
                <a:t>data </a:t>
              </a:r>
              <a:r>
                <a:rPr lang="en-US" altLang="ko-KR" sz="800" b="0" dirty="0" smtClean="0">
                  <a:solidFill>
                    <a:srgbClr val="D09E00"/>
                  </a:solidFill>
                  <a:latin typeface="+mn-ea"/>
                  <a:ea typeface="+mn-ea"/>
                </a:rPr>
                <a:t>proliferation</a:t>
              </a:r>
              <a:endParaRPr lang="ko-KR" altLang="en-US" sz="800" b="0" dirty="0">
                <a:solidFill>
                  <a:srgbClr val="D09E00"/>
                </a:solidFill>
                <a:latin typeface="+mn-ea"/>
                <a:ea typeface="+mn-ea"/>
              </a:endParaRPr>
            </a:p>
          </p:txBody>
        </p:sp>
        <p:cxnSp>
          <p:nvCxnSpPr>
            <p:cNvPr id="117" name="직선 화살표 연결선 116"/>
            <p:cNvCxnSpPr/>
            <p:nvPr/>
          </p:nvCxnSpPr>
          <p:spPr>
            <a:xfrm flipV="1">
              <a:off x="2284279" y="4835253"/>
              <a:ext cx="416399" cy="138800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그룹 104"/>
          <p:cNvGrpSpPr/>
          <p:nvPr/>
        </p:nvGrpSpPr>
        <p:grpSpPr>
          <a:xfrm>
            <a:off x="5973689" y="3500214"/>
            <a:ext cx="2722933" cy="1974412"/>
            <a:chOff x="5024214" y="3356677"/>
            <a:chExt cx="2722933" cy="1974412"/>
          </a:xfrm>
        </p:grpSpPr>
        <p:sp>
          <p:nvSpPr>
            <p:cNvPr id="120" name="TextBox 7"/>
            <p:cNvSpPr txBox="1">
              <a:spLocks noChangeArrowheads="1"/>
            </p:cNvSpPr>
            <p:nvPr/>
          </p:nvSpPr>
          <p:spPr bwMode="auto">
            <a:xfrm>
              <a:off x="5564742" y="3717032"/>
              <a:ext cx="540530" cy="241022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sp>
          <p:nvSpPr>
            <p:cNvPr id="121" name="TextBox 7"/>
            <p:cNvSpPr txBox="1">
              <a:spLocks noChangeArrowheads="1"/>
            </p:cNvSpPr>
            <p:nvPr/>
          </p:nvSpPr>
          <p:spPr bwMode="auto">
            <a:xfrm>
              <a:off x="5835007" y="3356677"/>
              <a:ext cx="37382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700" b="0" dirty="0" smtClean="0">
                  <a:solidFill>
                    <a:schemeClr val="tx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GPS</a:t>
              </a:r>
              <a:endParaRPr lang="ko-KR" altLang="en-US" sz="700" b="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grpSp>
          <p:nvGrpSpPr>
            <p:cNvPr id="122" name="그룹 121"/>
            <p:cNvGrpSpPr/>
            <p:nvPr/>
          </p:nvGrpSpPr>
          <p:grpSpPr>
            <a:xfrm>
              <a:off x="5763985" y="3536854"/>
              <a:ext cx="157821" cy="161206"/>
              <a:chOff x="2271714" y="5581250"/>
              <a:chExt cx="126147" cy="128853"/>
            </a:xfrm>
          </p:grpSpPr>
          <p:sp>
            <p:nvSpPr>
              <p:cNvPr id="147" name="이등변 삼각형 146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8" name="직선 연결선 147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3" name="TextBox 7"/>
            <p:cNvSpPr txBox="1">
              <a:spLocks noChangeArrowheads="1"/>
            </p:cNvSpPr>
            <p:nvPr/>
          </p:nvSpPr>
          <p:spPr bwMode="auto">
            <a:xfrm>
              <a:off x="5564742" y="4257561"/>
              <a:ext cx="540530" cy="241022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ko-KR"/>
              </a:defPPr>
              <a:lvl1pPr algn="ctr">
                <a:defRPr kumimoji="1" sz="800" b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dirty="0"/>
                <a:t>MOXA</a:t>
              </a:r>
              <a:endParaRPr lang="ko-KR" altLang="en-US" dirty="0"/>
            </a:p>
          </p:txBody>
        </p:sp>
        <p:cxnSp>
          <p:nvCxnSpPr>
            <p:cNvPr id="125" name="직선 연결선 124"/>
            <p:cNvCxnSpPr>
              <a:stCxn id="120" idx="2"/>
              <a:endCxn id="123" idx="0"/>
            </p:cNvCxnSpPr>
            <p:nvPr/>
          </p:nvCxnSpPr>
          <p:spPr>
            <a:xfrm>
              <a:off x="5835007" y="3958054"/>
              <a:ext cx="0" cy="29950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>
              <a:stCxn id="123" idx="2"/>
            </p:cNvCxnSpPr>
            <p:nvPr/>
          </p:nvCxnSpPr>
          <p:spPr>
            <a:xfrm>
              <a:off x="5835007" y="4498583"/>
              <a:ext cx="0" cy="29950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7"/>
            <p:cNvSpPr txBox="1">
              <a:spLocks noChangeArrowheads="1"/>
            </p:cNvSpPr>
            <p:nvPr/>
          </p:nvSpPr>
          <p:spPr bwMode="auto">
            <a:xfrm>
              <a:off x="6916067" y="3717032"/>
              <a:ext cx="540530" cy="241022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>
                  <a:solidFill>
                    <a:schemeClr val="tx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grpSp>
          <p:nvGrpSpPr>
            <p:cNvPr id="128" name="그룹 127"/>
            <p:cNvGrpSpPr/>
            <p:nvPr/>
          </p:nvGrpSpPr>
          <p:grpSpPr>
            <a:xfrm>
              <a:off x="7115310" y="3536854"/>
              <a:ext cx="157821" cy="161206"/>
              <a:chOff x="2271714" y="5581250"/>
              <a:chExt cx="126147" cy="128853"/>
            </a:xfrm>
          </p:grpSpPr>
          <p:sp>
            <p:nvSpPr>
              <p:cNvPr id="140" name="이등변 삼각형 139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1" name="직선 연결선 140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7"/>
            <p:cNvSpPr txBox="1">
              <a:spLocks noChangeArrowheads="1"/>
            </p:cNvSpPr>
            <p:nvPr/>
          </p:nvSpPr>
          <p:spPr bwMode="auto">
            <a:xfrm>
              <a:off x="6916067" y="4257561"/>
              <a:ext cx="540530" cy="241022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>
                  <a:solidFill>
                    <a:schemeClr val="tx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cxnSp>
          <p:nvCxnSpPr>
            <p:cNvPr id="131" name="직선 연결선 130"/>
            <p:cNvCxnSpPr>
              <a:stCxn id="127" idx="2"/>
              <a:endCxn id="129" idx="0"/>
            </p:cNvCxnSpPr>
            <p:nvPr/>
          </p:nvCxnSpPr>
          <p:spPr>
            <a:xfrm>
              <a:off x="7186332" y="3958054"/>
              <a:ext cx="0" cy="29950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>
              <a:stCxn id="129" idx="2"/>
            </p:cNvCxnSpPr>
            <p:nvPr/>
          </p:nvCxnSpPr>
          <p:spPr>
            <a:xfrm>
              <a:off x="7186332" y="4498583"/>
              <a:ext cx="0" cy="29950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 132"/>
            <p:cNvCxnSpPr>
              <a:stCxn id="123" idx="3"/>
              <a:endCxn id="129" idx="1"/>
            </p:cNvCxnSpPr>
            <p:nvPr/>
          </p:nvCxnSpPr>
          <p:spPr>
            <a:xfrm>
              <a:off x="6105272" y="4378072"/>
              <a:ext cx="810795" cy="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타원 154"/>
            <p:cNvSpPr/>
            <p:nvPr/>
          </p:nvSpPr>
          <p:spPr>
            <a:xfrm>
              <a:off x="5808599" y="4150684"/>
              <a:ext cx="57199" cy="5719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타원 155"/>
            <p:cNvSpPr/>
            <p:nvPr/>
          </p:nvSpPr>
          <p:spPr>
            <a:xfrm>
              <a:off x="5810678" y="4689694"/>
              <a:ext cx="57199" cy="5719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자유형 156"/>
            <p:cNvSpPr/>
            <p:nvPr/>
          </p:nvSpPr>
          <p:spPr>
            <a:xfrm>
              <a:off x="5332771" y="4086908"/>
              <a:ext cx="482625" cy="111441"/>
            </a:xfrm>
            <a:custGeom>
              <a:avLst/>
              <a:gdLst>
                <a:gd name="connsiteX0" fmla="*/ 388144 w 388144"/>
                <a:gd name="connsiteY0" fmla="*/ 80962 h 95250"/>
                <a:gd name="connsiteX1" fmla="*/ 109538 w 388144"/>
                <a:gd name="connsiteY1" fmla="*/ 2381 h 95250"/>
                <a:gd name="connsiteX2" fmla="*/ 0 w 388144"/>
                <a:gd name="connsiteY2" fmla="*/ 9525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8144" h="95250">
                  <a:moveTo>
                    <a:pt x="388144" y="80962"/>
                  </a:moveTo>
                  <a:cubicBezTo>
                    <a:pt x="281186" y="40481"/>
                    <a:pt x="174229" y="0"/>
                    <a:pt x="109538" y="2381"/>
                  </a:cubicBezTo>
                  <a:cubicBezTo>
                    <a:pt x="44847" y="4762"/>
                    <a:pt x="22423" y="50006"/>
                    <a:pt x="0" y="95250"/>
                  </a:cubicBezTo>
                </a:path>
              </a:pathLst>
            </a:custGeom>
            <a:ln>
              <a:solidFill>
                <a:srgbClr val="FF3B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자유형 157"/>
            <p:cNvSpPr/>
            <p:nvPr/>
          </p:nvSpPr>
          <p:spPr>
            <a:xfrm>
              <a:off x="5249355" y="4308579"/>
              <a:ext cx="569019" cy="411125"/>
            </a:xfrm>
            <a:custGeom>
              <a:avLst/>
              <a:gdLst>
                <a:gd name="connsiteX0" fmla="*/ 478631 w 478631"/>
                <a:gd name="connsiteY0" fmla="*/ 347663 h 347663"/>
                <a:gd name="connsiteX1" fmla="*/ 95250 w 478631"/>
                <a:gd name="connsiteY1" fmla="*/ 254794 h 347663"/>
                <a:gd name="connsiteX2" fmla="*/ 0 w 478631"/>
                <a:gd name="connsiteY2" fmla="*/ 0 h 347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8631" h="347663">
                  <a:moveTo>
                    <a:pt x="478631" y="347663"/>
                  </a:moveTo>
                  <a:cubicBezTo>
                    <a:pt x="326826" y="330200"/>
                    <a:pt x="175022" y="312738"/>
                    <a:pt x="95250" y="254794"/>
                  </a:cubicBezTo>
                  <a:cubicBezTo>
                    <a:pt x="15478" y="196850"/>
                    <a:pt x="7739" y="98425"/>
                    <a:pt x="0" y="0"/>
                  </a:cubicBezTo>
                </a:path>
              </a:pathLst>
            </a:custGeom>
            <a:ln>
              <a:solidFill>
                <a:srgbClr val="FF3B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3" name="그룹 152"/>
            <p:cNvGrpSpPr/>
            <p:nvPr/>
          </p:nvGrpSpPr>
          <p:grpSpPr>
            <a:xfrm>
              <a:off x="5024214" y="4077385"/>
              <a:ext cx="310010" cy="236417"/>
              <a:chOff x="7944777" y="3719516"/>
              <a:chExt cx="739645" cy="564062"/>
            </a:xfrm>
          </p:grpSpPr>
          <p:sp>
            <p:nvSpPr>
              <p:cNvPr id="149" name="평행 사변형 148"/>
              <p:cNvSpPr/>
              <p:nvPr/>
            </p:nvSpPr>
            <p:spPr>
              <a:xfrm>
                <a:off x="7944777" y="4024667"/>
                <a:ext cx="739645" cy="258911"/>
              </a:xfrm>
              <a:prstGeom prst="parallelogram">
                <a:avLst>
                  <a:gd name="adj" fmla="val 51455"/>
                </a:avLst>
              </a:prstGeom>
              <a:noFill/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0" name="직사각형 149"/>
              <p:cNvSpPr/>
              <p:nvPr/>
            </p:nvSpPr>
            <p:spPr>
              <a:xfrm>
                <a:off x="8080902" y="3719516"/>
                <a:ext cx="598762" cy="304220"/>
              </a:xfrm>
              <a:prstGeom prst="rect">
                <a:avLst/>
              </a:prstGeom>
              <a:noFill/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" name="직사각형 151"/>
              <p:cNvSpPr/>
              <p:nvPr/>
            </p:nvSpPr>
            <p:spPr>
              <a:xfrm>
                <a:off x="8171137" y="3764651"/>
                <a:ext cx="432047" cy="219516"/>
              </a:xfrm>
              <a:prstGeom prst="rect">
                <a:avLst/>
              </a:prstGeom>
              <a:noFill/>
              <a:ln w="9525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9" name="TextBox 7"/>
            <p:cNvSpPr txBox="1">
              <a:spLocks noChangeArrowheads="1"/>
            </p:cNvSpPr>
            <p:nvPr/>
          </p:nvSpPr>
          <p:spPr bwMode="auto">
            <a:xfrm>
              <a:off x="5803229" y="4571637"/>
              <a:ext cx="7954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ko-KR"/>
              </a:defPPr>
              <a:lvl1pPr>
                <a:defRPr kumimoji="1" sz="700" b="0">
                  <a:solidFill>
                    <a:srgbClr val="FF3737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dirty="0"/>
                <a:t>data capture</a:t>
              </a:r>
              <a:r>
                <a:rPr lang="en-US" altLang="ko-KR" dirty="0" smtClean="0"/>
                <a:t>(2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60" name="TextBox 7"/>
            <p:cNvSpPr txBox="1">
              <a:spLocks noChangeArrowheads="1"/>
            </p:cNvSpPr>
            <p:nvPr/>
          </p:nvSpPr>
          <p:spPr bwMode="auto">
            <a:xfrm>
              <a:off x="5800529" y="4019073"/>
              <a:ext cx="821059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700" b="0" dirty="0" smtClean="0">
                  <a:solidFill>
                    <a:srgbClr val="FF3737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data </a:t>
              </a:r>
              <a:r>
                <a:rPr lang="en-US" altLang="ko-KR" sz="700" b="0" dirty="0">
                  <a:solidFill>
                    <a:srgbClr val="FF3737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capture (</a:t>
              </a:r>
              <a:r>
                <a:rPr lang="en-US" altLang="ko-KR" sz="700" b="0" dirty="0" smtClean="0">
                  <a:solidFill>
                    <a:srgbClr val="FF3737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1)</a:t>
              </a:r>
              <a:endParaRPr lang="ko-KR" altLang="en-US" sz="700" b="0" dirty="0">
                <a:solidFill>
                  <a:srgbClr val="FF3737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5528270" y="5084868"/>
              <a:ext cx="221887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 smtClean="0">
                  <a:latin typeface="+mn-ea"/>
                </a:rPr>
                <a:t>Network data collecting and check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102" name="TextBox 7"/>
            <p:cNvSpPr txBox="1">
              <a:spLocks noChangeArrowheads="1"/>
            </p:cNvSpPr>
            <p:nvPr/>
          </p:nvSpPr>
          <p:spPr bwMode="auto">
            <a:xfrm>
              <a:off x="5564742" y="4796836"/>
              <a:ext cx="540530" cy="241022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ko-KR"/>
              </a:defPPr>
              <a:lvl1pPr algn="ctr">
                <a:defRPr kumimoji="1" sz="800" b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dirty="0"/>
                <a:t>CRA</a:t>
              </a:r>
              <a:endParaRPr lang="ko-KR" altLang="en-US" dirty="0"/>
            </a:p>
          </p:txBody>
        </p:sp>
        <p:sp>
          <p:nvSpPr>
            <p:cNvPr id="104" name="TextBox 7"/>
            <p:cNvSpPr txBox="1">
              <a:spLocks noChangeArrowheads="1"/>
            </p:cNvSpPr>
            <p:nvPr/>
          </p:nvSpPr>
          <p:spPr bwMode="auto">
            <a:xfrm>
              <a:off x="6916067" y="4796836"/>
              <a:ext cx="540530" cy="241022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ko-KR"/>
              </a:defPPr>
              <a:lvl1pPr algn="ctr">
                <a:defRPr kumimoji="1" sz="800" b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dirty="0"/>
                <a:t>CRA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7190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88520</TotalTime>
  <Words>297</Words>
  <Application>Microsoft Macintosh PowerPoint</Application>
  <PresentationFormat>사용자 지정</PresentationFormat>
  <Paragraphs>59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 Unicode MS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장덕수</cp:lastModifiedBy>
  <cp:revision>1651</cp:revision>
  <cp:lastPrinted>2017-04-11T04:04:18Z</cp:lastPrinted>
  <dcterms:created xsi:type="dcterms:W3CDTF">2014-12-31T05:09:55Z</dcterms:created>
  <dcterms:modified xsi:type="dcterms:W3CDTF">2017-06-26T12:55:48Z</dcterms:modified>
</cp:coreProperties>
</file>