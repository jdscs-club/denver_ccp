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500" r:id="rId2"/>
  </p:sldIdLst>
  <p:sldSz cx="9904413" cy="6858000"/>
  <p:notesSz cx="6807200" cy="9939338"/>
  <p:embeddedFontLst>
    <p:embeddedFont>
      <p:font typeface="현대하모니 M" pitchFamily="18" charset="-127"/>
      <p:regular r:id="rId5"/>
    </p:embeddedFont>
    <p:embeddedFont>
      <p:font typeface="현대하모니 L" pitchFamily="18" charset="-127"/>
      <p:regular r:id="rId6"/>
    </p:embeddedFont>
    <p:embeddedFont>
      <p:font typeface="맑은 고딕" pitchFamily="50" charset="-127"/>
      <p:regular r:id="rId7"/>
      <p:bold r:id="rId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251">
          <p15:clr>
            <a:srgbClr val="A4A3A4"/>
          </p15:clr>
        </p15:guide>
        <p15:guide id="2" pos="13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3737"/>
    <a:srgbClr val="FF3B3B"/>
    <a:srgbClr val="D09E00"/>
    <a:srgbClr val="F2B800"/>
    <a:srgbClr val="0000FF"/>
    <a:srgbClr val="7979FF"/>
    <a:srgbClr val="A3A3FF"/>
    <a:srgbClr val="ECECEC"/>
    <a:srgbClr val="BDBD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7" autoAdjust="0"/>
    <p:restoredTop sz="96457" autoAdjust="0"/>
  </p:normalViewPr>
  <p:slideViewPr>
    <p:cSldViewPr>
      <p:cViewPr varScale="1">
        <p:scale>
          <a:sx n="109" d="100"/>
          <a:sy n="109" d="100"/>
        </p:scale>
        <p:origin x="-516" y="-72"/>
      </p:cViewPr>
      <p:guideLst>
        <p:guide orient="horz" pos="2251"/>
        <p:guide pos="1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4EF19808-07F7-44A4-9714-165D9326F30E}" type="datetimeFigureOut">
              <a:rPr lang="ko-KR" altLang="en-US" smtClean="0"/>
              <a:pPr/>
              <a:t>2017-06-23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CE8D82EC-425F-4DE6-8A86-E6512495E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22099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6344DFA3-142A-4FFA-B264-88948DCACF03}" type="datetimeFigureOut">
              <a:rPr lang="ko-KR" altLang="en-US" smtClean="0"/>
              <a:pPr/>
              <a:t>2017-06-23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784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5" rIns="91430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9" y="4721226"/>
            <a:ext cx="5445125" cy="4471988"/>
          </a:xfrm>
          <a:prstGeom prst="rect">
            <a:avLst/>
          </a:prstGeom>
        </p:spPr>
        <p:txBody>
          <a:bodyPr vert="horz" lIns="91430" tIns="45715" rIns="91430" bIns="45715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5B10042-E339-4781-8D95-CF275B6133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9909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2557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052" y="1122363"/>
            <a:ext cx="7428310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052" y="3602038"/>
            <a:ext cx="742831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29" indent="0" algn="ctr">
              <a:buNone/>
              <a:defRPr sz="1625"/>
            </a:lvl2pPr>
            <a:lvl3pPr marL="742859" indent="0" algn="ctr">
              <a:buNone/>
              <a:defRPr sz="1462"/>
            </a:lvl3pPr>
            <a:lvl4pPr marL="1114288" indent="0" algn="ctr">
              <a:buNone/>
              <a:defRPr sz="1300"/>
            </a:lvl4pPr>
            <a:lvl5pPr marL="1485717" indent="0" algn="ctr">
              <a:buNone/>
              <a:defRPr sz="1300"/>
            </a:lvl5pPr>
            <a:lvl6pPr marL="1857146" indent="0" algn="ctr">
              <a:buNone/>
              <a:defRPr sz="1300"/>
            </a:lvl6pPr>
            <a:lvl7pPr marL="2228576" indent="0" algn="ctr">
              <a:buNone/>
              <a:defRPr sz="1300"/>
            </a:lvl7pPr>
            <a:lvl8pPr marL="2600005" indent="0" algn="ctr">
              <a:buNone/>
              <a:defRPr sz="1300"/>
            </a:lvl8pPr>
            <a:lvl9pPr marL="2971434" indent="0" algn="ctr">
              <a:buNone/>
              <a:defRPr sz="13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2017-06-23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6522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2017-06-23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383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770" y="1709739"/>
            <a:ext cx="8542556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5770" y="4589464"/>
            <a:ext cx="8542556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29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859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3pPr>
            <a:lvl4pPr marL="111428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71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14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57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00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43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2017-06-23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72434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0928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4109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2017-06-23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912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365126"/>
            <a:ext cx="8542556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219" y="1681163"/>
            <a:ext cx="4190031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219" y="2505075"/>
            <a:ext cx="419003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109" y="1681163"/>
            <a:ext cx="4210666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109" y="2505075"/>
            <a:ext cx="4210666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2017-06-23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4947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2017-06-23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903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2017-06-23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6444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2017-06-23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2358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29" indent="0">
              <a:buNone/>
              <a:defRPr sz="2275"/>
            </a:lvl2pPr>
            <a:lvl3pPr marL="742859" indent="0">
              <a:buNone/>
              <a:defRPr sz="1950"/>
            </a:lvl3pPr>
            <a:lvl4pPr marL="1114288" indent="0">
              <a:buNone/>
              <a:defRPr sz="1625"/>
            </a:lvl4pPr>
            <a:lvl5pPr marL="1485717" indent="0">
              <a:buNone/>
              <a:defRPr sz="1625"/>
            </a:lvl5pPr>
            <a:lvl6pPr marL="1857146" indent="0">
              <a:buNone/>
              <a:defRPr sz="1625"/>
            </a:lvl6pPr>
            <a:lvl7pPr marL="2228576" indent="0">
              <a:buNone/>
              <a:defRPr sz="1625"/>
            </a:lvl7pPr>
            <a:lvl8pPr marL="2600005" indent="0">
              <a:buNone/>
              <a:defRPr sz="1625"/>
            </a:lvl8pPr>
            <a:lvl9pPr marL="2971434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2017-06-23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577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2017-06-23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824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7846" y="365125"/>
            <a:ext cx="2135639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0928" y="365125"/>
            <a:ext cx="6283112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2017-06-23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3863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0929" y="365126"/>
            <a:ext cx="85425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0929" y="1825625"/>
            <a:ext cx="85425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0928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2017-06-23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0837" y="6356351"/>
            <a:ext cx="3342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4992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97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42859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15" indent="-185715" algn="l" defTabSz="742859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144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573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00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67143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2042861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41429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78572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3157149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42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85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4288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717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714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857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600005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1434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99481732"/>
              </p:ext>
            </p:extLst>
          </p:nvPr>
        </p:nvGraphicFramePr>
        <p:xfrm>
          <a:off x="108423" y="116632"/>
          <a:ext cx="9733322" cy="6659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/>
                <a:gridCol w="1773566"/>
                <a:gridCol w="3385393"/>
              </a:tblGrid>
              <a:tr h="504056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▣</a:t>
                      </a:r>
                      <a:r>
                        <a:rPr lang="en-US" altLang="ko-KR" sz="1800" b="0" kern="1200" baseline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자동방송 불량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baseline="0" dirty="0" err="1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덴버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DTS 66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량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)   </a:t>
                      </a:r>
                      <a:endParaRPr lang="ko-KR" altLang="en-US" sz="1100" b="0" kern="1200" baseline="0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40560">
                <a:tc rowSpan="3"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dirty="0" smtClean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현지 영업차량에서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GPS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데이터 이상으로 객실 內 방송장치가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비주기적으로 동작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안되는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현상 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장치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재기동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시 정상 동작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1)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네트워크 스위치를 통해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수신받은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GPS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데이터에서 </a:t>
                      </a: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정상적인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위치값이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아닌 잘못된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위치값이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수신됨을 확인</a:t>
                      </a: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2)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네트워크 스위치를 통하여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GPS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데이터를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수신받을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때</a:t>
                      </a: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알 수 없는 이유에 의해 네트워크 데이터가 급증하면서</a:t>
                      </a: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CNCS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에 과부하가 발생되어 자동방송 불능현상 발생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추정</a:t>
                      </a: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기간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: 2017.05~06 (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약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20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)</a:t>
                      </a:r>
                      <a:r>
                        <a:rPr lang="en-US" altLang="ko-KR" sz="1200" b="0" kern="1200" noProof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 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◈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 임시조치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- CNCS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과부하 발생 시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네트워크 데이터 급증 시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장치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재기동</a:t>
                      </a: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◈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 추진계획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근본대책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1)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네트워크 스위치로 입력되는 데이터와 출력되는 데이터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방송장치로 입력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를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네트워크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분석툴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WireShark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를 이용하여 수집 후 방송장치로 입력되는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 GPS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데이터 이상유무 확인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2)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네트워크 데이터 급증 시 방송장치 자동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재기동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할 수 있는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로직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추가반영 및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과부하에 의한 열로 성능저하가 발생되지 않도록 방열구조물 임시 조치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    (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시험 적용 대상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: 3~4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개편성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3)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일정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: 6/28~7/12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프로그램 수정 및 방열구조물 제작에 따라 일정변동 발생가능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4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수평전개 대상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일정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00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유사불량 재발방지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16625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679763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개선대책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684730" y="5986452"/>
            <a:ext cx="1365014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재발방지 방안</a:t>
            </a:r>
          </a:p>
        </p:txBody>
      </p:sp>
      <p:sp>
        <p:nvSpPr>
          <p:cNvPr id="12" name="타원 11"/>
          <p:cNvSpPr/>
          <p:nvPr/>
        </p:nvSpPr>
        <p:spPr>
          <a:xfrm>
            <a:off x="7885287" y="151474"/>
            <a:ext cx="351467" cy="2551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2" name="그룹 18"/>
          <p:cNvGrpSpPr/>
          <p:nvPr/>
        </p:nvGrpSpPr>
        <p:grpSpPr>
          <a:xfrm>
            <a:off x="4839720" y="160364"/>
            <a:ext cx="3382839" cy="538609"/>
            <a:chOff x="4751387" y="188640"/>
            <a:chExt cx="3382839" cy="538609"/>
          </a:xfrm>
        </p:grpSpPr>
        <p:sp>
          <p:nvSpPr>
            <p:cNvPr id="17" name="직사각형 16"/>
            <p:cNvSpPr/>
            <p:nvPr/>
          </p:nvSpPr>
          <p:spPr>
            <a:xfrm>
              <a:off x="4751387" y="188640"/>
              <a:ext cx="338283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S/W, H/W(</a:t>
              </a:r>
              <a:r>
                <a:rPr lang="ko-KR" altLang="en-US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기구</a:t>
              </a:r>
              <a:r>
                <a:rPr lang="en-US" altLang="ko-KR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), </a:t>
              </a:r>
              <a:r>
                <a:rPr lang="ko-KR" altLang="en-US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공정</a:t>
              </a:r>
              <a:r>
                <a:rPr lang="en-US" altLang="ko-KR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</a:t>
              </a:r>
              <a:r>
                <a:rPr lang="ko-KR" altLang="en-US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조립</a:t>
              </a:r>
              <a:r>
                <a:rPr lang="en-US" altLang="ko-KR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), </a:t>
              </a:r>
              <a:r>
                <a:rPr lang="ko-KR" altLang="en-US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회로</a:t>
              </a:r>
              <a:r>
                <a:rPr lang="en-US" altLang="ko-KR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, </a:t>
              </a:r>
              <a:r>
                <a:rPr lang="ko-KR" altLang="en-US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소자</a:t>
              </a:r>
              <a:r>
                <a:rPr lang="en-US" altLang="ko-KR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, </a:t>
              </a:r>
              <a:r>
                <a:rPr lang="ko-KR" altLang="en-US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기타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110998" y="481028"/>
              <a:ext cx="201017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(17.05.31) / </a:t>
              </a:r>
              <a:r>
                <a:rPr lang="ko-KR" altLang="en-US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대책수립 </a:t>
              </a:r>
              <a:r>
                <a:rPr lang="ko-KR" altLang="en-US" sz="1000" dirty="0" err="1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完</a:t>
              </a:r>
              <a:r>
                <a:rPr lang="en-US" altLang="ko-KR" sz="10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-</a:t>
              </a:r>
              <a:r>
                <a:rPr lang="ko-KR" altLang="en-US" sz="1000" dirty="0" err="1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진행中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" name="그룹 21"/>
          <p:cNvGrpSpPr/>
          <p:nvPr/>
        </p:nvGrpSpPr>
        <p:grpSpPr>
          <a:xfrm>
            <a:off x="8222559" y="120756"/>
            <a:ext cx="1570508" cy="538609"/>
            <a:chOff x="8134226" y="188640"/>
            <a:chExt cx="1570508" cy="538609"/>
          </a:xfrm>
        </p:grpSpPr>
        <p:sp>
          <p:nvSpPr>
            <p:cNvPr id="21" name="직사각형 20"/>
            <p:cNvSpPr/>
            <p:nvPr/>
          </p:nvSpPr>
          <p:spPr>
            <a:xfrm>
              <a:off x="8134226" y="188640"/>
              <a:ext cx="785563" cy="128273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prstClr val="black"/>
                  </a:solidFill>
                </a:rPr>
                <a:t>작성</a:t>
              </a:r>
              <a:endParaRPr lang="ko-KR" altLang="en-US" sz="800" dirty="0">
                <a:solidFill>
                  <a:prstClr val="black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919171" y="188640"/>
              <a:ext cx="785563" cy="128273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prstClr val="black"/>
                  </a:solidFill>
                </a:rPr>
                <a:t>승인</a:t>
              </a:r>
              <a:endParaRPr lang="ko-KR" altLang="en-US" sz="800" dirty="0">
                <a:solidFill>
                  <a:prstClr val="black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8134226" y="316913"/>
              <a:ext cx="785563" cy="410336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8919171" y="316913"/>
              <a:ext cx="785563" cy="410336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343694" y="3933056"/>
            <a:ext cx="4284764" cy="1665594"/>
            <a:chOff x="271686" y="3933056"/>
            <a:chExt cx="4284764" cy="1665594"/>
          </a:xfrm>
        </p:grpSpPr>
        <p:sp>
          <p:nvSpPr>
            <p:cNvPr id="62" name="TextBox 7"/>
            <p:cNvSpPr txBox="1">
              <a:spLocks noChangeArrowheads="1"/>
            </p:cNvSpPr>
            <p:nvPr/>
          </p:nvSpPr>
          <p:spPr bwMode="auto">
            <a:xfrm>
              <a:off x="343694" y="422108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43" name="TextBox 7"/>
            <p:cNvSpPr txBox="1">
              <a:spLocks noChangeArrowheads="1"/>
            </p:cNvSpPr>
            <p:nvPr/>
          </p:nvSpPr>
          <p:spPr bwMode="auto">
            <a:xfrm>
              <a:off x="559718" y="3933056"/>
              <a:ext cx="354584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sz="7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GPS</a:t>
              </a:r>
              <a:endParaRPr lang="ko-KR" altLang="en-US" sz="7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74" name="그룹 73"/>
            <p:cNvGrpSpPr/>
            <p:nvPr/>
          </p:nvGrpSpPr>
          <p:grpSpPr>
            <a:xfrm>
              <a:off x="502950" y="4077072"/>
              <a:ext cx="126147" cy="128853"/>
              <a:chOff x="2271714" y="5581250"/>
              <a:chExt cx="126147" cy="128853"/>
            </a:xfrm>
          </p:grpSpPr>
          <p:sp>
            <p:nvSpPr>
              <p:cNvPr id="53" name="이등변 삼각형 52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4" name="직선 연결선 53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5" name="TextBox 7"/>
            <p:cNvSpPr txBox="1">
              <a:spLocks noChangeArrowheads="1"/>
            </p:cNvSpPr>
            <p:nvPr/>
          </p:nvSpPr>
          <p:spPr bwMode="auto">
            <a:xfrm>
              <a:off x="343694" y="465313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271686" y="5085184"/>
              <a:ext cx="1608133" cy="513466"/>
              <a:chOff x="1669172" y="3244886"/>
              <a:chExt cx="1608133" cy="513466"/>
            </a:xfrm>
          </p:grpSpPr>
          <p:sp>
            <p:nvSpPr>
              <p:cNvPr id="63" name="TextBox 7"/>
              <p:cNvSpPr txBox="1">
                <a:spLocks noChangeArrowheads="1"/>
              </p:cNvSpPr>
              <p:nvPr/>
            </p:nvSpPr>
            <p:spPr bwMode="auto">
              <a:xfrm>
                <a:off x="1669172" y="3542908"/>
                <a:ext cx="1608133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r>
                  <a:rPr lang="en-US" altLang="ko-KR" sz="800" b="0" dirty="0" smtClean="0">
                    <a:solidFill>
                      <a:srgbClr val="7030A0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*CRA(Communication Rack A)</a:t>
                </a:r>
                <a:endParaRPr lang="ko-KR" altLang="en-US" sz="800" b="0" dirty="0">
                  <a:solidFill>
                    <a:srgbClr val="7030A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73" name="직사각형 72"/>
              <p:cNvSpPr/>
              <p:nvPr/>
            </p:nvSpPr>
            <p:spPr>
              <a:xfrm>
                <a:off x="1730735" y="3244886"/>
                <a:ext cx="1262968" cy="276884"/>
              </a:xfrm>
              <a:prstGeom prst="rect">
                <a:avLst/>
              </a:prstGeom>
              <a:noFill/>
              <a:ln>
                <a:solidFill>
                  <a:srgbClr val="7030A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TextBox 7"/>
              <p:cNvSpPr txBox="1">
                <a:spLocks noChangeArrowheads="1"/>
              </p:cNvSpPr>
              <p:nvPr/>
            </p:nvSpPr>
            <p:spPr bwMode="auto">
              <a:xfrm>
                <a:off x="1783854" y="3284984"/>
                <a:ext cx="432048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CNCS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79" name="TextBox 7"/>
              <p:cNvSpPr txBox="1">
                <a:spLocks noChangeArrowheads="1"/>
              </p:cNvSpPr>
              <p:nvPr/>
            </p:nvSpPr>
            <p:spPr bwMode="auto">
              <a:xfrm>
                <a:off x="228791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CPU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80" name="TextBox 7"/>
              <p:cNvSpPr txBox="1">
                <a:spLocks noChangeArrowheads="1"/>
              </p:cNvSpPr>
              <p:nvPr/>
            </p:nvSpPr>
            <p:spPr bwMode="auto">
              <a:xfrm>
                <a:off x="264795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AMP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p:grpSp>
        <p:cxnSp>
          <p:nvCxnSpPr>
            <p:cNvPr id="83" name="직선 연결선 82"/>
            <p:cNvCxnSpPr>
              <a:stCxn id="62" idx="2"/>
              <a:endCxn id="75" idx="0"/>
            </p:cNvCxnSpPr>
            <p:nvPr/>
          </p:nvCxnSpPr>
          <p:spPr>
            <a:xfrm>
              <a:off x="559718" y="441373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/>
            <p:cNvCxnSpPr>
              <a:stCxn id="75" idx="2"/>
            </p:cNvCxnSpPr>
            <p:nvPr/>
          </p:nvCxnSpPr>
          <p:spPr>
            <a:xfrm>
              <a:off x="559718" y="484578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7"/>
            <p:cNvSpPr txBox="1">
              <a:spLocks noChangeArrowheads="1"/>
            </p:cNvSpPr>
            <p:nvPr/>
          </p:nvSpPr>
          <p:spPr bwMode="auto">
            <a:xfrm>
              <a:off x="2071886" y="422108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90" name="그룹 89"/>
            <p:cNvGrpSpPr/>
            <p:nvPr/>
          </p:nvGrpSpPr>
          <p:grpSpPr>
            <a:xfrm>
              <a:off x="2231142" y="4077072"/>
              <a:ext cx="126147" cy="128853"/>
              <a:chOff x="2271714" y="5581250"/>
              <a:chExt cx="126147" cy="128853"/>
            </a:xfrm>
          </p:grpSpPr>
          <p:sp>
            <p:nvSpPr>
              <p:cNvPr id="91" name="이등변 삼각형 90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2" name="직선 연결선 91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3" name="TextBox 7"/>
            <p:cNvSpPr txBox="1">
              <a:spLocks noChangeArrowheads="1"/>
            </p:cNvSpPr>
            <p:nvPr/>
          </p:nvSpPr>
          <p:spPr bwMode="auto">
            <a:xfrm>
              <a:off x="2071886" y="465313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94" name="그룹 93"/>
            <p:cNvGrpSpPr/>
            <p:nvPr/>
          </p:nvGrpSpPr>
          <p:grpSpPr>
            <a:xfrm>
              <a:off x="2061441" y="5085184"/>
              <a:ext cx="1262968" cy="276884"/>
              <a:chOff x="1730735" y="3244886"/>
              <a:chExt cx="1262968" cy="276884"/>
            </a:xfrm>
          </p:grpSpPr>
          <p:sp>
            <p:nvSpPr>
              <p:cNvPr id="96" name="직사각형 95"/>
              <p:cNvSpPr/>
              <p:nvPr/>
            </p:nvSpPr>
            <p:spPr>
              <a:xfrm>
                <a:off x="1730735" y="3244886"/>
                <a:ext cx="1262968" cy="276884"/>
              </a:xfrm>
              <a:prstGeom prst="rect">
                <a:avLst/>
              </a:prstGeom>
              <a:noFill/>
              <a:ln>
                <a:solidFill>
                  <a:srgbClr val="7030A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7" name="TextBox 7"/>
              <p:cNvSpPr txBox="1">
                <a:spLocks noChangeArrowheads="1"/>
              </p:cNvSpPr>
              <p:nvPr/>
            </p:nvSpPr>
            <p:spPr bwMode="auto">
              <a:xfrm>
                <a:off x="1783854" y="3284984"/>
                <a:ext cx="432048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CNCS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98" name="TextBox 7"/>
              <p:cNvSpPr txBox="1">
                <a:spLocks noChangeArrowheads="1"/>
              </p:cNvSpPr>
              <p:nvPr/>
            </p:nvSpPr>
            <p:spPr bwMode="auto">
              <a:xfrm>
                <a:off x="228791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CPU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99" name="TextBox 7"/>
              <p:cNvSpPr txBox="1">
                <a:spLocks noChangeArrowheads="1"/>
              </p:cNvSpPr>
              <p:nvPr/>
            </p:nvSpPr>
            <p:spPr bwMode="auto">
              <a:xfrm>
                <a:off x="264795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AMP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p:grpSp>
        <p:cxnSp>
          <p:nvCxnSpPr>
            <p:cNvPr id="100" name="직선 연결선 99"/>
            <p:cNvCxnSpPr>
              <a:stCxn id="89" idx="2"/>
              <a:endCxn id="93" idx="0"/>
            </p:cNvCxnSpPr>
            <p:nvPr/>
          </p:nvCxnSpPr>
          <p:spPr>
            <a:xfrm>
              <a:off x="2287910" y="441373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 100"/>
            <p:cNvCxnSpPr>
              <a:stCxn id="93" idx="2"/>
            </p:cNvCxnSpPr>
            <p:nvPr/>
          </p:nvCxnSpPr>
          <p:spPr>
            <a:xfrm>
              <a:off x="2287910" y="484578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>
              <a:stCxn id="75" idx="3"/>
              <a:endCxn id="93" idx="1"/>
            </p:cNvCxnSpPr>
            <p:nvPr/>
          </p:nvCxnSpPr>
          <p:spPr>
            <a:xfrm>
              <a:off x="775742" y="4749461"/>
              <a:ext cx="1296144" cy="0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7"/>
            <p:cNvSpPr txBox="1">
              <a:spLocks noChangeArrowheads="1"/>
            </p:cNvSpPr>
            <p:nvPr/>
          </p:nvSpPr>
          <p:spPr bwMode="auto">
            <a:xfrm>
              <a:off x="2722294" y="4618300"/>
              <a:ext cx="1834156" cy="432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800" b="0" dirty="0" smtClean="0">
                  <a:solidFill>
                    <a:srgbClr val="D09E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데이터 급증 시 방송장치 </a:t>
              </a:r>
              <a:r>
                <a:rPr lang="en-US" altLang="ko-KR" sz="800" b="0" dirty="0" smtClean="0">
                  <a:solidFill>
                    <a:srgbClr val="D09E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performance 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b="0" dirty="0" smtClean="0">
                  <a:solidFill>
                    <a:srgbClr val="D09E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저하 및 불능현상 발생</a:t>
              </a:r>
              <a:endParaRPr lang="ko-KR" altLang="en-US" sz="800" b="0" dirty="0">
                <a:solidFill>
                  <a:srgbClr val="D09E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cxnSp>
          <p:nvCxnSpPr>
            <p:cNvPr id="117" name="직선 화살표 연결선 116"/>
            <p:cNvCxnSpPr/>
            <p:nvPr/>
          </p:nvCxnSpPr>
          <p:spPr>
            <a:xfrm flipV="1">
              <a:off x="2287910" y="4869160"/>
              <a:ext cx="504056" cy="72008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" name="그룹 161"/>
          <p:cNvGrpSpPr/>
          <p:nvPr/>
        </p:nvGrpSpPr>
        <p:grpSpPr>
          <a:xfrm>
            <a:off x="4860953" y="3501008"/>
            <a:ext cx="1956914" cy="1429012"/>
            <a:chOff x="4880200" y="3573016"/>
            <a:chExt cx="1956914" cy="1429012"/>
          </a:xfrm>
        </p:grpSpPr>
        <p:sp>
          <p:nvSpPr>
            <p:cNvPr id="120" name="TextBox 7"/>
            <p:cNvSpPr txBox="1">
              <a:spLocks noChangeArrowheads="1"/>
            </p:cNvSpPr>
            <p:nvPr/>
          </p:nvSpPr>
          <p:spPr bwMode="auto">
            <a:xfrm>
              <a:off x="5312246" y="386104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21" name="TextBox 7"/>
            <p:cNvSpPr txBox="1">
              <a:spLocks noChangeArrowheads="1"/>
            </p:cNvSpPr>
            <p:nvPr/>
          </p:nvSpPr>
          <p:spPr bwMode="auto">
            <a:xfrm>
              <a:off x="5528270" y="3573016"/>
              <a:ext cx="354584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sz="7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GPS</a:t>
              </a:r>
              <a:endParaRPr lang="ko-KR" altLang="en-US" sz="7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122" name="그룹 121"/>
            <p:cNvGrpSpPr/>
            <p:nvPr/>
          </p:nvGrpSpPr>
          <p:grpSpPr>
            <a:xfrm>
              <a:off x="5471502" y="3717032"/>
              <a:ext cx="126147" cy="128853"/>
              <a:chOff x="2271714" y="5581250"/>
              <a:chExt cx="126147" cy="128853"/>
            </a:xfrm>
          </p:grpSpPr>
          <p:sp>
            <p:nvSpPr>
              <p:cNvPr id="147" name="이등변 삼각형 146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8" name="직선 연결선 147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3" name="TextBox 7"/>
            <p:cNvSpPr txBox="1">
              <a:spLocks noChangeArrowheads="1"/>
            </p:cNvSpPr>
            <p:nvPr/>
          </p:nvSpPr>
          <p:spPr bwMode="auto">
            <a:xfrm>
              <a:off x="5312246" y="429309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42" name="TextBox 7"/>
            <p:cNvSpPr txBox="1">
              <a:spLocks noChangeArrowheads="1"/>
            </p:cNvSpPr>
            <p:nvPr/>
          </p:nvSpPr>
          <p:spPr bwMode="auto">
            <a:xfrm>
              <a:off x="5354960" y="4753316"/>
              <a:ext cx="378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sz="800" b="0" dirty="0" smtClean="0">
                  <a:solidFill>
                    <a:srgbClr val="7030A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CRA</a:t>
              </a:r>
              <a:endParaRPr lang="ko-KR" altLang="en-US" sz="800" b="0" dirty="0">
                <a:solidFill>
                  <a:srgbClr val="7030A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5314501" y="4725144"/>
              <a:ext cx="442493" cy="276884"/>
            </a:xfrm>
            <a:prstGeom prst="rect">
              <a:avLst/>
            </a:prstGeom>
            <a:noFill/>
            <a:ln>
              <a:solidFill>
                <a:srgbClr val="7030A0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5" name="직선 연결선 124"/>
            <p:cNvCxnSpPr>
              <a:stCxn id="120" idx="2"/>
              <a:endCxn id="123" idx="0"/>
            </p:cNvCxnSpPr>
            <p:nvPr/>
          </p:nvCxnSpPr>
          <p:spPr>
            <a:xfrm>
              <a:off x="5528270" y="405369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/>
            <p:cNvCxnSpPr>
              <a:stCxn id="123" idx="2"/>
            </p:cNvCxnSpPr>
            <p:nvPr/>
          </p:nvCxnSpPr>
          <p:spPr>
            <a:xfrm>
              <a:off x="5528270" y="448574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7"/>
            <p:cNvSpPr txBox="1">
              <a:spLocks noChangeArrowheads="1"/>
            </p:cNvSpPr>
            <p:nvPr/>
          </p:nvSpPr>
          <p:spPr bwMode="auto">
            <a:xfrm>
              <a:off x="6392366" y="386104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128" name="그룹 127"/>
            <p:cNvGrpSpPr/>
            <p:nvPr/>
          </p:nvGrpSpPr>
          <p:grpSpPr>
            <a:xfrm>
              <a:off x="6551622" y="3717032"/>
              <a:ext cx="126147" cy="128853"/>
              <a:chOff x="2271714" y="5581250"/>
              <a:chExt cx="126147" cy="128853"/>
            </a:xfrm>
          </p:grpSpPr>
          <p:sp>
            <p:nvSpPr>
              <p:cNvPr id="140" name="이등변 삼각형 139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1" name="직선 연결선 140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7"/>
            <p:cNvSpPr txBox="1">
              <a:spLocks noChangeArrowheads="1"/>
            </p:cNvSpPr>
            <p:nvPr/>
          </p:nvSpPr>
          <p:spPr bwMode="auto">
            <a:xfrm>
              <a:off x="6392366" y="429309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36" name="직사각형 135"/>
            <p:cNvSpPr/>
            <p:nvPr/>
          </p:nvSpPr>
          <p:spPr>
            <a:xfrm>
              <a:off x="6394621" y="4725144"/>
              <a:ext cx="442493" cy="276884"/>
            </a:xfrm>
            <a:prstGeom prst="rect">
              <a:avLst/>
            </a:prstGeom>
            <a:noFill/>
            <a:ln>
              <a:solidFill>
                <a:srgbClr val="7030A0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1" name="직선 연결선 130"/>
            <p:cNvCxnSpPr>
              <a:stCxn id="127" idx="2"/>
              <a:endCxn id="129" idx="0"/>
            </p:cNvCxnSpPr>
            <p:nvPr/>
          </p:nvCxnSpPr>
          <p:spPr>
            <a:xfrm>
              <a:off x="6608390" y="405369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>
              <a:stCxn id="129" idx="2"/>
            </p:cNvCxnSpPr>
            <p:nvPr/>
          </p:nvCxnSpPr>
          <p:spPr>
            <a:xfrm>
              <a:off x="6608390" y="448574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 132"/>
            <p:cNvCxnSpPr>
              <a:stCxn id="123" idx="3"/>
              <a:endCxn id="129" idx="1"/>
            </p:cNvCxnSpPr>
            <p:nvPr/>
          </p:nvCxnSpPr>
          <p:spPr>
            <a:xfrm>
              <a:off x="5744294" y="4389421"/>
              <a:ext cx="648072" cy="0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7"/>
            <p:cNvSpPr txBox="1">
              <a:spLocks noChangeArrowheads="1"/>
            </p:cNvSpPr>
            <p:nvPr/>
          </p:nvSpPr>
          <p:spPr bwMode="auto">
            <a:xfrm>
              <a:off x="6405066" y="4753316"/>
              <a:ext cx="3786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sz="800" b="0" dirty="0" smtClean="0">
                  <a:solidFill>
                    <a:srgbClr val="7030A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CRA</a:t>
              </a:r>
              <a:endParaRPr lang="ko-KR" altLang="en-US" sz="800" b="0" dirty="0">
                <a:solidFill>
                  <a:srgbClr val="7030A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55" name="타원 154"/>
            <p:cNvSpPr/>
            <p:nvPr/>
          </p:nvSpPr>
          <p:spPr>
            <a:xfrm>
              <a:off x="5507162" y="420766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타원 155"/>
            <p:cNvSpPr/>
            <p:nvPr/>
          </p:nvSpPr>
          <p:spPr>
            <a:xfrm>
              <a:off x="5508824" y="463850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자유형 156"/>
            <p:cNvSpPr/>
            <p:nvPr/>
          </p:nvSpPr>
          <p:spPr>
            <a:xfrm>
              <a:off x="5126831" y="4156693"/>
              <a:ext cx="385764" cy="89075"/>
            </a:xfrm>
            <a:custGeom>
              <a:avLst/>
              <a:gdLst>
                <a:gd name="connsiteX0" fmla="*/ 388144 w 388144"/>
                <a:gd name="connsiteY0" fmla="*/ 80962 h 95250"/>
                <a:gd name="connsiteX1" fmla="*/ 109538 w 388144"/>
                <a:gd name="connsiteY1" fmla="*/ 2381 h 95250"/>
                <a:gd name="connsiteX2" fmla="*/ 0 w 388144"/>
                <a:gd name="connsiteY2" fmla="*/ 9525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8144" h="95250">
                  <a:moveTo>
                    <a:pt x="388144" y="80962"/>
                  </a:moveTo>
                  <a:cubicBezTo>
                    <a:pt x="281186" y="40481"/>
                    <a:pt x="174229" y="0"/>
                    <a:pt x="109538" y="2381"/>
                  </a:cubicBezTo>
                  <a:cubicBezTo>
                    <a:pt x="44847" y="4762"/>
                    <a:pt x="22423" y="50006"/>
                    <a:pt x="0" y="95250"/>
                  </a:cubicBezTo>
                </a:path>
              </a:pathLst>
            </a:custGeom>
            <a:ln>
              <a:solidFill>
                <a:srgbClr val="FF3B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자유형 157"/>
            <p:cNvSpPr/>
            <p:nvPr/>
          </p:nvSpPr>
          <p:spPr>
            <a:xfrm>
              <a:off x="5060156" y="4333875"/>
              <a:ext cx="454819" cy="328614"/>
            </a:xfrm>
            <a:custGeom>
              <a:avLst/>
              <a:gdLst>
                <a:gd name="connsiteX0" fmla="*/ 478631 w 478631"/>
                <a:gd name="connsiteY0" fmla="*/ 347663 h 347663"/>
                <a:gd name="connsiteX1" fmla="*/ 95250 w 478631"/>
                <a:gd name="connsiteY1" fmla="*/ 254794 h 347663"/>
                <a:gd name="connsiteX2" fmla="*/ 0 w 478631"/>
                <a:gd name="connsiteY2" fmla="*/ 0 h 347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8631" h="347663">
                  <a:moveTo>
                    <a:pt x="478631" y="347663"/>
                  </a:moveTo>
                  <a:cubicBezTo>
                    <a:pt x="326826" y="330200"/>
                    <a:pt x="175022" y="312738"/>
                    <a:pt x="95250" y="254794"/>
                  </a:cubicBezTo>
                  <a:cubicBezTo>
                    <a:pt x="15478" y="196850"/>
                    <a:pt x="7739" y="98425"/>
                    <a:pt x="0" y="0"/>
                  </a:cubicBezTo>
                </a:path>
              </a:pathLst>
            </a:custGeom>
            <a:ln>
              <a:solidFill>
                <a:srgbClr val="FF3B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3" name="그룹 152"/>
            <p:cNvGrpSpPr/>
            <p:nvPr/>
          </p:nvGrpSpPr>
          <p:grpSpPr>
            <a:xfrm>
              <a:off x="4880200" y="4149081"/>
              <a:ext cx="247792" cy="188969"/>
              <a:chOff x="7944777" y="3719516"/>
              <a:chExt cx="739645" cy="564062"/>
            </a:xfrm>
          </p:grpSpPr>
          <p:sp>
            <p:nvSpPr>
              <p:cNvPr id="149" name="평행 사변형 148"/>
              <p:cNvSpPr/>
              <p:nvPr/>
            </p:nvSpPr>
            <p:spPr>
              <a:xfrm>
                <a:off x="7944777" y="4024667"/>
                <a:ext cx="739645" cy="258911"/>
              </a:xfrm>
              <a:prstGeom prst="parallelogram">
                <a:avLst>
                  <a:gd name="adj" fmla="val 51455"/>
                </a:avLst>
              </a:prstGeom>
              <a:noFill/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0" name="직사각형 149"/>
              <p:cNvSpPr/>
              <p:nvPr/>
            </p:nvSpPr>
            <p:spPr>
              <a:xfrm>
                <a:off x="8080902" y="3719516"/>
                <a:ext cx="598762" cy="304220"/>
              </a:xfrm>
              <a:prstGeom prst="rect">
                <a:avLst/>
              </a:prstGeom>
              <a:noFill/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" name="직사각형 151"/>
              <p:cNvSpPr/>
              <p:nvPr/>
            </p:nvSpPr>
            <p:spPr>
              <a:xfrm>
                <a:off x="8171137" y="3764651"/>
                <a:ext cx="432047" cy="219516"/>
              </a:xfrm>
              <a:prstGeom prst="rect">
                <a:avLst/>
              </a:prstGeom>
              <a:noFill/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9" name="TextBox 7"/>
            <p:cNvSpPr txBox="1">
              <a:spLocks noChangeArrowheads="1"/>
            </p:cNvSpPr>
            <p:nvPr/>
          </p:nvSpPr>
          <p:spPr bwMode="auto">
            <a:xfrm>
              <a:off x="5502870" y="4544139"/>
              <a:ext cx="68961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ko-KR" altLang="en-US" sz="700" b="0" dirty="0" smtClean="0">
                  <a:solidFill>
                    <a:srgbClr val="FF3737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데이터수집</a:t>
              </a:r>
              <a:r>
                <a:rPr lang="en-US" altLang="ko-KR" sz="700" b="0" dirty="0" smtClean="0">
                  <a:solidFill>
                    <a:srgbClr val="FF3737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(2)</a:t>
              </a:r>
              <a:endParaRPr lang="ko-KR" altLang="en-US" sz="700" b="0" dirty="0">
                <a:solidFill>
                  <a:srgbClr val="FF3737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60" name="TextBox 7"/>
            <p:cNvSpPr txBox="1">
              <a:spLocks noChangeArrowheads="1"/>
            </p:cNvSpPr>
            <p:nvPr/>
          </p:nvSpPr>
          <p:spPr bwMode="auto">
            <a:xfrm>
              <a:off x="5500712" y="4102472"/>
              <a:ext cx="68961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ko-KR" altLang="en-US" sz="700" b="0" dirty="0" smtClean="0">
                  <a:solidFill>
                    <a:srgbClr val="FF3737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데이터수집</a:t>
              </a:r>
              <a:r>
                <a:rPr lang="en-US" altLang="ko-KR" sz="700" b="0" dirty="0" smtClean="0">
                  <a:solidFill>
                    <a:srgbClr val="FF3737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(1)</a:t>
              </a:r>
              <a:endParaRPr lang="ko-KR" altLang="en-US" sz="700" b="0" dirty="0">
                <a:solidFill>
                  <a:srgbClr val="FF3737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5168230" y="5013176"/>
            <a:ext cx="16850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 smtClean="0">
                <a:latin typeface="현대하모니 L" pitchFamily="18" charset="-127"/>
                <a:ea typeface="현대하모니 L" pitchFamily="18" charset="-127"/>
              </a:rPr>
              <a:t>네크워크</a:t>
            </a:r>
            <a:r>
              <a:rPr lang="ko-KR" altLang="en-US" sz="1000" dirty="0" smtClean="0">
                <a:latin typeface="현대하모니 L" pitchFamily="18" charset="-127"/>
                <a:ea typeface="현대하모니 L" pitchFamily="18" charset="-127"/>
              </a:rPr>
              <a:t> 데이터 수집 및 확인</a:t>
            </a:r>
            <a:endParaRPr lang="ko-KR" altLang="en-US" sz="1000" dirty="0"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7472486" y="3645024"/>
            <a:ext cx="1872208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직사각형 164"/>
          <p:cNvSpPr/>
          <p:nvPr/>
        </p:nvSpPr>
        <p:spPr>
          <a:xfrm>
            <a:off x="7976542" y="4869160"/>
            <a:ext cx="10086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smtClean="0">
                <a:latin typeface="현대하모니 L" pitchFamily="18" charset="-127"/>
                <a:ea typeface="현대하모니 L" pitchFamily="18" charset="-127"/>
              </a:rPr>
              <a:t>방열구조물 예시</a:t>
            </a:r>
            <a:endParaRPr lang="ko-KR" altLang="en-US" sz="1000" dirty="0">
              <a:latin typeface="현대하모니 L" pitchFamily="18" charset="-127"/>
              <a:ea typeface="현대하모니 L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7190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88421</TotalTime>
  <Words>301</Words>
  <Application>Microsoft Office PowerPoint</Application>
  <PresentationFormat>사용자 지정</PresentationFormat>
  <Paragraphs>76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Arial</vt:lpstr>
      <vt:lpstr>현대하모니 M</vt:lpstr>
      <vt:lpstr>현대하모니 L</vt:lpstr>
      <vt:lpstr>맑은 고딕</vt:lpstr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NT371B5J</cp:lastModifiedBy>
  <cp:revision>1636</cp:revision>
  <cp:lastPrinted>2017-04-11T04:04:18Z</cp:lastPrinted>
  <dcterms:created xsi:type="dcterms:W3CDTF">2014-12-31T05:09:55Z</dcterms:created>
  <dcterms:modified xsi:type="dcterms:W3CDTF">2017-06-23T04:56:34Z</dcterms:modified>
</cp:coreProperties>
</file>