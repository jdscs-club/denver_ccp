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emf" ContentType="image/x-emf"/>
  <Default Extension="xlsx" ContentType="application/vnd.openxmlformats-officedocument.spreadsheetml.sheet"/>
  <Default Extension="rels" ContentType="application/vnd.openxmlformats-package.relationships+xml"/>
  <Default Extension="vml" ContentType="application/vnd.openxmlformats-officedocument.vmlDrawing"/>
  <Default Extension="bin" ContentType="application/vnd.openxmlformats-officedocument.oleObject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5"/>
  </p:notesMasterIdLst>
  <p:handoutMasterIdLst>
    <p:handoutMasterId r:id="rId6"/>
  </p:handoutMasterIdLst>
  <p:sldIdLst>
    <p:sldId id="500" r:id="rId2"/>
    <p:sldId id="502" r:id="rId3"/>
    <p:sldId id="503" r:id="rId4"/>
  </p:sldIdLst>
  <p:sldSz cx="9904413" cy="6858000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1">
          <p15:clr>
            <a:srgbClr val="A4A3A4"/>
          </p15:clr>
        </p15:guide>
        <p15:guide id="2" pos="130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737"/>
    <a:srgbClr val="FF3B3B"/>
    <a:srgbClr val="D09E00"/>
    <a:srgbClr val="F2B800"/>
    <a:srgbClr val="7979FF"/>
    <a:srgbClr val="A3A3FF"/>
    <a:srgbClr val="ECECEC"/>
    <a:srgbClr val="BDB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81" autoAdjust="0"/>
    <p:restoredTop sz="96486" autoAdjust="0"/>
  </p:normalViewPr>
  <p:slideViewPr>
    <p:cSldViewPr>
      <p:cViewPr>
        <p:scale>
          <a:sx n="150" d="100"/>
          <a:sy n="150" d="100"/>
        </p:scale>
        <p:origin x="648" y="232"/>
      </p:cViewPr>
      <p:guideLst>
        <p:guide orient="horz" pos="2251"/>
        <p:guide pos="13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575" cy="498475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r">
              <a:defRPr sz="1200"/>
            </a:lvl1pPr>
          </a:lstStyle>
          <a:p>
            <a:fld id="{4EF19808-07F7-44A4-9714-165D9326F30E}" type="datetimeFigureOut">
              <a:rPr lang="ko-KR" altLang="en-US" smtClean="0"/>
              <a:pPr/>
              <a:t>2017. 7. 10.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40864"/>
            <a:ext cx="2949575" cy="498475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6038" y="9440864"/>
            <a:ext cx="2949575" cy="498475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r">
              <a:defRPr sz="1200"/>
            </a:lvl1pPr>
          </a:lstStyle>
          <a:p>
            <a:fld id="{CE8D82EC-425F-4DE6-8A86-E6512495E6B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0991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575" cy="496888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r">
              <a:defRPr sz="1200"/>
            </a:lvl1pPr>
          </a:lstStyle>
          <a:p>
            <a:fld id="{6344DFA3-142A-4FFA-B264-88948DCACF03}" type="datetimeFigureOut">
              <a:rPr lang="ko-KR" altLang="en-US" smtClean="0"/>
              <a:pPr/>
              <a:t>2017. 7. 10.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4375" y="746125"/>
            <a:ext cx="53784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0" tIns="45715" rIns="91430" bIns="4571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9" y="4721226"/>
            <a:ext cx="5445125" cy="4471988"/>
          </a:xfrm>
          <a:prstGeom prst="rect">
            <a:avLst/>
          </a:prstGeom>
        </p:spPr>
        <p:txBody>
          <a:bodyPr vert="horz" lIns="91430" tIns="45715" rIns="91430" bIns="45715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0863"/>
            <a:ext cx="2949575" cy="496887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r">
              <a:defRPr sz="1200"/>
            </a:lvl1pPr>
          </a:lstStyle>
          <a:p>
            <a:fld id="{D5B10042-E339-4781-8D95-CF275B61334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99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4375" y="746125"/>
            <a:ext cx="5378450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42D71A-2BB0-4599-B8A7-1BF2341DF1AB}" type="slidenum">
              <a:rPr lang="ko-KR" altLang="en-US" smtClean="0">
                <a:solidFill>
                  <a:prstClr val="black"/>
                </a:solidFill>
              </a:rPr>
              <a:pPr/>
              <a:t>1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557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4375" y="746125"/>
            <a:ext cx="5378450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42D71A-2BB0-4599-B8A7-1BF2341DF1AB}" type="slidenum">
              <a:rPr lang="ko-KR" altLang="en-US" smtClean="0">
                <a:solidFill>
                  <a:prstClr val="black"/>
                </a:solidFill>
              </a:rPr>
              <a:pPr/>
              <a:t>2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6655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4375" y="746125"/>
            <a:ext cx="5378450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42D71A-2BB0-4599-B8A7-1BF2341DF1AB}" type="slidenum">
              <a:rPr lang="ko-KR" altLang="en-US" smtClean="0">
                <a:solidFill>
                  <a:prstClr val="black"/>
                </a:solidFill>
              </a:rPr>
              <a:pPr/>
              <a:t>3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2601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38052" y="1122363"/>
            <a:ext cx="7428310" cy="2387600"/>
          </a:xfrm>
        </p:spPr>
        <p:txBody>
          <a:bodyPr anchor="b"/>
          <a:lstStyle>
            <a:lvl1pPr algn="ctr">
              <a:defRPr sz="4874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38052" y="3602038"/>
            <a:ext cx="742831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29" indent="0" algn="ctr">
              <a:buNone/>
              <a:defRPr sz="1625"/>
            </a:lvl2pPr>
            <a:lvl3pPr marL="742859" indent="0" algn="ctr">
              <a:buNone/>
              <a:defRPr sz="1462"/>
            </a:lvl3pPr>
            <a:lvl4pPr marL="1114288" indent="0" algn="ctr">
              <a:buNone/>
              <a:defRPr sz="1300"/>
            </a:lvl4pPr>
            <a:lvl5pPr marL="1485717" indent="0" algn="ctr">
              <a:buNone/>
              <a:defRPr sz="1300"/>
            </a:lvl5pPr>
            <a:lvl6pPr marL="1857146" indent="0" algn="ctr">
              <a:buNone/>
              <a:defRPr sz="1300"/>
            </a:lvl6pPr>
            <a:lvl7pPr marL="2228576" indent="0" algn="ctr">
              <a:buNone/>
              <a:defRPr sz="1300"/>
            </a:lvl7pPr>
            <a:lvl8pPr marL="2600005" indent="0" algn="ctr">
              <a:buNone/>
              <a:defRPr sz="1300"/>
            </a:lvl8pPr>
            <a:lvl9pPr marL="2971434" indent="0" algn="ctr">
              <a:buNone/>
              <a:defRPr sz="13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2017. 7. 10.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224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2017. 7. 10.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839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5770" y="1709739"/>
            <a:ext cx="8542556" cy="2852737"/>
          </a:xfrm>
        </p:spPr>
        <p:txBody>
          <a:bodyPr anchor="b"/>
          <a:lstStyle>
            <a:lvl1pPr>
              <a:defRPr sz="4874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75770" y="4589464"/>
            <a:ext cx="8542556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29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859" indent="0">
              <a:buNone/>
              <a:defRPr sz="1462">
                <a:solidFill>
                  <a:schemeClr val="tx1">
                    <a:tint val="75000"/>
                  </a:schemeClr>
                </a:solidFill>
              </a:defRPr>
            </a:lvl3pPr>
            <a:lvl4pPr marL="1114288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717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146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576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00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434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2017. 7. 10.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4344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0928" y="1825625"/>
            <a:ext cx="4209376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14109" y="1825625"/>
            <a:ext cx="4209376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2017. 7. 10.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294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219" y="365126"/>
            <a:ext cx="8542556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82219" y="1681163"/>
            <a:ext cx="4190031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29" indent="0">
              <a:buNone/>
              <a:defRPr sz="1625" b="1"/>
            </a:lvl2pPr>
            <a:lvl3pPr marL="742859" indent="0">
              <a:buNone/>
              <a:defRPr sz="1462" b="1"/>
            </a:lvl3pPr>
            <a:lvl4pPr marL="1114288" indent="0">
              <a:buNone/>
              <a:defRPr sz="1300" b="1"/>
            </a:lvl4pPr>
            <a:lvl5pPr marL="1485717" indent="0">
              <a:buNone/>
              <a:defRPr sz="1300" b="1"/>
            </a:lvl5pPr>
            <a:lvl6pPr marL="1857146" indent="0">
              <a:buNone/>
              <a:defRPr sz="1300" b="1"/>
            </a:lvl6pPr>
            <a:lvl7pPr marL="2228576" indent="0">
              <a:buNone/>
              <a:defRPr sz="1300" b="1"/>
            </a:lvl7pPr>
            <a:lvl8pPr marL="2600005" indent="0">
              <a:buNone/>
              <a:defRPr sz="1300" b="1"/>
            </a:lvl8pPr>
            <a:lvl9pPr marL="2971434" indent="0">
              <a:buNone/>
              <a:defRPr sz="13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82219" y="2505075"/>
            <a:ext cx="419003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14109" y="1681163"/>
            <a:ext cx="4210666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29" indent="0">
              <a:buNone/>
              <a:defRPr sz="1625" b="1"/>
            </a:lvl2pPr>
            <a:lvl3pPr marL="742859" indent="0">
              <a:buNone/>
              <a:defRPr sz="1462" b="1"/>
            </a:lvl3pPr>
            <a:lvl4pPr marL="1114288" indent="0">
              <a:buNone/>
              <a:defRPr sz="1300" b="1"/>
            </a:lvl4pPr>
            <a:lvl5pPr marL="1485717" indent="0">
              <a:buNone/>
              <a:defRPr sz="1300" b="1"/>
            </a:lvl5pPr>
            <a:lvl6pPr marL="1857146" indent="0">
              <a:buNone/>
              <a:defRPr sz="1300" b="1"/>
            </a:lvl6pPr>
            <a:lvl7pPr marL="2228576" indent="0">
              <a:buNone/>
              <a:defRPr sz="1300" b="1"/>
            </a:lvl7pPr>
            <a:lvl8pPr marL="2600005" indent="0">
              <a:buNone/>
              <a:defRPr sz="1300" b="1"/>
            </a:lvl8pPr>
            <a:lvl9pPr marL="2971434" indent="0">
              <a:buNone/>
              <a:defRPr sz="13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14109" y="2505075"/>
            <a:ext cx="4210666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2017. 7. 10.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9475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2017. 7. 10.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34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2017. 7. 10.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4443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219" y="457200"/>
            <a:ext cx="3194431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210666" y="987426"/>
            <a:ext cx="5014109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219" y="2057400"/>
            <a:ext cx="3194431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29" indent="0">
              <a:buNone/>
              <a:defRPr sz="1137"/>
            </a:lvl2pPr>
            <a:lvl3pPr marL="742859" indent="0">
              <a:buNone/>
              <a:defRPr sz="975"/>
            </a:lvl3pPr>
            <a:lvl4pPr marL="1114288" indent="0">
              <a:buNone/>
              <a:defRPr sz="812"/>
            </a:lvl4pPr>
            <a:lvl5pPr marL="1485717" indent="0">
              <a:buNone/>
              <a:defRPr sz="812"/>
            </a:lvl5pPr>
            <a:lvl6pPr marL="1857146" indent="0">
              <a:buNone/>
              <a:defRPr sz="812"/>
            </a:lvl6pPr>
            <a:lvl7pPr marL="2228576" indent="0">
              <a:buNone/>
              <a:defRPr sz="812"/>
            </a:lvl7pPr>
            <a:lvl8pPr marL="2600005" indent="0">
              <a:buNone/>
              <a:defRPr sz="812"/>
            </a:lvl8pPr>
            <a:lvl9pPr marL="2971434" indent="0">
              <a:buNone/>
              <a:defRPr sz="812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2017. 7. 10.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585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219" y="457200"/>
            <a:ext cx="3194431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210666" y="987426"/>
            <a:ext cx="5014109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29" indent="0">
              <a:buNone/>
              <a:defRPr sz="2275"/>
            </a:lvl2pPr>
            <a:lvl3pPr marL="742859" indent="0">
              <a:buNone/>
              <a:defRPr sz="1950"/>
            </a:lvl3pPr>
            <a:lvl4pPr marL="1114288" indent="0">
              <a:buNone/>
              <a:defRPr sz="1625"/>
            </a:lvl4pPr>
            <a:lvl5pPr marL="1485717" indent="0">
              <a:buNone/>
              <a:defRPr sz="1625"/>
            </a:lvl5pPr>
            <a:lvl6pPr marL="1857146" indent="0">
              <a:buNone/>
              <a:defRPr sz="1625"/>
            </a:lvl6pPr>
            <a:lvl7pPr marL="2228576" indent="0">
              <a:buNone/>
              <a:defRPr sz="1625"/>
            </a:lvl7pPr>
            <a:lvl8pPr marL="2600005" indent="0">
              <a:buNone/>
              <a:defRPr sz="1625"/>
            </a:lvl8pPr>
            <a:lvl9pPr marL="2971434" indent="0">
              <a:buNone/>
              <a:defRPr sz="162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219" y="2057400"/>
            <a:ext cx="3194431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29" indent="0">
              <a:buNone/>
              <a:defRPr sz="1137"/>
            </a:lvl2pPr>
            <a:lvl3pPr marL="742859" indent="0">
              <a:buNone/>
              <a:defRPr sz="975"/>
            </a:lvl3pPr>
            <a:lvl4pPr marL="1114288" indent="0">
              <a:buNone/>
              <a:defRPr sz="812"/>
            </a:lvl4pPr>
            <a:lvl5pPr marL="1485717" indent="0">
              <a:buNone/>
              <a:defRPr sz="812"/>
            </a:lvl5pPr>
            <a:lvl6pPr marL="1857146" indent="0">
              <a:buNone/>
              <a:defRPr sz="812"/>
            </a:lvl6pPr>
            <a:lvl7pPr marL="2228576" indent="0">
              <a:buNone/>
              <a:defRPr sz="812"/>
            </a:lvl7pPr>
            <a:lvl8pPr marL="2600005" indent="0">
              <a:buNone/>
              <a:defRPr sz="812"/>
            </a:lvl8pPr>
            <a:lvl9pPr marL="2971434" indent="0">
              <a:buNone/>
              <a:defRPr sz="812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2017. 7. 10.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7751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2017. 7. 10.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2494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087846" y="365125"/>
            <a:ext cx="2135639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0928" y="365125"/>
            <a:ext cx="6283112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2017. 7. 10.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634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80929" y="365126"/>
            <a:ext cx="854255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80929" y="1825625"/>
            <a:ext cx="854255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80928" y="6356351"/>
            <a:ext cx="22284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2017. 7. 10.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280837" y="6356351"/>
            <a:ext cx="33427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994992" y="6356351"/>
            <a:ext cx="22284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9787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42859" rtl="0" eaLnBrk="1" latinLnBrk="1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15" indent="-185715" algn="l" defTabSz="742859" rtl="0" eaLnBrk="1" latinLnBrk="1" hangingPunct="1">
        <a:lnSpc>
          <a:spcPct val="90000"/>
        </a:lnSpc>
        <a:spcBef>
          <a:spcPts val="812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144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573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002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4pPr>
      <a:lvl5pPr marL="1671432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5pPr>
      <a:lvl6pPr marL="2042861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6pPr>
      <a:lvl7pPr marL="2414290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7pPr>
      <a:lvl8pPr marL="2785720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8pPr>
      <a:lvl9pPr marL="3157149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1pPr>
      <a:lvl2pPr marL="371429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2pPr>
      <a:lvl3pPr marL="742859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3pPr>
      <a:lvl4pPr marL="1114288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4pPr>
      <a:lvl5pPr marL="1485717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5pPr>
      <a:lvl6pPr marL="1857146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6pPr>
      <a:lvl7pPr marL="2228576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7pPr>
      <a:lvl8pPr marL="2600005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8pPr>
      <a:lvl9pPr marL="2971434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jpeg"/><Relationship Id="rId5" Type="http://schemas.openxmlformats.org/officeDocument/2006/relationships/image" Target="../media/image3.jpeg"/><Relationship Id="rId6" Type="http://schemas.openxmlformats.org/officeDocument/2006/relationships/image" Target="../media/image4.jpeg"/><Relationship Id="rId7" Type="http://schemas.openxmlformats.org/officeDocument/2006/relationships/image" Target="../media/image5.jpeg"/><Relationship Id="rId8" Type="http://schemas.openxmlformats.org/officeDocument/2006/relationships/oleObject" Target="../embeddings/oleObject1.bin"/><Relationship Id="rId9" Type="http://schemas.openxmlformats.org/officeDocument/2006/relationships/package" Target="../embeddings/Microsoft_Excel_____1.xlsx"/><Relationship Id="rId10" Type="http://schemas.openxmlformats.org/officeDocument/2006/relationships/image" Target="../media/image1.e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4" Type="http://schemas.openxmlformats.org/officeDocument/2006/relationships/image" Target="../media/image7.jpeg"/><Relationship Id="rId5" Type="http://schemas.openxmlformats.org/officeDocument/2006/relationships/image" Target="../media/image8.jpeg"/><Relationship Id="rId6" Type="http://schemas.openxmlformats.org/officeDocument/2006/relationships/image" Target="../media/image9.jpeg"/><Relationship Id="rId7" Type="http://schemas.openxmlformats.org/officeDocument/2006/relationships/image" Target="../media/image10.png"/><Relationship Id="rId8" Type="http://schemas.openxmlformats.org/officeDocument/2006/relationships/image" Target="../media/image5.jpe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4" Type="http://schemas.openxmlformats.org/officeDocument/2006/relationships/image" Target="../media/image14.jpeg"/><Relationship Id="rId5" Type="http://schemas.openxmlformats.org/officeDocument/2006/relationships/image" Target="../media/image15.jpeg"/><Relationship Id="rId6" Type="http://schemas.openxmlformats.org/officeDocument/2006/relationships/image" Target="../media/image16.JPG"/><Relationship Id="rId7" Type="http://schemas.openxmlformats.org/officeDocument/2006/relationships/image" Target="../media/image10.png"/><Relationship Id="rId8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103697"/>
              </p:ext>
            </p:extLst>
          </p:nvPr>
        </p:nvGraphicFramePr>
        <p:xfrm>
          <a:off x="108423" y="116632"/>
          <a:ext cx="9733322" cy="6624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4363"/>
                <a:gridCol w="5158959"/>
              </a:tblGrid>
              <a:tr h="51781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▣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자동방송 불량 해결을 위한 차량 시험 계획</a:t>
                      </a:r>
                      <a:r>
                        <a:rPr lang="en-US" altLang="ko-KR" sz="11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endParaRPr lang="ko-KR" altLang="en-US" sz="11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  <a:tr h="6106921"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현 상</a:t>
                      </a: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- 7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5,6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 덴버 출장중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자동 방송 불량 차량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(62,57)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현차 확인 결과 </a:t>
                      </a: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1)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원인 불명에 이유로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CPU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과 부하 동작 상태 확인</a:t>
                      </a: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2)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CPU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과 부하에 따른 내부 온도 상승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(70</a:t>
                      </a: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</a:t>
                      </a: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95</a:t>
                      </a: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도 까지 상승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3)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내부 온도 상승에 따른 자동 방송 기능 저하 발생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1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1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1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1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원 인</a:t>
                      </a: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1)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네트워크 스위치를 통하여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GPS 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데이터를 수신받을 때 알 수 없는 이유에 의해 네트워크 데이터가 급증하면서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CNCS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에 과부하가 발생되어 자동방송 불능현상 발생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추정</a:t>
                      </a: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2)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출장중 지속적인 원인 파악 진행 예정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2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임시조치</a:t>
                      </a: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CNCS 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과부하 발생 시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네트워크 데이터 급증 시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장치 </a:t>
                      </a:r>
                      <a:r>
                        <a:rPr lang="ko-KR" altLang="en-US" sz="1100" b="0" kern="1200" baseline="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재기동</a:t>
                      </a: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추진계획</a:t>
                      </a: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1)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CRA 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상부에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FAN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을 설치 하여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CNCS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내부 온도를 강제로 냉각 한다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FAN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은 온도 센서에 위해 조절 되면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온도 상승을 감지 하여 동작 한다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2)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~6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 고장 분석 결과 특정 편성에서 주로 발생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고장 횟수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회 이상 차량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10EA 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 조치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.(66,61,62,57,49,45,43,44,25,09)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⇒ 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일정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7/10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~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7/14 (10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량에 대하여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FAN 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설치 및 모니터링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* 우진 산전 온도 시험 결과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FAN 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동작시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도 이상 하강 효과 확인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116625" y="627653"/>
            <a:ext cx="120680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문제점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4679763" y="627653"/>
            <a:ext cx="120680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개선대책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490410" y="2153891"/>
            <a:ext cx="1200404" cy="1493836"/>
          </a:xfrm>
          <a:prstGeom prst="rect">
            <a:avLst/>
          </a:prstGeom>
        </p:spPr>
      </p:pic>
      <p:sp>
        <p:nvSpPr>
          <p:cNvPr id="6" name="오른쪽 화살표[R] 5"/>
          <p:cNvSpPr/>
          <p:nvPr/>
        </p:nvSpPr>
        <p:spPr>
          <a:xfrm>
            <a:off x="1956951" y="2658493"/>
            <a:ext cx="36004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551274" y="2185746"/>
            <a:ext cx="1205950" cy="1435674"/>
          </a:xfrm>
          <a:prstGeom prst="rect">
            <a:avLst/>
          </a:prstGeom>
        </p:spPr>
      </p:pic>
      <p:sp>
        <p:nvSpPr>
          <p:cNvPr id="8" name="텍스트 상자 7"/>
          <p:cNvSpPr txBox="1"/>
          <p:nvPr/>
        </p:nvSpPr>
        <p:spPr>
          <a:xfrm>
            <a:off x="559718" y="3573016"/>
            <a:ext cx="8787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800" dirty="0" smtClean="0"/>
              <a:t>&lt;</a:t>
            </a:r>
            <a:r>
              <a:rPr kumimoji="1" lang="ko-KR" altLang="en-US" sz="800" dirty="0" smtClean="0"/>
              <a:t>과부하 발생</a:t>
            </a:r>
            <a:r>
              <a:rPr kumimoji="1" lang="en-US" altLang="ko-KR" sz="800" dirty="0" smtClean="0"/>
              <a:t>&gt;</a:t>
            </a:r>
            <a:endParaRPr kumimoji="1" lang="ko-KR" altLang="en-US" sz="800" dirty="0"/>
          </a:p>
        </p:txBody>
      </p:sp>
      <p:sp>
        <p:nvSpPr>
          <p:cNvPr id="82" name="텍스트 상자 81"/>
          <p:cNvSpPr txBox="1"/>
          <p:nvPr/>
        </p:nvSpPr>
        <p:spPr>
          <a:xfrm>
            <a:off x="2616002" y="3528561"/>
            <a:ext cx="12522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800" dirty="0" smtClean="0"/>
              <a:t>&lt;CPU </a:t>
            </a:r>
            <a:r>
              <a:rPr kumimoji="1" lang="ko-KR" altLang="en-US" sz="800" dirty="0" smtClean="0"/>
              <a:t>내부 온도 상승</a:t>
            </a:r>
            <a:r>
              <a:rPr kumimoji="1" lang="en-US" altLang="ko-KR" sz="800" dirty="0" smtClean="0"/>
              <a:t>&gt;</a:t>
            </a:r>
            <a:endParaRPr kumimoji="1" lang="ko-KR" altLang="en-US" sz="800" dirty="0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04407" y="3772188"/>
            <a:ext cx="2111821" cy="1296144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38945" y="3772188"/>
            <a:ext cx="2567228" cy="1378827"/>
          </a:xfrm>
          <a:prstGeom prst="rect">
            <a:avLst/>
          </a:prstGeom>
        </p:spPr>
      </p:pic>
      <p:graphicFrame>
        <p:nvGraphicFramePr>
          <p:cNvPr id="19" name="개체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1015784"/>
              </p:ext>
            </p:extLst>
          </p:nvPr>
        </p:nvGraphicFramePr>
        <p:xfrm>
          <a:off x="4714308" y="5102970"/>
          <a:ext cx="9652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" name="워크시트" showAsIcon="1" r:id="rId9" imgW="965200" imgH="609600" progId="Excel.Sheet.12">
                  <p:embed/>
                </p:oleObj>
              </mc:Choice>
              <mc:Fallback>
                <p:oleObj name="워크시트" showAsIcon="1" r:id="rId9" imgW="965200" imgH="6096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14308" y="5102970"/>
                        <a:ext cx="9652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71901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475530"/>
              </p:ext>
            </p:extLst>
          </p:nvPr>
        </p:nvGraphicFramePr>
        <p:xfrm>
          <a:off x="108423" y="116632"/>
          <a:ext cx="9733322" cy="6624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4363"/>
                <a:gridCol w="5158959"/>
              </a:tblGrid>
              <a:tr h="51750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▣ 자동방송 불량 해결을 위한 차량 시험 계획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ko-KR" altLang="en-US" sz="18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  <a:tr h="6107233"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설치 방 법</a:t>
                      </a: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- 7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4035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편성에서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FAN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을 설치 하여 온도 변화 시험 실시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1) CAR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상부에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FAN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설치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2)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CRA-CNCS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온도 기록계 설치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3) CRA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를 차량에 설치 한다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.(FAN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설치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2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FAN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동작 방법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차량 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전원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(37.5V)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을 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동작 전원으로 사용 한다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온도 센서를 통해 동작 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온도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(0~60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도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를 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설정 할 수 있다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CRA 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주면 온도가 설정 온도보다 높을 경우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FAN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은 동작을 실시 한다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3" name="직사각형 12"/>
          <p:cNvSpPr/>
          <p:nvPr/>
        </p:nvSpPr>
        <p:spPr>
          <a:xfrm>
            <a:off x="4684730" y="620688"/>
            <a:ext cx="2669774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FAN </a:t>
            </a:r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구성품 설명</a:t>
            </a:r>
            <a:r>
              <a:rPr lang="en-US" altLang="ko-KR" sz="1400" dirty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및 동작 방법</a:t>
            </a:r>
            <a:r>
              <a:rPr lang="en-US" altLang="ko-KR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..</a:t>
            </a:r>
            <a:endParaRPr lang="ko-KR" altLang="en-US" sz="1400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pSp>
        <p:nvGrpSpPr>
          <p:cNvPr id="25" name="그룹 24"/>
          <p:cNvGrpSpPr/>
          <p:nvPr/>
        </p:nvGrpSpPr>
        <p:grpSpPr>
          <a:xfrm>
            <a:off x="277760" y="1700808"/>
            <a:ext cx="4241434" cy="1008112"/>
            <a:chOff x="277760" y="1808338"/>
            <a:chExt cx="4241434" cy="1008112"/>
          </a:xfrm>
        </p:grpSpPr>
        <p:sp>
          <p:nvSpPr>
            <p:cNvPr id="8" name="텍스트 상자 7"/>
            <p:cNvSpPr txBox="1"/>
            <p:nvPr/>
          </p:nvSpPr>
          <p:spPr>
            <a:xfrm>
              <a:off x="370233" y="2601006"/>
              <a:ext cx="90762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800" dirty="0" smtClean="0"/>
                <a:t>&lt;FAN</a:t>
              </a:r>
              <a:r>
                <a:rPr kumimoji="1" lang="ko-KR" altLang="en-US" sz="800" dirty="0" smtClean="0"/>
                <a:t> 설치 전</a:t>
              </a:r>
              <a:r>
                <a:rPr kumimoji="1" lang="en-US" altLang="ko-KR" sz="800" dirty="0" smtClean="0"/>
                <a:t>&gt;</a:t>
              </a:r>
              <a:endParaRPr kumimoji="1" lang="ko-KR" altLang="en-US" sz="800" dirty="0"/>
            </a:p>
          </p:txBody>
        </p:sp>
        <p:sp>
          <p:nvSpPr>
            <p:cNvPr id="82" name="텍스트 상자 81"/>
            <p:cNvSpPr txBox="1"/>
            <p:nvPr/>
          </p:nvSpPr>
          <p:spPr>
            <a:xfrm>
              <a:off x="3196572" y="2601006"/>
              <a:ext cx="90762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800" dirty="0" smtClean="0"/>
                <a:t>&lt;FAN </a:t>
              </a:r>
              <a:r>
                <a:rPr kumimoji="1" lang="ko-KR" altLang="en-US" sz="800" dirty="0" smtClean="0"/>
                <a:t>설치 후</a:t>
              </a:r>
              <a:r>
                <a:rPr kumimoji="1" lang="en-US" altLang="ko-KR" sz="800" dirty="0" smtClean="0"/>
                <a:t>&gt;</a:t>
              </a:r>
              <a:endParaRPr kumimoji="1" lang="ko-KR" altLang="en-US" sz="800" dirty="0"/>
            </a:p>
          </p:txBody>
        </p:sp>
        <p:grpSp>
          <p:nvGrpSpPr>
            <p:cNvPr id="20" name="그룹 19"/>
            <p:cNvGrpSpPr/>
            <p:nvPr/>
          </p:nvGrpSpPr>
          <p:grpSpPr>
            <a:xfrm>
              <a:off x="277760" y="1808338"/>
              <a:ext cx="4241434" cy="828574"/>
              <a:chOff x="277760" y="1520306"/>
              <a:chExt cx="4241434" cy="828574"/>
            </a:xfrm>
          </p:grpSpPr>
          <p:pic>
            <p:nvPicPr>
              <p:cNvPr id="5" name="그림 4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 rot="10800000">
                <a:off x="277760" y="1628800"/>
                <a:ext cx="1160725" cy="720080"/>
              </a:xfrm>
              <a:prstGeom prst="rect">
                <a:avLst/>
              </a:prstGeom>
            </p:spPr>
          </p:pic>
          <p:grpSp>
            <p:nvGrpSpPr>
              <p:cNvPr id="11" name="그룹 10"/>
              <p:cNvGrpSpPr/>
              <p:nvPr/>
            </p:nvGrpSpPr>
            <p:grpSpPr>
              <a:xfrm>
                <a:off x="2863974" y="1520306"/>
                <a:ext cx="1655220" cy="827610"/>
                <a:chOff x="-64703" y="481131"/>
                <a:chExt cx="9953262" cy="4360296"/>
              </a:xfrm>
            </p:grpSpPr>
            <p:pic>
              <p:nvPicPr>
                <p:cNvPr id="6" name="그림 5"/>
                <p:cNvPicPr>
                  <a:picLocks noChangeAspect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0800000">
                  <a:off x="-64703" y="481131"/>
                  <a:ext cx="9953262" cy="4360296"/>
                </a:xfrm>
                <a:prstGeom prst="rect">
                  <a:avLst/>
                </a:prstGeom>
              </p:spPr>
            </p:pic>
            <p:sp>
              <p:nvSpPr>
                <p:cNvPr id="7" name="직사각형 6"/>
                <p:cNvSpPr/>
                <p:nvPr/>
              </p:nvSpPr>
              <p:spPr>
                <a:xfrm>
                  <a:off x="1207786" y="1239885"/>
                  <a:ext cx="7820558" cy="1276651"/>
                </a:xfrm>
                <a:prstGeom prst="rect">
                  <a:avLst/>
                </a:prstGeom>
                <a:noFill/>
                <a:ln w="28575">
                  <a:solidFill>
                    <a:srgbClr val="FF373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/>
                </a:p>
              </p:txBody>
            </p:sp>
          </p:grpSp>
          <p:sp>
            <p:nvSpPr>
              <p:cNvPr id="16" name="오른쪽 화살표[R] 15"/>
              <p:cNvSpPr/>
              <p:nvPr/>
            </p:nvSpPr>
            <p:spPr>
              <a:xfrm>
                <a:off x="1938281" y="1728173"/>
                <a:ext cx="661889" cy="484632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</p:grpSp>
      </p:grpSp>
      <p:grpSp>
        <p:nvGrpSpPr>
          <p:cNvPr id="28" name="그룹 27"/>
          <p:cNvGrpSpPr/>
          <p:nvPr/>
        </p:nvGrpSpPr>
        <p:grpSpPr>
          <a:xfrm>
            <a:off x="1427167" y="3061857"/>
            <a:ext cx="1656184" cy="838875"/>
            <a:chOff x="1347979" y="3009562"/>
            <a:chExt cx="1656184" cy="838875"/>
          </a:xfrm>
        </p:grpSpPr>
        <p:pic>
          <p:nvPicPr>
            <p:cNvPr id="26" name="그림 25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1347979" y="3009562"/>
              <a:ext cx="1656184" cy="838875"/>
            </a:xfrm>
            <a:prstGeom prst="rect">
              <a:avLst/>
            </a:prstGeom>
          </p:spPr>
        </p:pic>
        <p:sp>
          <p:nvSpPr>
            <p:cNvPr id="27" name="타원 26"/>
            <p:cNvSpPr/>
            <p:nvPr/>
          </p:nvSpPr>
          <p:spPr>
            <a:xfrm>
              <a:off x="1896770" y="3149352"/>
              <a:ext cx="558600" cy="288032"/>
            </a:xfrm>
            <a:prstGeom prst="ellipse">
              <a:avLst/>
            </a:prstGeom>
            <a:noFill/>
            <a:ln w="28575">
              <a:solidFill>
                <a:srgbClr val="FF373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1427167" y="4509120"/>
            <a:ext cx="1680736" cy="945297"/>
            <a:chOff x="1323427" y="4365243"/>
            <a:chExt cx="1680736" cy="945297"/>
          </a:xfrm>
        </p:grpSpPr>
        <p:pic>
          <p:nvPicPr>
            <p:cNvPr id="30" name="그림 29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323427" y="4365243"/>
              <a:ext cx="1680736" cy="945297"/>
            </a:xfrm>
            <a:prstGeom prst="rect">
              <a:avLst/>
            </a:prstGeom>
          </p:spPr>
        </p:pic>
        <p:sp>
          <p:nvSpPr>
            <p:cNvPr id="31" name="모서리가 둥근 직사각형 30"/>
            <p:cNvSpPr/>
            <p:nvPr/>
          </p:nvSpPr>
          <p:spPr>
            <a:xfrm>
              <a:off x="1438485" y="4365243"/>
              <a:ext cx="1565678" cy="287893"/>
            </a:xfrm>
            <a:prstGeom prst="roundRect">
              <a:avLst/>
            </a:prstGeom>
            <a:noFill/>
            <a:ln w="28575">
              <a:solidFill>
                <a:srgbClr val="FF373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45" name="직사각형 44"/>
          <p:cNvSpPr/>
          <p:nvPr/>
        </p:nvSpPr>
        <p:spPr>
          <a:xfrm>
            <a:off x="116624" y="620688"/>
            <a:ext cx="2935869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CRA </a:t>
            </a:r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상부 </a:t>
            </a:r>
            <a:r>
              <a:rPr lang="en-US" altLang="ko-KR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FAN </a:t>
            </a:r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설치 방법</a:t>
            </a:r>
            <a:r>
              <a:rPr lang="en-US" altLang="ko-KR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  <a:endParaRPr lang="ko-KR" altLang="en-US" sz="1400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pSp>
        <p:nvGrpSpPr>
          <p:cNvPr id="59" name="그룹 58"/>
          <p:cNvGrpSpPr/>
          <p:nvPr/>
        </p:nvGrpSpPr>
        <p:grpSpPr>
          <a:xfrm>
            <a:off x="3196572" y="3141604"/>
            <a:ext cx="1091449" cy="691424"/>
            <a:chOff x="316421" y="5973151"/>
            <a:chExt cx="1015243" cy="697961"/>
          </a:xfrm>
        </p:grpSpPr>
        <p:pic>
          <p:nvPicPr>
            <p:cNvPr id="60" name="그림 59"/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040" b="22631"/>
            <a:stretch/>
          </p:blipFill>
          <p:spPr>
            <a:xfrm>
              <a:off x="316421" y="6119546"/>
              <a:ext cx="1015243" cy="551566"/>
            </a:xfrm>
            <a:prstGeom prst="rect">
              <a:avLst/>
            </a:prstGeom>
          </p:spPr>
        </p:pic>
        <p:sp>
          <p:nvSpPr>
            <p:cNvPr id="61" name="텍스트 상자 60"/>
            <p:cNvSpPr txBox="1"/>
            <p:nvPr/>
          </p:nvSpPr>
          <p:spPr>
            <a:xfrm>
              <a:off x="571898" y="5973151"/>
              <a:ext cx="55335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mr-IN" altLang="ko-KR" sz="800" dirty="0"/>
                <a:t>TR-71Ui</a:t>
              </a:r>
            </a:p>
            <a:p>
              <a:endParaRPr kumimoji="1" lang="ko-KR" altLang="en-US" dirty="0"/>
            </a:p>
          </p:txBody>
        </p:sp>
      </p:grpSp>
      <p:grpSp>
        <p:nvGrpSpPr>
          <p:cNvPr id="34" name="그룹 33"/>
          <p:cNvGrpSpPr/>
          <p:nvPr/>
        </p:nvGrpSpPr>
        <p:grpSpPr>
          <a:xfrm>
            <a:off x="5168230" y="2924944"/>
            <a:ext cx="4222836" cy="2738480"/>
            <a:chOff x="4940125" y="3310233"/>
            <a:chExt cx="4222836" cy="2738480"/>
          </a:xfrm>
        </p:grpSpPr>
        <p:grpSp>
          <p:nvGrpSpPr>
            <p:cNvPr id="23" name="그룹 22"/>
            <p:cNvGrpSpPr/>
            <p:nvPr/>
          </p:nvGrpSpPr>
          <p:grpSpPr>
            <a:xfrm>
              <a:off x="5489417" y="3629435"/>
              <a:ext cx="3673544" cy="2419278"/>
              <a:chOff x="5168230" y="3833028"/>
              <a:chExt cx="3673544" cy="2419278"/>
            </a:xfrm>
          </p:grpSpPr>
          <p:pic>
            <p:nvPicPr>
              <p:cNvPr id="62" name="그림 61"/>
              <p:cNvPicPr>
                <a:picLocks noChangeAspect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5384254" y="4395314"/>
                <a:ext cx="3457520" cy="1856992"/>
              </a:xfrm>
              <a:prstGeom prst="rect">
                <a:avLst/>
              </a:prstGeom>
            </p:spPr>
          </p:pic>
          <p:sp>
            <p:nvSpPr>
              <p:cNvPr id="24" name="텍스트 상자 23"/>
              <p:cNvSpPr txBox="1"/>
              <p:nvPr/>
            </p:nvSpPr>
            <p:spPr>
              <a:xfrm>
                <a:off x="5168230" y="3833028"/>
                <a:ext cx="56297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800" dirty="0" smtClean="0">
                    <a:solidFill>
                      <a:srgbClr val="FF0000"/>
                    </a:solidFill>
                  </a:rPr>
                  <a:t>&lt;FAN </a:t>
                </a:r>
                <a:r>
                  <a:rPr kumimoji="1" lang="en-US" altLang="ko-KR" sz="800" dirty="0">
                    <a:solidFill>
                      <a:srgbClr val="FF0000"/>
                    </a:solidFill>
                  </a:rPr>
                  <a:t>&gt;</a:t>
                </a:r>
                <a:endParaRPr kumimoji="1" lang="ko-KR" altLang="en-US" sz="8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3" name="직선 화살표 연결선 2"/>
              <p:cNvCxnSpPr>
                <a:stCxn id="24" idx="2"/>
              </p:cNvCxnSpPr>
              <p:nvPr/>
            </p:nvCxnSpPr>
            <p:spPr>
              <a:xfrm>
                <a:off x="5449718" y="4048472"/>
                <a:ext cx="913697" cy="748541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직선 화살표 연결선 28"/>
              <p:cNvCxnSpPr>
                <a:stCxn id="24" idx="2"/>
              </p:cNvCxnSpPr>
              <p:nvPr/>
            </p:nvCxnSpPr>
            <p:spPr>
              <a:xfrm>
                <a:off x="5449718" y="4048472"/>
                <a:ext cx="2166784" cy="600918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텍스트 상자 34"/>
              <p:cNvSpPr txBox="1"/>
              <p:nvPr/>
            </p:nvSpPr>
            <p:spPr>
              <a:xfrm>
                <a:off x="7095326" y="3881740"/>
                <a:ext cx="77617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800" dirty="0" smtClean="0">
                    <a:solidFill>
                      <a:srgbClr val="FF0000"/>
                    </a:solidFill>
                  </a:rPr>
                  <a:t>&lt;</a:t>
                </a:r>
                <a:r>
                  <a:rPr kumimoji="1" lang="ko-KR" altLang="en-US" sz="800" dirty="0" smtClean="0">
                    <a:solidFill>
                      <a:srgbClr val="FF0000"/>
                    </a:solidFill>
                  </a:rPr>
                  <a:t>온도 센서</a:t>
                </a:r>
                <a:r>
                  <a:rPr kumimoji="1" lang="en-US" altLang="ko-KR" sz="800" dirty="0" smtClean="0">
                    <a:solidFill>
                      <a:srgbClr val="FF0000"/>
                    </a:solidFill>
                  </a:rPr>
                  <a:t>&gt;</a:t>
                </a:r>
                <a:endParaRPr kumimoji="1" lang="ko-KR" altLang="en-US" sz="8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36" name="직선 화살표 연결선 35"/>
              <p:cNvCxnSpPr>
                <a:stCxn id="35" idx="2"/>
              </p:cNvCxnSpPr>
              <p:nvPr/>
            </p:nvCxnSpPr>
            <p:spPr>
              <a:xfrm flipH="1">
                <a:off x="7114126" y="4097184"/>
                <a:ext cx="369288" cy="718938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32" name="그림 31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34889" y="3310233"/>
              <a:ext cx="420423" cy="728339"/>
            </a:xfrm>
            <a:prstGeom prst="rect">
              <a:avLst/>
            </a:prstGeom>
          </p:spPr>
        </p:pic>
        <p:pic>
          <p:nvPicPr>
            <p:cNvPr id="33" name="그림 32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40125" y="3456982"/>
              <a:ext cx="603404" cy="5864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1183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830151"/>
              </p:ext>
            </p:extLst>
          </p:nvPr>
        </p:nvGraphicFramePr>
        <p:xfrm>
          <a:off x="108423" y="116632"/>
          <a:ext cx="9733322" cy="6624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4363"/>
                <a:gridCol w="5158959"/>
              </a:tblGrid>
              <a:tr h="51750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▣ 자동방송 불량 해결을 위한 차량 시험 계획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ko-KR" altLang="en-US" sz="18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  <a:tr h="6107233"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주변온도 변화 측정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5~6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온도 레코더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(TR-71Ui)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를 이용한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CRA 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주변온도 측정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0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온도 측정 결과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CRA 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주변 온도 최대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45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도 확인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2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시험 결과</a:t>
                      </a: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CPU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모니터링을 통해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CPU 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과 부하 발생시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내부 온도 변화 기록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FAN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분만에 자동 방송 정상 동작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분후 주변온도까지 다운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주변온도 확인 결과</a:t>
                      </a: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차량에서 최대 </a:t>
                      </a: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45</a:t>
                      </a: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도 </a:t>
                      </a:r>
                      <a:endParaRPr kumimoji="0" lang="en-US" altLang="ko-KR" sz="11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결론 </a:t>
                      </a: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FAN </a:t>
                      </a: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동작시</a:t>
                      </a: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주변온도 까지 </a:t>
                      </a: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CRA-CNCS </a:t>
                      </a: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온도가 다운되며</a:t>
                      </a: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CRA-CNCS</a:t>
                      </a: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는         </a:t>
                      </a:r>
                      <a:endParaRPr kumimoji="0" lang="en-US" altLang="ko-KR" sz="11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</a:t>
                      </a: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50</a:t>
                      </a: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도를 유지 할 수 있다</a:t>
                      </a: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3" name="직사각형 12"/>
          <p:cNvSpPr/>
          <p:nvPr/>
        </p:nvSpPr>
        <p:spPr>
          <a:xfrm>
            <a:off x="4684730" y="620688"/>
            <a:ext cx="2238014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1</a:t>
            </a:r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차 현차 </a:t>
            </a:r>
            <a:r>
              <a:rPr lang="en-US" altLang="ko-KR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TEST </a:t>
            </a:r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시험 결과</a:t>
            </a:r>
            <a:endParaRPr lang="ko-KR" altLang="en-US" sz="1400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4782998" y="1844824"/>
            <a:ext cx="5090348" cy="3716011"/>
            <a:chOff x="4774935" y="1598207"/>
            <a:chExt cx="5090348" cy="3716011"/>
          </a:xfrm>
        </p:grpSpPr>
        <p:pic>
          <p:nvPicPr>
            <p:cNvPr id="32" name="그림 31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3106"/>
            <a:stretch/>
          </p:blipFill>
          <p:spPr>
            <a:xfrm>
              <a:off x="4851696" y="1598207"/>
              <a:ext cx="4492998" cy="204681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33" name="그림 32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6018881" y="3853613"/>
              <a:ext cx="803315" cy="901059"/>
            </a:xfrm>
            <a:prstGeom prst="rect">
              <a:avLst/>
            </a:prstGeom>
          </p:spPr>
        </p:pic>
        <p:pic>
          <p:nvPicPr>
            <p:cNvPr id="34" name="그림 33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8689253" y="3896860"/>
              <a:ext cx="803316" cy="795598"/>
            </a:xfrm>
            <a:prstGeom prst="rect">
              <a:avLst/>
            </a:prstGeom>
          </p:spPr>
        </p:pic>
        <p:cxnSp>
          <p:nvCxnSpPr>
            <p:cNvPr id="36" name="직선 화살표 연결선 35"/>
            <p:cNvCxnSpPr/>
            <p:nvPr/>
          </p:nvCxnSpPr>
          <p:spPr>
            <a:xfrm flipV="1">
              <a:off x="5168230" y="3284984"/>
              <a:ext cx="0" cy="613123"/>
            </a:xfrm>
            <a:prstGeom prst="straightConnector1">
              <a:avLst/>
            </a:prstGeom>
            <a:ln w="254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텍스트 상자 37"/>
            <p:cNvSpPr txBox="1"/>
            <p:nvPr/>
          </p:nvSpPr>
          <p:spPr>
            <a:xfrm>
              <a:off x="4774935" y="3920110"/>
              <a:ext cx="103105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800" dirty="0" smtClean="0"/>
                <a:t>&lt;CRA </a:t>
              </a:r>
              <a:r>
                <a:rPr kumimoji="1" lang="ko-KR" altLang="en-US" sz="800" dirty="0" smtClean="0"/>
                <a:t>주변 온도</a:t>
              </a:r>
              <a:r>
                <a:rPr kumimoji="1" lang="en-US" altLang="ko-KR" sz="800" dirty="0" smtClean="0"/>
                <a:t>&gt;</a:t>
              </a:r>
              <a:endParaRPr kumimoji="1" lang="ko-KR" altLang="en-US" sz="800" dirty="0"/>
            </a:p>
          </p:txBody>
        </p:sp>
        <p:cxnSp>
          <p:nvCxnSpPr>
            <p:cNvPr id="39" name="직선 화살표 연결선 38"/>
            <p:cNvCxnSpPr/>
            <p:nvPr/>
          </p:nvCxnSpPr>
          <p:spPr>
            <a:xfrm>
              <a:off x="5367237" y="2529382"/>
              <a:ext cx="89025" cy="323554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텍스트 상자 42"/>
            <p:cNvSpPr txBox="1"/>
            <p:nvPr/>
          </p:nvSpPr>
          <p:spPr>
            <a:xfrm>
              <a:off x="5003219" y="2253063"/>
              <a:ext cx="14366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800" dirty="0" smtClean="0">
                  <a:solidFill>
                    <a:srgbClr val="FF0000"/>
                  </a:solidFill>
                </a:rPr>
                <a:t>&lt;CRA</a:t>
              </a:r>
              <a:r>
                <a:rPr kumimoji="1" lang="ko-KR" altLang="en-US" sz="800" dirty="0" smtClean="0">
                  <a:solidFill>
                    <a:srgbClr val="FF0000"/>
                  </a:solidFill>
                </a:rPr>
                <a:t> </a:t>
              </a:r>
              <a:r>
                <a:rPr kumimoji="1" lang="en-US" altLang="ko-KR" sz="800" dirty="0" smtClean="0">
                  <a:solidFill>
                    <a:srgbClr val="FF0000"/>
                  </a:solidFill>
                </a:rPr>
                <a:t>CNCS </a:t>
              </a:r>
              <a:r>
                <a:rPr kumimoji="1" lang="ko-KR" altLang="en-US" sz="800" dirty="0" smtClean="0">
                  <a:solidFill>
                    <a:srgbClr val="FF0000"/>
                  </a:solidFill>
                </a:rPr>
                <a:t>발열판 온도</a:t>
              </a:r>
              <a:r>
                <a:rPr kumimoji="1" lang="en-US" altLang="ko-KR" sz="800" dirty="0" smtClean="0">
                  <a:solidFill>
                    <a:srgbClr val="FF0000"/>
                  </a:solidFill>
                </a:rPr>
                <a:t>&gt;</a:t>
              </a:r>
              <a:endParaRPr kumimoji="1" lang="ko-KR" altLang="en-US" sz="800" dirty="0">
                <a:solidFill>
                  <a:srgbClr val="FF0000"/>
                </a:solidFill>
              </a:endParaRPr>
            </a:p>
          </p:txBody>
        </p:sp>
        <p:cxnSp>
          <p:nvCxnSpPr>
            <p:cNvPr id="44" name="직선 화살표 연결선 43"/>
            <p:cNvCxnSpPr/>
            <p:nvPr/>
          </p:nvCxnSpPr>
          <p:spPr>
            <a:xfrm flipV="1">
              <a:off x="6389244" y="1764473"/>
              <a:ext cx="1220867" cy="2128528"/>
            </a:xfrm>
            <a:prstGeom prst="straightConnector1">
              <a:avLst/>
            </a:prstGeom>
            <a:ln w="254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화살표 연결선 45"/>
            <p:cNvCxnSpPr/>
            <p:nvPr/>
          </p:nvCxnSpPr>
          <p:spPr>
            <a:xfrm flipV="1">
              <a:off x="9090911" y="2852937"/>
              <a:ext cx="109767" cy="1040064"/>
            </a:xfrm>
            <a:prstGeom prst="straightConnector1">
              <a:avLst/>
            </a:prstGeom>
            <a:ln w="254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텍스트 상자 47"/>
            <p:cNvSpPr txBox="1"/>
            <p:nvPr/>
          </p:nvSpPr>
          <p:spPr>
            <a:xfrm>
              <a:off x="5745238" y="4729443"/>
              <a:ext cx="148292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800" dirty="0" smtClean="0"/>
                <a:t>   </a:t>
              </a:r>
              <a:r>
                <a:rPr kumimoji="1" lang="en-US" altLang="ko-KR" sz="800" dirty="0" smtClean="0"/>
                <a:t>-</a:t>
              </a:r>
              <a:r>
                <a:rPr kumimoji="1" lang="ko-KR" altLang="en-US" sz="800" dirty="0" smtClean="0"/>
                <a:t> </a:t>
              </a:r>
              <a:r>
                <a:rPr kumimoji="1" lang="en-US" altLang="ko-KR" sz="800" dirty="0" smtClean="0"/>
                <a:t>CPU </a:t>
              </a:r>
              <a:r>
                <a:rPr kumimoji="1" lang="ko-KR" altLang="en-US" sz="800" dirty="0" smtClean="0"/>
                <a:t>과부하 발생</a:t>
              </a:r>
              <a:r>
                <a:rPr kumimoji="1" lang="en-US" altLang="ko-KR" sz="800" dirty="0" smtClean="0"/>
                <a:t>.</a:t>
              </a:r>
            </a:p>
            <a:p>
              <a:r>
                <a:rPr kumimoji="1" lang="ko-KR" altLang="en-US" sz="800" dirty="0" smtClean="0"/>
                <a:t>     </a:t>
              </a:r>
              <a:r>
                <a:rPr kumimoji="1" lang="ko-KR" altLang="en-US" sz="800" dirty="0" smtClean="0">
                  <a:sym typeface="Wingdings"/>
                </a:rPr>
                <a:t> 자동 방송 기능 저하</a:t>
              </a:r>
              <a:endParaRPr kumimoji="1" lang="en-US" altLang="ko-KR" sz="800" dirty="0" smtClean="0"/>
            </a:p>
            <a:p>
              <a:r>
                <a:rPr kumimoji="1" lang="ko-KR" altLang="en-US" sz="800" dirty="0" smtClean="0"/>
                <a:t>   </a:t>
              </a:r>
              <a:r>
                <a:rPr kumimoji="1" lang="en-US" altLang="ko-KR" sz="800" dirty="0" smtClean="0"/>
                <a:t>-</a:t>
              </a:r>
              <a:r>
                <a:rPr kumimoji="1" lang="ko-KR" altLang="en-US" sz="800" dirty="0" smtClean="0"/>
                <a:t> </a:t>
              </a:r>
              <a:r>
                <a:rPr kumimoji="1" lang="en-US" altLang="ko-KR" sz="800" dirty="0" smtClean="0"/>
                <a:t>CPU </a:t>
              </a:r>
              <a:r>
                <a:rPr kumimoji="1" lang="ko-KR" altLang="en-US" sz="800" dirty="0" smtClean="0"/>
                <a:t>내부 온도 </a:t>
              </a:r>
              <a:r>
                <a:rPr kumimoji="1" lang="en-US" altLang="ko-KR" sz="800" dirty="0" smtClean="0"/>
                <a:t>99</a:t>
              </a:r>
              <a:r>
                <a:rPr kumimoji="1" lang="ko-KR" altLang="en-US" sz="800" dirty="0" smtClean="0"/>
                <a:t>도</a:t>
              </a:r>
              <a:r>
                <a:rPr kumimoji="1" lang="en-US" altLang="ko-KR" sz="800" dirty="0" smtClean="0"/>
                <a:t>.</a:t>
              </a:r>
            </a:p>
            <a:p>
              <a:r>
                <a:rPr kumimoji="1" lang="ko-KR" altLang="en-US" sz="800" dirty="0" smtClean="0"/>
                <a:t>   </a:t>
              </a:r>
              <a:r>
                <a:rPr kumimoji="1" lang="en-US" altLang="ko-KR" sz="800" dirty="0" smtClean="0"/>
                <a:t>-</a:t>
              </a:r>
              <a:r>
                <a:rPr kumimoji="1" lang="ko-KR" altLang="en-US" sz="800" dirty="0" smtClean="0"/>
                <a:t> 발열판 </a:t>
              </a:r>
              <a:r>
                <a:rPr kumimoji="1" lang="en-US" altLang="ko-KR" sz="800" dirty="0" smtClean="0"/>
                <a:t>67</a:t>
              </a:r>
              <a:r>
                <a:rPr kumimoji="1" lang="ko-KR" altLang="en-US" sz="800" dirty="0" smtClean="0"/>
                <a:t>도</a:t>
              </a:r>
              <a:r>
                <a:rPr kumimoji="1" lang="en-US" altLang="ko-KR" sz="800" dirty="0" smtClean="0"/>
                <a:t>.</a:t>
              </a:r>
              <a:r>
                <a:rPr kumimoji="1" lang="ko-KR" altLang="en-US" sz="800" dirty="0" smtClean="0"/>
                <a:t> </a:t>
              </a:r>
              <a:endParaRPr kumimoji="1" lang="ko-KR" altLang="en-US" sz="800" dirty="0"/>
            </a:p>
          </p:txBody>
        </p:sp>
        <p:cxnSp>
          <p:nvCxnSpPr>
            <p:cNvPr id="51" name="직선 화살표 연결선 50"/>
            <p:cNvCxnSpPr/>
            <p:nvPr/>
          </p:nvCxnSpPr>
          <p:spPr>
            <a:xfrm>
              <a:off x="7688510" y="1809302"/>
              <a:ext cx="1440160" cy="1043634"/>
            </a:xfrm>
            <a:prstGeom prst="straightConnector1">
              <a:avLst/>
            </a:prstGeom>
            <a:ln w="12700"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텍스트 상자 52"/>
            <p:cNvSpPr txBox="1"/>
            <p:nvPr/>
          </p:nvSpPr>
          <p:spPr>
            <a:xfrm>
              <a:off x="8536073" y="4720707"/>
              <a:ext cx="132921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800" dirty="0" smtClean="0"/>
                <a:t>   </a:t>
              </a:r>
              <a:r>
                <a:rPr kumimoji="1" lang="en-US" altLang="ko-KR" sz="800" dirty="0" smtClean="0"/>
                <a:t>-</a:t>
              </a:r>
              <a:r>
                <a:rPr kumimoji="1" lang="ko-KR" altLang="en-US" sz="800" dirty="0" smtClean="0"/>
                <a:t> </a:t>
              </a:r>
              <a:r>
                <a:rPr kumimoji="1" lang="en-US" altLang="ko-KR" sz="800" dirty="0" smtClean="0"/>
                <a:t>CPU </a:t>
              </a:r>
              <a:r>
                <a:rPr kumimoji="1" lang="ko-KR" altLang="en-US" sz="800" dirty="0" smtClean="0"/>
                <a:t>내부 온도 </a:t>
              </a:r>
              <a:r>
                <a:rPr kumimoji="1" lang="en-US" altLang="ko-KR" sz="800" dirty="0" smtClean="0"/>
                <a:t>80</a:t>
              </a:r>
              <a:r>
                <a:rPr kumimoji="1" lang="ko-KR" altLang="en-US" sz="800" dirty="0" smtClean="0"/>
                <a:t>도</a:t>
              </a:r>
              <a:r>
                <a:rPr kumimoji="1" lang="en-US" altLang="ko-KR" sz="800" dirty="0" smtClean="0"/>
                <a:t>.</a:t>
              </a:r>
            </a:p>
            <a:p>
              <a:r>
                <a:rPr kumimoji="1" lang="ko-KR" altLang="en-US" sz="800" dirty="0" smtClean="0"/>
                <a:t>   </a:t>
              </a:r>
              <a:r>
                <a:rPr kumimoji="1" lang="en-US" altLang="ko-KR" sz="800" dirty="0" smtClean="0"/>
                <a:t>-</a:t>
              </a:r>
              <a:r>
                <a:rPr kumimoji="1" lang="ko-KR" altLang="en-US" sz="800" dirty="0" smtClean="0"/>
                <a:t> 발열판 </a:t>
              </a:r>
              <a:r>
                <a:rPr kumimoji="1" lang="en-US" altLang="ko-KR" sz="800" dirty="0" smtClean="0"/>
                <a:t>40</a:t>
              </a:r>
              <a:r>
                <a:rPr kumimoji="1" lang="ko-KR" altLang="en-US" sz="800" dirty="0" smtClean="0"/>
                <a:t>도</a:t>
              </a:r>
              <a:r>
                <a:rPr kumimoji="1" lang="en-US" altLang="ko-KR" sz="800" dirty="0" smtClean="0"/>
                <a:t>.</a:t>
              </a:r>
              <a:r>
                <a:rPr kumimoji="1" lang="ko-KR" altLang="en-US" sz="800" dirty="0" smtClean="0"/>
                <a:t> </a:t>
              </a:r>
              <a:endParaRPr kumimoji="1" lang="en-US" altLang="ko-KR" sz="800" dirty="0" smtClean="0"/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7610111" y="1860879"/>
              <a:ext cx="136890" cy="992057"/>
            </a:xfrm>
            <a:prstGeom prst="rect">
              <a:avLst/>
            </a:prstGeom>
            <a:noFill/>
            <a:ln w="9525">
              <a:solidFill>
                <a:srgbClr val="FFFF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7" name="텍스트 상자 56"/>
            <p:cNvSpPr txBox="1"/>
            <p:nvPr/>
          </p:nvSpPr>
          <p:spPr>
            <a:xfrm>
              <a:off x="6922744" y="4100038"/>
              <a:ext cx="160588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800" dirty="0" smtClean="0"/>
                <a:t>   </a:t>
              </a:r>
              <a:r>
                <a:rPr kumimoji="1" lang="en-US" altLang="ko-KR" sz="800" dirty="0" smtClean="0"/>
                <a:t>-</a:t>
              </a:r>
              <a:r>
                <a:rPr kumimoji="1" lang="ko-KR" altLang="en-US" sz="800" dirty="0" smtClean="0"/>
                <a:t> </a:t>
              </a:r>
              <a:r>
                <a:rPr kumimoji="1" lang="en-US" altLang="ko-KR" sz="800" dirty="0" smtClean="0"/>
                <a:t>FAN </a:t>
              </a:r>
              <a:r>
                <a:rPr kumimoji="1" lang="ko-KR" altLang="en-US" sz="800" dirty="0" smtClean="0"/>
                <a:t>동작 </a:t>
              </a:r>
              <a:r>
                <a:rPr kumimoji="1" lang="en-US" altLang="ko-KR" sz="800" dirty="0" smtClean="0"/>
                <a:t>2</a:t>
              </a:r>
              <a:r>
                <a:rPr kumimoji="1" lang="ko-KR" altLang="en-US" sz="800" dirty="0" smtClean="0"/>
                <a:t>분 만에</a:t>
              </a:r>
              <a:endParaRPr kumimoji="1" lang="en-US" altLang="ko-KR" sz="800" dirty="0" smtClean="0"/>
            </a:p>
            <a:p>
              <a:r>
                <a:rPr kumimoji="1" lang="ko-KR" altLang="en-US" sz="800" dirty="0" smtClean="0"/>
                <a:t>      </a:t>
              </a:r>
              <a:r>
                <a:rPr kumimoji="1" lang="ko-KR" altLang="en-US" sz="800" dirty="0" smtClean="0">
                  <a:sym typeface="Wingdings"/>
                </a:rPr>
                <a:t> </a:t>
              </a:r>
              <a:r>
                <a:rPr kumimoji="1" lang="ko-KR" altLang="en-US" sz="800" dirty="0" smtClean="0"/>
                <a:t>발열판 온도 </a:t>
              </a:r>
              <a:r>
                <a:rPr kumimoji="1" lang="en-US" altLang="ko-KR" sz="800" dirty="0" smtClean="0"/>
                <a:t>67</a:t>
              </a:r>
              <a:r>
                <a:rPr kumimoji="1" lang="ko-KR" altLang="en-US" sz="800" dirty="0" smtClean="0"/>
                <a:t> </a:t>
              </a:r>
              <a:r>
                <a:rPr kumimoji="1" lang="en-US" altLang="ko-KR" sz="800" dirty="0" smtClean="0"/>
                <a:t>-&gt;</a:t>
              </a:r>
              <a:r>
                <a:rPr kumimoji="1" lang="ko-KR" altLang="en-US" sz="800" dirty="0" smtClean="0"/>
                <a:t> </a:t>
              </a:r>
              <a:r>
                <a:rPr kumimoji="1" lang="en-US" altLang="ko-KR" sz="800" dirty="0" smtClean="0"/>
                <a:t>50</a:t>
              </a:r>
              <a:endParaRPr kumimoji="1" lang="en-US" altLang="ko-KR" sz="800" dirty="0"/>
            </a:p>
            <a:p>
              <a:r>
                <a:rPr kumimoji="1" lang="ko-KR" altLang="en-US" sz="800" dirty="0" smtClean="0"/>
                <a:t>   </a:t>
              </a:r>
              <a:r>
                <a:rPr kumimoji="1" lang="en-US" altLang="ko-KR" sz="800" dirty="0" smtClean="0"/>
                <a:t>-</a:t>
              </a:r>
              <a:r>
                <a:rPr kumimoji="1" lang="ko-KR" altLang="en-US" sz="800" dirty="0" smtClean="0"/>
                <a:t> 자동 방송 기능 정상 복귀</a:t>
              </a:r>
              <a:r>
                <a:rPr kumimoji="1" lang="en-US" altLang="ko-KR" sz="800" dirty="0" smtClean="0"/>
                <a:t>.</a:t>
              </a:r>
            </a:p>
            <a:p>
              <a:r>
                <a:rPr kumimoji="1" lang="ko-KR" altLang="en-US" sz="800" dirty="0" smtClean="0"/>
                <a:t>     </a:t>
              </a:r>
              <a:endParaRPr kumimoji="1" lang="ko-KR" altLang="en-US" sz="800" dirty="0"/>
            </a:p>
          </p:txBody>
        </p:sp>
        <p:cxnSp>
          <p:nvCxnSpPr>
            <p:cNvPr id="58" name="직선 화살표 연결선 57"/>
            <p:cNvCxnSpPr/>
            <p:nvPr/>
          </p:nvCxnSpPr>
          <p:spPr>
            <a:xfrm flipV="1">
              <a:off x="7670675" y="2852936"/>
              <a:ext cx="17835" cy="1224080"/>
            </a:xfrm>
            <a:prstGeom prst="straightConnector1">
              <a:avLst/>
            </a:prstGeom>
            <a:ln w="254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직사각형 44"/>
          <p:cNvSpPr/>
          <p:nvPr/>
        </p:nvSpPr>
        <p:spPr>
          <a:xfrm>
            <a:off x="116624" y="620688"/>
            <a:ext cx="2935869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CRA </a:t>
            </a:r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동작 환경 온도</a:t>
            </a:r>
            <a:r>
              <a:rPr lang="en-US" altLang="ko-KR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  <a:endParaRPr lang="ko-KR" altLang="en-US" sz="1400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pSp>
        <p:nvGrpSpPr>
          <p:cNvPr id="15" name="그룹 14"/>
          <p:cNvGrpSpPr/>
          <p:nvPr/>
        </p:nvGrpSpPr>
        <p:grpSpPr>
          <a:xfrm>
            <a:off x="497229" y="1725858"/>
            <a:ext cx="2734072" cy="1368994"/>
            <a:chOff x="322011" y="4434675"/>
            <a:chExt cx="1845780" cy="1082743"/>
          </a:xfrm>
        </p:grpSpPr>
        <p:pic>
          <p:nvPicPr>
            <p:cNvPr id="12" name="그림 11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86" t="19551" r="31038" b="30646"/>
            <a:stretch/>
          </p:blipFill>
          <p:spPr>
            <a:xfrm>
              <a:off x="322011" y="4434675"/>
              <a:ext cx="1845780" cy="1082743"/>
            </a:xfrm>
            <a:prstGeom prst="rect">
              <a:avLst/>
            </a:prstGeom>
          </p:spPr>
        </p:pic>
        <p:sp>
          <p:nvSpPr>
            <p:cNvPr id="14" name="타원 13"/>
            <p:cNvSpPr/>
            <p:nvPr/>
          </p:nvSpPr>
          <p:spPr>
            <a:xfrm>
              <a:off x="487710" y="4831364"/>
              <a:ext cx="370412" cy="47451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21" name="그룹 20"/>
          <p:cNvGrpSpPr/>
          <p:nvPr/>
        </p:nvGrpSpPr>
        <p:grpSpPr>
          <a:xfrm>
            <a:off x="3356844" y="1957454"/>
            <a:ext cx="1234502" cy="905801"/>
            <a:chOff x="316421" y="5973151"/>
            <a:chExt cx="1015243" cy="697961"/>
          </a:xfrm>
        </p:grpSpPr>
        <p:pic>
          <p:nvPicPr>
            <p:cNvPr id="18" name="그림 17"/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040" b="22631"/>
            <a:stretch/>
          </p:blipFill>
          <p:spPr>
            <a:xfrm>
              <a:off x="316421" y="6119546"/>
              <a:ext cx="1015243" cy="551566"/>
            </a:xfrm>
            <a:prstGeom prst="rect">
              <a:avLst/>
            </a:prstGeom>
          </p:spPr>
        </p:pic>
        <p:sp>
          <p:nvSpPr>
            <p:cNvPr id="19" name="텍스트 상자 18"/>
            <p:cNvSpPr txBox="1"/>
            <p:nvPr/>
          </p:nvSpPr>
          <p:spPr>
            <a:xfrm>
              <a:off x="571898" y="5973151"/>
              <a:ext cx="55335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mr-IN" altLang="ko-KR" sz="800" dirty="0"/>
                <a:t>TR-71Ui</a:t>
              </a:r>
            </a:p>
            <a:p>
              <a:endParaRPr kumimoji="1" lang="ko-KR" altLang="en-US" dirty="0"/>
            </a:p>
          </p:txBody>
        </p:sp>
      </p:grpSp>
      <p:grpSp>
        <p:nvGrpSpPr>
          <p:cNvPr id="41" name="그룹 40"/>
          <p:cNvGrpSpPr/>
          <p:nvPr/>
        </p:nvGrpSpPr>
        <p:grpSpPr>
          <a:xfrm>
            <a:off x="395693" y="3740136"/>
            <a:ext cx="3975078" cy="2640883"/>
            <a:chOff x="1342071" y="4524201"/>
            <a:chExt cx="3336333" cy="2307241"/>
          </a:xfrm>
        </p:grpSpPr>
        <p:grpSp>
          <p:nvGrpSpPr>
            <p:cNvPr id="35" name="그룹 34"/>
            <p:cNvGrpSpPr/>
            <p:nvPr/>
          </p:nvGrpSpPr>
          <p:grpSpPr>
            <a:xfrm>
              <a:off x="1342071" y="4524201"/>
              <a:ext cx="3336333" cy="2307241"/>
              <a:chOff x="2381345" y="2807377"/>
              <a:chExt cx="5380718" cy="3980089"/>
            </a:xfrm>
          </p:grpSpPr>
          <p:grpSp>
            <p:nvGrpSpPr>
              <p:cNvPr id="24" name="그룹 23"/>
              <p:cNvGrpSpPr/>
              <p:nvPr/>
            </p:nvGrpSpPr>
            <p:grpSpPr>
              <a:xfrm>
                <a:off x="2381345" y="2807377"/>
                <a:ext cx="5380718" cy="3980089"/>
                <a:chOff x="2373653" y="2785415"/>
                <a:chExt cx="5380718" cy="3980089"/>
              </a:xfrm>
            </p:grpSpPr>
            <p:grpSp>
              <p:nvGrpSpPr>
                <p:cNvPr id="3" name="그룹 2"/>
                <p:cNvGrpSpPr/>
                <p:nvPr/>
              </p:nvGrpSpPr>
              <p:grpSpPr>
                <a:xfrm>
                  <a:off x="2373653" y="2785415"/>
                  <a:ext cx="5380718" cy="3980089"/>
                  <a:chOff x="457352" y="4728757"/>
                  <a:chExt cx="3271741" cy="1907627"/>
                </a:xfrm>
              </p:grpSpPr>
              <p:pic>
                <p:nvPicPr>
                  <p:cNvPr id="2" name="그림 1"/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7352" y="4728757"/>
                    <a:ext cx="3271741" cy="1907627"/>
                  </a:xfrm>
                  <a:prstGeom prst="rect">
                    <a:avLst/>
                  </a:prstGeom>
                  <a:ln>
                    <a:noFill/>
                  </a:ln>
                  <a:effectLst>
                    <a:outerShdw blurRad="190500" algn="tl" rotWithShape="0">
                      <a:srgbClr val="000000">
                        <a:alpha val="70000"/>
                      </a:srgbClr>
                    </a:outerShdw>
                  </a:effectLst>
                </p:spPr>
              </p:pic>
              <p:cxnSp>
                <p:nvCxnSpPr>
                  <p:cNvPr id="37" name="직선 화살표 연결선 36"/>
                  <p:cNvCxnSpPr/>
                  <p:nvPr/>
                </p:nvCxnSpPr>
                <p:spPr>
                  <a:xfrm>
                    <a:off x="2796464" y="5215335"/>
                    <a:ext cx="49181" cy="158083"/>
                  </a:xfrm>
                  <a:prstGeom prst="straightConnector1">
                    <a:avLst/>
                  </a:prstGeom>
                  <a:ln w="25400">
                    <a:solidFill>
                      <a:srgbClr val="FFFF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0" name="텍스트 상자 39"/>
                  <p:cNvSpPr txBox="1"/>
                  <p:nvPr/>
                </p:nvSpPr>
                <p:spPr>
                  <a:xfrm>
                    <a:off x="1954929" y="5010825"/>
                    <a:ext cx="1124683" cy="178129"/>
                  </a:xfrm>
                  <a:prstGeom prst="rect">
                    <a:avLst/>
                  </a:prstGeom>
                  <a:noFill/>
                  <a:ln>
                    <a:solidFill>
                      <a:srgbClr val="FFFF00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kumimoji="1" lang="en-US" altLang="ko-KR" sz="800" dirty="0" smtClean="0">
                        <a:solidFill>
                          <a:srgbClr val="FFFF00"/>
                        </a:solidFill>
                      </a:rPr>
                      <a:t>&lt;CRA</a:t>
                    </a:r>
                    <a:r>
                      <a:rPr kumimoji="1" lang="ko-KR" altLang="en-US" sz="800" dirty="0" smtClean="0">
                        <a:solidFill>
                          <a:srgbClr val="FFFF00"/>
                        </a:solidFill>
                      </a:rPr>
                      <a:t> </a:t>
                    </a:r>
                    <a:r>
                      <a:rPr kumimoji="1" lang="en-US" altLang="ko-KR" sz="800" dirty="0" smtClean="0">
                        <a:solidFill>
                          <a:srgbClr val="FFFF00"/>
                        </a:solidFill>
                      </a:rPr>
                      <a:t>CNCS </a:t>
                    </a:r>
                    <a:r>
                      <a:rPr kumimoji="1" lang="ko-KR" altLang="en-US" sz="800" dirty="0" smtClean="0">
                        <a:solidFill>
                          <a:srgbClr val="FFFF00"/>
                        </a:solidFill>
                      </a:rPr>
                      <a:t>상부</a:t>
                    </a:r>
                    <a:r>
                      <a:rPr kumimoji="1" lang="en-US" altLang="ko-KR" sz="800" dirty="0" smtClean="0">
                        <a:solidFill>
                          <a:srgbClr val="FFFF00"/>
                        </a:solidFill>
                      </a:rPr>
                      <a:t> &gt;</a:t>
                    </a:r>
                    <a:endParaRPr kumimoji="1" lang="ko-KR" altLang="en-US" sz="800" dirty="0">
                      <a:solidFill>
                        <a:srgbClr val="FFFF00"/>
                      </a:solidFill>
                    </a:endParaRPr>
                  </a:p>
                </p:txBody>
              </p:sp>
            </p:grpSp>
            <p:cxnSp>
              <p:nvCxnSpPr>
                <p:cNvPr id="49" name="직선 화살표 연결선 48"/>
                <p:cNvCxnSpPr/>
                <p:nvPr/>
              </p:nvCxnSpPr>
              <p:spPr>
                <a:xfrm flipH="1" flipV="1">
                  <a:off x="6193011" y="4224188"/>
                  <a:ext cx="103913" cy="325468"/>
                </a:xfrm>
                <a:prstGeom prst="straightConnector1">
                  <a:avLst/>
                </a:prstGeom>
                <a:ln w="25400">
                  <a:solidFill>
                    <a:srgbClr val="7030A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0" name="텍스트 상자 49"/>
                <p:cNvSpPr txBox="1"/>
                <p:nvPr/>
              </p:nvSpPr>
              <p:spPr>
                <a:xfrm>
                  <a:off x="5721917" y="4572476"/>
                  <a:ext cx="1701121" cy="324697"/>
                </a:xfrm>
                <a:prstGeom prst="rect">
                  <a:avLst/>
                </a:prstGeom>
                <a:noFill/>
                <a:ln>
                  <a:solidFill>
                    <a:srgbClr val="7030A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en-US" altLang="ko-KR" sz="800" dirty="0" smtClean="0">
                      <a:solidFill>
                        <a:srgbClr val="7030A0"/>
                      </a:solidFill>
                    </a:rPr>
                    <a:t>&lt;CRA</a:t>
                  </a:r>
                  <a:r>
                    <a:rPr kumimoji="1" lang="ko-KR" altLang="en-US" sz="800" dirty="0" smtClean="0">
                      <a:solidFill>
                        <a:srgbClr val="7030A0"/>
                      </a:solidFill>
                    </a:rPr>
                    <a:t> 주변 온도</a:t>
                  </a:r>
                  <a:r>
                    <a:rPr kumimoji="1" lang="en-US" altLang="ko-KR" sz="800" dirty="0" smtClean="0">
                      <a:solidFill>
                        <a:srgbClr val="7030A0"/>
                      </a:solidFill>
                    </a:rPr>
                    <a:t> &gt;</a:t>
                  </a:r>
                  <a:endParaRPr kumimoji="1" lang="ko-KR" altLang="en-US" sz="800" dirty="0">
                    <a:solidFill>
                      <a:srgbClr val="7030A0"/>
                    </a:solidFill>
                  </a:endParaRPr>
                </a:p>
              </p:txBody>
            </p:sp>
          </p:grpSp>
          <p:sp>
            <p:nvSpPr>
              <p:cNvPr id="29" name="텍스트 상자 28"/>
              <p:cNvSpPr txBox="1"/>
              <p:nvPr/>
            </p:nvSpPr>
            <p:spPr>
              <a:xfrm>
                <a:off x="3629018" y="2899084"/>
                <a:ext cx="3211807" cy="324697"/>
              </a:xfrm>
              <a:prstGeom prst="rect">
                <a:avLst/>
              </a:prstGeom>
              <a:solidFill>
                <a:srgbClr val="92D05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800" dirty="0" smtClean="0"/>
                  <a:t>4061</a:t>
                </a:r>
                <a:r>
                  <a:rPr kumimoji="1" lang="ko-KR" altLang="en-US" sz="800" dirty="0" smtClean="0"/>
                  <a:t> </a:t>
                </a:r>
                <a:r>
                  <a:rPr kumimoji="1" lang="en-US" altLang="ko-KR" sz="800" dirty="0" smtClean="0"/>
                  <a:t>CRA</a:t>
                </a:r>
                <a:r>
                  <a:rPr kumimoji="1" lang="ko-KR" altLang="en-US" sz="800" dirty="0" smtClean="0"/>
                  <a:t> 주변 온도 측정</a:t>
                </a:r>
                <a:endParaRPr kumimoji="1" lang="ko-KR" altLang="en-US" sz="800" dirty="0"/>
              </a:p>
            </p:txBody>
          </p:sp>
        </p:grpSp>
        <p:sp>
          <p:nvSpPr>
            <p:cNvPr id="54" name="텍스트 상자 53"/>
            <p:cNvSpPr txBox="1"/>
            <p:nvPr/>
          </p:nvSpPr>
          <p:spPr>
            <a:xfrm>
              <a:off x="1736033" y="6230978"/>
              <a:ext cx="1991493" cy="188225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800" dirty="0" smtClean="0"/>
                <a:t>#</a:t>
              </a:r>
              <a:r>
                <a:rPr kumimoji="1" lang="ko-KR" altLang="en-US" sz="800" dirty="0" smtClean="0"/>
                <a:t> </a:t>
              </a:r>
              <a:r>
                <a:rPr kumimoji="1" lang="en-US" altLang="ko-KR" sz="800" dirty="0" smtClean="0"/>
                <a:t>4061</a:t>
              </a:r>
              <a:r>
                <a:rPr kumimoji="1" lang="ko-KR" altLang="en-US" sz="800" dirty="0" smtClean="0"/>
                <a:t> </a:t>
              </a:r>
              <a:r>
                <a:rPr kumimoji="1" lang="en-US" altLang="ko-KR" sz="800" dirty="0" smtClean="0"/>
                <a:t>CRA</a:t>
              </a:r>
              <a:r>
                <a:rPr kumimoji="1" lang="ko-KR" altLang="en-US" sz="800" dirty="0" smtClean="0"/>
                <a:t> 동작 환경 온도 최대 </a:t>
              </a:r>
              <a:r>
                <a:rPr kumimoji="1" lang="en-US" altLang="ko-KR" sz="800" dirty="0" smtClean="0"/>
                <a:t>45</a:t>
              </a:r>
              <a:r>
                <a:rPr kumimoji="1" lang="ko-KR" altLang="en-US" sz="800" dirty="0" smtClean="0"/>
                <a:t>도 확인</a:t>
              </a:r>
              <a:endParaRPr kumimoji="1" lang="ko-KR" altLang="en-US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614322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88761</TotalTime>
  <Words>601</Words>
  <Application>Microsoft Macintosh PowerPoint</Application>
  <PresentationFormat>사용자 지정</PresentationFormat>
  <Paragraphs>129</Paragraphs>
  <Slides>3</Slides>
  <Notes>3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0" baseType="lpstr">
      <vt:lpstr>맑은 고딕</vt:lpstr>
      <vt:lpstr>현대하모니 M</vt:lpstr>
      <vt:lpstr>Mangal</vt:lpstr>
      <vt:lpstr>Wingdings</vt:lpstr>
      <vt:lpstr>Arial</vt:lpstr>
      <vt:lpstr>Office 테마</vt:lpstr>
      <vt:lpstr>워크시트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15.0035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장덕수</cp:lastModifiedBy>
  <cp:revision>1690</cp:revision>
  <cp:lastPrinted>2017-04-11T04:04:18Z</cp:lastPrinted>
  <dcterms:created xsi:type="dcterms:W3CDTF">2014-12-31T05:09:55Z</dcterms:created>
  <dcterms:modified xsi:type="dcterms:W3CDTF">2017-07-10T17:44:43Z</dcterms:modified>
</cp:coreProperties>
</file>