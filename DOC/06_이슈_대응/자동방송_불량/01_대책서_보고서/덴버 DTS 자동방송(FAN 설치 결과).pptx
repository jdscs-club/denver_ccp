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506" r:id="rId2"/>
  </p:sldIdLst>
  <p:sldSz cx="9904413" cy="6858000"/>
  <p:notesSz cx="6807200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>
          <p15:clr>
            <a:srgbClr val="A4A3A4"/>
          </p15:clr>
        </p15:guide>
        <p15:guide id="2" pos="130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A3A3FF"/>
    <a:srgbClr val="FF3737"/>
    <a:srgbClr val="FF3B3B"/>
    <a:srgbClr val="D09E00"/>
    <a:srgbClr val="F2B800"/>
    <a:srgbClr val="7979FF"/>
    <a:srgbClr val="ECECEC"/>
    <a:srgbClr val="BDB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8" autoAdjust="0"/>
    <p:restoredTop sz="96486" autoAdjust="0"/>
  </p:normalViewPr>
  <p:slideViewPr>
    <p:cSldViewPr>
      <p:cViewPr>
        <p:scale>
          <a:sx n="148" d="100"/>
          <a:sy n="148" d="100"/>
        </p:scale>
        <p:origin x="144" y="296"/>
      </p:cViewPr>
      <p:guideLst>
        <p:guide orient="horz" pos="2251"/>
        <p:guide pos="13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4EF19808-07F7-44A4-9714-165D9326F30E}" type="datetimeFigureOut">
              <a:rPr lang="ko-KR" altLang="en-US" smtClean="0"/>
              <a:pPr/>
              <a:t>2017. 7. 16.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6038" y="9440864"/>
            <a:ext cx="2949575" cy="498475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CE8D82EC-425F-4DE6-8A86-E6512495E6B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0991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30" tIns="45715" rIns="91430" bIns="45715" rtlCol="0"/>
          <a:lstStyle>
            <a:lvl1pPr algn="r">
              <a:defRPr sz="1200"/>
            </a:lvl1pPr>
          </a:lstStyle>
          <a:p>
            <a:fld id="{6344DFA3-142A-4FFA-B264-88948DCACF03}" type="datetimeFigureOut">
              <a:rPr lang="ko-KR" altLang="en-US" smtClean="0"/>
              <a:pPr/>
              <a:t>2017. 7. 16.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4375" y="746125"/>
            <a:ext cx="53784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5" rIns="91430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9" y="4721226"/>
            <a:ext cx="5445125" cy="4471988"/>
          </a:xfrm>
          <a:prstGeom prst="rect">
            <a:avLst/>
          </a:prstGeom>
        </p:spPr>
        <p:txBody>
          <a:bodyPr vert="horz" lIns="91430" tIns="45715" rIns="91430" bIns="45715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30" tIns="45715" rIns="91430" bIns="45715" rtlCol="0" anchor="b"/>
          <a:lstStyle>
            <a:lvl1pPr algn="r">
              <a:defRPr sz="1200"/>
            </a:lvl1pPr>
          </a:lstStyle>
          <a:p>
            <a:fld id="{D5B10042-E339-4781-8D95-CF275B61334A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99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4375" y="746125"/>
            <a:ext cx="5378450" cy="3725863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42D71A-2BB0-4599-B8A7-1BF2341DF1AB}" type="slidenum">
              <a:rPr lang="ko-KR" altLang="en-US" smtClean="0">
                <a:solidFill>
                  <a:prstClr val="black"/>
                </a:solidFill>
              </a:rPr>
              <a:pPr/>
              <a:t>1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692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052" y="1122363"/>
            <a:ext cx="7428310" cy="2387600"/>
          </a:xfrm>
        </p:spPr>
        <p:txBody>
          <a:bodyPr anchor="b"/>
          <a:lstStyle>
            <a:lvl1pPr algn="ctr"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052" y="3602038"/>
            <a:ext cx="742831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29" indent="0" algn="ctr">
              <a:buNone/>
              <a:defRPr sz="1625"/>
            </a:lvl2pPr>
            <a:lvl3pPr marL="742859" indent="0" algn="ctr">
              <a:buNone/>
              <a:defRPr sz="1462"/>
            </a:lvl3pPr>
            <a:lvl4pPr marL="1114288" indent="0" algn="ctr">
              <a:buNone/>
              <a:defRPr sz="1300"/>
            </a:lvl4pPr>
            <a:lvl5pPr marL="1485717" indent="0" algn="ctr">
              <a:buNone/>
              <a:defRPr sz="1300"/>
            </a:lvl5pPr>
            <a:lvl6pPr marL="1857146" indent="0" algn="ctr">
              <a:buNone/>
              <a:defRPr sz="1300"/>
            </a:lvl6pPr>
            <a:lvl7pPr marL="2228576" indent="0" algn="ctr">
              <a:buNone/>
              <a:defRPr sz="1300"/>
            </a:lvl7pPr>
            <a:lvl8pPr marL="2600005" indent="0" algn="ctr">
              <a:buNone/>
              <a:defRPr sz="1300"/>
            </a:lvl8pPr>
            <a:lvl9pPr marL="2971434" indent="0" algn="ctr">
              <a:buNone/>
              <a:defRPr sz="13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224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39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5770" y="1709739"/>
            <a:ext cx="8542556" cy="2852737"/>
          </a:xfrm>
        </p:spPr>
        <p:txBody>
          <a:bodyPr anchor="b"/>
          <a:lstStyle>
            <a:lvl1pPr>
              <a:defRPr sz="4874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5770" y="4589464"/>
            <a:ext cx="8542556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29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859" indent="0">
              <a:buNone/>
              <a:defRPr sz="1462">
                <a:solidFill>
                  <a:schemeClr val="tx1">
                    <a:tint val="75000"/>
                  </a:schemeClr>
                </a:solidFill>
              </a:defRPr>
            </a:lvl3pPr>
            <a:lvl4pPr marL="1114288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717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14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576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00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43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3445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0928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14109" y="1825625"/>
            <a:ext cx="4209376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1294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365126"/>
            <a:ext cx="8542556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219" y="1681163"/>
            <a:ext cx="4190031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219" y="2505075"/>
            <a:ext cx="4190031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4109" y="1681163"/>
            <a:ext cx="4210666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29" indent="0">
              <a:buNone/>
              <a:defRPr sz="1625" b="1"/>
            </a:lvl2pPr>
            <a:lvl3pPr marL="742859" indent="0">
              <a:buNone/>
              <a:defRPr sz="1462" b="1"/>
            </a:lvl3pPr>
            <a:lvl4pPr marL="1114288" indent="0">
              <a:buNone/>
              <a:defRPr sz="1300" b="1"/>
            </a:lvl4pPr>
            <a:lvl5pPr marL="1485717" indent="0">
              <a:buNone/>
              <a:defRPr sz="1300" b="1"/>
            </a:lvl5pPr>
            <a:lvl6pPr marL="1857146" indent="0">
              <a:buNone/>
              <a:defRPr sz="1300" b="1"/>
            </a:lvl6pPr>
            <a:lvl7pPr marL="2228576" indent="0">
              <a:buNone/>
              <a:defRPr sz="1300" b="1"/>
            </a:lvl7pPr>
            <a:lvl8pPr marL="2600005" indent="0">
              <a:buNone/>
              <a:defRPr sz="1300" b="1"/>
            </a:lvl8pPr>
            <a:lvl9pPr marL="2971434" indent="0">
              <a:buNone/>
              <a:defRPr sz="13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4109" y="2505075"/>
            <a:ext cx="4210666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9475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34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444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58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219" y="457200"/>
            <a:ext cx="3194431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0666" y="987426"/>
            <a:ext cx="5014109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29" indent="0">
              <a:buNone/>
              <a:defRPr sz="2275"/>
            </a:lvl2pPr>
            <a:lvl3pPr marL="742859" indent="0">
              <a:buNone/>
              <a:defRPr sz="1950"/>
            </a:lvl3pPr>
            <a:lvl4pPr marL="1114288" indent="0">
              <a:buNone/>
              <a:defRPr sz="1625"/>
            </a:lvl4pPr>
            <a:lvl5pPr marL="1485717" indent="0">
              <a:buNone/>
              <a:defRPr sz="1625"/>
            </a:lvl5pPr>
            <a:lvl6pPr marL="1857146" indent="0">
              <a:buNone/>
              <a:defRPr sz="1625"/>
            </a:lvl6pPr>
            <a:lvl7pPr marL="2228576" indent="0">
              <a:buNone/>
              <a:defRPr sz="1625"/>
            </a:lvl7pPr>
            <a:lvl8pPr marL="2600005" indent="0">
              <a:buNone/>
              <a:defRPr sz="1625"/>
            </a:lvl8pPr>
            <a:lvl9pPr marL="2971434" indent="0">
              <a:buNone/>
              <a:defRPr sz="1625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219" y="2057400"/>
            <a:ext cx="3194431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29" indent="0">
              <a:buNone/>
              <a:defRPr sz="1137"/>
            </a:lvl2pPr>
            <a:lvl3pPr marL="742859" indent="0">
              <a:buNone/>
              <a:defRPr sz="975"/>
            </a:lvl3pPr>
            <a:lvl4pPr marL="1114288" indent="0">
              <a:buNone/>
              <a:defRPr sz="812"/>
            </a:lvl4pPr>
            <a:lvl5pPr marL="1485717" indent="0">
              <a:buNone/>
              <a:defRPr sz="812"/>
            </a:lvl5pPr>
            <a:lvl6pPr marL="1857146" indent="0">
              <a:buNone/>
              <a:defRPr sz="812"/>
            </a:lvl6pPr>
            <a:lvl7pPr marL="2228576" indent="0">
              <a:buNone/>
              <a:defRPr sz="812"/>
            </a:lvl7pPr>
            <a:lvl8pPr marL="2600005" indent="0">
              <a:buNone/>
              <a:defRPr sz="812"/>
            </a:lvl8pPr>
            <a:lvl9pPr marL="2971434" indent="0">
              <a:buNone/>
              <a:defRPr sz="812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2494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087846" y="365125"/>
            <a:ext cx="2135639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0928" y="365125"/>
            <a:ext cx="6283112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634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80929" y="365126"/>
            <a:ext cx="854255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0929" y="1825625"/>
            <a:ext cx="8542556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80928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666AE3-AE87-4205-853D-484C272D61D0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2017. 7. 16.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280837" y="6356351"/>
            <a:ext cx="3342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994992" y="6356351"/>
            <a:ext cx="22284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D88EC7-7381-4F8B-AD5F-60609EA3E91F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9787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42859" rtl="0" eaLnBrk="1" latinLnBrk="1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15" indent="-185715" algn="l" defTabSz="742859" rtl="0" eaLnBrk="1" latinLnBrk="1" hangingPunct="1">
        <a:lnSpc>
          <a:spcPct val="90000"/>
        </a:lnSpc>
        <a:spcBef>
          <a:spcPts val="812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144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573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00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671432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2042861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41429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785720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3157149" indent="-185715" algn="l" defTabSz="742859" rtl="0" eaLnBrk="1" latinLnBrk="1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1pPr>
      <a:lvl2pPr marL="37142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2pPr>
      <a:lvl3pPr marL="742859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3pPr>
      <a:lvl4pPr marL="1114288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4pPr>
      <a:lvl5pPr marL="1485717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5pPr>
      <a:lvl6pPr marL="185714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6pPr>
      <a:lvl7pPr marL="2228576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7pPr>
      <a:lvl8pPr marL="2600005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8pPr>
      <a:lvl9pPr marL="2971434" algn="l" defTabSz="742859" rtl="0" eaLnBrk="1" latinLnBrk="1" hangingPunct="1">
        <a:defRPr sz="14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jpeg"/><Relationship Id="rId7" Type="http://schemas.openxmlformats.org/officeDocument/2006/relationships/image" Target="../media/image5.jpeg"/><Relationship Id="rId8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284270"/>
              </p:ext>
            </p:extLst>
          </p:nvPr>
        </p:nvGraphicFramePr>
        <p:xfrm>
          <a:off x="108423" y="116632"/>
          <a:ext cx="9733322" cy="6624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4363"/>
                <a:gridCol w="5158959"/>
              </a:tblGrid>
              <a:tr h="51750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▣ </a:t>
                      </a:r>
                      <a:r>
                        <a:rPr lang="ko-KR" altLang="en-US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자동방송 불량 해결을 위한 차량 시험 결과</a:t>
                      </a:r>
                      <a:r>
                        <a:rPr lang="en-US" altLang="ko-KR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(FAN </a:t>
                      </a:r>
                      <a:r>
                        <a:rPr lang="ko-KR" altLang="en-US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설치 </a:t>
                      </a:r>
                      <a:r>
                        <a:rPr lang="en-US" altLang="ko-KR" sz="1800" b="1" i="1" kern="1200" baseline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3/3)</a:t>
                      </a:r>
                      <a:endParaRPr lang="ko-KR" altLang="en-US" sz="1800" b="1" i="1" kern="1200" baseline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6107233">
                <a:tc>
                  <a:txBody>
                    <a:bodyPr/>
                    <a:lstStyle/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 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</a:t>
                      </a:r>
                      <a:r>
                        <a:rPr lang="en-US" altLang="ko-KR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1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</a:t>
                      </a:r>
                      <a:r>
                        <a:rPr lang="en-US" altLang="ko-KR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일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CRA-CNCS </a:t>
                      </a:r>
                      <a:r>
                        <a:rPr lang="ko-KR" altLang="en-US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발열판 온도 변화를 측정</a:t>
                      </a:r>
                      <a:r>
                        <a:rPr lang="en-US" altLang="ko-KR" sz="11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indent="0" algn="l" defTabSz="742859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000" b="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000" b="0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온도 측정 결과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CRA 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주변 온도 최대 </a:t>
                      </a:r>
                      <a:r>
                        <a:rPr lang="en-US" altLang="ko-KR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45</a:t>
                      </a:r>
                      <a:r>
                        <a:rPr lang="ko-KR" altLang="en-US" sz="12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도 확인</a:t>
                      </a:r>
                      <a:r>
                        <a:rPr lang="en-US" altLang="ko-KR" sz="10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lang="en-US" altLang="ko-KR" sz="1000" b="0" kern="120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99044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200" b="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◈</a:t>
                      </a:r>
                      <a:r>
                        <a:rPr lang="ko-KR" altLang="en-US" sz="14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최종 시험 결과</a:t>
                      </a:r>
                      <a:endParaRPr lang="en-US" altLang="ko-KR" sz="1400" b="1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- 7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월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4066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호 정식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FAN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설치후 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일 동안 모터링 실시</a:t>
                      </a:r>
                      <a:r>
                        <a:rPr lang="en-US" altLang="ko-KR" sz="11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CPU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내부 온도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95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62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  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-&gt;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CNCS 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발열판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75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 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43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도</a:t>
                      </a: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r>
                        <a:rPr lang="ko-KR" altLang="en-US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1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  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#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 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FNA </a:t>
                      </a:r>
                      <a:r>
                        <a:rPr lang="ko-KR" altLang="en-US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설치시 기대 이상 냉각 효과 확인</a:t>
                      </a:r>
                      <a:r>
                        <a:rPr lang="en-US" altLang="ko-KR" sz="14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  <a:sym typeface="Wingdings"/>
                        </a:rPr>
                        <a:t>.</a:t>
                      </a:r>
                      <a:endParaRPr lang="en-US" altLang="ko-KR" sz="14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kern="1200" baseline="0" noProof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kern="1200" baseline="0" noProof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FAN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분만에 자동 방송 정상 동작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  <a:r>
                        <a:rPr lang="ko-KR" altLang="en-US" sz="1100" b="1" kern="1200" baseline="0" noProof="0" dirty="0" smtClean="0">
                          <a:solidFill>
                            <a:srgbClr val="0000FF"/>
                          </a:solidFill>
                          <a:latin typeface="+mn-ea"/>
                          <a:ea typeface="+mn-ea"/>
                          <a:cs typeface="+mn-cs"/>
                        </a:rPr>
                        <a:t>분후 주변온도까지</a:t>
                      </a:r>
                      <a:endParaRPr lang="en-US" altLang="ko-KR" sz="1100" b="1" kern="1200" baseline="0" noProof="0" dirty="0" smtClean="0">
                        <a:solidFill>
                          <a:srgbClr val="0000FF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9044" marR="0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직사각형 12"/>
          <p:cNvSpPr/>
          <p:nvPr/>
        </p:nvSpPr>
        <p:spPr>
          <a:xfrm>
            <a:off x="4684730" y="620688"/>
            <a:ext cx="3291812" cy="322778"/>
          </a:xfrm>
          <a:prstGeom prst="rect">
            <a:avLst/>
          </a:prstGeom>
          <a:solidFill>
            <a:srgbClr val="00B0F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현차 </a:t>
            </a:r>
            <a:r>
              <a:rPr lang="en-US" altLang="ko-KR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후 최종 시험 결과</a:t>
            </a:r>
            <a:endParaRPr lang="ko-KR" altLang="en-US" sz="1400" b="1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116624" y="620688"/>
            <a:ext cx="3611446" cy="322778"/>
          </a:xfrm>
          <a:prstGeom prst="rect">
            <a:avLst/>
          </a:prstGeom>
          <a:solidFill>
            <a:srgbClr val="00B0F0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현차 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FAN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설치 </a:t>
            </a:r>
            <a:r>
              <a:rPr lang="ko-KR" altLang="en-US" sz="1400" b="1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전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 CNCS </a:t>
            </a:r>
            <a:r>
              <a:rPr lang="ko-KR" altLang="en-US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발연판 온도 변화</a:t>
            </a:r>
            <a:r>
              <a:rPr lang="en-US" altLang="ko-KR" sz="1400" dirty="0" smtClean="0">
                <a:solidFill>
                  <a:prstClr val="black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400" dirty="0">
              <a:solidFill>
                <a:prstClr val="black"/>
              </a:solidFill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42" name="그룹 41"/>
          <p:cNvGrpSpPr/>
          <p:nvPr/>
        </p:nvGrpSpPr>
        <p:grpSpPr>
          <a:xfrm>
            <a:off x="497229" y="1725858"/>
            <a:ext cx="2734072" cy="1368994"/>
            <a:chOff x="322011" y="4434675"/>
            <a:chExt cx="1845780" cy="1082743"/>
          </a:xfrm>
        </p:grpSpPr>
        <p:pic>
          <p:nvPicPr>
            <p:cNvPr id="47" name="그림 46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2011" y="4434675"/>
              <a:ext cx="1845780" cy="1082743"/>
            </a:xfrm>
            <a:prstGeom prst="rect">
              <a:avLst/>
            </a:prstGeom>
          </p:spPr>
        </p:pic>
        <p:sp>
          <p:nvSpPr>
            <p:cNvPr id="52" name="타원 51"/>
            <p:cNvSpPr/>
            <p:nvPr/>
          </p:nvSpPr>
          <p:spPr>
            <a:xfrm>
              <a:off x="487710" y="4831364"/>
              <a:ext cx="370412" cy="474514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886800" y="2136595"/>
            <a:ext cx="2316323" cy="1157057"/>
            <a:chOff x="1347979" y="3009562"/>
            <a:chExt cx="1656184" cy="838875"/>
          </a:xfrm>
        </p:grpSpPr>
        <p:pic>
          <p:nvPicPr>
            <p:cNvPr id="41" name="그림 40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>
              <a:off x="1347979" y="3009562"/>
              <a:ext cx="1656184" cy="83887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49" name="타원 48"/>
            <p:cNvSpPr/>
            <p:nvPr/>
          </p:nvSpPr>
          <p:spPr>
            <a:xfrm>
              <a:off x="1896770" y="3149352"/>
              <a:ext cx="558600" cy="288032"/>
            </a:xfrm>
            <a:prstGeom prst="ellipse">
              <a:avLst/>
            </a:prstGeom>
            <a:noFill/>
            <a:ln w="28575">
              <a:solidFill>
                <a:srgbClr val="FF373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271686" y="4077294"/>
            <a:ext cx="4264118" cy="2457167"/>
            <a:chOff x="271686" y="4077294"/>
            <a:chExt cx="4264118" cy="2457167"/>
          </a:xfrm>
        </p:grpSpPr>
        <p:pic>
          <p:nvPicPr>
            <p:cNvPr id="2" name="그림 1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5893" y="4077294"/>
              <a:ext cx="4189911" cy="2457167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0" name="텍스트 상자 49"/>
            <p:cNvSpPr txBox="1"/>
            <p:nvPr/>
          </p:nvSpPr>
          <p:spPr>
            <a:xfrm>
              <a:off x="1467951" y="4133111"/>
              <a:ext cx="2372766" cy="215444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 </a:t>
              </a:r>
              <a:r>
                <a:rPr kumimoji="1" lang="ko-KR" altLang="en-US" sz="800" dirty="0" smtClean="0"/>
                <a:t>발열판 온도 변화</a:t>
              </a:r>
              <a:endParaRPr kumimoji="1" lang="ko-KR" altLang="en-US" sz="800" dirty="0"/>
            </a:p>
          </p:txBody>
        </p:sp>
        <p:cxnSp>
          <p:nvCxnSpPr>
            <p:cNvPr id="54" name="직선 화살표 연결선 53"/>
            <p:cNvCxnSpPr/>
            <p:nvPr/>
          </p:nvCxnSpPr>
          <p:spPr>
            <a:xfrm flipH="1" flipV="1">
              <a:off x="850781" y="4346657"/>
              <a:ext cx="432099" cy="433404"/>
            </a:xfrm>
            <a:prstGeom prst="straightConnector1">
              <a:avLst/>
            </a:prstGeom>
            <a:ln w="25400">
              <a:solidFill>
                <a:srgbClr val="7030A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텍스트 상자 71"/>
            <p:cNvSpPr txBox="1"/>
            <p:nvPr/>
          </p:nvSpPr>
          <p:spPr>
            <a:xfrm>
              <a:off x="1291347" y="4825791"/>
              <a:ext cx="1499340" cy="338554"/>
            </a:xfrm>
            <a:prstGeom prst="rect">
              <a:avLst/>
            </a:prstGeom>
            <a:solidFill>
              <a:srgbClr val="A3A3FF"/>
            </a:solidFill>
            <a:ln>
              <a:solidFill>
                <a:srgbClr val="7030A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7030A0"/>
                  </a:solidFill>
                </a:rPr>
                <a:t>&lt;CRA-CNCS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발열판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7030A0"/>
                  </a:solidFill>
                </a:rPr>
                <a:t>최대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75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도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 평균 </a:t>
              </a:r>
              <a:r>
                <a:rPr kumimoji="1" lang="en-US" altLang="ko-KR" sz="800" dirty="0" smtClean="0">
                  <a:solidFill>
                    <a:srgbClr val="7030A0"/>
                  </a:solidFill>
                </a:rPr>
                <a:t>70</a:t>
              </a:r>
              <a:r>
                <a:rPr kumimoji="1" lang="ko-KR" altLang="en-US" sz="800" dirty="0" smtClean="0">
                  <a:solidFill>
                    <a:srgbClr val="7030A0"/>
                  </a:solidFill>
                </a:rPr>
                <a:t>도 이상</a:t>
              </a:r>
              <a:endParaRPr kumimoji="1" lang="ko-KR" altLang="en-US" sz="800" dirty="0">
                <a:solidFill>
                  <a:srgbClr val="7030A0"/>
                </a:solidFill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 flipH="1">
              <a:off x="850780" y="5401625"/>
              <a:ext cx="577960" cy="264121"/>
            </a:xfrm>
            <a:prstGeom prst="straightConnector1">
              <a:avLst/>
            </a:prstGeom>
            <a:ln w="25400">
              <a:solidFill>
                <a:srgbClr val="FFFF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텍스트 상자 73"/>
            <p:cNvSpPr txBox="1"/>
            <p:nvPr/>
          </p:nvSpPr>
          <p:spPr>
            <a:xfrm>
              <a:off x="1443061" y="5401625"/>
              <a:ext cx="1366460" cy="338554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>
                  <a:solidFill>
                    <a:srgbClr val="FFFF00"/>
                  </a:solidFill>
                </a:rPr>
                <a:t>&lt;CRA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CNCS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주변 온도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&gt;</a:t>
              </a:r>
            </a:p>
            <a:p>
              <a:pPr algn="ctr"/>
              <a:r>
                <a:rPr kumimoji="1" lang="ko-KR" altLang="en-US" sz="800" dirty="0" smtClean="0">
                  <a:solidFill>
                    <a:srgbClr val="FFFF00"/>
                  </a:solidFill>
                </a:rPr>
                <a:t>최대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40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도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/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 평균 </a:t>
              </a:r>
              <a:r>
                <a:rPr kumimoji="1" lang="en-US" altLang="ko-KR" sz="800" dirty="0" smtClean="0">
                  <a:solidFill>
                    <a:srgbClr val="FFFF00"/>
                  </a:solidFill>
                </a:rPr>
                <a:t>30</a:t>
              </a:r>
              <a:r>
                <a:rPr kumimoji="1" lang="ko-KR" altLang="en-US" sz="800" dirty="0" smtClean="0">
                  <a:solidFill>
                    <a:srgbClr val="FFFF00"/>
                  </a:solidFill>
                </a:rPr>
                <a:t>도</a:t>
              </a:r>
              <a:endParaRPr kumimoji="1" lang="ko-KR" altLang="en-US" sz="800" dirty="0">
                <a:solidFill>
                  <a:srgbClr val="FFFF00"/>
                </a:solidFill>
              </a:endParaRPr>
            </a:p>
          </p:txBody>
        </p:sp>
        <p:sp>
          <p:nvSpPr>
            <p:cNvPr id="75" name="텍스트 상자 74"/>
            <p:cNvSpPr txBox="1"/>
            <p:nvPr/>
          </p:nvSpPr>
          <p:spPr>
            <a:xfrm>
              <a:off x="497230" y="6104392"/>
              <a:ext cx="2798792" cy="215444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800" dirty="0" smtClean="0"/>
                <a:t>#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4066</a:t>
              </a:r>
              <a:r>
                <a:rPr kumimoji="1" lang="ko-KR" altLang="en-US" sz="800" dirty="0" smtClean="0"/>
                <a:t> </a:t>
              </a:r>
              <a:r>
                <a:rPr kumimoji="1" lang="en-US" altLang="ko-KR" sz="800" dirty="0" smtClean="0"/>
                <a:t>CRA-CNCS</a:t>
              </a:r>
              <a:r>
                <a:rPr kumimoji="1" lang="ko-KR" altLang="en-US" sz="800" dirty="0" smtClean="0"/>
                <a:t> 발열판 온도는 장치 동작시 평균 </a:t>
              </a:r>
              <a:r>
                <a:rPr kumimoji="1" lang="en-US" altLang="ko-KR" sz="800" dirty="0" smtClean="0"/>
                <a:t>70</a:t>
              </a:r>
              <a:r>
                <a:rPr kumimoji="1" lang="ko-KR" altLang="en-US" sz="800" dirty="0" smtClean="0"/>
                <a:t>도 </a:t>
              </a:r>
              <a:endParaRPr kumimoji="1" lang="ko-KR" altLang="en-US" sz="800" dirty="0"/>
            </a:p>
          </p:txBody>
        </p:sp>
        <p:sp>
          <p:nvSpPr>
            <p:cNvPr id="16" name="타원 15"/>
            <p:cNvSpPr/>
            <p:nvPr/>
          </p:nvSpPr>
          <p:spPr>
            <a:xfrm>
              <a:off x="271686" y="4346657"/>
              <a:ext cx="360040" cy="37848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4792673" y="2377082"/>
            <a:ext cx="4780611" cy="4220270"/>
            <a:chOff x="4792673" y="2348880"/>
            <a:chExt cx="4780611" cy="4220270"/>
          </a:xfrm>
        </p:grpSpPr>
        <p:pic>
          <p:nvPicPr>
            <p:cNvPr id="76" name="그림 75"/>
            <p:cNvPicPr>
              <a:picLocks noChangeAspect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5124540" y="2234018"/>
              <a:ext cx="1205950" cy="1435674"/>
            </a:xfrm>
            <a:prstGeom prst="rect">
              <a:avLst/>
            </a:prstGeom>
          </p:spPr>
        </p:pic>
        <p:pic>
          <p:nvPicPr>
            <p:cNvPr id="15" name="그림 14"/>
            <p:cNvPicPr>
              <a:picLocks noChangeAspect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5400000">
              <a:off x="7836747" y="2200643"/>
              <a:ext cx="1215694" cy="1512168"/>
            </a:xfrm>
            <a:prstGeom prst="rect">
              <a:avLst/>
            </a:prstGeom>
          </p:spPr>
        </p:pic>
        <p:grpSp>
          <p:nvGrpSpPr>
            <p:cNvPr id="19" name="그룹 18"/>
            <p:cNvGrpSpPr/>
            <p:nvPr/>
          </p:nvGrpSpPr>
          <p:grpSpPr>
            <a:xfrm>
              <a:off x="4792673" y="3690579"/>
              <a:ext cx="4780611" cy="2878571"/>
              <a:chOff x="4792673" y="3690579"/>
              <a:chExt cx="4780611" cy="2878571"/>
            </a:xfrm>
          </p:grpSpPr>
          <p:pic>
            <p:nvPicPr>
              <p:cNvPr id="14" name="그림 13"/>
              <p:cNvPicPr>
                <a:picLocks noChangeAspect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4828553" y="3690579"/>
                <a:ext cx="4744731" cy="2878571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77" name="텍스트 상자 76"/>
              <p:cNvSpPr txBox="1"/>
              <p:nvPr/>
            </p:nvSpPr>
            <p:spPr>
              <a:xfrm>
                <a:off x="6156326" y="3884729"/>
                <a:ext cx="2372766" cy="215444"/>
              </a:xfrm>
              <a:prstGeom prst="rect">
                <a:avLst/>
              </a:prstGeom>
              <a:solidFill>
                <a:srgbClr val="92D05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 </a:t>
                </a:r>
                <a:r>
                  <a:rPr kumimoji="1" lang="ko-KR" altLang="en-US" sz="800" dirty="0" smtClean="0"/>
                  <a:t>발열판 온도 변화</a:t>
                </a:r>
                <a:endParaRPr kumimoji="1" lang="ko-KR" altLang="en-US" sz="800" dirty="0"/>
              </a:p>
            </p:txBody>
          </p:sp>
          <p:sp>
            <p:nvSpPr>
              <p:cNvPr id="78" name="타원 77"/>
              <p:cNvSpPr/>
              <p:nvPr/>
            </p:nvSpPr>
            <p:spPr>
              <a:xfrm>
                <a:off x="4792673" y="4100173"/>
                <a:ext cx="360040" cy="378487"/>
              </a:xfrm>
              <a:prstGeom prst="ellipse">
                <a:avLst/>
              </a:prstGeom>
              <a:noFill/>
              <a:ln w="190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ko-KR" altLang="en-US"/>
              </a:p>
            </p:txBody>
          </p:sp>
          <p:cxnSp>
            <p:nvCxnSpPr>
              <p:cNvPr id="79" name="직선 화살표 연결선 78"/>
              <p:cNvCxnSpPr/>
              <p:nvPr/>
            </p:nvCxnSpPr>
            <p:spPr>
              <a:xfrm flipH="1" flipV="1">
                <a:off x="6887904" y="4126611"/>
                <a:ext cx="432099" cy="433404"/>
              </a:xfrm>
              <a:prstGeom prst="straightConnector1">
                <a:avLst/>
              </a:prstGeom>
              <a:ln w="254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0" name="텍스트 상자 79"/>
              <p:cNvSpPr txBox="1"/>
              <p:nvPr/>
            </p:nvSpPr>
            <p:spPr>
              <a:xfrm>
                <a:off x="7328470" y="4605745"/>
                <a:ext cx="1499340" cy="338554"/>
              </a:xfrm>
              <a:prstGeom prst="rect">
                <a:avLst/>
              </a:prstGeom>
              <a:solidFill>
                <a:srgbClr val="A3A3FF"/>
              </a:solidFill>
              <a:ln>
                <a:solidFill>
                  <a:srgbClr val="7030A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&lt;CRA-CNCS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발열판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43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도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7030A0"/>
                    </a:solidFill>
                  </a:rPr>
                  <a:t>40</a:t>
                </a:r>
                <a:r>
                  <a:rPr kumimoji="1" lang="ko-KR" altLang="en-US" sz="800" dirty="0" smtClean="0">
                    <a:solidFill>
                      <a:srgbClr val="7030A0"/>
                    </a:solidFill>
                  </a:rPr>
                  <a:t>도 이상</a:t>
                </a:r>
                <a:endParaRPr kumimoji="1" lang="ko-KR" altLang="en-US" sz="800" dirty="0">
                  <a:solidFill>
                    <a:srgbClr val="7030A0"/>
                  </a:solidFill>
                </a:endParaRPr>
              </a:p>
            </p:txBody>
          </p:sp>
          <p:cxnSp>
            <p:nvCxnSpPr>
              <p:cNvPr id="81" name="직선 화살표 연결선 80"/>
              <p:cNvCxnSpPr/>
              <p:nvPr/>
            </p:nvCxnSpPr>
            <p:spPr>
              <a:xfrm flipH="1" flipV="1">
                <a:off x="6887904" y="5203163"/>
                <a:ext cx="391087" cy="383948"/>
              </a:xfrm>
              <a:prstGeom prst="straightConnector1">
                <a:avLst/>
              </a:prstGeom>
              <a:ln w="25400">
                <a:solidFill>
                  <a:srgbClr val="FFFF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2" name="텍스트 상자 81"/>
              <p:cNvSpPr txBox="1"/>
              <p:nvPr/>
            </p:nvSpPr>
            <p:spPr>
              <a:xfrm>
                <a:off x="7293312" y="5587111"/>
                <a:ext cx="1366460" cy="338554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&lt;CRA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CNCS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주변 온도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&gt;</a:t>
                </a:r>
              </a:p>
              <a:p>
                <a:pPr algn="ctr"/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최대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35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도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/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 평균 </a:t>
                </a:r>
                <a:r>
                  <a:rPr kumimoji="1" lang="en-US" altLang="ko-KR" sz="800" dirty="0" smtClean="0">
                    <a:solidFill>
                      <a:srgbClr val="FFFF00"/>
                    </a:solidFill>
                  </a:rPr>
                  <a:t>30</a:t>
                </a:r>
                <a:r>
                  <a:rPr kumimoji="1" lang="ko-KR" altLang="en-US" sz="800" dirty="0" smtClean="0">
                    <a:solidFill>
                      <a:srgbClr val="FFFF00"/>
                    </a:solidFill>
                  </a:rPr>
                  <a:t>도</a:t>
                </a:r>
                <a:endParaRPr kumimoji="1" lang="ko-KR" altLang="en-US" sz="800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83" name="텍스트 상자 82"/>
              <p:cNvSpPr txBox="1"/>
              <p:nvPr/>
            </p:nvSpPr>
            <p:spPr>
              <a:xfrm>
                <a:off x="5105742" y="6086499"/>
                <a:ext cx="2798792" cy="215444"/>
              </a:xfrm>
              <a:prstGeom prst="rect">
                <a:avLst/>
              </a:prstGeom>
              <a:solidFill>
                <a:srgbClr val="FF0000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ko-KR" sz="800" dirty="0" smtClean="0"/>
                  <a:t>#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4066</a:t>
                </a:r>
                <a:r>
                  <a:rPr kumimoji="1" lang="ko-KR" altLang="en-US" sz="800" dirty="0" smtClean="0"/>
                  <a:t> </a:t>
                </a:r>
                <a:r>
                  <a:rPr kumimoji="1" lang="en-US" altLang="ko-KR" sz="800" dirty="0" smtClean="0"/>
                  <a:t>CRA-CNCS</a:t>
                </a:r>
                <a:r>
                  <a:rPr kumimoji="1" lang="ko-KR" altLang="en-US" sz="800" dirty="0" smtClean="0"/>
                  <a:t> 발열판 온도는 장치 동작시 평균 </a:t>
                </a:r>
                <a:r>
                  <a:rPr kumimoji="1" lang="en-US" altLang="ko-KR" sz="800" dirty="0" smtClean="0"/>
                  <a:t>40</a:t>
                </a:r>
                <a:r>
                  <a:rPr kumimoji="1" lang="ko-KR" altLang="en-US" sz="800" dirty="0" smtClean="0"/>
                  <a:t>도 </a:t>
                </a:r>
                <a:endParaRPr kumimoji="1" lang="ko-KR" altLang="en-US" sz="800" dirty="0"/>
              </a:p>
            </p:txBody>
          </p:sp>
        </p:grpSp>
        <p:sp>
          <p:nvSpPr>
            <p:cNvPr id="20" name="오른쪽 화살표[R] 19"/>
            <p:cNvSpPr/>
            <p:nvPr/>
          </p:nvSpPr>
          <p:spPr>
            <a:xfrm>
              <a:off x="6690582" y="2663483"/>
              <a:ext cx="713721" cy="484809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502142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88705</TotalTime>
  <Words>204</Words>
  <Application>Microsoft Macintosh PowerPoint</Application>
  <PresentationFormat>사용자 지정</PresentationFormat>
  <Paragraphs>48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현대하모니 M</vt:lpstr>
      <vt:lpstr>Wingdings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15.0036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장덕수</cp:lastModifiedBy>
  <cp:revision>1681</cp:revision>
  <cp:lastPrinted>2017-07-16T18:27:26Z</cp:lastPrinted>
  <dcterms:created xsi:type="dcterms:W3CDTF">2014-12-31T05:09:55Z</dcterms:created>
  <dcterms:modified xsi:type="dcterms:W3CDTF">2017-07-16T18:29:37Z</dcterms:modified>
</cp:coreProperties>
</file>