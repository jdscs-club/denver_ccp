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500" r:id="rId2"/>
    <p:sldId id="503" r:id="rId3"/>
    <p:sldId id="505" r:id="rId4"/>
    <p:sldId id="506" r:id="rId5"/>
    <p:sldId id="507" r:id="rId6"/>
    <p:sldId id="508" r:id="rId7"/>
    <p:sldId id="509" r:id="rId8"/>
    <p:sldId id="510" r:id="rId9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3A3FF"/>
    <a:srgbClr val="FF3737"/>
    <a:srgbClr val="FF3B3B"/>
    <a:srgbClr val="D09E00"/>
    <a:srgbClr val="F2B800"/>
    <a:srgbClr val="7979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 autoAdjust="0"/>
    <p:restoredTop sz="96464" autoAdjust="0"/>
  </p:normalViewPr>
  <p:slideViewPr>
    <p:cSldViewPr>
      <p:cViewPr varScale="1">
        <p:scale>
          <a:sx n="115" d="100"/>
          <a:sy n="115" d="100"/>
        </p:scale>
        <p:origin x="546" y="63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2018-01-10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2018-01-10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7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429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957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9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281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903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7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32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2018-01-10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image" Target="../media/image1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045036"/>
              </p:ext>
            </p:extLst>
          </p:nvPr>
        </p:nvGraphicFramePr>
        <p:xfrm>
          <a:off x="108423" y="116632"/>
          <a:ext cx="9733322" cy="6741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97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자동방송 불량 해결을 위한 진행 사항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8395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현 상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① There is no auto announcement, this CNCS board is defective.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② DTO reported No auto announcement at </a:t>
                      </a:r>
                      <a:r>
                        <a:rPr lang="en-US" altLang="ko-KR" sz="1000" b="0" kern="1200" baseline="0" noProof="0" dirty="0" err="1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westminster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station.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원 인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①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외부 장치에 이상 동작에 따른 네트워크 과 부하 현상이 발생되어 네트   워크 트래픽이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50%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까지 지속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반복 발생되면서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CPU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부하율이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80%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이상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상승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하강을 반복하면서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CNCS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오동작 및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Conga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모듈 내부 온도가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95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도 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이상 발생되어 방송 불량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②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네트워크 스위치를 통해 수신받은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GPS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데이터에서 정상적인 위치 값이 아닌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/>
                      </a:r>
                      <a:b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</a:b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잘못된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위치 값이 수신됨을 확인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발생 현황</a:t>
                      </a: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기간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2017.05.01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08.10 (38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/33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개편성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추진계획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1)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하드웨어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①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CNCS Conga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모듈 내부 온도 상승 방지를 위해 강제 냉각을 통한 </a:t>
                      </a:r>
                      <a:endParaRPr lang="en-US" altLang="ko-KR" sz="1000" b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          기능 동작 확보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소프트 웨어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①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GPS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이상 데이타 필터 및 백업 알고리즘 보완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     ②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네트워트 이상 동작에 따른 과부하 현상 차단 알고리즘 확보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16625" y="627653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문제점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708257" y="3763484"/>
            <a:ext cx="120680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개선대책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720956" y="3971400"/>
            <a:ext cx="1205950" cy="1435674"/>
          </a:xfrm>
          <a:prstGeom prst="rect">
            <a:avLst/>
          </a:prstGeom>
        </p:spPr>
      </p:pic>
      <p:sp>
        <p:nvSpPr>
          <p:cNvPr id="82" name="텍스트 상자 81"/>
          <p:cNvSpPr txBox="1"/>
          <p:nvPr/>
        </p:nvSpPr>
        <p:spPr>
          <a:xfrm>
            <a:off x="2697798" y="5407328"/>
            <a:ext cx="12522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800" dirty="0" smtClean="0">
                <a:latin typeface="+mn-ea"/>
              </a:rPr>
              <a:t>&lt;CPU </a:t>
            </a:r>
            <a:r>
              <a:rPr kumimoji="1" lang="ko-KR" altLang="en-US" sz="800" dirty="0" smtClean="0">
                <a:latin typeface="+mn-ea"/>
              </a:rPr>
              <a:t>내부 온도 상승</a:t>
            </a:r>
            <a:r>
              <a:rPr kumimoji="1" lang="en-US" altLang="ko-KR" sz="800" dirty="0" smtClean="0">
                <a:latin typeface="+mn-ea"/>
              </a:rPr>
              <a:t>&gt;</a:t>
            </a:r>
            <a:endParaRPr kumimoji="1" lang="ko-KR" altLang="en-US" sz="800" dirty="0">
              <a:latin typeface="+mn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110" y="1843592"/>
            <a:ext cx="1533893" cy="86656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886" y="2099842"/>
            <a:ext cx="2448272" cy="142311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528" y="5421809"/>
            <a:ext cx="1524373" cy="102426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551" y="4077821"/>
            <a:ext cx="1516515" cy="102426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05825" y="5191884"/>
            <a:ext cx="170751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latin typeface="+mn-ea"/>
              </a:rPr>
              <a:t>&lt;</a:t>
            </a:r>
            <a:r>
              <a:rPr lang="ko-KR" altLang="en-US" sz="800" dirty="0" smtClean="0">
                <a:latin typeface="+mn-ea"/>
              </a:rPr>
              <a:t>네트워크 트래픽 발생 시 상황</a:t>
            </a:r>
            <a:r>
              <a:rPr lang="en-US" altLang="ko-KR" sz="800" dirty="0" smtClean="0">
                <a:latin typeface="+mn-ea"/>
              </a:rPr>
              <a:t>&gt;</a:t>
            </a:r>
            <a:endParaRPr lang="ko-KR" altLang="en-US" sz="8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08423" y="6469755"/>
            <a:ext cx="220765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 smtClean="0">
                <a:latin typeface="+mn-ea"/>
              </a:rPr>
              <a:t>&lt;</a:t>
            </a:r>
            <a:r>
              <a:rPr lang="ko-KR" altLang="en-US" sz="800" dirty="0" smtClean="0">
                <a:latin typeface="+mn-ea"/>
              </a:rPr>
              <a:t>네트워크 트래픽 발생 시 </a:t>
            </a:r>
            <a:r>
              <a:rPr lang="en-US" altLang="ko-KR" sz="800" dirty="0" smtClean="0">
                <a:latin typeface="+mn-ea"/>
              </a:rPr>
              <a:t>CNCS CPU</a:t>
            </a:r>
            <a:r>
              <a:rPr lang="ko-KR" altLang="en-US" sz="800" dirty="0" smtClean="0">
                <a:latin typeface="+mn-ea"/>
              </a:rPr>
              <a:t>부하</a:t>
            </a:r>
            <a:r>
              <a:rPr lang="en-US" altLang="ko-KR" sz="800" dirty="0" smtClean="0">
                <a:latin typeface="+mn-ea"/>
              </a:rPr>
              <a:t>&gt;</a:t>
            </a:r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190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545990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1/4)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설치 방 법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4035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편성에서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설치 하여 온도 변화 시험 실시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1) CAR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상부에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기록계 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3) CRA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차량에 설치 한다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.(FAN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동작 방법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차량 전원을 동작 전원으로 사용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센서를 통해 동작 온도를 설정 할 수 있다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주면 온도가 설정 온도보다 높을 경우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FAN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동작을 실시 한다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66977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구성품 설명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및 동작 방법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..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77760" y="1700808"/>
            <a:ext cx="4241434" cy="1008112"/>
            <a:chOff x="277760" y="1808338"/>
            <a:chExt cx="4241434" cy="1008112"/>
          </a:xfrm>
        </p:grpSpPr>
        <p:sp>
          <p:nvSpPr>
            <p:cNvPr id="8" name="텍스트 상자 7"/>
            <p:cNvSpPr txBox="1"/>
            <p:nvPr/>
          </p:nvSpPr>
          <p:spPr>
            <a:xfrm>
              <a:off x="370233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>
                  <a:latin typeface="+mn-ea"/>
                </a:rPr>
                <a:t>&lt;FAN</a:t>
              </a:r>
              <a:r>
                <a:rPr kumimoji="1" lang="ko-KR" altLang="en-US" sz="800" dirty="0" smtClean="0">
                  <a:latin typeface="+mn-ea"/>
                </a:rPr>
                <a:t> 설치 전</a:t>
              </a:r>
              <a:r>
                <a:rPr kumimoji="1" lang="en-US" altLang="ko-KR" sz="800" dirty="0" smtClean="0">
                  <a:latin typeface="+mn-ea"/>
                </a:rPr>
                <a:t>&gt;</a:t>
              </a:r>
              <a:endParaRPr kumimoji="1" lang="ko-KR" altLang="en-US" sz="800" dirty="0">
                <a:latin typeface="+mn-ea"/>
              </a:endParaRPr>
            </a:p>
          </p:txBody>
        </p:sp>
        <p:sp>
          <p:nvSpPr>
            <p:cNvPr id="82" name="텍스트 상자 81"/>
            <p:cNvSpPr txBox="1"/>
            <p:nvPr/>
          </p:nvSpPr>
          <p:spPr>
            <a:xfrm>
              <a:off x="3196572" y="2601006"/>
              <a:ext cx="90762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>
                  <a:latin typeface="+mn-ea"/>
                </a:rPr>
                <a:t>&lt;FAN </a:t>
              </a:r>
              <a:r>
                <a:rPr kumimoji="1" lang="ko-KR" altLang="en-US" sz="800" dirty="0" smtClean="0">
                  <a:latin typeface="+mn-ea"/>
                </a:rPr>
                <a:t>설치 후</a:t>
              </a:r>
              <a:r>
                <a:rPr kumimoji="1" lang="en-US" altLang="ko-KR" sz="800" dirty="0" smtClean="0">
                  <a:latin typeface="+mn-ea"/>
                </a:rPr>
                <a:t>&gt;</a:t>
              </a:r>
              <a:endParaRPr kumimoji="1" lang="ko-KR" altLang="en-US" sz="800" dirty="0">
                <a:latin typeface="+mn-ea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277760" y="1808338"/>
              <a:ext cx="4241434" cy="828574"/>
              <a:chOff x="277760" y="1520306"/>
              <a:chExt cx="4241434" cy="828574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 rot="10800000">
                <a:off x="277760" y="1628800"/>
                <a:ext cx="1160725" cy="720080"/>
              </a:xfrm>
              <a:prstGeom prst="rect">
                <a:avLst/>
              </a:prstGeom>
            </p:spPr>
          </p:pic>
          <p:grpSp>
            <p:nvGrpSpPr>
              <p:cNvPr id="11" name="그룹 10"/>
              <p:cNvGrpSpPr/>
              <p:nvPr/>
            </p:nvGrpSpPr>
            <p:grpSpPr>
              <a:xfrm>
                <a:off x="2863974" y="1520306"/>
                <a:ext cx="1655220" cy="827610"/>
                <a:chOff x="-64703" y="481131"/>
                <a:chExt cx="9953262" cy="4360296"/>
              </a:xfrm>
            </p:grpSpPr>
            <p:pic>
              <p:nvPicPr>
                <p:cNvPr id="6" name="그림 5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 rot="10800000">
                  <a:off x="-64703" y="481131"/>
                  <a:ext cx="9953262" cy="4360296"/>
                </a:xfrm>
                <a:prstGeom prst="rect">
                  <a:avLst/>
                </a:prstGeom>
              </p:spPr>
            </p:pic>
            <p:sp>
              <p:nvSpPr>
                <p:cNvPr id="7" name="직사각형 6"/>
                <p:cNvSpPr/>
                <p:nvPr/>
              </p:nvSpPr>
              <p:spPr>
                <a:xfrm>
                  <a:off x="1207786" y="1239885"/>
                  <a:ext cx="7820558" cy="1276651"/>
                </a:xfrm>
                <a:prstGeom prst="rect">
                  <a:avLst/>
                </a:prstGeom>
                <a:noFill/>
                <a:ln w="28575">
                  <a:solidFill>
                    <a:srgbClr val="FF373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>
                    <a:latin typeface="+mn-ea"/>
                  </a:endParaRPr>
                </a:p>
              </p:txBody>
            </p:sp>
          </p:grpSp>
          <p:sp>
            <p:nvSpPr>
              <p:cNvPr id="16" name="오른쪽 화살표[R] 15"/>
              <p:cNvSpPr/>
              <p:nvPr/>
            </p:nvSpPr>
            <p:spPr>
              <a:xfrm>
                <a:off x="1938281" y="1728173"/>
                <a:ext cx="661889" cy="48463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+mn-ea"/>
                </a:endParaRPr>
              </a:p>
            </p:txBody>
          </p:sp>
        </p:grpSp>
      </p:grpSp>
      <p:grpSp>
        <p:nvGrpSpPr>
          <p:cNvPr id="28" name="그룹 27"/>
          <p:cNvGrpSpPr/>
          <p:nvPr/>
        </p:nvGrpSpPr>
        <p:grpSpPr>
          <a:xfrm>
            <a:off x="1427167" y="3061857"/>
            <a:ext cx="1656184" cy="838875"/>
            <a:chOff x="1347979" y="3009562"/>
            <a:chExt cx="1656184" cy="83887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</p:spPr>
        </p:pic>
        <p:sp>
          <p:nvSpPr>
            <p:cNvPr id="27" name="타원 26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1427167" y="4509120"/>
            <a:ext cx="1680736" cy="945297"/>
            <a:chOff x="1323427" y="4365243"/>
            <a:chExt cx="1680736" cy="945297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23427" y="4365243"/>
              <a:ext cx="1680736" cy="945297"/>
            </a:xfrm>
            <a:prstGeom prst="rect">
              <a:avLst/>
            </a:prstGeom>
          </p:spPr>
        </p:pic>
        <p:sp>
          <p:nvSpPr>
            <p:cNvPr id="31" name="모서리가 둥근 직사각형 30"/>
            <p:cNvSpPr/>
            <p:nvPr/>
          </p:nvSpPr>
          <p:spPr>
            <a:xfrm>
              <a:off x="1438485" y="4365243"/>
              <a:ext cx="1565678" cy="287893"/>
            </a:xfrm>
            <a:prstGeom prst="roundRect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</p:grpSp>
      <p:sp>
        <p:nvSpPr>
          <p:cNvPr id="45" name="직사각형 44"/>
          <p:cNvSpPr/>
          <p:nvPr/>
        </p:nvSpPr>
        <p:spPr>
          <a:xfrm>
            <a:off x="11662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CRA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상부 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설치 방법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3196572" y="3141604"/>
            <a:ext cx="1091449" cy="691424"/>
            <a:chOff x="316421" y="5973151"/>
            <a:chExt cx="1015243" cy="697961"/>
          </a:xfrm>
        </p:grpSpPr>
        <p:pic>
          <p:nvPicPr>
            <p:cNvPr id="60" name="그림 5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61" name="텍스트 상자 60"/>
            <p:cNvSpPr txBox="1"/>
            <p:nvPr/>
          </p:nvSpPr>
          <p:spPr>
            <a:xfrm>
              <a:off x="571898" y="5973151"/>
              <a:ext cx="514721" cy="4970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>
                  <a:latin typeface="+mn-ea"/>
                </a:rPr>
                <a:t>TR-71Ui</a:t>
              </a:r>
            </a:p>
            <a:p>
              <a:endParaRPr kumimoji="1" lang="ko-KR" altLang="en-US" dirty="0">
                <a:latin typeface="+mn-ea"/>
              </a:endParaRP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5168230" y="2924944"/>
            <a:ext cx="4222836" cy="2738480"/>
            <a:chOff x="4940125" y="3310233"/>
            <a:chExt cx="4222836" cy="2738480"/>
          </a:xfrm>
        </p:grpSpPr>
        <p:grpSp>
          <p:nvGrpSpPr>
            <p:cNvPr id="23" name="그룹 22"/>
            <p:cNvGrpSpPr/>
            <p:nvPr/>
          </p:nvGrpSpPr>
          <p:grpSpPr>
            <a:xfrm>
              <a:off x="5489417" y="3629435"/>
              <a:ext cx="3673544" cy="2419278"/>
              <a:chOff x="5168230" y="3833028"/>
              <a:chExt cx="3673544" cy="2419278"/>
            </a:xfrm>
          </p:grpSpPr>
          <p:pic>
            <p:nvPicPr>
              <p:cNvPr id="62" name="그림 61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384254" y="4395314"/>
                <a:ext cx="3457520" cy="1856992"/>
              </a:xfrm>
              <a:prstGeom prst="rect">
                <a:avLst/>
              </a:prstGeom>
            </p:spPr>
          </p:pic>
          <p:sp>
            <p:nvSpPr>
              <p:cNvPr id="24" name="텍스트 상자 23"/>
              <p:cNvSpPr txBox="1"/>
              <p:nvPr/>
            </p:nvSpPr>
            <p:spPr>
              <a:xfrm>
                <a:off x="5168230" y="3833028"/>
                <a:ext cx="5629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  <a:latin typeface="+mn-ea"/>
                  </a:rPr>
                  <a:t>&lt;FAN </a:t>
                </a:r>
                <a:r>
                  <a:rPr kumimoji="1" lang="en-US" altLang="ko-KR" sz="800" dirty="0">
                    <a:solidFill>
                      <a:srgbClr val="FF0000"/>
                    </a:solidFill>
                    <a:latin typeface="+mn-ea"/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cxnSp>
            <p:nvCxnSpPr>
              <p:cNvPr id="3" name="직선 화살표 연결선 2"/>
              <p:cNvCxnSpPr>
                <a:stCxn id="24" idx="2"/>
              </p:cNvCxnSpPr>
              <p:nvPr/>
            </p:nvCxnSpPr>
            <p:spPr>
              <a:xfrm>
                <a:off x="5449718" y="4048472"/>
                <a:ext cx="913697" cy="74854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화살표 연결선 28"/>
              <p:cNvCxnSpPr>
                <a:stCxn id="24" idx="2"/>
              </p:cNvCxnSpPr>
              <p:nvPr/>
            </p:nvCxnSpPr>
            <p:spPr>
              <a:xfrm>
                <a:off x="5449718" y="4048472"/>
                <a:ext cx="2166784" cy="60091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텍스트 상자 34"/>
              <p:cNvSpPr txBox="1"/>
              <p:nvPr/>
            </p:nvSpPr>
            <p:spPr>
              <a:xfrm>
                <a:off x="7095326" y="3881740"/>
                <a:ext cx="77617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rgbClr val="FF0000"/>
                    </a:solidFill>
                    <a:latin typeface="+mn-ea"/>
                  </a:rPr>
                  <a:t>&lt;</a:t>
                </a:r>
                <a:r>
                  <a:rPr kumimoji="1" lang="ko-KR" altLang="en-US" sz="800" dirty="0" smtClean="0">
                    <a:solidFill>
                      <a:srgbClr val="FF0000"/>
                    </a:solidFill>
                    <a:latin typeface="+mn-ea"/>
                  </a:rPr>
                  <a:t>온도 센서</a:t>
                </a:r>
                <a:r>
                  <a:rPr kumimoji="1" lang="en-US" altLang="ko-KR" sz="800" dirty="0" smtClean="0">
                    <a:solidFill>
                      <a:srgbClr val="FF0000"/>
                    </a:solidFill>
                    <a:latin typeface="+mn-ea"/>
                  </a:rPr>
                  <a:t>&gt;</a:t>
                </a:r>
                <a:endParaRPr kumimoji="1" lang="ko-KR" altLang="en-US" sz="800" dirty="0">
                  <a:solidFill>
                    <a:srgbClr val="FF0000"/>
                  </a:solidFill>
                  <a:latin typeface="+mn-ea"/>
                </a:endParaRPr>
              </a:p>
            </p:txBody>
          </p:sp>
          <p:cxnSp>
            <p:nvCxnSpPr>
              <p:cNvPr id="36" name="직선 화살표 연결선 35"/>
              <p:cNvCxnSpPr>
                <a:stCxn id="35" idx="2"/>
              </p:cNvCxnSpPr>
              <p:nvPr/>
            </p:nvCxnSpPr>
            <p:spPr>
              <a:xfrm flipH="1">
                <a:off x="7114126" y="4097184"/>
                <a:ext cx="369288" cy="71893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34889" y="3310233"/>
              <a:ext cx="420423" cy="728339"/>
            </a:xfrm>
            <a:prstGeom prst="rect">
              <a:avLst/>
            </a:prstGeom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40125" y="3456982"/>
              <a:ext cx="603404" cy="586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37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229371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2/4)</a:t>
                      </a:r>
                      <a:endParaRPr lang="ko-KR" altLang="en-US" sz="18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5~6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레코더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(TR-71Ui)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이용한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주변온도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예비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CPU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모니터링을 통해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부하 발생시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내부 온도 변화 기록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 다운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주변온도 확인 결과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차량에서 최대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결론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주변온도 까지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온도가 다운되며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는         </a:t>
                      </a:r>
                      <a:endParaRPr kumimoji="0" lang="en-US" altLang="ko-KR" sz="11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0" lang="ko-KR" altLang="en-US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도를 유지 할 수 있다</a:t>
                      </a:r>
                      <a:r>
                        <a:rPr kumimoji="0" lang="en-US" altLang="ko-KR" sz="11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en-US" altLang="ko-KR" sz="12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255149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1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차 현차 예비 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TEST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시험 결과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4782998" y="1844824"/>
            <a:ext cx="5090348" cy="3716011"/>
            <a:chOff x="4774935" y="1598207"/>
            <a:chExt cx="5090348" cy="3716011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51696" y="1598207"/>
              <a:ext cx="4492998" cy="204681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33" name="그림 3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6018881" y="3853613"/>
              <a:ext cx="803315" cy="901059"/>
            </a:xfrm>
            <a:prstGeom prst="rect">
              <a:avLst/>
            </a:prstGeom>
          </p:spPr>
        </p:pic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8689253" y="3896860"/>
              <a:ext cx="803316" cy="795598"/>
            </a:xfrm>
            <a:prstGeom prst="rect">
              <a:avLst/>
            </a:prstGeom>
          </p:spPr>
        </p:pic>
        <p:cxnSp>
          <p:nvCxnSpPr>
            <p:cNvPr id="36" name="직선 화살표 연결선 35"/>
            <p:cNvCxnSpPr/>
            <p:nvPr/>
          </p:nvCxnSpPr>
          <p:spPr>
            <a:xfrm flipV="1">
              <a:off x="5168230" y="3284984"/>
              <a:ext cx="0" cy="613123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텍스트 상자 37"/>
            <p:cNvSpPr txBox="1"/>
            <p:nvPr/>
          </p:nvSpPr>
          <p:spPr>
            <a:xfrm>
              <a:off x="4774935" y="3920110"/>
              <a:ext cx="103105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>
                  <a:latin typeface="+mn-ea"/>
                </a:rPr>
                <a:t>&lt;CRA </a:t>
              </a:r>
              <a:r>
                <a:rPr kumimoji="1" lang="ko-KR" altLang="en-US" sz="800" dirty="0" smtClean="0">
                  <a:latin typeface="+mn-ea"/>
                </a:rPr>
                <a:t>주변 온도</a:t>
              </a:r>
              <a:r>
                <a:rPr kumimoji="1" lang="en-US" altLang="ko-KR" sz="800" dirty="0" smtClean="0">
                  <a:latin typeface="+mn-ea"/>
                </a:rPr>
                <a:t>&gt;</a:t>
              </a:r>
              <a:endParaRPr kumimoji="1" lang="ko-KR" altLang="en-US" sz="800" dirty="0">
                <a:latin typeface="+mn-ea"/>
              </a:endParaRPr>
            </a:p>
          </p:txBody>
        </p:sp>
        <p:cxnSp>
          <p:nvCxnSpPr>
            <p:cNvPr id="39" name="직선 화살표 연결선 38"/>
            <p:cNvCxnSpPr/>
            <p:nvPr/>
          </p:nvCxnSpPr>
          <p:spPr>
            <a:xfrm>
              <a:off x="5367237" y="2529382"/>
              <a:ext cx="89025" cy="32355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텍스트 상자 42"/>
            <p:cNvSpPr txBox="1"/>
            <p:nvPr/>
          </p:nvSpPr>
          <p:spPr>
            <a:xfrm>
              <a:off x="5003219" y="2253063"/>
              <a:ext cx="143661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800" dirty="0" smtClean="0">
                  <a:solidFill>
                    <a:srgbClr val="FF0000"/>
                  </a:solidFill>
                  <a:latin typeface="+mn-ea"/>
                </a:rPr>
                <a:t>&lt;CRA</a:t>
              </a:r>
              <a:r>
                <a:rPr kumimoji="1" lang="ko-KR" altLang="en-US" sz="800" dirty="0" smtClean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kumimoji="1" lang="en-US" altLang="ko-KR" sz="800" dirty="0" smtClean="0">
                  <a:solidFill>
                    <a:srgbClr val="FF0000"/>
                  </a:solidFill>
                  <a:latin typeface="+mn-ea"/>
                </a:rPr>
                <a:t>CNCS </a:t>
              </a:r>
              <a:r>
                <a:rPr kumimoji="1" lang="ko-KR" altLang="en-US" sz="800" dirty="0" smtClean="0">
                  <a:solidFill>
                    <a:srgbClr val="FF0000"/>
                  </a:solidFill>
                  <a:latin typeface="+mn-ea"/>
                </a:rPr>
                <a:t>발열판 온도</a:t>
              </a:r>
              <a:r>
                <a:rPr kumimoji="1" lang="en-US" altLang="ko-KR" sz="800" dirty="0" smtClean="0">
                  <a:solidFill>
                    <a:srgbClr val="FF0000"/>
                  </a:solidFill>
                  <a:latin typeface="+mn-ea"/>
                </a:rPr>
                <a:t>&gt;</a:t>
              </a:r>
              <a:endParaRPr kumimoji="1" lang="ko-KR" altLang="en-US" sz="800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44" name="직선 화살표 연결선 43"/>
            <p:cNvCxnSpPr/>
            <p:nvPr/>
          </p:nvCxnSpPr>
          <p:spPr>
            <a:xfrm flipV="1">
              <a:off x="6389244" y="1764473"/>
              <a:ext cx="1220867" cy="2128528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/>
            <p:cNvCxnSpPr/>
            <p:nvPr/>
          </p:nvCxnSpPr>
          <p:spPr>
            <a:xfrm flipV="1">
              <a:off x="9090911" y="2852937"/>
              <a:ext cx="109767" cy="1040064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텍스트 상자 47"/>
            <p:cNvSpPr txBox="1"/>
            <p:nvPr/>
          </p:nvSpPr>
          <p:spPr>
            <a:xfrm>
              <a:off x="5745238" y="4729443"/>
              <a:ext cx="14829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>
                  <a:latin typeface="+mn-ea"/>
                </a:rPr>
                <a:t>   </a:t>
              </a:r>
              <a:r>
                <a:rPr kumimoji="1" lang="en-US" altLang="ko-KR" sz="800" dirty="0" smtClean="0">
                  <a:latin typeface="+mn-ea"/>
                </a:rPr>
                <a:t>-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CPU </a:t>
              </a:r>
              <a:r>
                <a:rPr kumimoji="1" lang="ko-KR" altLang="en-US" sz="800" dirty="0" smtClean="0">
                  <a:latin typeface="+mn-ea"/>
                </a:rPr>
                <a:t>과부하 발생</a:t>
              </a:r>
              <a:r>
                <a:rPr kumimoji="1" lang="en-US" altLang="ko-KR" sz="800" dirty="0" smtClean="0">
                  <a:latin typeface="+mn-ea"/>
                </a:rPr>
                <a:t>.</a:t>
              </a:r>
            </a:p>
            <a:p>
              <a:r>
                <a:rPr kumimoji="1" lang="ko-KR" altLang="en-US" sz="800" dirty="0" smtClean="0">
                  <a:latin typeface="+mn-ea"/>
                </a:rPr>
                <a:t>     </a:t>
              </a:r>
              <a:r>
                <a:rPr kumimoji="1" lang="ko-KR" altLang="en-US" sz="800" dirty="0" smtClean="0">
                  <a:latin typeface="+mn-ea"/>
                  <a:sym typeface="Wingdings"/>
                </a:rPr>
                <a:t> 자동 방송 기능 저하</a:t>
              </a:r>
              <a:endParaRPr kumimoji="1" lang="en-US" altLang="ko-KR" sz="800" dirty="0" smtClean="0">
                <a:latin typeface="+mn-ea"/>
              </a:endParaRPr>
            </a:p>
            <a:p>
              <a:r>
                <a:rPr kumimoji="1" lang="ko-KR" altLang="en-US" sz="800" dirty="0" smtClean="0">
                  <a:latin typeface="+mn-ea"/>
                </a:rPr>
                <a:t>   </a:t>
              </a:r>
              <a:r>
                <a:rPr kumimoji="1" lang="en-US" altLang="ko-KR" sz="800" dirty="0" smtClean="0">
                  <a:latin typeface="+mn-ea"/>
                </a:rPr>
                <a:t>-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CPU </a:t>
              </a:r>
              <a:r>
                <a:rPr kumimoji="1" lang="ko-KR" altLang="en-US" sz="800" dirty="0" smtClean="0">
                  <a:latin typeface="+mn-ea"/>
                </a:rPr>
                <a:t>내부 온도 </a:t>
              </a:r>
              <a:r>
                <a:rPr kumimoji="1" lang="en-US" altLang="ko-KR" sz="800" dirty="0" smtClean="0">
                  <a:latin typeface="+mn-ea"/>
                </a:rPr>
                <a:t>99</a:t>
              </a:r>
              <a:r>
                <a:rPr kumimoji="1" lang="ko-KR" altLang="en-US" sz="800" dirty="0" smtClean="0">
                  <a:latin typeface="+mn-ea"/>
                </a:rPr>
                <a:t>도</a:t>
              </a:r>
              <a:r>
                <a:rPr kumimoji="1" lang="en-US" altLang="ko-KR" sz="800" dirty="0" smtClean="0">
                  <a:latin typeface="+mn-ea"/>
                </a:rPr>
                <a:t>.</a:t>
              </a:r>
            </a:p>
            <a:p>
              <a:r>
                <a:rPr kumimoji="1" lang="ko-KR" altLang="en-US" sz="800" dirty="0" smtClean="0">
                  <a:latin typeface="+mn-ea"/>
                </a:rPr>
                <a:t>   </a:t>
              </a:r>
              <a:r>
                <a:rPr kumimoji="1" lang="en-US" altLang="ko-KR" sz="800" dirty="0" smtClean="0">
                  <a:latin typeface="+mn-ea"/>
                </a:rPr>
                <a:t>-</a:t>
              </a:r>
              <a:r>
                <a:rPr kumimoji="1" lang="ko-KR" altLang="en-US" sz="800" dirty="0" smtClean="0">
                  <a:latin typeface="+mn-ea"/>
                </a:rPr>
                <a:t> 발열판 </a:t>
              </a:r>
              <a:r>
                <a:rPr kumimoji="1" lang="en-US" altLang="ko-KR" sz="800" dirty="0" smtClean="0">
                  <a:latin typeface="+mn-ea"/>
                </a:rPr>
                <a:t>67</a:t>
              </a:r>
              <a:r>
                <a:rPr kumimoji="1" lang="ko-KR" altLang="en-US" sz="800" dirty="0" smtClean="0">
                  <a:latin typeface="+mn-ea"/>
                </a:rPr>
                <a:t>도</a:t>
              </a:r>
              <a:r>
                <a:rPr kumimoji="1" lang="en-US" altLang="ko-KR" sz="800" dirty="0" smtClean="0">
                  <a:latin typeface="+mn-ea"/>
                </a:rPr>
                <a:t>.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endParaRPr kumimoji="1" lang="ko-KR" altLang="en-US" sz="800" dirty="0">
                <a:latin typeface="+mn-ea"/>
              </a:endParaRPr>
            </a:p>
          </p:txBody>
        </p:sp>
        <p:cxnSp>
          <p:nvCxnSpPr>
            <p:cNvPr id="51" name="직선 화살표 연결선 50"/>
            <p:cNvCxnSpPr/>
            <p:nvPr/>
          </p:nvCxnSpPr>
          <p:spPr>
            <a:xfrm>
              <a:off x="7688510" y="1809302"/>
              <a:ext cx="1440160" cy="1043634"/>
            </a:xfrm>
            <a:prstGeom prst="straightConnector1">
              <a:avLst/>
            </a:prstGeom>
            <a:ln w="12700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텍스트 상자 52"/>
            <p:cNvSpPr txBox="1"/>
            <p:nvPr/>
          </p:nvSpPr>
          <p:spPr>
            <a:xfrm>
              <a:off x="8536073" y="4720707"/>
              <a:ext cx="13292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>
                  <a:latin typeface="+mn-ea"/>
                </a:rPr>
                <a:t>   </a:t>
              </a:r>
              <a:r>
                <a:rPr kumimoji="1" lang="en-US" altLang="ko-KR" sz="800" dirty="0" smtClean="0">
                  <a:latin typeface="+mn-ea"/>
                </a:rPr>
                <a:t>-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CPU </a:t>
              </a:r>
              <a:r>
                <a:rPr kumimoji="1" lang="ko-KR" altLang="en-US" sz="800" dirty="0" smtClean="0">
                  <a:latin typeface="+mn-ea"/>
                </a:rPr>
                <a:t>내부 온도 </a:t>
              </a:r>
              <a:r>
                <a:rPr kumimoji="1" lang="en-US" altLang="ko-KR" sz="800" dirty="0" smtClean="0">
                  <a:latin typeface="+mn-ea"/>
                </a:rPr>
                <a:t>80</a:t>
              </a:r>
              <a:r>
                <a:rPr kumimoji="1" lang="ko-KR" altLang="en-US" sz="800" dirty="0" smtClean="0">
                  <a:latin typeface="+mn-ea"/>
                </a:rPr>
                <a:t>도</a:t>
              </a:r>
              <a:r>
                <a:rPr kumimoji="1" lang="en-US" altLang="ko-KR" sz="800" dirty="0" smtClean="0">
                  <a:latin typeface="+mn-ea"/>
                </a:rPr>
                <a:t>.</a:t>
              </a:r>
            </a:p>
            <a:p>
              <a:r>
                <a:rPr kumimoji="1" lang="ko-KR" altLang="en-US" sz="800" dirty="0" smtClean="0">
                  <a:latin typeface="+mn-ea"/>
                </a:rPr>
                <a:t>   </a:t>
              </a:r>
              <a:r>
                <a:rPr kumimoji="1" lang="en-US" altLang="ko-KR" sz="800" dirty="0" smtClean="0">
                  <a:latin typeface="+mn-ea"/>
                </a:rPr>
                <a:t>-</a:t>
              </a:r>
              <a:r>
                <a:rPr kumimoji="1" lang="ko-KR" altLang="en-US" sz="800" dirty="0" smtClean="0">
                  <a:latin typeface="+mn-ea"/>
                </a:rPr>
                <a:t> 발열판 </a:t>
              </a:r>
              <a:r>
                <a:rPr kumimoji="1" lang="en-US" altLang="ko-KR" sz="800" dirty="0" smtClean="0">
                  <a:latin typeface="+mn-ea"/>
                </a:rPr>
                <a:t>40</a:t>
              </a:r>
              <a:r>
                <a:rPr kumimoji="1" lang="ko-KR" altLang="en-US" sz="800" dirty="0" smtClean="0">
                  <a:latin typeface="+mn-ea"/>
                </a:rPr>
                <a:t>도</a:t>
              </a:r>
              <a:r>
                <a:rPr kumimoji="1" lang="en-US" altLang="ko-KR" sz="800" dirty="0" smtClean="0">
                  <a:latin typeface="+mn-ea"/>
                </a:rPr>
                <a:t>.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endParaRPr kumimoji="1" lang="en-US" altLang="ko-KR" sz="800" dirty="0" smtClean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7610111" y="1860879"/>
              <a:ext cx="136890" cy="992057"/>
            </a:xfrm>
            <a:prstGeom prst="rect">
              <a:avLst/>
            </a:prstGeom>
            <a:noFill/>
            <a:ln w="9525">
              <a:solidFill>
                <a:srgbClr val="FFFF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  <p:sp>
          <p:nvSpPr>
            <p:cNvPr id="57" name="텍스트 상자 56"/>
            <p:cNvSpPr txBox="1"/>
            <p:nvPr/>
          </p:nvSpPr>
          <p:spPr>
            <a:xfrm>
              <a:off x="6922744" y="4100038"/>
              <a:ext cx="16058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800" dirty="0" smtClean="0">
                  <a:latin typeface="+mn-ea"/>
                </a:rPr>
                <a:t>   </a:t>
              </a:r>
              <a:r>
                <a:rPr kumimoji="1" lang="en-US" altLang="ko-KR" sz="800" dirty="0" smtClean="0">
                  <a:latin typeface="+mn-ea"/>
                </a:rPr>
                <a:t>-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FAN </a:t>
              </a:r>
              <a:r>
                <a:rPr kumimoji="1" lang="ko-KR" altLang="en-US" sz="800" dirty="0" smtClean="0">
                  <a:latin typeface="+mn-ea"/>
                </a:rPr>
                <a:t>동작 </a:t>
              </a:r>
              <a:r>
                <a:rPr kumimoji="1" lang="en-US" altLang="ko-KR" sz="800" dirty="0" smtClean="0">
                  <a:latin typeface="+mn-ea"/>
                </a:rPr>
                <a:t>2</a:t>
              </a:r>
              <a:r>
                <a:rPr kumimoji="1" lang="ko-KR" altLang="en-US" sz="800" dirty="0" smtClean="0">
                  <a:latin typeface="+mn-ea"/>
                </a:rPr>
                <a:t>분 만에</a:t>
              </a:r>
              <a:endParaRPr kumimoji="1" lang="en-US" altLang="ko-KR" sz="800" dirty="0" smtClean="0">
                <a:latin typeface="+mn-ea"/>
              </a:endParaRPr>
            </a:p>
            <a:p>
              <a:r>
                <a:rPr kumimoji="1" lang="ko-KR" altLang="en-US" sz="800" dirty="0" smtClean="0">
                  <a:latin typeface="+mn-ea"/>
                </a:rPr>
                <a:t>      </a:t>
              </a:r>
              <a:r>
                <a:rPr kumimoji="1" lang="ko-KR" altLang="en-US" sz="800" dirty="0" smtClean="0">
                  <a:latin typeface="+mn-ea"/>
                  <a:sym typeface="Wingdings"/>
                </a:rPr>
                <a:t> </a:t>
              </a:r>
              <a:r>
                <a:rPr kumimoji="1" lang="ko-KR" altLang="en-US" sz="800" dirty="0" smtClean="0">
                  <a:latin typeface="+mn-ea"/>
                </a:rPr>
                <a:t>발열판 온도 </a:t>
              </a:r>
              <a:r>
                <a:rPr kumimoji="1" lang="en-US" altLang="ko-KR" sz="800" dirty="0" smtClean="0">
                  <a:latin typeface="+mn-ea"/>
                </a:rPr>
                <a:t>67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-&gt;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50</a:t>
              </a:r>
              <a:endParaRPr kumimoji="1" lang="en-US" altLang="ko-KR" sz="800" dirty="0">
                <a:latin typeface="+mn-ea"/>
              </a:endParaRPr>
            </a:p>
            <a:p>
              <a:r>
                <a:rPr kumimoji="1" lang="ko-KR" altLang="en-US" sz="800" dirty="0" smtClean="0">
                  <a:latin typeface="+mn-ea"/>
                </a:rPr>
                <a:t>   </a:t>
              </a:r>
              <a:r>
                <a:rPr kumimoji="1" lang="en-US" altLang="ko-KR" sz="800" dirty="0" smtClean="0">
                  <a:latin typeface="+mn-ea"/>
                </a:rPr>
                <a:t>-</a:t>
              </a:r>
              <a:r>
                <a:rPr kumimoji="1" lang="ko-KR" altLang="en-US" sz="800" dirty="0" smtClean="0">
                  <a:latin typeface="+mn-ea"/>
                </a:rPr>
                <a:t> 자동 방송 기능 정상 복귀</a:t>
              </a:r>
              <a:r>
                <a:rPr kumimoji="1" lang="en-US" altLang="ko-KR" sz="800" dirty="0" smtClean="0">
                  <a:latin typeface="+mn-ea"/>
                </a:rPr>
                <a:t>.</a:t>
              </a:r>
            </a:p>
            <a:p>
              <a:r>
                <a:rPr kumimoji="1" lang="ko-KR" altLang="en-US" sz="800" dirty="0" smtClean="0">
                  <a:latin typeface="+mn-ea"/>
                </a:rPr>
                <a:t>     </a:t>
              </a:r>
              <a:endParaRPr kumimoji="1" lang="ko-KR" altLang="en-US" sz="800" dirty="0">
                <a:latin typeface="+mn-ea"/>
              </a:endParaRPr>
            </a:p>
          </p:txBody>
        </p:sp>
        <p:cxnSp>
          <p:nvCxnSpPr>
            <p:cNvPr id="58" name="직선 화살표 연결선 57"/>
            <p:cNvCxnSpPr/>
            <p:nvPr/>
          </p:nvCxnSpPr>
          <p:spPr>
            <a:xfrm flipV="1">
              <a:off x="7670675" y="2852936"/>
              <a:ext cx="17835" cy="1224080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직사각형 44"/>
          <p:cNvSpPr/>
          <p:nvPr/>
        </p:nvSpPr>
        <p:spPr>
          <a:xfrm>
            <a:off x="116625" y="620688"/>
            <a:ext cx="2459318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CRA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동작 환경 온도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3356844" y="1957454"/>
            <a:ext cx="1234502" cy="905801"/>
            <a:chOff x="316421" y="5973151"/>
            <a:chExt cx="1015243" cy="697961"/>
          </a:xfrm>
        </p:grpSpPr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3040" b="22631"/>
            <a:stretch/>
          </p:blipFill>
          <p:spPr>
            <a:xfrm>
              <a:off x="316421" y="6119546"/>
              <a:ext cx="1015243" cy="551566"/>
            </a:xfrm>
            <a:prstGeom prst="rect">
              <a:avLst/>
            </a:prstGeom>
          </p:spPr>
        </p:pic>
        <p:sp>
          <p:nvSpPr>
            <p:cNvPr id="60" name="텍스트 상자 59"/>
            <p:cNvSpPr txBox="1"/>
            <p:nvPr/>
          </p:nvSpPr>
          <p:spPr>
            <a:xfrm>
              <a:off x="571898" y="5973151"/>
              <a:ext cx="455076" cy="3794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altLang="ko-KR" sz="800" dirty="0">
                  <a:latin typeface="+mn-ea"/>
                </a:rPr>
                <a:t>TR-71Ui</a:t>
              </a:r>
            </a:p>
            <a:p>
              <a:endParaRPr kumimoji="1" lang="ko-KR" altLang="en-US" dirty="0">
                <a:latin typeface="+mn-ea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395693" y="3740136"/>
            <a:ext cx="3975078" cy="2640883"/>
            <a:chOff x="1342071" y="4524201"/>
            <a:chExt cx="3336333" cy="2307241"/>
          </a:xfrm>
        </p:grpSpPr>
        <p:grpSp>
          <p:nvGrpSpPr>
            <p:cNvPr id="62" name="그룹 61"/>
            <p:cNvGrpSpPr/>
            <p:nvPr/>
          </p:nvGrpSpPr>
          <p:grpSpPr>
            <a:xfrm>
              <a:off x="1342071" y="4524201"/>
              <a:ext cx="3336333" cy="2307241"/>
              <a:chOff x="2381345" y="2807377"/>
              <a:chExt cx="5380718" cy="3980089"/>
            </a:xfrm>
          </p:grpSpPr>
          <p:grpSp>
            <p:nvGrpSpPr>
              <p:cNvPr id="64" name="그룹 63"/>
              <p:cNvGrpSpPr/>
              <p:nvPr/>
            </p:nvGrpSpPr>
            <p:grpSpPr>
              <a:xfrm>
                <a:off x="2381345" y="2807377"/>
                <a:ext cx="5380718" cy="3980089"/>
                <a:chOff x="2373653" y="2785415"/>
                <a:chExt cx="5380718" cy="3980089"/>
              </a:xfrm>
            </p:grpSpPr>
            <p:grpSp>
              <p:nvGrpSpPr>
                <p:cNvPr id="66" name="그룹 65"/>
                <p:cNvGrpSpPr/>
                <p:nvPr/>
              </p:nvGrpSpPr>
              <p:grpSpPr>
                <a:xfrm>
                  <a:off x="2373653" y="2785415"/>
                  <a:ext cx="5380718" cy="3980089"/>
                  <a:chOff x="457352" y="4728757"/>
                  <a:chExt cx="3271741" cy="1907627"/>
                </a:xfrm>
              </p:grpSpPr>
              <p:pic>
                <p:nvPicPr>
                  <p:cNvPr id="69" name="그림 68"/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7352" y="4728757"/>
                    <a:ext cx="3271741" cy="1907627"/>
                  </a:xfrm>
                  <a:prstGeom prst="rect">
                    <a:avLst/>
                  </a:prstGeom>
                  <a:ln>
                    <a:noFill/>
                  </a:ln>
                  <a:effectLst>
                    <a:outerShdw blurRad="190500" algn="tl" rotWithShape="0">
                      <a:srgbClr val="000000">
                        <a:alpha val="70000"/>
                      </a:srgbClr>
                    </a:outerShdw>
                  </a:effectLst>
                </p:spPr>
              </p:pic>
              <p:cxnSp>
                <p:nvCxnSpPr>
                  <p:cNvPr id="70" name="직선 화살표 연결선 69"/>
                  <p:cNvCxnSpPr/>
                  <p:nvPr/>
                </p:nvCxnSpPr>
                <p:spPr>
                  <a:xfrm>
                    <a:off x="2796464" y="5215335"/>
                    <a:ext cx="49181" cy="158083"/>
                  </a:xfrm>
                  <a:prstGeom prst="straightConnector1">
                    <a:avLst/>
                  </a:prstGeom>
                  <a:ln w="25400">
                    <a:solidFill>
                      <a:srgbClr val="FFFF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" name="텍스트 상자 70"/>
                  <p:cNvSpPr txBox="1"/>
                  <p:nvPr/>
                </p:nvSpPr>
                <p:spPr>
                  <a:xfrm>
                    <a:off x="1954929" y="5010825"/>
                    <a:ext cx="1124683" cy="155625"/>
                  </a:xfrm>
                  <a:prstGeom prst="rect">
                    <a:avLst/>
                  </a:prstGeom>
                  <a:noFill/>
                  <a:ln>
                    <a:solidFill>
                      <a:srgbClr val="FFFF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  <a:latin typeface="+mn-ea"/>
                      </a:rPr>
                      <a:t>&lt;CRA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  <a:latin typeface="+mn-ea"/>
                      </a:rPr>
                      <a:t> 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  <a:latin typeface="+mn-ea"/>
                      </a:rPr>
                      <a:t>CNCS </a:t>
                    </a:r>
                    <a:r>
                      <a:rPr kumimoji="1" lang="ko-KR" altLang="en-US" sz="800" dirty="0" smtClean="0">
                        <a:solidFill>
                          <a:srgbClr val="FFFF00"/>
                        </a:solidFill>
                        <a:latin typeface="+mn-ea"/>
                      </a:rPr>
                      <a:t>상부</a:t>
                    </a:r>
                    <a:r>
                      <a:rPr kumimoji="1" lang="en-US" altLang="ko-KR" sz="800" dirty="0" smtClean="0">
                        <a:solidFill>
                          <a:srgbClr val="FFFF00"/>
                        </a:solidFill>
                        <a:latin typeface="+mn-ea"/>
                      </a:rPr>
                      <a:t> &gt;</a:t>
                    </a:r>
                    <a:endParaRPr kumimoji="1" lang="ko-KR" altLang="en-US" sz="800" dirty="0">
                      <a:solidFill>
                        <a:srgbClr val="FFFF00"/>
                      </a:solidFill>
                      <a:latin typeface="+mn-ea"/>
                    </a:endParaRPr>
                  </a:p>
                </p:txBody>
              </p:sp>
            </p:grpSp>
            <p:cxnSp>
              <p:nvCxnSpPr>
                <p:cNvPr id="67" name="직선 화살표 연결선 66"/>
                <p:cNvCxnSpPr/>
                <p:nvPr/>
              </p:nvCxnSpPr>
              <p:spPr>
                <a:xfrm flipH="1" flipV="1">
                  <a:off x="6193011" y="4224188"/>
                  <a:ext cx="103913" cy="325468"/>
                </a:xfrm>
                <a:prstGeom prst="straightConnector1">
                  <a:avLst/>
                </a:prstGeom>
                <a:ln w="2540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텍스트 상자 67"/>
                <p:cNvSpPr txBox="1"/>
                <p:nvPr/>
              </p:nvSpPr>
              <p:spPr>
                <a:xfrm>
                  <a:off x="5721917" y="4572476"/>
                  <a:ext cx="1701121" cy="324697"/>
                </a:xfrm>
                <a:prstGeom prst="rect">
                  <a:avLst/>
                </a:prstGeom>
                <a:noFill/>
                <a:ln>
                  <a:solidFill>
                    <a:srgbClr val="7030A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ko-KR" sz="800" dirty="0" smtClean="0">
                      <a:solidFill>
                        <a:srgbClr val="7030A0"/>
                      </a:solidFill>
                      <a:latin typeface="+mn-ea"/>
                    </a:rPr>
                    <a:t>&lt;CRA</a:t>
                  </a:r>
                  <a:r>
                    <a:rPr kumimoji="1" lang="ko-KR" altLang="en-US" sz="800" dirty="0" smtClean="0">
                      <a:solidFill>
                        <a:srgbClr val="7030A0"/>
                      </a:solidFill>
                      <a:latin typeface="+mn-ea"/>
                    </a:rPr>
                    <a:t> 주변 온도</a:t>
                  </a:r>
                  <a:r>
                    <a:rPr kumimoji="1" lang="en-US" altLang="ko-KR" sz="800" dirty="0" smtClean="0">
                      <a:solidFill>
                        <a:srgbClr val="7030A0"/>
                      </a:solidFill>
                      <a:latin typeface="+mn-ea"/>
                    </a:rPr>
                    <a:t> &gt;</a:t>
                  </a:r>
                  <a:endParaRPr kumimoji="1" lang="ko-KR" altLang="en-US" sz="800" dirty="0">
                    <a:solidFill>
                      <a:srgbClr val="7030A0"/>
                    </a:solidFill>
                    <a:latin typeface="+mn-ea"/>
                  </a:endParaRPr>
                </a:p>
              </p:txBody>
            </p:sp>
          </p:grpSp>
          <p:sp>
            <p:nvSpPr>
              <p:cNvPr id="65" name="텍스트 상자 64"/>
              <p:cNvSpPr txBox="1"/>
              <p:nvPr/>
            </p:nvSpPr>
            <p:spPr>
              <a:xfrm>
                <a:off x="3629018" y="2899084"/>
                <a:ext cx="3211807" cy="324697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latin typeface="+mn-ea"/>
                  </a:rPr>
                  <a:t>4061</a:t>
                </a:r>
                <a:r>
                  <a:rPr kumimoji="1" lang="ko-KR" altLang="en-US" sz="800" dirty="0" smtClean="0">
                    <a:latin typeface="+mn-ea"/>
                  </a:rPr>
                  <a:t> </a:t>
                </a:r>
                <a:r>
                  <a:rPr kumimoji="1" lang="en-US" altLang="ko-KR" sz="800" dirty="0" smtClean="0">
                    <a:latin typeface="+mn-ea"/>
                  </a:rPr>
                  <a:t>CRA</a:t>
                </a:r>
                <a:r>
                  <a:rPr kumimoji="1" lang="ko-KR" altLang="en-US" sz="800" dirty="0" smtClean="0">
                    <a:latin typeface="+mn-ea"/>
                  </a:rPr>
                  <a:t> 주변 온도 측정</a:t>
                </a:r>
                <a:endParaRPr kumimoji="1" lang="ko-KR" altLang="en-US" sz="800" dirty="0">
                  <a:latin typeface="+mn-ea"/>
                </a:endParaRPr>
              </a:p>
            </p:txBody>
          </p:sp>
        </p:grpSp>
        <p:sp>
          <p:nvSpPr>
            <p:cNvPr id="63" name="텍스트 상자 62"/>
            <p:cNvSpPr txBox="1"/>
            <p:nvPr/>
          </p:nvSpPr>
          <p:spPr>
            <a:xfrm>
              <a:off x="1736033" y="6230978"/>
              <a:ext cx="1991493" cy="18822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latin typeface="+mn-ea"/>
                </a:rPr>
                <a:t>#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4061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CRA</a:t>
              </a:r>
              <a:r>
                <a:rPr kumimoji="1" lang="ko-KR" altLang="en-US" sz="800" dirty="0" smtClean="0">
                  <a:latin typeface="+mn-ea"/>
                </a:rPr>
                <a:t> 동작 환경 온도 최대 </a:t>
              </a:r>
              <a:r>
                <a:rPr kumimoji="1" lang="en-US" altLang="ko-KR" sz="800" dirty="0" smtClean="0">
                  <a:latin typeface="+mn-ea"/>
                </a:rPr>
                <a:t>45</a:t>
              </a:r>
              <a:r>
                <a:rPr kumimoji="1" lang="ko-KR" altLang="en-US" sz="800" dirty="0" smtClean="0">
                  <a:latin typeface="+mn-ea"/>
                </a:rPr>
                <a:t>도 확인</a:t>
              </a:r>
              <a:endParaRPr kumimoji="1" lang="ko-KR" altLang="en-US" sz="8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82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84486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3/4)</a:t>
                      </a:r>
                      <a:endParaRPr lang="ko-KR" altLang="en-US" sz="18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변화를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최종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4066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호 정식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설치후 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동안 모터링 실시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온도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62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CNCS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발열판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75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43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#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FNA 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설치시 기대 이상 냉각 효과 확인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endParaRPr lang="en-US" altLang="ko-KR" sz="14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</a:t>
                      </a:r>
                      <a:endParaRPr lang="en-US" altLang="ko-KR" sz="11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329181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prstClr val="black"/>
                </a:solidFill>
                <a:latin typeface="+mn-ea"/>
              </a:rPr>
              <a:t>현차 </a:t>
            </a:r>
            <a:r>
              <a:rPr lang="en-US" altLang="ko-KR" sz="1400" b="1" dirty="0" smtClean="0">
                <a:solidFill>
                  <a:prstClr val="black"/>
                </a:solidFill>
                <a:latin typeface="+mn-ea"/>
              </a:rPr>
              <a:t>FAN </a:t>
            </a:r>
            <a:r>
              <a:rPr lang="ko-KR" altLang="en-US" sz="1400" b="1" dirty="0" smtClean="0">
                <a:solidFill>
                  <a:prstClr val="black"/>
                </a:solidFill>
                <a:latin typeface="+mn-ea"/>
              </a:rPr>
              <a:t>설치 후 최종 시험 결과</a:t>
            </a:r>
            <a:endParaRPr lang="ko-KR" altLang="en-US" sz="14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6624" y="620688"/>
            <a:ext cx="361144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현차 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설치 </a:t>
            </a:r>
            <a:r>
              <a:rPr lang="ko-KR" altLang="en-US" sz="1400" b="1" dirty="0" smtClean="0">
                <a:solidFill>
                  <a:prstClr val="black"/>
                </a:solidFill>
                <a:latin typeface="+mn-ea"/>
              </a:rPr>
              <a:t>전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 CNCS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발연판 온도 변화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886800" y="2136595"/>
            <a:ext cx="2316323" cy="1157057"/>
            <a:chOff x="1347979" y="3009562"/>
            <a:chExt cx="1656184" cy="838875"/>
          </a:xfrm>
        </p:grpSpPr>
        <p:pic>
          <p:nvPicPr>
            <p:cNvPr id="41" name="그림 4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9" name="타원 48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71686" y="4077294"/>
            <a:ext cx="4264118" cy="2457167"/>
            <a:chOff x="271686" y="4077294"/>
            <a:chExt cx="4264118" cy="245716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893" y="4077294"/>
              <a:ext cx="4189911" cy="245716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0" name="텍스트 상자 49"/>
            <p:cNvSpPr txBox="1"/>
            <p:nvPr/>
          </p:nvSpPr>
          <p:spPr>
            <a:xfrm>
              <a:off x="1467951" y="4133111"/>
              <a:ext cx="2372766" cy="215444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latin typeface="+mn-ea"/>
                </a:rPr>
                <a:t>4066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CRA-CNCS </a:t>
              </a:r>
              <a:r>
                <a:rPr kumimoji="1" lang="ko-KR" altLang="en-US" sz="800" dirty="0" smtClean="0">
                  <a:latin typeface="+mn-ea"/>
                </a:rPr>
                <a:t>발열판 온도 변화</a:t>
              </a:r>
              <a:endParaRPr kumimoji="1" lang="ko-KR" altLang="en-US" sz="800" dirty="0">
                <a:latin typeface="+mn-ea"/>
              </a:endParaRPr>
            </a:p>
          </p:txBody>
        </p:sp>
        <p:cxnSp>
          <p:nvCxnSpPr>
            <p:cNvPr id="54" name="직선 화살표 연결선 53"/>
            <p:cNvCxnSpPr/>
            <p:nvPr/>
          </p:nvCxnSpPr>
          <p:spPr>
            <a:xfrm flipH="1" flipV="1">
              <a:off x="850781" y="4346657"/>
              <a:ext cx="432099" cy="433404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텍스트 상자 71"/>
            <p:cNvSpPr txBox="1"/>
            <p:nvPr/>
          </p:nvSpPr>
          <p:spPr>
            <a:xfrm>
              <a:off x="1291347" y="4825791"/>
              <a:ext cx="1499340" cy="338554"/>
            </a:xfrm>
            <a:prstGeom prst="rect">
              <a:avLst/>
            </a:prstGeom>
            <a:solidFill>
              <a:srgbClr val="A3A3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7030A0"/>
                  </a:solidFill>
                  <a:latin typeface="+mn-ea"/>
                </a:rPr>
                <a:t>&lt;CRA-CNCS</a:t>
              </a:r>
              <a:r>
                <a:rPr kumimoji="1" lang="ko-KR" altLang="en-US" sz="800" dirty="0" smtClean="0">
                  <a:solidFill>
                    <a:srgbClr val="7030A0"/>
                  </a:solidFill>
                  <a:latin typeface="+mn-ea"/>
                </a:rPr>
                <a:t> 발열판 </a:t>
              </a:r>
              <a:r>
                <a:rPr kumimoji="1" lang="en-US" altLang="ko-KR" sz="800" dirty="0" smtClean="0">
                  <a:solidFill>
                    <a:srgbClr val="7030A0"/>
                  </a:solidFill>
                  <a:latin typeface="+mn-ea"/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7030A0"/>
                  </a:solidFill>
                  <a:latin typeface="+mn-ea"/>
                </a:rPr>
                <a:t>최대 </a:t>
              </a:r>
              <a:r>
                <a:rPr kumimoji="1" lang="en-US" altLang="ko-KR" sz="800" dirty="0" smtClean="0">
                  <a:solidFill>
                    <a:srgbClr val="7030A0"/>
                  </a:solidFill>
                  <a:latin typeface="+mn-ea"/>
                </a:rPr>
                <a:t>75</a:t>
              </a:r>
              <a:r>
                <a:rPr kumimoji="1" lang="ko-KR" altLang="en-US" sz="800" dirty="0" smtClean="0">
                  <a:solidFill>
                    <a:srgbClr val="7030A0"/>
                  </a:solidFill>
                  <a:latin typeface="+mn-ea"/>
                </a:rPr>
                <a:t>도 </a:t>
              </a:r>
              <a:r>
                <a:rPr kumimoji="1" lang="en-US" altLang="ko-KR" sz="800" dirty="0" smtClean="0">
                  <a:solidFill>
                    <a:srgbClr val="7030A0"/>
                  </a:solidFill>
                  <a:latin typeface="+mn-ea"/>
                </a:rPr>
                <a:t>/</a:t>
              </a:r>
              <a:r>
                <a:rPr kumimoji="1" lang="ko-KR" altLang="en-US" sz="800" dirty="0" smtClean="0">
                  <a:solidFill>
                    <a:srgbClr val="7030A0"/>
                  </a:solidFill>
                  <a:latin typeface="+mn-ea"/>
                </a:rPr>
                <a:t> 평균 </a:t>
              </a:r>
              <a:r>
                <a:rPr kumimoji="1" lang="en-US" altLang="ko-KR" sz="800" dirty="0" smtClean="0">
                  <a:solidFill>
                    <a:srgbClr val="7030A0"/>
                  </a:solidFill>
                  <a:latin typeface="+mn-ea"/>
                </a:rPr>
                <a:t>70</a:t>
              </a:r>
              <a:r>
                <a:rPr kumimoji="1" lang="ko-KR" altLang="en-US" sz="800" dirty="0" smtClean="0">
                  <a:solidFill>
                    <a:srgbClr val="7030A0"/>
                  </a:solidFill>
                  <a:latin typeface="+mn-ea"/>
                </a:rPr>
                <a:t>도 이상</a:t>
              </a:r>
              <a:endParaRPr kumimoji="1" lang="ko-KR" altLang="en-US" sz="800" dirty="0">
                <a:solidFill>
                  <a:srgbClr val="7030A0"/>
                </a:solidFill>
                <a:latin typeface="+mn-ea"/>
              </a:endParaRP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 flipH="1">
              <a:off x="850780" y="5401625"/>
              <a:ext cx="577960" cy="26412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텍스트 상자 73"/>
            <p:cNvSpPr txBox="1"/>
            <p:nvPr/>
          </p:nvSpPr>
          <p:spPr>
            <a:xfrm>
              <a:off x="1443061" y="5401625"/>
              <a:ext cx="1366460" cy="338554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FFFF00"/>
                  </a:solidFill>
                  <a:latin typeface="+mn-ea"/>
                </a:rPr>
                <a:t>&lt;CRA</a:t>
              </a:r>
              <a:r>
                <a:rPr kumimoji="1" lang="ko-KR" altLang="en-US" sz="800" dirty="0" smtClean="0">
                  <a:solidFill>
                    <a:srgbClr val="FFFF00"/>
                  </a:solidFill>
                  <a:latin typeface="+mn-ea"/>
                </a:rPr>
                <a:t> </a:t>
              </a:r>
              <a:r>
                <a:rPr kumimoji="1" lang="en-US" altLang="ko-KR" sz="800" dirty="0" smtClean="0">
                  <a:solidFill>
                    <a:srgbClr val="FFFF00"/>
                  </a:solidFill>
                  <a:latin typeface="+mn-ea"/>
                </a:rPr>
                <a:t>CNCS</a:t>
              </a:r>
              <a:r>
                <a:rPr kumimoji="1" lang="ko-KR" altLang="en-US" sz="800" dirty="0" smtClean="0">
                  <a:solidFill>
                    <a:srgbClr val="FFFF00"/>
                  </a:solidFill>
                  <a:latin typeface="+mn-ea"/>
                </a:rPr>
                <a:t> 주변 온도</a:t>
              </a:r>
              <a:r>
                <a:rPr kumimoji="1" lang="en-US" altLang="ko-KR" sz="800" dirty="0" smtClean="0">
                  <a:solidFill>
                    <a:srgbClr val="FFFF00"/>
                  </a:solidFill>
                  <a:latin typeface="+mn-ea"/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FFFF00"/>
                  </a:solidFill>
                  <a:latin typeface="+mn-ea"/>
                </a:rPr>
                <a:t>최대 </a:t>
              </a:r>
              <a:r>
                <a:rPr kumimoji="1" lang="en-US" altLang="ko-KR" sz="800" dirty="0" smtClean="0">
                  <a:solidFill>
                    <a:srgbClr val="FFFF00"/>
                  </a:solidFill>
                  <a:latin typeface="+mn-ea"/>
                </a:rPr>
                <a:t>40</a:t>
              </a:r>
              <a:r>
                <a:rPr kumimoji="1" lang="ko-KR" altLang="en-US" sz="800" dirty="0" smtClean="0">
                  <a:solidFill>
                    <a:srgbClr val="FFFF00"/>
                  </a:solidFill>
                  <a:latin typeface="+mn-ea"/>
                </a:rPr>
                <a:t>도</a:t>
              </a:r>
              <a:r>
                <a:rPr kumimoji="1" lang="en-US" altLang="ko-KR" sz="800" dirty="0" smtClean="0">
                  <a:solidFill>
                    <a:srgbClr val="FFFF00"/>
                  </a:solidFill>
                  <a:latin typeface="+mn-ea"/>
                </a:rPr>
                <a:t>/</a:t>
              </a:r>
              <a:r>
                <a:rPr kumimoji="1" lang="ko-KR" altLang="en-US" sz="800" dirty="0" smtClean="0">
                  <a:solidFill>
                    <a:srgbClr val="FFFF00"/>
                  </a:solidFill>
                  <a:latin typeface="+mn-ea"/>
                </a:rPr>
                <a:t> 평균 </a:t>
              </a:r>
              <a:r>
                <a:rPr kumimoji="1" lang="en-US" altLang="ko-KR" sz="800" dirty="0" smtClean="0">
                  <a:solidFill>
                    <a:srgbClr val="FFFF00"/>
                  </a:solidFill>
                  <a:latin typeface="+mn-ea"/>
                </a:rPr>
                <a:t>30</a:t>
              </a:r>
              <a:r>
                <a:rPr kumimoji="1" lang="ko-KR" altLang="en-US" sz="800" dirty="0" smtClean="0">
                  <a:solidFill>
                    <a:srgbClr val="FFFF00"/>
                  </a:solidFill>
                  <a:latin typeface="+mn-ea"/>
                </a:rPr>
                <a:t>도</a:t>
              </a:r>
              <a:endParaRPr kumimoji="1" lang="ko-KR" altLang="en-US" sz="800" dirty="0">
                <a:solidFill>
                  <a:srgbClr val="FFFF00"/>
                </a:solidFill>
                <a:latin typeface="+mn-ea"/>
              </a:endParaRPr>
            </a:p>
          </p:txBody>
        </p:sp>
        <p:sp>
          <p:nvSpPr>
            <p:cNvPr id="75" name="텍스트 상자 74"/>
            <p:cNvSpPr txBox="1"/>
            <p:nvPr/>
          </p:nvSpPr>
          <p:spPr>
            <a:xfrm>
              <a:off x="497230" y="6104392"/>
              <a:ext cx="2798792" cy="21544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latin typeface="+mn-ea"/>
                </a:rPr>
                <a:t>#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4066</a:t>
              </a:r>
              <a:r>
                <a:rPr kumimoji="1" lang="ko-KR" altLang="en-US" sz="800" dirty="0" smtClean="0">
                  <a:latin typeface="+mn-ea"/>
                </a:rPr>
                <a:t> </a:t>
              </a:r>
              <a:r>
                <a:rPr kumimoji="1" lang="en-US" altLang="ko-KR" sz="800" dirty="0" smtClean="0">
                  <a:latin typeface="+mn-ea"/>
                </a:rPr>
                <a:t>CRA-CNCS</a:t>
              </a:r>
              <a:r>
                <a:rPr kumimoji="1" lang="ko-KR" altLang="en-US" sz="800" dirty="0" smtClean="0">
                  <a:latin typeface="+mn-ea"/>
                </a:rPr>
                <a:t> 발열판 온도는 장치 동작시 평균 </a:t>
              </a:r>
              <a:r>
                <a:rPr kumimoji="1" lang="en-US" altLang="ko-KR" sz="800" dirty="0" smtClean="0">
                  <a:latin typeface="+mn-ea"/>
                </a:rPr>
                <a:t>70</a:t>
              </a:r>
              <a:r>
                <a:rPr kumimoji="1" lang="ko-KR" altLang="en-US" sz="800" dirty="0" smtClean="0">
                  <a:latin typeface="+mn-ea"/>
                </a:rPr>
                <a:t>도 </a:t>
              </a:r>
              <a:endParaRPr kumimoji="1" lang="ko-KR" altLang="en-US" sz="800" dirty="0">
                <a:latin typeface="+mn-ea"/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271686" y="4346657"/>
              <a:ext cx="360040" cy="37848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4792673" y="2377082"/>
            <a:ext cx="4780611" cy="4220270"/>
            <a:chOff x="4792673" y="2348880"/>
            <a:chExt cx="4780611" cy="4220270"/>
          </a:xfrm>
        </p:grpSpPr>
        <p:pic>
          <p:nvPicPr>
            <p:cNvPr id="76" name="그림 7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124540" y="2234018"/>
              <a:ext cx="1205950" cy="1435674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7836747" y="2200643"/>
              <a:ext cx="1215694" cy="1512168"/>
            </a:xfrm>
            <a:prstGeom prst="rect">
              <a:avLst/>
            </a:prstGeom>
          </p:spPr>
        </p:pic>
        <p:grpSp>
          <p:nvGrpSpPr>
            <p:cNvPr id="19" name="그룹 18"/>
            <p:cNvGrpSpPr/>
            <p:nvPr/>
          </p:nvGrpSpPr>
          <p:grpSpPr>
            <a:xfrm>
              <a:off x="4792673" y="3690579"/>
              <a:ext cx="4780611" cy="2878571"/>
              <a:chOff x="4792673" y="3690579"/>
              <a:chExt cx="4780611" cy="2878571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28553" y="3690579"/>
                <a:ext cx="4744731" cy="28785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7" name="텍스트 상자 76"/>
              <p:cNvSpPr txBox="1"/>
              <p:nvPr/>
            </p:nvSpPr>
            <p:spPr>
              <a:xfrm>
                <a:off x="6156326" y="3884729"/>
                <a:ext cx="2372766" cy="21544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latin typeface="+mn-ea"/>
                  </a:rPr>
                  <a:t>4066</a:t>
                </a:r>
                <a:r>
                  <a:rPr kumimoji="1" lang="ko-KR" altLang="en-US" sz="800" dirty="0" smtClean="0">
                    <a:latin typeface="+mn-ea"/>
                  </a:rPr>
                  <a:t> </a:t>
                </a:r>
                <a:r>
                  <a:rPr kumimoji="1" lang="en-US" altLang="ko-KR" sz="800" dirty="0" smtClean="0">
                    <a:latin typeface="+mn-ea"/>
                  </a:rPr>
                  <a:t>CRA-CNCS </a:t>
                </a:r>
                <a:r>
                  <a:rPr kumimoji="1" lang="ko-KR" altLang="en-US" sz="800" dirty="0" smtClean="0">
                    <a:latin typeface="+mn-ea"/>
                  </a:rPr>
                  <a:t>발열판 온도 변화</a:t>
                </a:r>
                <a:endParaRPr kumimoji="1" lang="ko-KR" altLang="en-US" sz="800" dirty="0">
                  <a:latin typeface="+mn-ea"/>
                </a:endParaRPr>
              </a:p>
            </p:txBody>
          </p:sp>
          <p:sp>
            <p:nvSpPr>
              <p:cNvPr id="78" name="타원 77"/>
              <p:cNvSpPr/>
              <p:nvPr/>
            </p:nvSpPr>
            <p:spPr>
              <a:xfrm>
                <a:off x="4792673" y="4100173"/>
                <a:ext cx="360040" cy="378487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>
                  <a:latin typeface="+mn-ea"/>
                </a:endParaRPr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 flipH="1" flipV="1">
                <a:off x="6887904" y="4126611"/>
                <a:ext cx="432099" cy="433404"/>
              </a:xfrm>
              <a:prstGeom prst="straightConnector1">
                <a:avLst/>
              </a:prstGeom>
              <a:ln w="254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텍스트 상자 79"/>
              <p:cNvSpPr txBox="1"/>
              <p:nvPr/>
            </p:nvSpPr>
            <p:spPr>
              <a:xfrm>
                <a:off x="7328470" y="4605745"/>
                <a:ext cx="1499340" cy="338554"/>
              </a:xfrm>
              <a:prstGeom prst="rect">
                <a:avLst/>
              </a:prstGeom>
              <a:solidFill>
                <a:srgbClr val="A3A3FF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7030A0"/>
                    </a:solidFill>
                    <a:latin typeface="+mn-ea"/>
                  </a:rPr>
                  <a:t>&lt;CRA-CNCS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  <a:latin typeface="+mn-ea"/>
                  </a:rPr>
                  <a:t> 발열판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  <a:latin typeface="+mn-ea"/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7030A0"/>
                    </a:solidFill>
                    <a:latin typeface="+mn-ea"/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  <a:latin typeface="+mn-ea"/>
                  </a:rPr>
                  <a:t>43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  <a:latin typeface="+mn-ea"/>
                  </a:rPr>
                  <a:t>도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  <a:latin typeface="+mn-ea"/>
                  </a:rPr>
                  <a:t>/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  <a:latin typeface="+mn-ea"/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  <a:latin typeface="+mn-ea"/>
                  </a:rPr>
                  <a:t>40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  <a:latin typeface="+mn-ea"/>
                  </a:rPr>
                  <a:t>도 이상</a:t>
                </a:r>
                <a:endParaRPr kumimoji="1" lang="ko-KR" altLang="en-US" sz="800" dirty="0">
                  <a:solidFill>
                    <a:srgbClr val="7030A0"/>
                  </a:solidFill>
                  <a:latin typeface="+mn-ea"/>
                </a:endParaRPr>
              </a:p>
            </p:txBody>
          </p:sp>
          <p:cxnSp>
            <p:nvCxnSpPr>
              <p:cNvPr id="81" name="직선 화살표 연결선 80"/>
              <p:cNvCxnSpPr/>
              <p:nvPr/>
            </p:nvCxnSpPr>
            <p:spPr>
              <a:xfrm flipH="1" flipV="1">
                <a:off x="6887904" y="5203163"/>
                <a:ext cx="391087" cy="383948"/>
              </a:xfrm>
              <a:prstGeom prst="straightConnector1">
                <a:avLst/>
              </a:prstGeom>
              <a:ln w="254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텍스트 상자 81"/>
              <p:cNvSpPr txBox="1"/>
              <p:nvPr/>
            </p:nvSpPr>
            <p:spPr>
              <a:xfrm>
                <a:off x="7293312" y="5587111"/>
                <a:ext cx="1366460" cy="338554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FFFF00"/>
                    </a:solidFill>
                    <a:latin typeface="+mn-ea"/>
                  </a:rPr>
                  <a:t>&lt;CRA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  <a:latin typeface="+mn-ea"/>
                  </a:rPr>
                  <a:t>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  <a:latin typeface="+mn-ea"/>
                  </a:rPr>
                  <a:t>CNCS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  <a:latin typeface="+mn-ea"/>
                  </a:rPr>
                  <a:t> 주변 온도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  <a:latin typeface="+mn-ea"/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FFFF00"/>
                    </a:solidFill>
                    <a:latin typeface="+mn-ea"/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  <a:latin typeface="+mn-ea"/>
                  </a:rPr>
                  <a:t>35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  <a:latin typeface="+mn-ea"/>
                  </a:rPr>
                  <a:t>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  <a:latin typeface="+mn-ea"/>
                  </a:rPr>
                  <a:t>/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  <a:latin typeface="+mn-ea"/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  <a:latin typeface="+mn-ea"/>
                  </a:rPr>
                  <a:t>30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  <a:latin typeface="+mn-ea"/>
                  </a:rPr>
                  <a:t>도</a:t>
                </a:r>
                <a:endParaRPr kumimoji="1" lang="ko-KR" altLang="en-US" sz="800" dirty="0">
                  <a:solidFill>
                    <a:srgbClr val="FFFF00"/>
                  </a:solidFill>
                  <a:latin typeface="+mn-ea"/>
                </a:endParaRPr>
              </a:p>
            </p:txBody>
          </p:sp>
          <p:sp>
            <p:nvSpPr>
              <p:cNvPr id="83" name="텍스트 상자 82"/>
              <p:cNvSpPr txBox="1"/>
              <p:nvPr/>
            </p:nvSpPr>
            <p:spPr>
              <a:xfrm>
                <a:off x="5105742" y="6086499"/>
                <a:ext cx="2798792" cy="21544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latin typeface="+mn-ea"/>
                  </a:rPr>
                  <a:t>#</a:t>
                </a:r>
                <a:r>
                  <a:rPr kumimoji="1" lang="ko-KR" altLang="en-US" sz="800" dirty="0" smtClean="0">
                    <a:latin typeface="+mn-ea"/>
                  </a:rPr>
                  <a:t> </a:t>
                </a:r>
                <a:r>
                  <a:rPr kumimoji="1" lang="en-US" altLang="ko-KR" sz="800" dirty="0" smtClean="0">
                    <a:latin typeface="+mn-ea"/>
                  </a:rPr>
                  <a:t>4066</a:t>
                </a:r>
                <a:r>
                  <a:rPr kumimoji="1" lang="ko-KR" altLang="en-US" sz="800" dirty="0" smtClean="0">
                    <a:latin typeface="+mn-ea"/>
                  </a:rPr>
                  <a:t> </a:t>
                </a:r>
                <a:r>
                  <a:rPr kumimoji="1" lang="en-US" altLang="ko-KR" sz="800" dirty="0" smtClean="0">
                    <a:latin typeface="+mn-ea"/>
                  </a:rPr>
                  <a:t>CRA-CNCS</a:t>
                </a:r>
                <a:r>
                  <a:rPr kumimoji="1" lang="ko-KR" altLang="en-US" sz="800" dirty="0" smtClean="0">
                    <a:latin typeface="+mn-ea"/>
                  </a:rPr>
                  <a:t> 발열판 온도는 장치 동작시 평균 </a:t>
                </a:r>
                <a:r>
                  <a:rPr kumimoji="1" lang="en-US" altLang="ko-KR" sz="800" dirty="0" smtClean="0">
                    <a:latin typeface="+mn-ea"/>
                  </a:rPr>
                  <a:t>40</a:t>
                </a:r>
                <a:r>
                  <a:rPr kumimoji="1" lang="ko-KR" altLang="en-US" sz="800" dirty="0" smtClean="0">
                    <a:latin typeface="+mn-ea"/>
                  </a:rPr>
                  <a:t>도 </a:t>
                </a:r>
                <a:endParaRPr kumimoji="1" lang="ko-KR" altLang="en-US" sz="800" dirty="0">
                  <a:latin typeface="+mn-ea"/>
                </a:endParaRPr>
              </a:p>
            </p:txBody>
          </p:sp>
        </p:grpSp>
        <p:sp>
          <p:nvSpPr>
            <p:cNvPr id="20" name="오른쪽 화살표[R] 19"/>
            <p:cNvSpPr/>
            <p:nvPr/>
          </p:nvSpPr>
          <p:spPr>
            <a:xfrm>
              <a:off x="6690582" y="2663483"/>
              <a:ext cx="713721" cy="4848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02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834725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3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75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현차 하드웨어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4/4)</a:t>
                      </a:r>
                      <a:endParaRPr lang="ko-KR" altLang="en-US" sz="18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고장 발생 빈도가 가능 높은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차량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 후 결과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차량 선정 방법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까지 고장 발생 빈도를 분석하여 상위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개의 차량 선택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endParaRPr lang="en-US" altLang="ko-KR" sz="11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116624" y="620688"/>
            <a:ext cx="3827470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FAN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설치차량 영업운행 현황 및 모니터링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89"/>
          <a:stretch/>
        </p:blipFill>
        <p:spPr>
          <a:xfrm>
            <a:off x="343693" y="1988840"/>
            <a:ext cx="9406221" cy="3384375"/>
          </a:xfrm>
          <a:prstGeom prst="rect">
            <a:avLst/>
          </a:prstGeom>
        </p:spPr>
      </p:pic>
      <p:grpSp>
        <p:nvGrpSpPr>
          <p:cNvPr id="34" name="그룹 33"/>
          <p:cNvGrpSpPr/>
          <p:nvPr/>
        </p:nvGrpSpPr>
        <p:grpSpPr>
          <a:xfrm>
            <a:off x="3512046" y="5661248"/>
            <a:ext cx="3766537" cy="851798"/>
            <a:chOff x="3484033" y="5385769"/>
            <a:chExt cx="4438650" cy="1353699"/>
          </a:xfrm>
        </p:grpSpPr>
        <p:grpSp>
          <p:nvGrpSpPr>
            <p:cNvPr id="35" name="그룹 34"/>
            <p:cNvGrpSpPr/>
            <p:nvPr/>
          </p:nvGrpSpPr>
          <p:grpSpPr>
            <a:xfrm>
              <a:off x="3484033" y="5385769"/>
              <a:ext cx="4438650" cy="1353699"/>
              <a:chOff x="828675" y="5271176"/>
              <a:chExt cx="4302131" cy="1424899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828675" y="5286375"/>
                <a:ext cx="4302131" cy="1409700"/>
                <a:chOff x="809625" y="5286375"/>
                <a:chExt cx="4302131" cy="1409700"/>
              </a:xfrm>
            </p:grpSpPr>
            <p:sp>
              <p:nvSpPr>
                <p:cNvPr id="46" name="모서리가 둥근 직사각형 45"/>
                <p:cNvSpPr/>
                <p:nvPr/>
              </p:nvSpPr>
              <p:spPr>
                <a:xfrm>
                  <a:off x="809625" y="5286375"/>
                  <a:ext cx="4302131" cy="1409700"/>
                </a:xfrm>
                <a:prstGeom prst="roundRect">
                  <a:avLst>
                    <a:gd name="adj" fmla="val 9235"/>
                  </a:avLst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  <p:sp>
              <p:nvSpPr>
                <p:cNvPr id="48" name="모서리가 둥근 직사각형 47"/>
                <p:cNvSpPr/>
                <p:nvPr/>
              </p:nvSpPr>
              <p:spPr>
                <a:xfrm>
                  <a:off x="997641" y="5381302"/>
                  <a:ext cx="671735" cy="213966"/>
                </a:xfrm>
                <a:prstGeom prst="round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smtClean="0">
                      <a:solidFill>
                        <a:schemeClr val="tx1"/>
                      </a:solidFill>
                      <a:latin typeface="Arial Unicode MS" panose="020B0604020202020204" pitchFamily="50" charset="-127"/>
                      <a:ea typeface="Arial Unicode MS" panose="020B0604020202020204" pitchFamily="50" charset="-127"/>
                      <a:cs typeface="Arial Unicode MS" panose="020B0604020202020204" pitchFamily="50" charset="-127"/>
                    </a:rPr>
                    <a:t>FAN</a:t>
                  </a:r>
                  <a:endParaRPr lang="ko-KR" altLang="en-US" sz="1000" dirty="0">
                    <a:solidFill>
                      <a:schemeClr val="tx1"/>
                    </a:solidFill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  <p:sp>
              <p:nvSpPr>
                <p:cNvPr id="51" name="모서리가 둥근 직사각형 50"/>
                <p:cNvSpPr/>
                <p:nvPr/>
              </p:nvSpPr>
              <p:spPr>
                <a:xfrm>
                  <a:off x="997641" y="5689510"/>
                  <a:ext cx="671735" cy="213966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smtClean="0">
                      <a:solidFill>
                        <a:schemeClr val="tx1"/>
                      </a:solidFill>
                      <a:latin typeface="Arial Unicode MS" panose="020B0604020202020204" pitchFamily="50" charset="-127"/>
                      <a:ea typeface="Arial Unicode MS" panose="020B0604020202020204" pitchFamily="50" charset="-127"/>
                      <a:cs typeface="Arial Unicode MS" panose="020B0604020202020204" pitchFamily="50" charset="-127"/>
                    </a:rPr>
                    <a:t>OK</a:t>
                  </a:r>
                  <a:endParaRPr lang="ko-KR" altLang="en-US" sz="1000" dirty="0">
                    <a:solidFill>
                      <a:schemeClr val="tx1"/>
                    </a:solidFill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  <p:sp>
              <p:nvSpPr>
                <p:cNvPr id="53" name="모서리가 둥근 직사각형 52"/>
                <p:cNvSpPr/>
                <p:nvPr/>
              </p:nvSpPr>
              <p:spPr>
                <a:xfrm>
                  <a:off x="997641" y="5999984"/>
                  <a:ext cx="671735" cy="213966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 smtClean="0">
                      <a:solidFill>
                        <a:schemeClr val="tx1"/>
                      </a:solidFill>
                      <a:latin typeface="Arial Unicode MS" panose="020B0604020202020204" pitchFamily="50" charset="-127"/>
                      <a:ea typeface="Arial Unicode MS" panose="020B0604020202020204" pitchFamily="50" charset="-127"/>
                      <a:cs typeface="Arial Unicode MS" panose="020B0604020202020204" pitchFamily="50" charset="-127"/>
                    </a:rPr>
                    <a:t>Fail</a:t>
                  </a:r>
                  <a:endParaRPr lang="ko-KR" altLang="en-US" sz="1000" dirty="0">
                    <a:solidFill>
                      <a:schemeClr val="tx1"/>
                    </a:solidFill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endParaRPr>
                </a:p>
              </p:txBody>
            </p:sp>
          </p:grpSp>
          <p:sp>
            <p:nvSpPr>
              <p:cNvPr id="39" name="TextBox 10"/>
              <p:cNvSpPr txBox="1"/>
              <p:nvPr/>
            </p:nvSpPr>
            <p:spPr>
              <a:xfrm>
                <a:off x="1717385" y="5271176"/>
                <a:ext cx="3209839" cy="41188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FAN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설치 작업 완료</a:t>
                </a:r>
                <a:endParaRPr lang="ko-KR" altLang="en-US" sz="1000" dirty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43" name="TextBox 11"/>
              <p:cNvSpPr txBox="1"/>
              <p:nvPr/>
            </p:nvSpPr>
            <p:spPr>
              <a:xfrm>
                <a:off x="1717383" y="5596662"/>
                <a:ext cx="3209839" cy="41188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(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정상</a:t>
                </a:r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) 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영업운행 중 자동방송 불량 </a:t>
                </a:r>
                <a:r>
                  <a:rPr lang="ko-KR" altLang="en-US" sz="1000" dirty="0" err="1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미발생</a:t>
                </a:r>
                <a:endParaRPr lang="ko-KR" altLang="en-US" sz="1000" dirty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44" name="TextBox 12"/>
              <p:cNvSpPr txBox="1"/>
              <p:nvPr/>
            </p:nvSpPr>
            <p:spPr>
              <a:xfrm>
                <a:off x="1717384" y="5910552"/>
                <a:ext cx="3209839" cy="41188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(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불량</a:t>
                </a:r>
                <a:r>
                  <a:rPr lang="en-US" altLang="ko-KR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) </a:t>
                </a:r>
                <a:r>
                  <a:rPr lang="ko-KR" altLang="en-US" sz="1000" dirty="0" smtClean="0">
                    <a:latin typeface="Arial Unicode MS" panose="020B0604020202020204" pitchFamily="50" charset="-127"/>
                    <a:ea typeface="Arial Unicode MS" panose="020B0604020202020204" pitchFamily="50" charset="-127"/>
                    <a:cs typeface="Arial Unicode MS" panose="020B0604020202020204" pitchFamily="50" charset="-127"/>
                  </a:rPr>
                  <a:t>영업운행 중 자동방송 불량 발생 </a:t>
                </a:r>
                <a:endParaRPr lang="ko-KR" altLang="en-US" sz="1000" dirty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endParaRPr>
              </a:p>
            </p:txBody>
          </p:sp>
        </p:grpSp>
        <p:sp>
          <p:nvSpPr>
            <p:cNvPr id="36" name="모서리가 둥근 직사각형 35"/>
            <p:cNvSpPr/>
            <p:nvPr/>
          </p:nvSpPr>
          <p:spPr>
            <a:xfrm>
              <a:off x="3678015" y="6408542"/>
              <a:ext cx="693051" cy="2032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sp>
          <p:nvSpPr>
            <p:cNvPr id="37" name="TextBox 8"/>
            <p:cNvSpPr txBox="1"/>
            <p:nvPr/>
          </p:nvSpPr>
          <p:spPr>
            <a:xfrm>
              <a:off x="4400944" y="6303915"/>
              <a:ext cx="3311696" cy="391301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r>
                <a:rPr lang="en-US" altLang="ko-KR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(</a:t>
              </a:r>
              <a:r>
                <a:rPr lang="ko-KR" altLang="en-US" sz="1000" dirty="0" err="1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해당없음</a:t>
              </a:r>
              <a:r>
                <a:rPr lang="en-US" altLang="ko-KR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) </a:t>
              </a:r>
              <a:r>
                <a:rPr lang="ko-KR" altLang="en-US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영업운행 </a:t>
              </a:r>
              <a:r>
                <a:rPr lang="ko-KR" altLang="en-US" sz="1000" dirty="0" err="1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미투입</a:t>
              </a:r>
              <a:r>
                <a:rPr lang="en-US" altLang="ko-KR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, </a:t>
              </a:r>
              <a:r>
                <a:rPr lang="ko-KR" altLang="en-US" sz="1000" dirty="0" smtClean="0"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검수고 유치</a:t>
              </a:r>
              <a:endParaRPr lang="ko-KR" altLang="en-US" sz="10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196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012168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현차 소프트 웨어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 사항 검증</a:t>
                      </a:r>
                      <a:endParaRPr lang="ko-KR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현재 동작 알고리즘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PTC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장치에서 네트워크 통신 방식으로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데이타를 전송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데이타에 대한 실시간 위치 계산 및 자동 방송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문제점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데이타가 비 정상적인 좌표를 전송 할 경우 자동 방송 위치 계산이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불가능 하여 자동방송 불량 발생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 필터 알고리즘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수신된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데이타에 대한 체크 알고리즘을 추가하여 이상 데이타 필터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지속적으로 이상 데이타 수신되면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데이타 백업동작 실시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전편성 적용 및 결과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시행청 승인후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20~24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까지 전 편성 적용 완료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(4055)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고장 발생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" name="직사각형 44"/>
          <p:cNvSpPr/>
          <p:nvPr/>
        </p:nvSpPr>
        <p:spPr>
          <a:xfrm>
            <a:off x="116624" y="620688"/>
            <a:ext cx="303538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GPS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 데이타 필터 알고리즘 수정 전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431140" y="3044997"/>
            <a:ext cx="744327" cy="1798409"/>
            <a:chOff x="543315" y="3896601"/>
            <a:chExt cx="744327" cy="1798409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691291" y="3896601"/>
              <a:ext cx="455854" cy="6947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74" name="모서리가 둥근 직사각형 73"/>
            <p:cNvSpPr/>
            <p:nvPr/>
          </p:nvSpPr>
          <p:spPr>
            <a:xfrm>
              <a:off x="619890" y="5000224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9" name="텍스트 상자 8"/>
            <p:cNvSpPr txBox="1"/>
            <p:nvPr/>
          </p:nvSpPr>
          <p:spPr>
            <a:xfrm>
              <a:off x="733297" y="3934852"/>
              <a:ext cx="371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latin typeface="+mn-ea"/>
                </a:rPr>
                <a:t>GPS </a:t>
              </a:r>
              <a:r>
                <a:rPr kumimoji="1" lang="ko-KR" altLang="en-US" sz="800" dirty="0" smtClean="0">
                  <a:latin typeface="+mn-ea"/>
                </a:rPr>
                <a:t>데이타</a:t>
              </a:r>
              <a:endParaRPr kumimoji="1" lang="ko-KR" altLang="en-US" sz="800" dirty="0">
                <a:latin typeface="+mn-ea"/>
              </a:endParaRPr>
            </a:p>
          </p:txBody>
        </p:sp>
        <p:sp>
          <p:nvSpPr>
            <p:cNvPr id="12" name="오른쪽 화살표[R] 11"/>
            <p:cNvSpPr/>
            <p:nvPr/>
          </p:nvSpPr>
          <p:spPr>
            <a:xfrm rot="5400000">
              <a:off x="766686" y="4687627"/>
              <a:ext cx="295497" cy="23604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  <p:sp>
          <p:nvSpPr>
            <p:cNvPr id="75" name="텍스트 상자 74"/>
            <p:cNvSpPr txBox="1"/>
            <p:nvPr/>
          </p:nvSpPr>
          <p:spPr>
            <a:xfrm>
              <a:off x="543315" y="5147074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>
                  <a:latin typeface="+mn-ea"/>
                </a:rPr>
                <a:t>자동방송</a:t>
              </a:r>
              <a:endParaRPr kumimoji="1" lang="en-US" altLang="ko-KR" sz="800" dirty="0" smtClean="0">
                <a:latin typeface="+mn-ea"/>
              </a:endParaRPr>
            </a:p>
            <a:p>
              <a:pPr algn="ctr"/>
              <a:r>
                <a:rPr kumimoji="1" lang="ko-KR" altLang="en-US" sz="800" dirty="0" smtClean="0">
                  <a:latin typeface="+mn-ea"/>
                </a:rPr>
                <a:t>위치 계산</a:t>
              </a:r>
              <a:endParaRPr kumimoji="1" lang="ko-KR" altLang="en-US" sz="800" dirty="0">
                <a:latin typeface="+mn-ea"/>
              </a:endParaRPr>
            </a:p>
          </p:txBody>
        </p:sp>
      </p:grpSp>
      <p:sp>
        <p:nvSpPr>
          <p:cNvPr id="76" name="직사각형 75"/>
          <p:cNvSpPr/>
          <p:nvPr/>
        </p:nvSpPr>
        <p:spPr>
          <a:xfrm>
            <a:off x="4664174" y="620688"/>
            <a:ext cx="2935869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GPS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 데이타 필터 알고리즘 수정 후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3808235" y="3040835"/>
            <a:ext cx="744327" cy="1798409"/>
            <a:chOff x="543315" y="3896601"/>
            <a:chExt cx="744327" cy="1798409"/>
          </a:xfrm>
        </p:grpSpPr>
        <p:sp>
          <p:nvSpPr>
            <p:cNvPr id="119" name="모서리가 둥근 직사각형 118"/>
            <p:cNvSpPr/>
            <p:nvPr/>
          </p:nvSpPr>
          <p:spPr>
            <a:xfrm>
              <a:off x="691291" y="3896601"/>
              <a:ext cx="455854" cy="69478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120" name="모서리가 둥근 직사각형 119"/>
            <p:cNvSpPr/>
            <p:nvPr/>
          </p:nvSpPr>
          <p:spPr>
            <a:xfrm>
              <a:off x="619890" y="5000224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121" name="텍스트 상자 120"/>
            <p:cNvSpPr txBox="1"/>
            <p:nvPr/>
          </p:nvSpPr>
          <p:spPr>
            <a:xfrm>
              <a:off x="733297" y="3934852"/>
              <a:ext cx="3718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latin typeface="+mn-ea"/>
                </a:rPr>
                <a:t>GPS </a:t>
              </a:r>
              <a:r>
                <a:rPr kumimoji="1" lang="ko-KR" altLang="en-US" sz="800" dirty="0" smtClean="0">
                  <a:latin typeface="+mn-ea"/>
                </a:rPr>
                <a:t>데이타</a:t>
              </a:r>
              <a:endParaRPr kumimoji="1" lang="ko-KR" altLang="en-US" sz="800" dirty="0">
                <a:latin typeface="+mn-ea"/>
              </a:endParaRPr>
            </a:p>
          </p:txBody>
        </p:sp>
        <p:sp>
          <p:nvSpPr>
            <p:cNvPr id="122" name="오른쪽 화살표[R] 121"/>
            <p:cNvSpPr/>
            <p:nvPr/>
          </p:nvSpPr>
          <p:spPr>
            <a:xfrm rot="5400000">
              <a:off x="766686" y="4687627"/>
              <a:ext cx="295497" cy="23604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  <p:sp>
          <p:nvSpPr>
            <p:cNvPr id="123" name="텍스트 상자 122"/>
            <p:cNvSpPr txBox="1"/>
            <p:nvPr/>
          </p:nvSpPr>
          <p:spPr>
            <a:xfrm>
              <a:off x="543315" y="5147074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>
                  <a:latin typeface="+mn-ea"/>
                </a:rPr>
                <a:t>자동방송</a:t>
              </a:r>
              <a:endParaRPr kumimoji="1" lang="en-US" altLang="ko-KR" sz="800" dirty="0" smtClean="0">
                <a:latin typeface="+mn-ea"/>
              </a:endParaRPr>
            </a:p>
            <a:p>
              <a:pPr algn="ctr"/>
              <a:r>
                <a:rPr kumimoji="1" lang="ko-KR" altLang="en-US" sz="800" dirty="0" smtClean="0">
                  <a:latin typeface="+mn-ea"/>
                </a:rPr>
                <a:t>위치 계산</a:t>
              </a:r>
              <a:endParaRPr kumimoji="1" lang="ko-KR" altLang="en-US" sz="800" dirty="0">
                <a:latin typeface="+mn-ea"/>
              </a:endParaRPr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1138000" y="2258909"/>
            <a:ext cx="2905336" cy="1646066"/>
            <a:chOff x="271686" y="3933056"/>
            <a:chExt cx="3309085" cy="1668535"/>
          </a:xfrm>
        </p:grpSpPr>
        <p:sp>
          <p:nvSpPr>
            <p:cNvPr id="125" name="TextBox 7"/>
            <p:cNvSpPr txBox="1">
              <a:spLocks noChangeArrowheads="1"/>
            </p:cNvSpPr>
            <p:nvPr/>
          </p:nvSpPr>
          <p:spPr bwMode="auto">
            <a:xfrm>
              <a:off x="343694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TextBox 7"/>
            <p:cNvSpPr txBox="1">
              <a:spLocks noChangeArrowheads="1"/>
            </p:cNvSpPr>
            <p:nvPr/>
          </p:nvSpPr>
          <p:spPr bwMode="auto">
            <a:xfrm>
              <a:off x="559718" y="3933056"/>
              <a:ext cx="394732" cy="202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127" name="그룹 126"/>
            <p:cNvGrpSpPr/>
            <p:nvPr/>
          </p:nvGrpSpPr>
          <p:grpSpPr>
            <a:xfrm>
              <a:off x="502950" y="4077072"/>
              <a:ext cx="126147" cy="128853"/>
              <a:chOff x="2271714" y="5581250"/>
              <a:chExt cx="126147" cy="128853"/>
            </a:xfrm>
          </p:grpSpPr>
          <p:sp>
            <p:nvSpPr>
              <p:cNvPr id="152" name="이등변 삼각형 52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cxnSp>
            <p:nvCxnSpPr>
              <p:cNvPr id="153" name="직선 연결선 53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8" name="TextBox 7"/>
            <p:cNvSpPr txBox="1">
              <a:spLocks noChangeArrowheads="1"/>
            </p:cNvSpPr>
            <p:nvPr/>
          </p:nvSpPr>
          <p:spPr bwMode="auto">
            <a:xfrm>
              <a:off x="343694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>
              <a:off x="271686" y="5085184"/>
              <a:ext cx="1795096" cy="516407"/>
              <a:chOff x="1669172" y="3244886"/>
              <a:chExt cx="1795096" cy="516407"/>
            </a:xfrm>
          </p:grpSpPr>
          <p:sp>
            <p:nvSpPr>
              <p:cNvPr id="147" name="TextBox 7"/>
              <p:cNvSpPr txBox="1">
                <a:spLocks noChangeArrowheads="1"/>
              </p:cNvSpPr>
              <p:nvPr/>
            </p:nvSpPr>
            <p:spPr bwMode="auto">
              <a:xfrm>
                <a:off x="1669172" y="3542908"/>
                <a:ext cx="1795096" cy="218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r>
                  <a:rPr lang="en-US" altLang="ko-KR" sz="800" b="0" dirty="0" smtClean="0">
                    <a:solidFill>
                      <a:srgbClr val="7030A0"/>
                    </a:solidFill>
                    <a:latin typeface="+mn-ea"/>
                    <a:ea typeface="+mn-ea"/>
                  </a:rPr>
                  <a:t>*CRA(Communication Rack A)</a:t>
                </a:r>
                <a:endParaRPr lang="ko-KR" altLang="en-US" sz="800" b="0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8" name="직사각형 147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49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0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1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30" name="직선 연결선 82"/>
            <p:cNvCxnSpPr/>
            <p:nvPr/>
          </p:nvCxnSpPr>
          <p:spPr>
            <a:xfrm>
              <a:off x="559718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84"/>
            <p:cNvCxnSpPr/>
            <p:nvPr/>
          </p:nvCxnSpPr>
          <p:spPr>
            <a:xfrm>
              <a:off x="559718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7"/>
            <p:cNvSpPr txBox="1">
              <a:spLocks noChangeArrowheads="1"/>
            </p:cNvSpPr>
            <p:nvPr/>
          </p:nvSpPr>
          <p:spPr bwMode="auto">
            <a:xfrm>
              <a:off x="2071886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133" name="그룹 132"/>
            <p:cNvGrpSpPr/>
            <p:nvPr/>
          </p:nvGrpSpPr>
          <p:grpSpPr>
            <a:xfrm>
              <a:off x="2231142" y="4077072"/>
              <a:ext cx="126147" cy="128853"/>
              <a:chOff x="2271714" y="5581250"/>
              <a:chExt cx="126147" cy="128853"/>
            </a:xfrm>
          </p:grpSpPr>
          <p:sp>
            <p:nvSpPr>
              <p:cNvPr id="145" name="이등변 삼각형 90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cxnSp>
            <p:nvCxnSpPr>
              <p:cNvPr id="146" name="직선 연결선 91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4" name="TextBox 7"/>
            <p:cNvSpPr txBox="1">
              <a:spLocks noChangeArrowheads="1"/>
            </p:cNvSpPr>
            <p:nvPr/>
          </p:nvSpPr>
          <p:spPr bwMode="auto">
            <a:xfrm>
              <a:off x="2071886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>
              <a:off x="2061441" y="5085184"/>
              <a:ext cx="1262968" cy="276884"/>
              <a:chOff x="1730735" y="3244886"/>
              <a:chExt cx="1262968" cy="276884"/>
            </a:xfrm>
          </p:grpSpPr>
          <p:sp>
            <p:nvSpPr>
              <p:cNvPr id="141" name="직사각형 140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142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3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4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136" name="직선 연결선 99"/>
            <p:cNvCxnSpPr/>
            <p:nvPr/>
          </p:nvCxnSpPr>
          <p:spPr>
            <a:xfrm>
              <a:off x="2287910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00"/>
            <p:cNvCxnSpPr/>
            <p:nvPr/>
          </p:nvCxnSpPr>
          <p:spPr>
            <a:xfrm>
              <a:off x="2287910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02"/>
            <p:cNvCxnSpPr/>
            <p:nvPr/>
          </p:nvCxnSpPr>
          <p:spPr>
            <a:xfrm>
              <a:off x="775742" y="4749461"/>
              <a:ext cx="1296144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7"/>
            <p:cNvSpPr txBox="1">
              <a:spLocks noChangeArrowheads="1"/>
            </p:cNvSpPr>
            <p:nvPr/>
          </p:nvSpPr>
          <p:spPr bwMode="auto">
            <a:xfrm>
              <a:off x="2722294" y="4618300"/>
              <a:ext cx="858477" cy="280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GPS </a:t>
              </a:r>
              <a:r>
                <a:rPr lang="ko-KR" altLang="en-US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데이타 </a:t>
              </a:r>
              <a:endParaRPr lang="ko-KR" altLang="en-US" sz="800" b="0" dirty="0">
                <a:solidFill>
                  <a:srgbClr val="D09E00"/>
                </a:solidFill>
                <a:latin typeface="+mn-ea"/>
                <a:ea typeface="+mn-ea"/>
              </a:endParaRPr>
            </a:p>
          </p:txBody>
        </p:sp>
        <p:cxnSp>
          <p:nvCxnSpPr>
            <p:cNvPr id="140" name="직선 화살표 연결선 139"/>
            <p:cNvCxnSpPr/>
            <p:nvPr/>
          </p:nvCxnSpPr>
          <p:spPr>
            <a:xfrm flipV="1">
              <a:off x="2287910" y="4869160"/>
              <a:ext cx="504056" cy="72008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8" name="모서리가 둥근 직사각형 197"/>
          <p:cNvSpPr/>
          <p:nvPr/>
        </p:nvSpPr>
        <p:spPr>
          <a:xfrm>
            <a:off x="5148415" y="3007032"/>
            <a:ext cx="455854" cy="694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+mn-ea"/>
            </a:endParaRPr>
          </a:p>
        </p:txBody>
      </p:sp>
      <p:sp>
        <p:nvSpPr>
          <p:cNvPr id="200" name="텍스트 상자 199"/>
          <p:cNvSpPr txBox="1"/>
          <p:nvPr/>
        </p:nvSpPr>
        <p:spPr>
          <a:xfrm>
            <a:off x="5190421" y="3045283"/>
            <a:ext cx="371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 smtClean="0">
                <a:latin typeface="+mn-ea"/>
              </a:rPr>
              <a:t>GPS </a:t>
            </a:r>
            <a:r>
              <a:rPr kumimoji="1" lang="ko-KR" altLang="en-US" sz="800" dirty="0" smtClean="0">
                <a:latin typeface="+mn-ea"/>
              </a:rPr>
              <a:t>데이타</a:t>
            </a:r>
            <a:endParaRPr kumimoji="1" lang="ko-KR" altLang="en-US" sz="800" dirty="0">
              <a:latin typeface="+mn-ea"/>
            </a:endParaRPr>
          </a:p>
        </p:txBody>
      </p:sp>
      <p:sp>
        <p:nvSpPr>
          <p:cNvPr id="201" name="오른쪽 화살표[R] 200"/>
          <p:cNvSpPr/>
          <p:nvPr/>
        </p:nvSpPr>
        <p:spPr>
          <a:xfrm rot="5400000">
            <a:off x="5223810" y="3798058"/>
            <a:ext cx="295497" cy="236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+mn-ea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5000439" y="4606422"/>
            <a:ext cx="744327" cy="694786"/>
            <a:chOff x="5000439" y="4110655"/>
            <a:chExt cx="744327" cy="694786"/>
          </a:xfrm>
        </p:grpSpPr>
        <p:sp>
          <p:nvSpPr>
            <p:cNvPr id="199" name="모서리가 둥근 직사각형 198"/>
            <p:cNvSpPr/>
            <p:nvPr/>
          </p:nvSpPr>
          <p:spPr>
            <a:xfrm>
              <a:off x="5077014" y="4110655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202" name="텍스트 상자 201"/>
            <p:cNvSpPr txBox="1"/>
            <p:nvPr/>
          </p:nvSpPr>
          <p:spPr>
            <a:xfrm>
              <a:off x="5000439" y="4257505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>
                  <a:latin typeface="+mn-ea"/>
                </a:rPr>
                <a:t>자동방송</a:t>
              </a:r>
              <a:endParaRPr kumimoji="1" lang="en-US" altLang="ko-KR" sz="800" dirty="0" smtClean="0">
                <a:latin typeface="+mn-ea"/>
              </a:endParaRPr>
            </a:p>
            <a:p>
              <a:pPr algn="ctr"/>
              <a:r>
                <a:rPr kumimoji="1" lang="ko-KR" altLang="en-US" sz="800" dirty="0" smtClean="0">
                  <a:latin typeface="+mn-ea"/>
                </a:rPr>
                <a:t>위치 계산</a:t>
              </a:r>
              <a:endParaRPr kumimoji="1" lang="ko-KR" altLang="en-US" sz="800" dirty="0">
                <a:latin typeface="+mn-ea"/>
              </a:endParaRPr>
            </a:p>
          </p:txBody>
        </p:sp>
      </p:grpSp>
      <p:sp>
        <p:nvSpPr>
          <p:cNvPr id="204" name="모서리가 둥근 직사각형 203"/>
          <p:cNvSpPr/>
          <p:nvPr/>
        </p:nvSpPr>
        <p:spPr>
          <a:xfrm>
            <a:off x="8525510" y="3002870"/>
            <a:ext cx="455854" cy="6947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+mn-ea"/>
            </a:endParaRPr>
          </a:p>
        </p:txBody>
      </p:sp>
      <p:sp>
        <p:nvSpPr>
          <p:cNvPr id="206" name="텍스트 상자 205"/>
          <p:cNvSpPr txBox="1"/>
          <p:nvPr/>
        </p:nvSpPr>
        <p:spPr>
          <a:xfrm>
            <a:off x="8567516" y="3041121"/>
            <a:ext cx="3718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 smtClean="0">
                <a:latin typeface="+mn-ea"/>
              </a:rPr>
              <a:t>GPS </a:t>
            </a:r>
            <a:r>
              <a:rPr kumimoji="1" lang="ko-KR" altLang="en-US" sz="800" dirty="0" smtClean="0">
                <a:latin typeface="+mn-ea"/>
              </a:rPr>
              <a:t>데이타</a:t>
            </a:r>
            <a:endParaRPr kumimoji="1" lang="ko-KR" altLang="en-US" sz="800" dirty="0">
              <a:latin typeface="+mn-ea"/>
            </a:endParaRPr>
          </a:p>
        </p:txBody>
      </p:sp>
      <p:sp>
        <p:nvSpPr>
          <p:cNvPr id="207" name="오른쪽 화살표[R] 206"/>
          <p:cNvSpPr/>
          <p:nvPr/>
        </p:nvSpPr>
        <p:spPr>
          <a:xfrm rot="5400000">
            <a:off x="8637511" y="3790464"/>
            <a:ext cx="295497" cy="236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+mn-ea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8456196" y="4606422"/>
            <a:ext cx="744327" cy="694786"/>
            <a:chOff x="8377534" y="4106493"/>
            <a:chExt cx="744327" cy="694786"/>
          </a:xfrm>
        </p:grpSpPr>
        <p:sp>
          <p:nvSpPr>
            <p:cNvPr id="205" name="모서리가 둥근 직사각형 204"/>
            <p:cNvSpPr/>
            <p:nvPr/>
          </p:nvSpPr>
          <p:spPr>
            <a:xfrm>
              <a:off x="8454109" y="4106493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208" name="텍스트 상자 207"/>
            <p:cNvSpPr txBox="1"/>
            <p:nvPr/>
          </p:nvSpPr>
          <p:spPr>
            <a:xfrm>
              <a:off x="8377534" y="4253343"/>
              <a:ext cx="7443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>
                  <a:latin typeface="+mn-ea"/>
                </a:rPr>
                <a:t>자동방송</a:t>
              </a:r>
              <a:endParaRPr kumimoji="1" lang="en-US" altLang="ko-KR" sz="800" dirty="0" smtClean="0">
                <a:latin typeface="+mn-ea"/>
              </a:endParaRPr>
            </a:p>
            <a:p>
              <a:pPr algn="ctr"/>
              <a:r>
                <a:rPr kumimoji="1" lang="ko-KR" altLang="en-US" sz="800" dirty="0" smtClean="0">
                  <a:latin typeface="+mn-ea"/>
                </a:rPr>
                <a:t>위치 계산</a:t>
              </a:r>
              <a:endParaRPr kumimoji="1" lang="ko-KR" altLang="en-US" sz="800" dirty="0">
                <a:latin typeface="+mn-ea"/>
              </a:endParaRP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5707299" y="1988839"/>
            <a:ext cx="2905336" cy="1646066"/>
            <a:chOff x="271686" y="3933056"/>
            <a:chExt cx="3309085" cy="1668535"/>
          </a:xfrm>
        </p:grpSpPr>
        <p:sp>
          <p:nvSpPr>
            <p:cNvPr id="210" name="TextBox 7"/>
            <p:cNvSpPr txBox="1">
              <a:spLocks noChangeArrowheads="1"/>
            </p:cNvSpPr>
            <p:nvPr/>
          </p:nvSpPr>
          <p:spPr bwMode="auto">
            <a:xfrm>
              <a:off x="343694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TextBox 7"/>
            <p:cNvSpPr txBox="1">
              <a:spLocks noChangeArrowheads="1"/>
            </p:cNvSpPr>
            <p:nvPr/>
          </p:nvSpPr>
          <p:spPr bwMode="auto">
            <a:xfrm>
              <a:off x="559718" y="3933056"/>
              <a:ext cx="394732" cy="202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r>
                <a:rPr lang="en-US" altLang="ko-KR" sz="7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GPS</a:t>
              </a:r>
              <a:endParaRPr lang="ko-KR" altLang="en-US" sz="7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212" name="그룹 211"/>
            <p:cNvGrpSpPr/>
            <p:nvPr/>
          </p:nvGrpSpPr>
          <p:grpSpPr>
            <a:xfrm>
              <a:off x="502950" y="4077072"/>
              <a:ext cx="126147" cy="128853"/>
              <a:chOff x="2271714" y="5581250"/>
              <a:chExt cx="126147" cy="128853"/>
            </a:xfrm>
          </p:grpSpPr>
          <p:sp>
            <p:nvSpPr>
              <p:cNvPr id="237" name="이등변 삼각형 52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cxnSp>
            <p:nvCxnSpPr>
              <p:cNvPr id="238" name="직선 연결선 53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3" name="TextBox 7"/>
            <p:cNvSpPr txBox="1">
              <a:spLocks noChangeArrowheads="1"/>
            </p:cNvSpPr>
            <p:nvPr/>
          </p:nvSpPr>
          <p:spPr bwMode="auto">
            <a:xfrm>
              <a:off x="343694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214" name="그룹 213"/>
            <p:cNvGrpSpPr/>
            <p:nvPr/>
          </p:nvGrpSpPr>
          <p:grpSpPr>
            <a:xfrm>
              <a:off x="271686" y="5085184"/>
              <a:ext cx="1795096" cy="516407"/>
              <a:chOff x="1669172" y="3244886"/>
              <a:chExt cx="1795096" cy="516407"/>
            </a:xfrm>
          </p:grpSpPr>
          <p:sp>
            <p:nvSpPr>
              <p:cNvPr id="232" name="TextBox 7"/>
              <p:cNvSpPr txBox="1">
                <a:spLocks noChangeArrowheads="1"/>
              </p:cNvSpPr>
              <p:nvPr/>
            </p:nvSpPr>
            <p:spPr bwMode="auto">
              <a:xfrm>
                <a:off x="1669172" y="3542908"/>
                <a:ext cx="1795096" cy="218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r>
                  <a:rPr lang="en-US" altLang="ko-KR" sz="800" b="0" dirty="0" smtClean="0">
                    <a:solidFill>
                      <a:srgbClr val="7030A0"/>
                    </a:solidFill>
                    <a:latin typeface="+mn-ea"/>
                    <a:ea typeface="+mn-ea"/>
                  </a:rPr>
                  <a:t>*CRA(Communication Rack A)</a:t>
                </a:r>
                <a:endParaRPr lang="ko-KR" altLang="en-US" sz="800" b="0" dirty="0">
                  <a:solidFill>
                    <a:srgbClr val="7030A0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3" name="직사각형 232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34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5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6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215" name="직선 연결선 82"/>
            <p:cNvCxnSpPr/>
            <p:nvPr/>
          </p:nvCxnSpPr>
          <p:spPr>
            <a:xfrm>
              <a:off x="559718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84"/>
            <p:cNvCxnSpPr/>
            <p:nvPr/>
          </p:nvCxnSpPr>
          <p:spPr>
            <a:xfrm>
              <a:off x="559718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7"/>
            <p:cNvSpPr txBox="1">
              <a:spLocks noChangeArrowheads="1"/>
            </p:cNvSpPr>
            <p:nvPr/>
          </p:nvSpPr>
          <p:spPr bwMode="auto">
            <a:xfrm>
              <a:off x="2071886" y="4221089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PTC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218" name="그룹 217"/>
            <p:cNvGrpSpPr/>
            <p:nvPr/>
          </p:nvGrpSpPr>
          <p:grpSpPr>
            <a:xfrm>
              <a:off x="2231142" y="4077072"/>
              <a:ext cx="126147" cy="128853"/>
              <a:chOff x="2271714" y="5581250"/>
              <a:chExt cx="126147" cy="128853"/>
            </a:xfrm>
          </p:grpSpPr>
          <p:sp>
            <p:nvSpPr>
              <p:cNvPr id="230" name="이등변 삼각형 90"/>
              <p:cNvSpPr/>
              <p:nvPr/>
            </p:nvSpPr>
            <p:spPr>
              <a:xfrm flipV="1">
                <a:off x="2271714" y="5581250"/>
                <a:ext cx="126147" cy="58749"/>
              </a:xfrm>
              <a:prstGeom prst="triangl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cxnSp>
            <p:nvCxnSpPr>
              <p:cNvPr id="231" name="직선 연결선 91"/>
              <p:cNvCxnSpPr/>
              <p:nvPr/>
            </p:nvCxnSpPr>
            <p:spPr>
              <a:xfrm>
                <a:off x="2335174" y="5581250"/>
                <a:ext cx="0" cy="12885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9" name="TextBox 7"/>
            <p:cNvSpPr txBox="1">
              <a:spLocks noChangeArrowheads="1"/>
            </p:cNvSpPr>
            <p:nvPr/>
          </p:nvSpPr>
          <p:spPr bwMode="auto">
            <a:xfrm>
              <a:off x="2071886" y="4653136"/>
              <a:ext cx="432048" cy="192650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 algn="ctr"/>
              <a:r>
                <a:rPr lang="en-US" altLang="ko-KR" sz="800" b="0" dirty="0" smtClean="0">
                  <a:solidFill>
                    <a:schemeClr val="tx1"/>
                  </a:solidFill>
                  <a:latin typeface="+mn-ea"/>
                  <a:ea typeface="+mn-ea"/>
                </a:rPr>
                <a:t>MOXA</a:t>
              </a:r>
              <a:endParaRPr lang="ko-KR" altLang="en-US" sz="8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pSp>
          <p:nvGrpSpPr>
            <p:cNvPr id="220" name="그룹 219"/>
            <p:cNvGrpSpPr/>
            <p:nvPr/>
          </p:nvGrpSpPr>
          <p:grpSpPr>
            <a:xfrm>
              <a:off x="2061441" y="5085184"/>
              <a:ext cx="1262968" cy="276884"/>
              <a:chOff x="1730735" y="3244886"/>
              <a:chExt cx="1262968" cy="276884"/>
            </a:xfrm>
          </p:grpSpPr>
          <p:sp>
            <p:nvSpPr>
              <p:cNvPr id="226" name="직사각형 225"/>
              <p:cNvSpPr/>
              <p:nvPr/>
            </p:nvSpPr>
            <p:spPr>
              <a:xfrm>
                <a:off x="1730735" y="3244886"/>
                <a:ext cx="1262968" cy="276884"/>
              </a:xfrm>
              <a:prstGeom prst="rect">
                <a:avLst/>
              </a:prstGeom>
              <a:noFill/>
              <a:ln>
                <a:solidFill>
                  <a:srgbClr val="7030A0">
                    <a:alpha val="7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sp>
            <p:nvSpPr>
              <p:cNvPr id="227" name="TextBox 7"/>
              <p:cNvSpPr txBox="1">
                <a:spLocks noChangeArrowheads="1"/>
              </p:cNvSpPr>
              <p:nvPr/>
            </p:nvSpPr>
            <p:spPr bwMode="auto">
              <a:xfrm>
                <a:off x="1783854" y="3284984"/>
                <a:ext cx="432048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CNCS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28" name="TextBox 7"/>
              <p:cNvSpPr txBox="1">
                <a:spLocks noChangeArrowheads="1"/>
              </p:cNvSpPr>
              <p:nvPr/>
            </p:nvSpPr>
            <p:spPr bwMode="auto">
              <a:xfrm>
                <a:off x="228791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CPU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29" name="TextBox 7"/>
              <p:cNvSpPr txBox="1">
                <a:spLocks noChangeArrowheads="1"/>
              </p:cNvSpPr>
              <p:nvPr/>
            </p:nvSpPr>
            <p:spPr bwMode="auto">
              <a:xfrm>
                <a:off x="2647950" y="3284984"/>
                <a:ext cx="288032" cy="192650"/>
              </a:xfrm>
              <a:prstGeom prst="rect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 anchor="ctr" anchorCtr="0">
                <a:noAutofit/>
              </a:bodyPr>
              <a:lstStyle>
                <a:lvl1pPr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1pPr>
                <a:lvl2pPr marL="742950" indent="-28575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2pPr>
                <a:lvl3pPr marL="11430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3pPr>
                <a:lvl4pPr marL="16002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4pPr>
                <a:lvl5pPr marL="2057400" indent="-228600"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 b="1">
                    <a:solidFill>
                      <a:srgbClr val="000000"/>
                    </a:solidFill>
                    <a:latin typeface="Arial" panose="020B0604020202020204" pitchFamily="34" charset="0"/>
                    <a:ea typeface="가는각진제목체" pitchFamily="18" charset="-127"/>
                  </a:defRPr>
                </a:lvl9pPr>
              </a:lstStyle>
              <a:p>
                <a:pPr algn="ctr"/>
                <a:r>
                  <a:rPr lang="en-US" altLang="ko-KR" sz="800" b="0" dirty="0" smtClean="0">
                    <a:solidFill>
                      <a:schemeClr val="tx1"/>
                    </a:solidFill>
                    <a:latin typeface="+mn-ea"/>
                    <a:ea typeface="+mn-ea"/>
                  </a:rPr>
                  <a:t>AMP</a:t>
                </a:r>
                <a:endParaRPr lang="ko-KR" altLang="en-US" sz="800" b="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221" name="직선 연결선 99"/>
            <p:cNvCxnSpPr/>
            <p:nvPr/>
          </p:nvCxnSpPr>
          <p:spPr>
            <a:xfrm>
              <a:off x="2287910" y="4413739"/>
              <a:ext cx="0" cy="239397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100"/>
            <p:cNvCxnSpPr/>
            <p:nvPr/>
          </p:nvCxnSpPr>
          <p:spPr>
            <a:xfrm>
              <a:off x="2287910" y="4845786"/>
              <a:ext cx="0" cy="239398"/>
            </a:xfrm>
            <a:prstGeom prst="line">
              <a:avLst/>
            </a:prstGeom>
            <a:ln w="95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102"/>
            <p:cNvCxnSpPr/>
            <p:nvPr/>
          </p:nvCxnSpPr>
          <p:spPr>
            <a:xfrm>
              <a:off x="775742" y="4749461"/>
              <a:ext cx="1296144" cy="0"/>
            </a:xfrm>
            <a:prstGeom prst="line">
              <a:avLst/>
            </a:prstGeom>
            <a:ln w="95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7"/>
            <p:cNvSpPr txBox="1">
              <a:spLocks noChangeArrowheads="1"/>
            </p:cNvSpPr>
            <p:nvPr/>
          </p:nvSpPr>
          <p:spPr bwMode="auto">
            <a:xfrm>
              <a:off x="2722294" y="4618300"/>
              <a:ext cx="858477" cy="280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1pPr>
              <a:lvl2pPr marL="742950" indent="-28575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2pPr>
              <a:lvl3pPr marL="11430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3pPr>
              <a:lvl4pPr marL="16002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4pPr>
              <a:lvl5pPr marL="2057400" indent="-228600"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 b="1">
                  <a:solidFill>
                    <a:srgbClr val="000000"/>
                  </a:solidFill>
                  <a:latin typeface="Arial" panose="020B0604020202020204" pitchFamily="34" charset="0"/>
                  <a:ea typeface="가는각진제목체" pitchFamily="18" charset="-127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GPS </a:t>
              </a:r>
              <a:r>
                <a:rPr lang="ko-KR" altLang="en-US" sz="800" b="0" dirty="0" smtClean="0">
                  <a:solidFill>
                    <a:srgbClr val="D09E00"/>
                  </a:solidFill>
                  <a:latin typeface="+mn-ea"/>
                  <a:ea typeface="+mn-ea"/>
                </a:rPr>
                <a:t>데이타 </a:t>
              </a:r>
              <a:endParaRPr lang="ko-KR" altLang="en-US" sz="800" b="0" dirty="0">
                <a:solidFill>
                  <a:srgbClr val="D09E00"/>
                </a:solidFill>
                <a:latin typeface="+mn-ea"/>
                <a:ea typeface="+mn-ea"/>
              </a:endParaRPr>
            </a:p>
          </p:txBody>
        </p:sp>
        <p:cxnSp>
          <p:nvCxnSpPr>
            <p:cNvPr id="225" name="직선 화살표 연결선 224"/>
            <p:cNvCxnSpPr/>
            <p:nvPr/>
          </p:nvCxnSpPr>
          <p:spPr>
            <a:xfrm flipV="1">
              <a:off x="2287910" y="4869160"/>
              <a:ext cx="504056" cy="72008"/>
            </a:xfrm>
            <a:prstGeom prst="straightConnector1">
              <a:avLst/>
            </a:prstGeom>
            <a:ln w="9525">
              <a:solidFill>
                <a:schemeClr val="accent2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그룹 238"/>
          <p:cNvGrpSpPr/>
          <p:nvPr/>
        </p:nvGrpSpPr>
        <p:grpSpPr>
          <a:xfrm>
            <a:off x="5008850" y="4101274"/>
            <a:ext cx="744327" cy="479854"/>
            <a:chOff x="5000439" y="4110655"/>
            <a:chExt cx="744327" cy="694786"/>
          </a:xfrm>
        </p:grpSpPr>
        <p:sp>
          <p:nvSpPr>
            <p:cNvPr id="240" name="모서리가 둥근 직사각형 239"/>
            <p:cNvSpPr/>
            <p:nvPr/>
          </p:nvSpPr>
          <p:spPr>
            <a:xfrm>
              <a:off x="5077014" y="4110655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241" name="텍스트 상자 240"/>
            <p:cNvSpPr txBox="1"/>
            <p:nvPr/>
          </p:nvSpPr>
          <p:spPr>
            <a:xfrm>
              <a:off x="5000439" y="4257505"/>
              <a:ext cx="744327" cy="49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>
                  <a:latin typeface="+mn-ea"/>
                </a:rPr>
                <a:t>데이타 체크 알고리즘</a:t>
              </a:r>
              <a:endParaRPr kumimoji="1" lang="ko-KR" altLang="en-US" sz="800" dirty="0">
                <a:latin typeface="+mn-ea"/>
              </a:endParaRPr>
            </a:p>
          </p:txBody>
        </p:sp>
      </p:grpSp>
      <p:grpSp>
        <p:nvGrpSpPr>
          <p:cNvPr id="242" name="그룹 241"/>
          <p:cNvGrpSpPr/>
          <p:nvPr/>
        </p:nvGrpSpPr>
        <p:grpSpPr>
          <a:xfrm>
            <a:off x="8414140" y="4101274"/>
            <a:ext cx="744327" cy="479854"/>
            <a:chOff x="5000439" y="4141921"/>
            <a:chExt cx="744327" cy="694786"/>
          </a:xfrm>
        </p:grpSpPr>
        <p:sp>
          <p:nvSpPr>
            <p:cNvPr id="243" name="모서리가 둥근 직사각형 242"/>
            <p:cNvSpPr/>
            <p:nvPr/>
          </p:nvSpPr>
          <p:spPr>
            <a:xfrm>
              <a:off x="5077013" y="4141921"/>
              <a:ext cx="589090" cy="694786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sp>
          <p:nvSpPr>
            <p:cNvPr id="244" name="텍스트 상자 243"/>
            <p:cNvSpPr txBox="1"/>
            <p:nvPr/>
          </p:nvSpPr>
          <p:spPr>
            <a:xfrm>
              <a:off x="5000439" y="4257505"/>
              <a:ext cx="744327" cy="49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800" dirty="0" smtClean="0">
                  <a:latin typeface="+mn-ea"/>
                </a:rPr>
                <a:t>데이타 체크 알고리즘</a:t>
              </a:r>
              <a:endParaRPr kumimoji="1" lang="ko-KR" altLang="en-US" sz="800" dirty="0">
                <a:latin typeface="+mn-ea"/>
              </a:endParaRPr>
            </a:p>
          </p:txBody>
        </p:sp>
      </p:grpSp>
      <p:sp>
        <p:nvSpPr>
          <p:cNvPr id="18" name="왼쪽/오른쪽 화살표[L] 17"/>
          <p:cNvSpPr/>
          <p:nvPr/>
        </p:nvSpPr>
        <p:spPr>
          <a:xfrm>
            <a:off x="5807951" y="4373509"/>
            <a:ext cx="2549327" cy="204417"/>
          </a:xfrm>
          <a:prstGeom prst="left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+mn-ea"/>
            </a:endParaRPr>
          </a:p>
        </p:txBody>
      </p:sp>
      <p:sp>
        <p:nvSpPr>
          <p:cNvPr id="247" name="텍스트 상자 246"/>
          <p:cNvSpPr txBox="1"/>
          <p:nvPr/>
        </p:nvSpPr>
        <p:spPr>
          <a:xfrm>
            <a:off x="6573453" y="4170758"/>
            <a:ext cx="1018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800" dirty="0" smtClean="0">
                <a:latin typeface="+mn-ea"/>
              </a:rPr>
              <a:t>GPS </a:t>
            </a:r>
            <a:r>
              <a:rPr kumimoji="1" lang="ko-KR" altLang="en-US" sz="800" dirty="0" smtClean="0">
                <a:latin typeface="+mn-ea"/>
              </a:rPr>
              <a:t>데이타 백업</a:t>
            </a:r>
            <a:endParaRPr kumimoji="1"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347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12577"/>
              </p:ext>
            </p:extLst>
          </p:nvPr>
        </p:nvGraphicFramePr>
        <p:xfrm>
          <a:off x="108423" y="116633"/>
          <a:ext cx="9733322" cy="6624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17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▣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자동방송 불량 해결을 위한 진행 사항</a:t>
                      </a:r>
                      <a:r>
                        <a:rPr lang="en-US" altLang="ko-KR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HW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1)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보완 방법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CNCS Conga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모듈 내부 온도 상승 방지를 위해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FAN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      설치를 통한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강제 냉각을 실시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현대하모니 L" panose="02020603020101020101" pitchFamily="18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시험 방법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일간 고장 발생 상위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 차량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설치를 통한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기능 동작 확보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 기간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 발생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.(7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부터는 하드웨어 와 소프트웨어 동시적용</a:t>
                      </a:r>
                      <a:r>
                        <a:rPr lang="en-US" altLang="ko-KR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보완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보완 방법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GPS 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데이타 체크 필터 알고리즘 적용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적용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시행청 승인후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까지 전 편성 적용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모니터링 결과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 발생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(8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4055</a:t>
                      </a:r>
                      <a:r>
                        <a:rPr lang="ko-KR" altLang="en-US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편성 자동 방송 불량</a:t>
                      </a:r>
                      <a:r>
                        <a:rPr lang="en-US" altLang="ko-KR" sz="10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116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HW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 SW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보완을  동시에 실시 하는 것이 최적의 방법을 판단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보완을 통한 자동 방송 불량 개선을 재한적인으로 확인 할 수 있음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HW 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동시 적용시 불량 발생 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건으로 가장 효과적인 방법으로 판단</a:t>
                      </a:r>
                      <a:r>
                        <a:rPr lang="en-US" altLang="ko-KR" sz="1400" b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altLang="ko-KR" sz="1400" b="1" kern="120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08422" y="620688"/>
            <a:ext cx="2323504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  <a:latin typeface="+mn-ea"/>
              </a:rPr>
              <a:t>하드웨어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개선 대책 결론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664174" y="620688"/>
            <a:ext cx="2448272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  <a:latin typeface="+mn-ea"/>
              </a:rPr>
              <a:t>소포트 웨어</a:t>
            </a:r>
            <a:r>
              <a:rPr lang="en-US" altLang="ko-KR" sz="1400" dirty="0" smtClean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 smtClean="0">
                <a:solidFill>
                  <a:prstClr val="black"/>
                </a:solidFill>
                <a:latin typeface="+mn-ea"/>
              </a:rPr>
              <a:t>개선 대책 결론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89"/>
          <a:stretch/>
        </p:blipFill>
        <p:spPr>
          <a:xfrm>
            <a:off x="487710" y="3068960"/>
            <a:ext cx="3960440" cy="1403569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108709" y="4581128"/>
            <a:ext cx="1891456" cy="32277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prstClr val="black"/>
                </a:solidFill>
                <a:latin typeface="+mn-ea"/>
              </a:rPr>
              <a:t>결론</a:t>
            </a:r>
            <a:endParaRPr lang="ko-KR" altLang="en-US" sz="14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735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854" y="2376384"/>
            <a:ext cx="2076450" cy="9010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오른쪽 화살표 4"/>
          <p:cNvSpPr/>
          <p:nvPr/>
        </p:nvSpPr>
        <p:spPr>
          <a:xfrm rot="16200000">
            <a:off x="2404422" y="1966065"/>
            <a:ext cx="415049" cy="50405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 rot="16200000">
            <a:off x="2980486" y="2160360"/>
            <a:ext cx="415049" cy="50405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8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90015</TotalTime>
  <Words>1179</Words>
  <Application>Microsoft Office PowerPoint</Application>
  <PresentationFormat>사용자 지정</PresentationFormat>
  <Paragraphs>338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Arial Unicode MS</vt:lpstr>
      <vt:lpstr>Mangal</vt:lpstr>
      <vt:lpstr>맑은 고딕</vt:lpstr>
      <vt:lpstr>현대하모니 L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1706</cp:revision>
  <cp:lastPrinted>2017-08-18T01:21:33Z</cp:lastPrinted>
  <dcterms:created xsi:type="dcterms:W3CDTF">2014-12-31T05:09:55Z</dcterms:created>
  <dcterms:modified xsi:type="dcterms:W3CDTF">2018-01-10T11:30:27Z</dcterms:modified>
</cp:coreProperties>
</file>