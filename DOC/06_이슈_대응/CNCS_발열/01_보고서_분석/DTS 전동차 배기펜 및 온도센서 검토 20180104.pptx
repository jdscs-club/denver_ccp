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2" r:id="rId1"/>
  </p:sldMasterIdLst>
  <p:notesMasterIdLst>
    <p:notesMasterId r:id="rId15"/>
  </p:notesMasterIdLst>
  <p:handoutMasterIdLst>
    <p:handoutMasterId r:id="rId16"/>
  </p:handoutMasterIdLst>
  <p:sldIdLst>
    <p:sldId id="1654" r:id="rId2"/>
    <p:sldId id="1655" r:id="rId3"/>
    <p:sldId id="1725" r:id="rId4"/>
    <p:sldId id="1729" r:id="rId5"/>
    <p:sldId id="1730" r:id="rId6"/>
    <p:sldId id="1731" r:id="rId7"/>
    <p:sldId id="1732" r:id="rId8"/>
    <p:sldId id="1733" r:id="rId9"/>
    <p:sldId id="1734" r:id="rId10"/>
    <p:sldId id="1735" r:id="rId11"/>
    <p:sldId id="1736" r:id="rId12"/>
    <p:sldId id="1728" r:id="rId13"/>
    <p:sldId id="1737" r:id="rId14"/>
  </p:sldIdLst>
  <p:sldSz cx="9144000" cy="6858000" type="screen4x3"/>
  <p:notesSz cx="9939338" cy="6807200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rgbClr val="FF3300"/>
        </a:solidFill>
        <a:latin typeface="HY견고딕" pitchFamily="18" charset="-127"/>
        <a:ea typeface="HY견고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rgbClr val="FF3300"/>
        </a:solidFill>
        <a:latin typeface="HY견고딕" pitchFamily="18" charset="-127"/>
        <a:ea typeface="HY견고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rgbClr val="FF3300"/>
        </a:solidFill>
        <a:latin typeface="HY견고딕" pitchFamily="18" charset="-127"/>
        <a:ea typeface="HY견고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rgbClr val="FF3300"/>
        </a:solidFill>
        <a:latin typeface="HY견고딕" pitchFamily="18" charset="-127"/>
        <a:ea typeface="HY견고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rgbClr val="FF3300"/>
        </a:solidFill>
        <a:latin typeface="HY견고딕" pitchFamily="18" charset="-127"/>
        <a:ea typeface="HY견고딕" pitchFamily="18" charset="-127"/>
        <a:cs typeface="+mn-cs"/>
      </a:defRPr>
    </a:lvl5pPr>
    <a:lvl6pPr marL="2286000" algn="l" defTabSz="914400" rtl="0" eaLnBrk="1" latinLnBrk="1" hangingPunct="1">
      <a:defRPr kumimoji="1" kern="1200">
        <a:solidFill>
          <a:srgbClr val="FF3300"/>
        </a:solidFill>
        <a:latin typeface="HY견고딕" pitchFamily="18" charset="-127"/>
        <a:ea typeface="HY견고딕" pitchFamily="18" charset="-127"/>
        <a:cs typeface="+mn-cs"/>
      </a:defRPr>
    </a:lvl6pPr>
    <a:lvl7pPr marL="2743200" algn="l" defTabSz="914400" rtl="0" eaLnBrk="1" latinLnBrk="1" hangingPunct="1">
      <a:defRPr kumimoji="1" kern="1200">
        <a:solidFill>
          <a:srgbClr val="FF3300"/>
        </a:solidFill>
        <a:latin typeface="HY견고딕" pitchFamily="18" charset="-127"/>
        <a:ea typeface="HY견고딕" pitchFamily="18" charset="-127"/>
        <a:cs typeface="+mn-cs"/>
      </a:defRPr>
    </a:lvl7pPr>
    <a:lvl8pPr marL="3200400" algn="l" defTabSz="914400" rtl="0" eaLnBrk="1" latinLnBrk="1" hangingPunct="1">
      <a:defRPr kumimoji="1" kern="1200">
        <a:solidFill>
          <a:srgbClr val="FF3300"/>
        </a:solidFill>
        <a:latin typeface="HY견고딕" pitchFamily="18" charset="-127"/>
        <a:ea typeface="HY견고딕" pitchFamily="18" charset="-127"/>
        <a:cs typeface="+mn-cs"/>
      </a:defRPr>
    </a:lvl8pPr>
    <a:lvl9pPr marL="3657600" algn="l" defTabSz="914400" rtl="0" eaLnBrk="1" latinLnBrk="1" hangingPunct="1">
      <a:defRPr kumimoji="1" kern="1200">
        <a:solidFill>
          <a:srgbClr val="FF3300"/>
        </a:solidFill>
        <a:latin typeface="HY견고딕" pitchFamily="18" charset="-127"/>
        <a:ea typeface="HY견고딕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orient="horz" pos="3748">
          <p15:clr>
            <a:srgbClr val="A4A3A4"/>
          </p15:clr>
        </p15:guide>
        <p15:guide id="3" pos="295">
          <p15:clr>
            <a:srgbClr val="A4A3A4"/>
          </p15:clr>
        </p15:guide>
        <p15:guide id="4" pos="2880">
          <p15:clr>
            <a:srgbClr val="A4A3A4"/>
          </p15:clr>
        </p15:guide>
        <p15:guide id="5" pos="551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3">
          <p15:clr>
            <a:srgbClr val="A4A3A4"/>
          </p15:clr>
        </p15:guide>
        <p15:guide id="2" pos="312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40710"/>
    <a:srgbClr val="FFFFCC"/>
    <a:srgbClr val="FFFFFF"/>
    <a:srgbClr val="A6FCE1"/>
    <a:srgbClr val="FFFF66"/>
    <a:srgbClr val="349E34"/>
    <a:srgbClr val="C40E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85" autoAdjust="0"/>
    <p:restoredTop sz="99877" autoAdjust="0"/>
  </p:normalViewPr>
  <p:slideViewPr>
    <p:cSldViewPr>
      <p:cViewPr varScale="1">
        <p:scale>
          <a:sx n="119" d="100"/>
          <a:sy n="119" d="100"/>
        </p:scale>
        <p:origin x="1467" y="42"/>
      </p:cViewPr>
      <p:guideLst>
        <p:guide orient="horz" pos="4110"/>
        <p:guide orient="horz" pos="3748"/>
        <p:guide pos="295"/>
        <p:guide pos="2880"/>
        <p:guide pos="551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1" d="100"/>
          <a:sy n="91" d="100"/>
        </p:scale>
        <p:origin x="-708" y="-102"/>
      </p:cViewPr>
      <p:guideLst>
        <p:guide orient="horz" pos="2143"/>
        <p:guide pos="312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0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8475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12" tIns="45654" rIns="91312" bIns="45654" numCol="1" anchor="t" anchorCtr="0" compatLnSpc="1">
            <a:prstTxWarp prst="textNoShape">
              <a:avLst/>
            </a:prstTxWarp>
          </a:bodyPr>
          <a:lstStyle>
            <a:lvl1pPr defTabSz="879475" latinLnBrk="0">
              <a:defRPr kumimoji="0" sz="120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4504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7688" y="0"/>
            <a:ext cx="4310062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12" tIns="45654" rIns="91312" bIns="45654" numCol="1" anchor="t" anchorCtr="0" compatLnSpc="1">
            <a:prstTxWarp prst="textNoShape">
              <a:avLst/>
            </a:prstTxWarp>
          </a:bodyPr>
          <a:lstStyle>
            <a:lvl1pPr algn="r" defTabSz="879475" latinLnBrk="0">
              <a:defRPr kumimoji="0" sz="120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4504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64300"/>
            <a:ext cx="4308475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12" tIns="45654" rIns="91312" bIns="45654" numCol="1" anchor="b" anchorCtr="0" compatLnSpc="1">
            <a:prstTxWarp prst="textNoShape">
              <a:avLst/>
            </a:prstTxWarp>
          </a:bodyPr>
          <a:lstStyle>
            <a:lvl1pPr defTabSz="879475" latinLnBrk="0">
              <a:defRPr kumimoji="0" sz="120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4504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7688" y="6464300"/>
            <a:ext cx="4310062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12" tIns="45654" rIns="91312" bIns="45654" numCol="1" anchor="b" anchorCtr="0" compatLnSpc="1">
            <a:prstTxWarp prst="textNoShape">
              <a:avLst/>
            </a:prstTxWarp>
          </a:bodyPr>
          <a:lstStyle>
            <a:lvl1pPr algn="r" defTabSz="879475" latinLnBrk="0">
              <a:defRPr kumimoji="0" sz="120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fld id="{922E11E4-040B-4A28-94E9-7D358CEBBCAB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8475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48" tIns="46170" rIns="92348" bIns="46170" numCol="1" anchor="t" anchorCtr="0" compatLnSpc="1">
            <a:prstTxWarp prst="textNoShape">
              <a:avLst/>
            </a:prstTxWarp>
          </a:bodyPr>
          <a:lstStyle>
            <a:lvl1pPr defTabSz="923925" latinLnBrk="0">
              <a:defRPr kumimoji="0" sz="120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7688" y="0"/>
            <a:ext cx="4310062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48" tIns="46170" rIns="92348" bIns="46170" numCol="1" anchor="t" anchorCtr="0" compatLnSpc="1">
            <a:prstTxWarp prst="textNoShape">
              <a:avLst/>
            </a:prstTxWarp>
          </a:bodyPr>
          <a:lstStyle>
            <a:lvl1pPr algn="r" defTabSz="923925" latinLnBrk="0">
              <a:defRPr kumimoji="0" sz="120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78188" y="509588"/>
            <a:ext cx="3402012" cy="25511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2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5363" y="3232150"/>
            <a:ext cx="7948612" cy="3065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48" tIns="46170" rIns="92348" bIns="4617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32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64300"/>
            <a:ext cx="4308475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48" tIns="46170" rIns="92348" bIns="46170" numCol="1" anchor="b" anchorCtr="0" compatLnSpc="1">
            <a:prstTxWarp prst="textNoShape">
              <a:avLst/>
            </a:prstTxWarp>
          </a:bodyPr>
          <a:lstStyle>
            <a:lvl1pPr defTabSz="923925" latinLnBrk="0">
              <a:defRPr kumimoji="0" sz="120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2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7688" y="6464300"/>
            <a:ext cx="4310062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348" tIns="46170" rIns="92348" bIns="46170" numCol="1" anchor="b" anchorCtr="0" compatLnSpc="1">
            <a:prstTxWarp prst="textNoShape">
              <a:avLst/>
            </a:prstTxWarp>
          </a:bodyPr>
          <a:lstStyle>
            <a:lvl1pPr algn="r" defTabSz="923925" latinLnBrk="0">
              <a:defRPr kumimoji="0" sz="120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fld id="{54B90B33-E0B7-4CF5-86CE-621044D0CB2B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 userDrawn="1"/>
        </p:nvSpPr>
        <p:spPr bwMode="invGray">
          <a:xfrm>
            <a:off x="0" y="620713"/>
            <a:ext cx="9144000" cy="71437"/>
          </a:xfrm>
          <a:prstGeom prst="rect">
            <a:avLst/>
          </a:prstGeom>
          <a:solidFill>
            <a:srgbClr val="0000FF"/>
          </a:solidFill>
          <a:ln w="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>
              <a:spcBef>
                <a:spcPct val="50000"/>
              </a:spcBef>
              <a:defRPr/>
            </a:pPr>
            <a:endParaRPr kumimoji="0" lang="ko-KR" altLang="en-US" sz="2000"/>
          </a:p>
        </p:txBody>
      </p:sp>
      <p:sp>
        <p:nvSpPr>
          <p:cNvPr id="1027" name="Line 3"/>
          <p:cNvSpPr>
            <a:spLocks noChangeShapeType="1"/>
          </p:cNvSpPr>
          <p:nvPr userDrawn="1"/>
        </p:nvSpPr>
        <p:spPr bwMode="gray">
          <a:xfrm>
            <a:off x="120650" y="6524625"/>
            <a:ext cx="8893175" cy="0"/>
          </a:xfrm>
          <a:prstGeom prst="line">
            <a:avLst/>
          </a:prstGeom>
          <a:noFill/>
          <a:ln w="0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1028" name="Text Box 12"/>
          <p:cNvSpPr txBox="1">
            <a:spLocks noChangeArrowheads="1"/>
          </p:cNvSpPr>
          <p:nvPr userDrawn="1"/>
        </p:nvSpPr>
        <p:spPr bwMode="auto">
          <a:xfrm>
            <a:off x="4140200" y="6643688"/>
            <a:ext cx="863600" cy="204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4000" tIns="10800" rIns="54000" bIns="10800">
            <a:spAutoFit/>
          </a:bodyPr>
          <a:lstStyle/>
          <a:p>
            <a:pPr algn="ctr">
              <a:defRPr/>
            </a:pPr>
            <a:r>
              <a:rPr lang="en-US" altLang="ko-KR" sz="12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-</a:t>
            </a:r>
            <a:fld id="{45F9C585-0833-4797-976E-20376CEBAD35}" type="slidenum">
              <a:rPr lang="en-US" altLang="ko-KR" sz="12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pPr algn="ctr">
                <a:defRPr/>
              </a:pPr>
              <a:t>‹#›</a:t>
            </a:fld>
            <a:r>
              <a:rPr lang="en-US" altLang="ko-KR" sz="12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-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0258" name="AutoShape 2"/>
          <p:cNvSpPr>
            <a:spLocks noChangeArrowheads="1"/>
          </p:cNvSpPr>
          <p:nvPr/>
        </p:nvSpPr>
        <p:spPr bwMode="ltGray">
          <a:xfrm>
            <a:off x="683568" y="1628775"/>
            <a:ext cx="7776864" cy="15716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38100" algn="ctr">
            <a:solidFill>
              <a:schemeClr val="bg1"/>
            </a:solidFill>
            <a:round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algn="ctr" latinLnBrk="0">
              <a:spcBef>
                <a:spcPct val="50000"/>
              </a:spcBef>
              <a:defRPr/>
            </a:pPr>
            <a:r>
              <a:rPr kumimoji="0" lang="en-US" altLang="ko-K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DTS </a:t>
            </a:r>
            <a:r>
              <a:rPr kumimoji="0" lang="ko-KR" alt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전동차 </a:t>
            </a:r>
            <a:r>
              <a:rPr kumimoji="0" lang="en-US" altLang="ko-K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AIR FLOW FAN </a:t>
            </a:r>
            <a:r>
              <a:rPr kumimoji="0" lang="ko-KR" alt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및 </a:t>
            </a:r>
            <a:r>
              <a:rPr kumimoji="0" lang="en-US" altLang="ko-KR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THERMOSTAT</a:t>
            </a:r>
            <a:r>
              <a:rPr kumimoji="0" lang="ko-KR" alt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헤드라인M" pitchFamily="18" charset="-127"/>
                <a:ea typeface="HY헤드라인M" pitchFamily="18" charset="-127"/>
              </a:rPr>
              <a:t> 검토</a:t>
            </a:r>
            <a:endParaRPr kumimoji="0" lang="ko-KR" altLang="en-US" sz="28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051" name="Text Box 3"/>
          <p:cNvSpPr txBox="1">
            <a:spLocks noChangeArrowheads="1"/>
          </p:cNvSpPr>
          <p:nvPr/>
        </p:nvSpPr>
        <p:spPr bwMode="auto">
          <a:xfrm>
            <a:off x="3203575" y="4071938"/>
            <a:ext cx="27368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latinLnBrk="0">
              <a:spcBef>
                <a:spcPct val="50000"/>
              </a:spcBef>
            </a:pPr>
            <a:r>
              <a:rPr kumimoji="0" lang="en-US" altLang="ko-KR" sz="2400" b="1" dirty="0" smtClean="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</a:rPr>
              <a:t>2018. 01.04</a:t>
            </a:r>
            <a:endParaRPr kumimoji="0" lang="en-US" altLang="ko-KR" sz="2400" b="1" dirty="0">
              <a:solidFill>
                <a:srgbClr val="000000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2052" name="Text Box 3"/>
          <p:cNvSpPr txBox="1">
            <a:spLocks noChangeArrowheads="1"/>
          </p:cNvSpPr>
          <p:nvPr/>
        </p:nvSpPr>
        <p:spPr bwMode="auto">
          <a:xfrm>
            <a:off x="3275013" y="4941888"/>
            <a:ext cx="27368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latinLnBrk="0">
              <a:spcBef>
                <a:spcPct val="50000"/>
              </a:spcBef>
            </a:pPr>
            <a:r>
              <a:rPr kumimoji="0" lang="ko-KR" altLang="en-US" sz="2400" b="1" dirty="0" err="1" smtClean="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</a:rPr>
              <a:t>우진산전</a:t>
            </a:r>
            <a:endParaRPr kumimoji="0" lang="en-US" altLang="ko-KR" sz="2400" b="1" dirty="0">
              <a:solidFill>
                <a:srgbClr val="000000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827088" y="1268413"/>
            <a:ext cx="8107362" cy="5227637"/>
          </a:xfrm>
          <a:prstGeom prst="rect">
            <a:avLst/>
          </a:prstGeom>
          <a:noFill/>
          <a:ln>
            <a:noFill/>
          </a:ln>
          <a:extLst/>
        </p:spPr>
        <p:txBody>
          <a:bodyPr lIns="103205" tIns="51603" rIns="103205" bIns="51603"/>
          <a:lstStyle/>
          <a:p>
            <a:pPr marL="457200" indent="-457200" eaLnBrk="0" latinLnBrk="0" hangingPunct="0">
              <a:lnSpc>
                <a:spcPct val="110000"/>
              </a:lnSpc>
              <a:defRPr/>
            </a:pPr>
            <a:r>
              <a:rPr kumimoji="0" lang="en-US" altLang="ko-KR" sz="16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1. </a:t>
            </a:r>
            <a:r>
              <a:rPr kumimoji="0" lang="en-US" altLang="ko-KR" sz="16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AIR FLOW FAN</a:t>
            </a:r>
            <a:endParaRPr kumimoji="0" lang="en-US" altLang="ko-KR" sz="16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  <a:p>
            <a:pPr marL="457200" indent="-457200" eaLnBrk="0" latinLnBrk="0" hangingPunct="0">
              <a:lnSpc>
                <a:spcPct val="110000"/>
              </a:lnSpc>
              <a:defRPr/>
            </a:pPr>
            <a:r>
              <a:rPr kumimoji="0" lang="en-US" altLang="ko-KR" sz="16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    1-1. </a:t>
            </a:r>
            <a:r>
              <a:rPr kumimoji="0" lang="en-US" altLang="ko-KR" sz="16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SPECIFICATION</a:t>
            </a:r>
          </a:p>
          <a:p>
            <a:pPr marL="457200" indent="-457200" eaLnBrk="0" latinLnBrk="0" hangingPunct="0">
              <a:lnSpc>
                <a:spcPct val="110000"/>
              </a:lnSpc>
              <a:defRPr/>
            </a:pPr>
            <a:r>
              <a:rPr kumimoji="0" lang="en-US" altLang="ko-KR" sz="16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    </a:t>
            </a:r>
            <a:r>
              <a:rPr kumimoji="0" lang="en-US" altLang="ko-KR" sz="16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1-2. </a:t>
            </a:r>
            <a:r>
              <a:rPr kumimoji="0" lang="ko-KR" altLang="en-US" sz="16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수명</a:t>
            </a:r>
            <a:endParaRPr kumimoji="0" lang="en-US" altLang="ko-KR" sz="1600" b="1" dirty="0" smtClean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  <a:p>
            <a:pPr marL="457200" indent="-457200" eaLnBrk="0" latinLnBrk="0" hangingPunct="0">
              <a:lnSpc>
                <a:spcPct val="110000"/>
              </a:lnSpc>
              <a:defRPr/>
            </a:pPr>
            <a:r>
              <a:rPr kumimoji="0" lang="en-US" altLang="ko-KR" sz="16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    1-3. </a:t>
            </a:r>
            <a:r>
              <a:rPr kumimoji="0" lang="ko-KR" altLang="en-US" sz="16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베어링</a:t>
            </a:r>
            <a:endParaRPr kumimoji="0" lang="en-US" altLang="ko-KR" sz="1600" b="1" dirty="0" smtClean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  <a:p>
            <a:pPr marL="457200" indent="-457200" eaLnBrk="0" latinLnBrk="0" hangingPunct="0">
              <a:lnSpc>
                <a:spcPct val="110000"/>
              </a:lnSpc>
              <a:defRPr/>
            </a:pPr>
            <a:r>
              <a:rPr kumimoji="0" lang="en-US" altLang="ko-KR" sz="16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    1-4. </a:t>
            </a:r>
            <a:r>
              <a:rPr kumimoji="0" lang="ko-KR" altLang="en-US" sz="16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먼지 청소 방안</a:t>
            </a:r>
            <a:endParaRPr kumimoji="0" lang="en-US" altLang="ko-KR" sz="16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  <a:p>
            <a:pPr marL="457200" indent="-457200" eaLnBrk="0" latinLnBrk="0" hangingPunct="0">
              <a:lnSpc>
                <a:spcPct val="110000"/>
              </a:lnSpc>
              <a:defRPr/>
            </a:pPr>
            <a:r>
              <a:rPr kumimoji="0" lang="en-US" altLang="ko-KR" sz="16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    </a:t>
            </a:r>
          </a:p>
          <a:p>
            <a:pPr marL="457200" indent="-457200" eaLnBrk="0" latinLnBrk="0" hangingPunct="0">
              <a:lnSpc>
                <a:spcPct val="110000"/>
              </a:lnSpc>
              <a:defRPr/>
            </a:pPr>
            <a:r>
              <a:rPr kumimoji="0" lang="en-US" altLang="ko-KR" sz="16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2. </a:t>
            </a:r>
            <a:r>
              <a:rPr kumimoji="0" lang="en-US" altLang="ko-KR" sz="16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THERMOSTAT</a:t>
            </a:r>
            <a:r>
              <a:rPr kumimoji="0" lang="ko-KR" altLang="en-US" sz="16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 </a:t>
            </a:r>
            <a:endParaRPr kumimoji="0" lang="en-US" altLang="ko-KR" sz="16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  <a:p>
            <a:pPr marL="457200" indent="-457200" eaLnBrk="0" latinLnBrk="0" hangingPunct="0">
              <a:lnSpc>
                <a:spcPct val="110000"/>
              </a:lnSpc>
              <a:defRPr/>
            </a:pPr>
            <a:r>
              <a:rPr kumimoji="0" lang="en-US" altLang="ko-KR" sz="16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    2-1. </a:t>
            </a:r>
            <a:r>
              <a:rPr kumimoji="0" lang="en-US" altLang="ko-KR" sz="16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SPECIFICATION</a:t>
            </a:r>
          </a:p>
          <a:p>
            <a:pPr marL="457200" indent="-457200" eaLnBrk="0" latinLnBrk="0" hangingPunct="0">
              <a:lnSpc>
                <a:spcPct val="110000"/>
              </a:lnSpc>
              <a:defRPr/>
            </a:pPr>
            <a:r>
              <a:rPr kumimoji="0" lang="en-US" altLang="ko-KR" sz="16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    2-2. DIMENSION   </a:t>
            </a:r>
            <a:endParaRPr kumimoji="0" lang="en-US" altLang="ko-KR" sz="16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  <a:p>
            <a:pPr marL="381000" indent="-381000" eaLnBrk="0" latinLnBrk="0" hangingPunct="0">
              <a:lnSpc>
                <a:spcPct val="110000"/>
              </a:lnSpc>
              <a:defRPr/>
            </a:pPr>
            <a:endParaRPr kumimoji="0" lang="en-US" altLang="ko-KR" sz="24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  <a:p>
            <a:pPr marL="381000" indent="-381000" eaLnBrk="0" latinLnBrk="0" hangingPunct="0">
              <a:lnSpc>
                <a:spcPct val="110000"/>
              </a:lnSpc>
              <a:defRPr/>
            </a:pPr>
            <a:endParaRPr kumimoji="0" lang="en-US" altLang="ko-KR" sz="24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  <a:p>
            <a:pPr marL="381000" indent="-381000" eaLnBrk="0" latinLnBrk="0" hangingPunct="0">
              <a:lnSpc>
                <a:spcPct val="110000"/>
              </a:lnSpc>
              <a:defRPr/>
            </a:pPr>
            <a:endParaRPr kumimoji="0" lang="en-US" altLang="ko-KR" sz="24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  <a:p>
            <a:pPr marL="381000" indent="-381000" eaLnBrk="0" latinLnBrk="0" hangingPunct="0">
              <a:lnSpc>
                <a:spcPct val="110000"/>
              </a:lnSpc>
              <a:defRPr/>
            </a:pPr>
            <a:endParaRPr kumimoji="0" lang="en-US" altLang="ko-KR" sz="24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41288" y="44450"/>
            <a:ext cx="6015037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457200" indent="-457200" eaLnBrk="0" latinLnBrk="0" hangingPunct="0">
              <a:lnSpc>
                <a:spcPct val="110000"/>
              </a:lnSpc>
            </a:pPr>
            <a:r>
              <a:rPr kumimoji="0" lang="ko-KR" altLang="en-US" sz="20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목 차</a:t>
            </a:r>
            <a:endParaRPr kumimoji="0" lang="en-US" altLang="ko-KR" sz="20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9" name="Rectangle 2"/>
          <p:cNvSpPr>
            <a:spLocks noChangeArrowheads="1"/>
          </p:cNvSpPr>
          <p:nvPr/>
        </p:nvSpPr>
        <p:spPr bwMode="auto">
          <a:xfrm>
            <a:off x="141288" y="44450"/>
            <a:ext cx="6951662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457200" indent="-457200" eaLnBrk="0" latinLnBrk="0" hangingPunct="0">
              <a:lnSpc>
                <a:spcPct val="110000"/>
              </a:lnSpc>
            </a:pPr>
            <a:r>
              <a:rPr kumimoji="0" lang="en-US" altLang="ko-KR" sz="20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1. </a:t>
            </a:r>
            <a:r>
              <a:rPr kumimoji="0" lang="en-US" altLang="ko-KR" sz="20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AIR FLOW FAN</a:t>
            </a:r>
            <a:endParaRPr kumimoji="0" lang="en-US" altLang="ko-KR" sz="16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4110" name="Rectangle 3"/>
          <p:cNvSpPr>
            <a:spLocks noChangeArrowheads="1"/>
          </p:cNvSpPr>
          <p:nvPr/>
        </p:nvSpPr>
        <p:spPr bwMode="auto">
          <a:xfrm>
            <a:off x="467544" y="764704"/>
            <a:ext cx="842493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28600" indent="-228600"/>
            <a:r>
              <a:rPr lang="en-US" altLang="ko-KR" sz="14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1-1 </a:t>
            </a:r>
            <a:r>
              <a:rPr kumimoji="0" lang="en-US" altLang="ko-KR" sz="14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SPECIFICATION(AFB1248SHE-TC50)</a:t>
            </a:r>
            <a:endParaRPr lang="en-US" altLang="ko-KR" sz="14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  <a:cs typeface="Times New Roman" pitchFamily="18" charset="0"/>
            </a:endParaRP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0783" y="1052736"/>
            <a:ext cx="4701337" cy="52246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9" name="Rectangle 2"/>
          <p:cNvSpPr>
            <a:spLocks noChangeArrowheads="1"/>
          </p:cNvSpPr>
          <p:nvPr/>
        </p:nvSpPr>
        <p:spPr bwMode="auto">
          <a:xfrm>
            <a:off x="141288" y="44450"/>
            <a:ext cx="6951662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457200" indent="-457200" eaLnBrk="0" latinLnBrk="0" hangingPunct="0">
              <a:lnSpc>
                <a:spcPct val="110000"/>
              </a:lnSpc>
            </a:pPr>
            <a:r>
              <a:rPr kumimoji="0" lang="en-US" altLang="ko-KR" sz="20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1. </a:t>
            </a:r>
            <a:r>
              <a:rPr kumimoji="0" lang="en-US" altLang="ko-KR" sz="20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AIR FLOW FAN </a:t>
            </a:r>
            <a:r>
              <a:rPr kumimoji="0" lang="ko-KR" altLang="en-US" sz="20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검토</a:t>
            </a:r>
            <a:endParaRPr kumimoji="0" lang="en-US" altLang="ko-KR" sz="16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836712"/>
            <a:ext cx="4320480" cy="3409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1560" y="4221088"/>
            <a:ext cx="3888432" cy="227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9" name="Rectangle 2"/>
          <p:cNvSpPr>
            <a:spLocks noChangeArrowheads="1"/>
          </p:cNvSpPr>
          <p:nvPr/>
        </p:nvSpPr>
        <p:spPr bwMode="auto">
          <a:xfrm>
            <a:off x="141288" y="44450"/>
            <a:ext cx="6951662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457200" indent="-457200" eaLnBrk="0" latinLnBrk="0" hangingPunct="0">
              <a:lnSpc>
                <a:spcPct val="110000"/>
              </a:lnSpc>
            </a:pPr>
            <a:r>
              <a:rPr kumimoji="0" lang="en-US" altLang="ko-KR" sz="20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1. </a:t>
            </a:r>
            <a:r>
              <a:rPr kumimoji="0" lang="en-US" altLang="ko-KR" sz="20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AIR FLOW FAN </a:t>
            </a:r>
            <a:r>
              <a:rPr kumimoji="0" lang="ko-KR" altLang="en-US" sz="20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검토</a:t>
            </a:r>
            <a:endParaRPr kumimoji="0" lang="en-US" altLang="ko-KR" sz="16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692696"/>
            <a:ext cx="4880198" cy="56701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9" name="Rectangle 2"/>
          <p:cNvSpPr>
            <a:spLocks noChangeArrowheads="1"/>
          </p:cNvSpPr>
          <p:nvPr/>
        </p:nvSpPr>
        <p:spPr bwMode="auto">
          <a:xfrm>
            <a:off x="141288" y="44450"/>
            <a:ext cx="6951662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457200" indent="-457200" eaLnBrk="0" latinLnBrk="0" hangingPunct="0">
              <a:lnSpc>
                <a:spcPct val="110000"/>
              </a:lnSpc>
            </a:pPr>
            <a:r>
              <a:rPr kumimoji="0" lang="en-US" altLang="ko-KR" sz="20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1. </a:t>
            </a:r>
            <a:r>
              <a:rPr kumimoji="0" lang="en-US" altLang="ko-KR" sz="20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AIR FLOW FAN </a:t>
            </a:r>
            <a:r>
              <a:rPr kumimoji="0" lang="ko-KR" altLang="en-US" sz="20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검토</a:t>
            </a:r>
            <a:endParaRPr kumimoji="0" lang="en-US" altLang="ko-KR" sz="16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764704"/>
            <a:ext cx="4739302" cy="5604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9" name="Rectangle 2"/>
          <p:cNvSpPr>
            <a:spLocks noChangeArrowheads="1"/>
          </p:cNvSpPr>
          <p:nvPr/>
        </p:nvSpPr>
        <p:spPr bwMode="auto">
          <a:xfrm>
            <a:off x="141288" y="44450"/>
            <a:ext cx="6951662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457200" indent="-457200" eaLnBrk="0" latinLnBrk="0" hangingPunct="0">
              <a:lnSpc>
                <a:spcPct val="110000"/>
              </a:lnSpc>
            </a:pPr>
            <a:r>
              <a:rPr kumimoji="0" lang="en-US" altLang="ko-KR" sz="20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1. </a:t>
            </a:r>
            <a:r>
              <a:rPr kumimoji="0" lang="en-US" altLang="ko-KR" sz="20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AIR FLOW FAN </a:t>
            </a:r>
            <a:r>
              <a:rPr kumimoji="0" lang="ko-KR" altLang="en-US" sz="20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검토</a:t>
            </a:r>
            <a:endParaRPr kumimoji="0" lang="en-US" altLang="ko-KR" sz="16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764704"/>
            <a:ext cx="4320480" cy="5713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9" name="Rectangle 2"/>
          <p:cNvSpPr>
            <a:spLocks noChangeArrowheads="1"/>
          </p:cNvSpPr>
          <p:nvPr/>
        </p:nvSpPr>
        <p:spPr bwMode="auto">
          <a:xfrm>
            <a:off x="141288" y="44450"/>
            <a:ext cx="6951662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457200" indent="-457200" eaLnBrk="0" latinLnBrk="0" hangingPunct="0">
              <a:lnSpc>
                <a:spcPct val="110000"/>
              </a:lnSpc>
            </a:pPr>
            <a:r>
              <a:rPr kumimoji="0" lang="en-US" altLang="ko-KR" sz="20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1. </a:t>
            </a:r>
            <a:r>
              <a:rPr kumimoji="0" lang="en-US" altLang="ko-KR" sz="20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AIR FLOW FAN </a:t>
            </a:r>
            <a:r>
              <a:rPr kumimoji="0" lang="ko-KR" altLang="en-US" sz="20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검토</a:t>
            </a:r>
            <a:endParaRPr kumimoji="0" lang="en-US" altLang="ko-KR" sz="16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67544" y="764704"/>
            <a:ext cx="842493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28600" indent="-228600"/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1-2 </a:t>
            </a:r>
            <a:r>
              <a:rPr lang="ko-KR" altLang="en-US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수명</a:t>
            </a:r>
            <a:endParaRPr lang="en-US" altLang="ko-KR" sz="1400" b="1" dirty="0">
              <a:solidFill>
                <a:srgbClr val="040710"/>
              </a:solidFill>
              <a:latin typeface="+mj-lt"/>
              <a:ea typeface="굴림체" pitchFamily="49" charset="-127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1910308"/>
            <a:ext cx="5067300" cy="339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직사각형 6"/>
          <p:cNvSpPr/>
          <p:nvPr/>
        </p:nvSpPr>
        <p:spPr bwMode="auto">
          <a:xfrm>
            <a:off x="899592" y="3284984"/>
            <a:ext cx="4896544" cy="338554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600" b="0" i="0" u="none" strike="noStrike" cap="none" normalizeH="0" baseline="0" dirty="0" smtClean="0">
              <a:ln w="28575">
                <a:solidFill>
                  <a:schemeClr val="tx1"/>
                </a:solidFill>
              </a:ln>
              <a:noFill/>
              <a:effectLst/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719064" y="1106160"/>
            <a:ext cx="7957392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28600" indent="-228600"/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-. </a:t>
            </a:r>
            <a:r>
              <a:rPr lang="ko-KR" altLang="en-US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수명 </a:t>
            </a:r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: 70,000 Hr </a:t>
            </a:r>
          </a:p>
          <a:p>
            <a:pPr marL="228600" indent="-228600"/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          = 70.000/24 = 2916.6 (Day)</a:t>
            </a:r>
          </a:p>
          <a:p>
            <a:pPr marL="228600" indent="-228600"/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          = 2916.6/365 = 7.99 (Year)             </a:t>
            </a:r>
            <a:endParaRPr lang="en-US" altLang="ko-KR" sz="1400" b="1" dirty="0">
              <a:solidFill>
                <a:srgbClr val="040710"/>
              </a:solidFill>
              <a:latin typeface="+mj-lt"/>
              <a:ea typeface="굴림체" pitchFamily="49" charset="-127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1484784"/>
            <a:ext cx="5419725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9" name="Rectangle 2"/>
          <p:cNvSpPr>
            <a:spLocks noChangeArrowheads="1"/>
          </p:cNvSpPr>
          <p:nvPr/>
        </p:nvSpPr>
        <p:spPr bwMode="auto">
          <a:xfrm>
            <a:off x="141288" y="44450"/>
            <a:ext cx="6951662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457200" indent="-457200" eaLnBrk="0" latinLnBrk="0" hangingPunct="0">
              <a:lnSpc>
                <a:spcPct val="110000"/>
              </a:lnSpc>
            </a:pPr>
            <a:r>
              <a:rPr kumimoji="0" lang="en-US" altLang="ko-KR" sz="20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1. </a:t>
            </a:r>
            <a:r>
              <a:rPr kumimoji="0" lang="en-US" altLang="ko-KR" sz="20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AIR FLOW FAN </a:t>
            </a:r>
            <a:r>
              <a:rPr kumimoji="0" lang="ko-KR" altLang="en-US" sz="20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검토</a:t>
            </a:r>
            <a:endParaRPr kumimoji="0" lang="en-US" altLang="ko-KR" sz="16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67544" y="764704"/>
            <a:ext cx="842493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28600" indent="-228600"/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1-3  </a:t>
            </a:r>
            <a:r>
              <a:rPr lang="ko-KR" altLang="en-US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베어링</a:t>
            </a:r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 </a:t>
            </a:r>
            <a:endParaRPr lang="en-US" altLang="ko-KR" sz="1400" b="1" dirty="0">
              <a:solidFill>
                <a:srgbClr val="040710"/>
              </a:solidFill>
              <a:latin typeface="+mj-lt"/>
              <a:ea typeface="굴림체" pitchFamily="49" charset="-127"/>
              <a:cs typeface="Times New Roman" pitchFamily="18" charset="0"/>
            </a:endParaRPr>
          </a:p>
        </p:txBody>
      </p:sp>
      <p:sp>
        <p:nvSpPr>
          <p:cNvPr id="7" name="직사각형 6"/>
          <p:cNvSpPr/>
          <p:nvPr/>
        </p:nvSpPr>
        <p:spPr bwMode="auto">
          <a:xfrm>
            <a:off x="1187624" y="2492896"/>
            <a:ext cx="5184576" cy="338554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600" b="0" i="0" u="none" strike="noStrike" cap="none" normalizeH="0" baseline="0" dirty="0" smtClean="0">
              <a:ln w="28575">
                <a:solidFill>
                  <a:schemeClr val="tx1"/>
                </a:solidFill>
              </a:ln>
              <a:noFill/>
              <a:effectLst/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83568" y="1052736"/>
            <a:ext cx="795739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28600" indent="-228600"/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-. Ball bearing    </a:t>
            </a:r>
            <a:endParaRPr lang="en-US" altLang="ko-KR" sz="1400" b="1" dirty="0">
              <a:solidFill>
                <a:srgbClr val="040710"/>
              </a:solidFill>
              <a:latin typeface="+mj-lt"/>
              <a:ea typeface="굴림체" pitchFamily="49" charset="-127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9" name="Rectangle 2"/>
          <p:cNvSpPr>
            <a:spLocks noChangeArrowheads="1"/>
          </p:cNvSpPr>
          <p:nvPr/>
        </p:nvSpPr>
        <p:spPr bwMode="auto">
          <a:xfrm>
            <a:off x="141288" y="44450"/>
            <a:ext cx="6951662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457200" indent="-457200" eaLnBrk="0" latinLnBrk="0" hangingPunct="0">
              <a:lnSpc>
                <a:spcPct val="110000"/>
              </a:lnSpc>
            </a:pPr>
            <a:r>
              <a:rPr kumimoji="0" lang="en-US" altLang="ko-KR" sz="20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1. </a:t>
            </a:r>
            <a:r>
              <a:rPr kumimoji="0" lang="en-US" altLang="ko-KR" sz="20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AIR FLOW FAN </a:t>
            </a:r>
            <a:r>
              <a:rPr kumimoji="0" lang="ko-KR" altLang="en-US" sz="20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검토</a:t>
            </a:r>
            <a:endParaRPr kumimoji="0" lang="en-US" altLang="ko-KR" sz="16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67544" y="764704"/>
            <a:ext cx="842493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28600" indent="-228600"/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1-4  </a:t>
            </a:r>
            <a:r>
              <a:rPr lang="ko-KR" altLang="en-US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먼지청소방안</a:t>
            </a:r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 </a:t>
            </a:r>
            <a:endParaRPr lang="en-US" altLang="ko-KR" sz="1400" b="1" dirty="0">
              <a:solidFill>
                <a:srgbClr val="040710"/>
              </a:solidFill>
              <a:latin typeface="+mj-lt"/>
              <a:ea typeface="굴림체" pitchFamily="49" charset="-127"/>
              <a:cs typeface="Times New Roman" pitchFamily="18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11560" y="964466"/>
            <a:ext cx="7920880" cy="160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28600" indent="-228600"/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-. </a:t>
            </a:r>
            <a:r>
              <a:rPr lang="ko-KR" altLang="en-US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먼지청소주기 </a:t>
            </a:r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: 6</a:t>
            </a:r>
            <a:r>
              <a:rPr lang="ko-KR" altLang="en-US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개월</a:t>
            </a:r>
            <a:endParaRPr lang="en-US" altLang="ko-KR" sz="1400" b="1" dirty="0" smtClean="0">
              <a:solidFill>
                <a:srgbClr val="040710"/>
              </a:solidFill>
              <a:latin typeface="+mj-lt"/>
              <a:ea typeface="굴림체" pitchFamily="49" charset="-127"/>
              <a:cs typeface="Times New Roman" pitchFamily="18" charset="0"/>
            </a:endParaRPr>
          </a:p>
          <a:p>
            <a:pPr marL="228600" indent="-228600"/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-. </a:t>
            </a:r>
            <a:r>
              <a:rPr lang="ko-KR" altLang="en-US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분리방법</a:t>
            </a:r>
            <a:endParaRPr lang="en-US" altLang="ko-KR" sz="1400" b="1" dirty="0" smtClean="0">
              <a:solidFill>
                <a:srgbClr val="040710"/>
              </a:solidFill>
              <a:latin typeface="+mj-lt"/>
              <a:ea typeface="굴림체" pitchFamily="49" charset="-127"/>
              <a:cs typeface="Times New Roman" pitchFamily="18" charset="0"/>
            </a:endParaRPr>
          </a:p>
          <a:p>
            <a:pPr marL="228600" indent="-228600"/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     FAN </a:t>
            </a:r>
            <a:r>
              <a:rPr lang="ko-KR" altLang="en-US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먼지만 제거 시 </a:t>
            </a:r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a  </a:t>
            </a:r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  <a:sym typeface="Wingdings" pitchFamily="2" charset="2"/>
              </a:rPr>
              <a:t>  b    c  </a:t>
            </a:r>
            <a:r>
              <a:rPr lang="ko-KR" altLang="en-US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  <a:sym typeface="Wingdings" pitchFamily="2" charset="2"/>
              </a:rPr>
              <a:t>순으로 분리하며</a:t>
            </a:r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  <a:sym typeface="Wingdings" pitchFamily="2" charset="2"/>
              </a:rPr>
              <a:t>, </a:t>
            </a:r>
            <a:r>
              <a:rPr lang="ko-KR" altLang="en-US" sz="1400" b="1" dirty="0" err="1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  <a:sym typeface="Wingdings" pitchFamily="2" charset="2"/>
              </a:rPr>
              <a:t>조립시는</a:t>
            </a:r>
            <a:r>
              <a:rPr lang="ko-KR" altLang="en-US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  <a:sym typeface="Wingdings" pitchFamily="2" charset="2"/>
              </a:rPr>
              <a:t> 분리의 역순이다</a:t>
            </a:r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  <a:sym typeface="Wingdings" pitchFamily="2" charset="2"/>
              </a:rPr>
              <a:t>.</a:t>
            </a:r>
            <a:endParaRPr lang="en-US" altLang="ko-KR" sz="1400" b="1" dirty="0" smtClean="0">
              <a:solidFill>
                <a:srgbClr val="040710"/>
              </a:solidFill>
              <a:latin typeface="+mj-lt"/>
              <a:ea typeface="굴림체" pitchFamily="49" charset="-127"/>
              <a:cs typeface="Times New Roman" pitchFamily="18" charset="0"/>
            </a:endParaRPr>
          </a:p>
          <a:p>
            <a:pPr marL="228600" indent="-228600"/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      Step 1 : </a:t>
            </a:r>
            <a:r>
              <a:rPr lang="ko-KR" altLang="en-US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전원 </a:t>
            </a:r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connector</a:t>
            </a:r>
            <a:r>
              <a:rPr lang="ko-KR" altLang="en-US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를 분리한다</a:t>
            </a:r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.</a:t>
            </a:r>
          </a:p>
          <a:p>
            <a:pPr marL="228600" indent="-228600"/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      Step 2 : FAN FRAME mount screw</a:t>
            </a:r>
            <a:r>
              <a:rPr lang="ko-KR" altLang="en-US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를 푼다</a:t>
            </a:r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. (4</a:t>
            </a:r>
            <a:r>
              <a:rPr lang="ko-KR" altLang="en-US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개소</a:t>
            </a:r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)</a:t>
            </a:r>
          </a:p>
          <a:p>
            <a:pPr marL="228600" indent="-228600"/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      Step 3 : Air Blow Gun</a:t>
            </a:r>
            <a:r>
              <a:rPr lang="ko-KR" altLang="en-US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을 사용하여 </a:t>
            </a:r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FAN</a:t>
            </a:r>
            <a:r>
              <a:rPr lang="ko-KR" altLang="en-US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의 먼지를 제거한다</a:t>
            </a:r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. </a:t>
            </a:r>
          </a:p>
          <a:p>
            <a:pPr marL="228600" indent="-228600"/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      REF. : FAN </a:t>
            </a:r>
            <a:r>
              <a:rPr lang="ko-KR" altLang="en-US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교체 시는 </a:t>
            </a:r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FAN MODULE </a:t>
            </a:r>
            <a:r>
              <a:rPr lang="ko-KR" altLang="en-US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분해조립도 상세를 참고한다</a:t>
            </a:r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.</a:t>
            </a:r>
            <a:endParaRPr lang="en-US" altLang="ko-KR" sz="1400" b="1" dirty="0">
              <a:solidFill>
                <a:srgbClr val="040710"/>
              </a:solidFill>
              <a:latin typeface="+mj-lt"/>
              <a:ea typeface="굴림체" pitchFamily="49" charset="-127"/>
              <a:cs typeface="Times New Roman" pitchFamily="18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2545159"/>
            <a:ext cx="4184911" cy="1634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31640" y="4149080"/>
            <a:ext cx="4479032" cy="2229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6372200" y="5661248"/>
            <a:ext cx="259228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28600" indent="-228600"/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b : FAN FRAME mount screw</a:t>
            </a:r>
            <a:endParaRPr lang="en-US" altLang="ko-KR" sz="1400" b="1" dirty="0">
              <a:solidFill>
                <a:srgbClr val="040710"/>
              </a:solidFill>
              <a:latin typeface="+mj-lt"/>
              <a:ea typeface="굴림체" pitchFamily="49" charset="-127"/>
              <a:cs typeface="Times New Roman" pitchFamily="18" charset="0"/>
            </a:endParaRP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6156176" y="4221088"/>
            <a:ext cx="259228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28600" indent="-228600"/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a : </a:t>
            </a:r>
            <a:r>
              <a:rPr lang="ko-KR" altLang="en-US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전원 </a:t>
            </a:r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CONNECTOR</a:t>
            </a:r>
            <a:endParaRPr lang="en-US" altLang="ko-KR" sz="1400" b="1" dirty="0">
              <a:solidFill>
                <a:srgbClr val="040710"/>
              </a:solidFill>
              <a:latin typeface="+mj-lt"/>
              <a:ea typeface="굴림체" pitchFamily="49" charset="-127"/>
              <a:cs typeface="Times New Roman" pitchFamily="18" charset="0"/>
            </a:endParaRPr>
          </a:p>
        </p:txBody>
      </p:sp>
      <p:cxnSp>
        <p:nvCxnSpPr>
          <p:cNvPr id="15" name="Shape 14"/>
          <p:cNvCxnSpPr>
            <a:stCxn id="13" idx="2"/>
          </p:cNvCxnSpPr>
          <p:nvPr/>
        </p:nvCxnSpPr>
        <p:spPr bwMode="auto">
          <a:xfrm rot="5400000">
            <a:off x="6418076" y="3762909"/>
            <a:ext cx="268289" cy="1800200"/>
          </a:xfrm>
          <a:prstGeom prst="curvedConnector2">
            <a:avLst/>
          </a:prstGeom>
          <a:solidFill>
            <a:srgbClr val="FFFF00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Shape 18"/>
          <p:cNvCxnSpPr>
            <a:stCxn id="12" idx="1"/>
          </p:cNvCxnSpPr>
          <p:nvPr/>
        </p:nvCxnSpPr>
        <p:spPr bwMode="auto">
          <a:xfrm rot="10800000">
            <a:off x="5580112" y="5013181"/>
            <a:ext cx="792088" cy="801957"/>
          </a:xfrm>
          <a:prstGeom prst="curvedConnector2">
            <a:avLst/>
          </a:prstGeom>
          <a:solidFill>
            <a:srgbClr val="FFFF00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5" cstate="print"/>
          <a:srcRect b="16840"/>
          <a:stretch>
            <a:fillRect/>
          </a:stretch>
        </p:blipFill>
        <p:spPr bwMode="auto">
          <a:xfrm>
            <a:off x="4644008" y="3356992"/>
            <a:ext cx="1756268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Rectangle 3"/>
          <p:cNvSpPr>
            <a:spLocks noChangeArrowheads="1"/>
          </p:cNvSpPr>
          <p:nvPr/>
        </p:nvSpPr>
        <p:spPr bwMode="auto">
          <a:xfrm>
            <a:off x="6084168" y="2636912"/>
            <a:ext cx="259228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28600" indent="-228600"/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c : Air Blow Gun</a:t>
            </a:r>
            <a:endParaRPr lang="en-US" altLang="ko-KR" sz="1400" b="1" dirty="0">
              <a:solidFill>
                <a:srgbClr val="040710"/>
              </a:solidFill>
              <a:latin typeface="+mj-lt"/>
              <a:ea typeface="굴림체" pitchFamily="49" charset="-127"/>
              <a:cs typeface="Times New Roman" pitchFamily="18" charset="0"/>
            </a:endParaRPr>
          </a:p>
        </p:txBody>
      </p:sp>
      <p:cxnSp>
        <p:nvCxnSpPr>
          <p:cNvPr id="26" name="Shape 25"/>
          <p:cNvCxnSpPr>
            <a:stCxn id="25" idx="2"/>
          </p:cNvCxnSpPr>
          <p:nvPr/>
        </p:nvCxnSpPr>
        <p:spPr bwMode="auto">
          <a:xfrm rot="5400000">
            <a:off x="6300194" y="2872683"/>
            <a:ext cx="1008113" cy="1152125"/>
          </a:xfrm>
          <a:prstGeom prst="curvedConnector2">
            <a:avLst/>
          </a:prstGeom>
          <a:solidFill>
            <a:srgbClr val="FFFF00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Rectangle 3"/>
          <p:cNvSpPr>
            <a:spLocks noChangeArrowheads="1"/>
          </p:cNvSpPr>
          <p:nvPr/>
        </p:nvSpPr>
        <p:spPr bwMode="auto">
          <a:xfrm>
            <a:off x="1259632" y="3913311"/>
            <a:ext cx="108012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28600" indent="-228600"/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Assembly</a:t>
            </a:r>
            <a:endParaRPr lang="en-US" altLang="ko-KR" sz="1400" b="1" dirty="0">
              <a:solidFill>
                <a:srgbClr val="040710"/>
              </a:solidFill>
              <a:latin typeface="+mj-lt"/>
              <a:ea typeface="굴림체" pitchFamily="49" charset="-127"/>
              <a:cs typeface="Times New Roman" pitchFamily="18" charset="0"/>
            </a:endParaRPr>
          </a:p>
        </p:txBody>
      </p:sp>
      <p:sp>
        <p:nvSpPr>
          <p:cNvPr id="30" name="Rectangle 3"/>
          <p:cNvSpPr>
            <a:spLocks noChangeArrowheads="1"/>
          </p:cNvSpPr>
          <p:nvPr/>
        </p:nvSpPr>
        <p:spPr bwMode="auto">
          <a:xfrm>
            <a:off x="2123728" y="6165304"/>
            <a:ext cx="122413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28600" indent="-228600"/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Disassembly</a:t>
            </a:r>
            <a:endParaRPr lang="en-US" altLang="ko-KR" sz="1400" b="1" dirty="0">
              <a:solidFill>
                <a:srgbClr val="040710"/>
              </a:solidFill>
              <a:latin typeface="+mj-lt"/>
              <a:ea typeface="굴림체" pitchFamily="49" charset="-127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9" name="Rectangle 2"/>
          <p:cNvSpPr>
            <a:spLocks noChangeArrowheads="1"/>
          </p:cNvSpPr>
          <p:nvPr/>
        </p:nvSpPr>
        <p:spPr bwMode="auto">
          <a:xfrm>
            <a:off x="141288" y="44450"/>
            <a:ext cx="6951662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457200" indent="-457200" eaLnBrk="0" latinLnBrk="0" hangingPunct="0">
              <a:lnSpc>
                <a:spcPct val="110000"/>
              </a:lnSpc>
            </a:pPr>
            <a:r>
              <a:rPr kumimoji="0" lang="en-US" altLang="ko-KR" sz="20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1. </a:t>
            </a:r>
            <a:r>
              <a:rPr kumimoji="0" lang="en-US" altLang="ko-KR" sz="20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AIR FLOW FAN </a:t>
            </a:r>
            <a:r>
              <a:rPr kumimoji="0" lang="ko-KR" altLang="en-US" sz="20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검토</a:t>
            </a:r>
            <a:endParaRPr kumimoji="0" lang="en-US" altLang="ko-KR" sz="16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611560" y="888975"/>
            <a:ext cx="792088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28600" indent="-228600"/>
            <a:r>
              <a:rPr lang="en-US" altLang="ko-KR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-. FAM MODULE </a:t>
            </a:r>
            <a:r>
              <a:rPr lang="ko-KR" altLang="en-US" sz="1400" b="1" dirty="0" smtClean="0">
                <a:solidFill>
                  <a:srgbClr val="040710"/>
                </a:solidFill>
                <a:latin typeface="+mj-lt"/>
                <a:ea typeface="굴림체" pitchFamily="49" charset="-127"/>
                <a:cs typeface="Times New Roman" pitchFamily="18" charset="0"/>
              </a:rPr>
              <a:t>분해조립도 상세</a:t>
            </a:r>
            <a:endParaRPr lang="en-US" altLang="ko-KR" sz="1400" b="1" dirty="0" smtClean="0">
              <a:solidFill>
                <a:srgbClr val="040710"/>
              </a:solidFill>
              <a:latin typeface="+mj-lt"/>
              <a:ea typeface="굴림체" pitchFamily="49" charset="-127"/>
              <a:cs typeface="Times New Roman" pitchFamily="18" charset="0"/>
            </a:endParaRP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628800"/>
            <a:ext cx="5400600" cy="3519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14975" y="1340768"/>
            <a:ext cx="3629025" cy="174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1" name="Rectangle 2"/>
          <p:cNvSpPr>
            <a:spLocks noChangeArrowheads="1"/>
          </p:cNvSpPr>
          <p:nvPr/>
        </p:nvSpPr>
        <p:spPr bwMode="auto">
          <a:xfrm>
            <a:off x="141288" y="44450"/>
            <a:ext cx="6951662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457200" indent="-457200" eaLnBrk="0" latinLnBrk="0" hangingPunct="0">
              <a:lnSpc>
                <a:spcPct val="110000"/>
              </a:lnSpc>
            </a:pPr>
            <a:r>
              <a:rPr kumimoji="0" lang="en-US" altLang="ko-KR" sz="20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2. THERMOSTAT</a:t>
            </a:r>
            <a:endParaRPr kumimoji="0" lang="en-US" altLang="ko-KR" sz="20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7182" name="Rectangle 3"/>
          <p:cNvSpPr>
            <a:spLocks noChangeArrowheads="1"/>
          </p:cNvSpPr>
          <p:nvPr/>
        </p:nvSpPr>
        <p:spPr bwMode="auto">
          <a:xfrm>
            <a:off x="467544" y="764704"/>
            <a:ext cx="818673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228600" indent="-228600"/>
            <a:r>
              <a:rPr lang="en-US" altLang="ko-KR" sz="14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2-1</a:t>
            </a:r>
            <a:r>
              <a:rPr lang="en-US" altLang="ko-KR" sz="14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. </a:t>
            </a:r>
            <a:r>
              <a:rPr lang="en-US" altLang="ko-KR" sz="14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SPECIFICATION</a:t>
            </a:r>
            <a:endParaRPr lang="en-US" altLang="ko-KR" sz="11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  <a:cs typeface="Times New Roman" pitchFamily="18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1196752"/>
            <a:ext cx="4733925" cy="127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7579" y="2852936"/>
            <a:ext cx="8458917" cy="295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444208" y="1124744"/>
            <a:ext cx="2077945" cy="1491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1" name="Rectangle 2"/>
          <p:cNvSpPr>
            <a:spLocks noChangeArrowheads="1"/>
          </p:cNvSpPr>
          <p:nvPr/>
        </p:nvSpPr>
        <p:spPr bwMode="auto">
          <a:xfrm>
            <a:off x="141288" y="44450"/>
            <a:ext cx="6951662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457200" indent="-457200" eaLnBrk="0" latinLnBrk="0" hangingPunct="0">
              <a:lnSpc>
                <a:spcPct val="110000"/>
              </a:lnSpc>
            </a:pPr>
            <a:r>
              <a:rPr kumimoji="0" lang="en-US" altLang="ko-KR" sz="20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</a:rPr>
              <a:t>2. THERMOSTAT</a:t>
            </a:r>
            <a:endParaRPr kumimoji="0" lang="en-US" altLang="ko-KR" sz="20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</a:endParaRPr>
          </a:p>
        </p:txBody>
      </p:sp>
      <p:sp>
        <p:nvSpPr>
          <p:cNvPr id="7182" name="Rectangle 3"/>
          <p:cNvSpPr>
            <a:spLocks noChangeArrowheads="1"/>
          </p:cNvSpPr>
          <p:nvPr/>
        </p:nvSpPr>
        <p:spPr bwMode="auto">
          <a:xfrm>
            <a:off x="467544" y="764704"/>
            <a:ext cx="818673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228600" indent="-228600"/>
            <a:r>
              <a:rPr lang="en-US" altLang="ko-KR" sz="14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2-1</a:t>
            </a:r>
            <a:r>
              <a:rPr lang="en-US" altLang="ko-KR" sz="1400" b="1" dirty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. </a:t>
            </a:r>
            <a:r>
              <a:rPr lang="en-US" altLang="ko-KR" sz="1400" b="1" dirty="0" smtClean="0">
                <a:solidFill>
                  <a:srgbClr val="040710"/>
                </a:solidFill>
                <a:latin typeface="굴림체" pitchFamily="49" charset="-127"/>
                <a:ea typeface="굴림체" pitchFamily="49" charset="-127"/>
                <a:cs typeface="Times New Roman" pitchFamily="18" charset="0"/>
              </a:rPr>
              <a:t>DIMENSION </a:t>
            </a:r>
            <a:endParaRPr lang="en-US" altLang="ko-KR" sz="1100" b="1" dirty="0">
              <a:solidFill>
                <a:srgbClr val="040710"/>
              </a:solidFill>
              <a:latin typeface="굴림체" pitchFamily="49" charset="-127"/>
              <a:ea typeface="굴림체" pitchFamily="49" charset="-127"/>
              <a:cs typeface="Times New Roman" pitchFamily="18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1268759"/>
            <a:ext cx="3312368" cy="2391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cdb2004134l">
  <a:themeElements>
    <a:clrScheme name="3_cdb2004134l 2">
      <a:dk1>
        <a:srgbClr val="23387D"/>
      </a:dk1>
      <a:lt1>
        <a:srgbClr val="FFFFFF"/>
      </a:lt1>
      <a:dk2>
        <a:srgbClr val="1A3D97"/>
      </a:dk2>
      <a:lt2>
        <a:srgbClr val="DDDDDD"/>
      </a:lt2>
      <a:accent1>
        <a:srgbClr val="4972BB"/>
      </a:accent1>
      <a:accent2>
        <a:srgbClr val="6A99D8"/>
      </a:accent2>
      <a:accent3>
        <a:srgbClr val="FFFFFF"/>
      </a:accent3>
      <a:accent4>
        <a:srgbClr val="1C2E6A"/>
      </a:accent4>
      <a:accent5>
        <a:srgbClr val="B1BCDA"/>
      </a:accent5>
      <a:accent6>
        <a:srgbClr val="5F8AC4"/>
      </a:accent6>
      <a:hlink>
        <a:srgbClr val="96B1E6"/>
      </a:hlink>
      <a:folHlink>
        <a:srgbClr val="99C25C"/>
      </a:folHlink>
    </a:clrScheme>
    <a:fontScheme name="3_cdb2004134l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00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rgbClr val="808080">
              <a:alpha val="50000"/>
            </a:srgbClr>
          </a:outerShdw>
        </a:effectLst>
      </a:spPr>
      <a:bodyPr vert="horz" wrap="square" lIns="91440" tIns="45720" rIns="91440" bIns="45720" numCol="1" anchor="ctr" anchorCtr="1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HY견고딕" pitchFamily="18" charset="-127"/>
            <a:ea typeface="HY견고딕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00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rgbClr val="808080">
              <a:alpha val="50000"/>
            </a:srgbClr>
          </a:outerShdw>
        </a:effectLst>
      </a:spPr>
      <a:bodyPr vert="horz" wrap="square" lIns="91440" tIns="45720" rIns="91440" bIns="45720" numCol="1" anchor="ctr" anchorCtr="1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HY견고딕" pitchFamily="18" charset="-127"/>
            <a:ea typeface="HY견고딕" pitchFamily="18" charset="-127"/>
          </a:defRPr>
        </a:defPPr>
      </a:lstStyle>
    </a:lnDef>
  </a:objectDefaults>
  <a:extraClrSchemeLst>
    <a:extraClrScheme>
      <a:clrScheme name="3_cdb2004134l 1">
        <a:dk1>
          <a:srgbClr val="1D4940"/>
        </a:dk1>
        <a:lt1>
          <a:srgbClr val="FFFFFF"/>
        </a:lt1>
        <a:dk2>
          <a:srgbClr val="3F716F"/>
        </a:dk2>
        <a:lt2>
          <a:srgbClr val="DDDDDD"/>
        </a:lt2>
        <a:accent1>
          <a:srgbClr val="669E86"/>
        </a:accent1>
        <a:accent2>
          <a:srgbClr val="A2CAB4"/>
        </a:accent2>
        <a:accent3>
          <a:srgbClr val="FFFFFF"/>
        </a:accent3>
        <a:accent4>
          <a:srgbClr val="173D35"/>
        </a:accent4>
        <a:accent5>
          <a:srgbClr val="B8CCC3"/>
        </a:accent5>
        <a:accent6>
          <a:srgbClr val="92B7A3"/>
        </a:accent6>
        <a:hlink>
          <a:srgbClr val="8CA35F"/>
        </a:hlink>
        <a:folHlink>
          <a:srgbClr val="C1B05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db2004134l 2">
        <a:dk1>
          <a:srgbClr val="23387D"/>
        </a:dk1>
        <a:lt1>
          <a:srgbClr val="FFFFFF"/>
        </a:lt1>
        <a:dk2>
          <a:srgbClr val="1A3D97"/>
        </a:dk2>
        <a:lt2>
          <a:srgbClr val="DDDDDD"/>
        </a:lt2>
        <a:accent1>
          <a:srgbClr val="4972BB"/>
        </a:accent1>
        <a:accent2>
          <a:srgbClr val="6A99D8"/>
        </a:accent2>
        <a:accent3>
          <a:srgbClr val="FFFFFF"/>
        </a:accent3>
        <a:accent4>
          <a:srgbClr val="1C2E6A"/>
        </a:accent4>
        <a:accent5>
          <a:srgbClr val="B1BCDA"/>
        </a:accent5>
        <a:accent6>
          <a:srgbClr val="5F8AC4"/>
        </a:accent6>
        <a:hlink>
          <a:srgbClr val="96B1E6"/>
        </a:hlink>
        <a:folHlink>
          <a:srgbClr val="99C25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db2004134l 3">
        <a:dk1>
          <a:srgbClr val="23387D"/>
        </a:dk1>
        <a:lt1>
          <a:srgbClr val="FFFFFF"/>
        </a:lt1>
        <a:dk2>
          <a:srgbClr val="1A3D97"/>
        </a:dk2>
        <a:lt2>
          <a:srgbClr val="DDDDDD"/>
        </a:lt2>
        <a:accent1>
          <a:srgbClr val="6E51A7"/>
        </a:accent1>
        <a:accent2>
          <a:srgbClr val="8C8EE0"/>
        </a:accent2>
        <a:accent3>
          <a:srgbClr val="FFFFFF"/>
        </a:accent3>
        <a:accent4>
          <a:srgbClr val="1C2E6A"/>
        </a:accent4>
        <a:accent5>
          <a:srgbClr val="BAB3D0"/>
        </a:accent5>
        <a:accent6>
          <a:srgbClr val="7E80CB"/>
        </a:accent6>
        <a:hlink>
          <a:srgbClr val="96B1E6"/>
        </a:hlink>
        <a:folHlink>
          <a:srgbClr val="7BB32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52270</TotalTime>
  <Words>244</Words>
  <Application>Microsoft Office PowerPoint</Application>
  <PresentationFormat>화면 슬라이드 쇼(4:3)</PresentationFormat>
  <Paragraphs>49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HY견고딕</vt:lpstr>
      <vt:lpstr>HY헤드라인M</vt:lpstr>
      <vt:lpstr>굴림</vt:lpstr>
      <vt:lpstr>굴림체</vt:lpstr>
      <vt:lpstr>Arial</vt:lpstr>
      <vt:lpstr>Times New Roman</vt:lpstr>
      <vt:lpstr>Wingdings</vt:lpstr>
      <vt:lpstr>3_cdb2004134l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ROTEM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 Template</dc:title>
  <dc:creator>조종렬</dc:creator>
  <cp:lastModifiedBy>장덕수</cp:lastModifiedBy>
  <cp:revision>1516</cp:revision>
  <dcterms:created xsi:type="dcterms:W3CDTF">2006-03-08T22:58:10Z</dcterms:created>
  <dcterms:modified xsi:type="dcterms:W3CDTF">2018-01-04T10:17:51Z</dcterms:modified>
</cp:coreProperties>
</file>