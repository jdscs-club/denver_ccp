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9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65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51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431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161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46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31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357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723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29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996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582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98DA6-B36C-4EDC-8C53-511EA4250A3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757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98DA6-B36C-4EDC-8C53-511EA4250A37}" type="datetimeFigureOut">
              <a:rPr lang="ko-KR" altLang="en-US" smtClean="0"/>
              <a:t>2018-02-14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4E6E1-85C0-4396-8EE0-4532863D61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399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7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365760" y="355171"/>
            <a:ext cx="5033554" cy="421772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DTS</a:t>
            </a:r>
            <a:r>
              <a:rPr lang="ko-KR" altLang="en-US" dirty="0" err="1">
                <a:solidFill>
                  <a:schemeClr val="tx1"/>
                </a:solidFill>
              </a:rPr>
              <a:t>덴버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CCP CONTROL</a:t>
            </a:r>
            <a:r>
              <a:rPr lang="ko-KR" altLang="en-US" dirty="0">
                <a:solidFill>
                  <a:schemeClr val="tx1"/>
                </a:solidFill>
              </a:rPr>
              <a:t>보드 </a:t>
            </a:r>
            <a:r>
              <a:rPr lang="en-US" altLang="ko-KR" dirty="0">
                <a:solidFill>
                  <a:schemeClr val="tx1"/>
                </a:solidFill>
              </a:rPr>
              <a:t>RS485</a:t>
            </a:r>
            <a:r>
              <a:rPr lang="ko-KR" altLang="en-US" dirty="0">
                <a:solidFill>
                  <a:schemeClr val="tx1"/>
                </a:solidFill>
              </a:rPr>
              <a:t>통신불량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687" y="694217"/>
            <a:ext cx="5371737" cy="2697770"/>
          </a:xfrm>
          <a:prstGeom prst="rect">
            <a:avLst/>
          </a:prstGeom>
        </p:spPr>
      </p:pic>
      <p:grpSp>
        <p:nvGrpSpPr>
          <p:cNvPr id="10" name="그룹 9"/>
          <p:cNvGrpSpPr/>
          <p:nvPr/>
        </p:nvGrpSpPr>
        <p:grpSpPr>
          <a:xfrm>
            <a:off x="515257" y="1153885"/>
            <a:ext cx="4542972" cy="2725783"/>
            <a:chOff x="431074" y="1271452"/>
            <a:chExt cx="4542972" cy="2725783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074" y="1271452"/>
              <a:ext cx="4542972" cy="2725783"/>
            </a:xfrm>
            <a:prstGeom prst="rect">
              <a:avLst/>
            </a:prstGeom>
          </p:spPr>
        </p:pic>
        <p:sp>
          <p:nvSpPr>
            <p:cNvPr id="8" name="타원 7"/>
            <p:cNvSpPr/>
            <p:nvPr/>
          </p:nvSpPr>
          <p:spPr>
            <a:xfrm>
              <a:off x="1149532" y="1471748"/>
              <a:ext cx="2194560" cy="203780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모서리가 둥근 직사각형 8"/>
          <p:cNvSpPr/>
          <p:nvPr/>
        </p:nvSpPr>
        <p:spPr>
          <a:xfrm>
            <a:off x="287383" y="1001486"/>
            <a:ext cx="4998720" cy="5756365"/>
          </a:xfrm>
          <a:prstGeom prst="roundRect">
            <a:avLst>
              <a:gd name="adj" fmla="val 464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65761" y="4075611"/>
            <a:ext cx="1341120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불량증상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70202"/>
            <a:ext cx="469246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/>
              <a:t>불량증상은 </a:t>
            </a:r>
            <a:r>
              <a:rPr lang="en-US" altLang="ko-KR" sz="1000" dirty="0"/>
              <a:t>CCP</a:t>
            </a:r>
            <a:r>
              <a:rPr lang="ko-KR" altLang="en-US" sz="1000" dirty="0"/>
              <a:t> </a:t>
            </a:r>
            <a:r>
              <a:rPr lang="en-US" altLang="ko-KR" sz="1000" dirty="0"/>
              <a:t>ASS`Y</a:t>
            </a:r>
            <a:r>
              <a:rPr lang="ko-KR" altLang="en-US" sz="1000" dirty="0"/>
              <a:t>기동 후 일정시간 후 발생하며</a:t>
            </a:r>
            <a:r>
              <a:rPr lang="en-US" altLang="ko-KR" sz="1000" dirty="0"/>
              <a:t>, CCP</a:t>
            </a:r>
            <a:r>
              <a:rPr lang="ko-KR" altLang="en-US" sz="1000" dirty="0"/>
              <a:t>내부 </a:t>
            </a:r>
            <a:r>
              <a:rPr lang="ko-KR" altLang="en-US" sz="1000" dirty="0" err="1"/>
              <a:t>온도상승시</a:t>
            </a:r>
            <a:r>
              <a:rPr lang="ko-KR" altLang="en-US" sz="1000" dirty="0"/>
              <a:t> 가속화된다</a:t>
            </a:r>
            <a:r>
              <a:rPr lang="en-US" altLang="ko-KR" sz="1000" dirty="0"/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/>
              <a:t>불량발생시 </a:t>
            </a:r>
            <a:r>
              <a:rPr lang="en-US" altLang="ko-KR" sz="1000" dirty="0"/>
              <a:t>CCP</a:t>
            </a:r>
            <a:r>
              <a:rPr lang="ko-KR" altLang="en-US" sz="1000" dirty="0"/>
              <a:t>보드의 응답파형은 위의 사진과 같다</a:t>
            </a:r>
            <a:r>
              <a:rPr lang="en-US" altLang="ko-KR" sz="1000" dirty="0"/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00" dirty="0"/>
              <a:t>CCP</a:t>
            </a:r>
            <a:r>
              <a:rPr lang="ko-KR" altLang="en-US" sz="1000" dirty="0" err="1"/>
              <a:t>보드내</a:t>
            </a:r>
            <a:r>
              <a:rPr lang="ko-KR" altLang="en-US" sz="1000" dirty="0"/>
              <a:t> </a:t>
            </a:r>
            <a:r>
              <a:rPr lang="en-US" altLang="ko-KR" sz="1000" dirty="0"/>
              <a:t>MAX1480</a:t>
            </a:r>
            <a:r>
              <a:rPr lang="ko-KR" altLang="en-US" sz="1000" dirty="0"/>
              <a:t>칩 </a:t>
            </a:r>
            <a:r>
              <a:rPr lang="ko-KR" altLang="en-US" sz="1000" dirty="0" err="1"/>
              <a:t>교체시에도</a:t>
            </a:r>
            <a:r>
              <a:rPr lang="ko-KR" altLang="en-US" sz="1000" dirty="0"/>
              <a:t> 불량증상은 재현된다</a:t>
            </a:r>
            <a:r>
              <a:rPr lang="en-US" altLang="ko-KR" sz="1000" dirty="0"/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00" dirty="0"/>
              <a:t>MAX1480</a:t>
            </a:r>
            <a:r>
              <a:rPr lang="ko-KR" altLang="en-US" sz="1000" dirty="0"/>
              <a:t>칩의 출력파형대비 </a:t>
            </a:r>
            <a:r>
              <a:rPr lang="en-US" altLang="ko-KR" sz="1000" dirty="0"/>
              <a:t>R0, DE</a:t>
            </a:r>
            <a:r>
              <a:rPr lang="ko-KR" altLang="en-US" sz="1000" dirty="0"/>
              <a:t>신호를 </a:t>
            </a:r>
            <a:r>
              <a:rPr lang="ko-KR" altLang="en-US" sz="1000" dirty="0" err="1"/>
              <a:t>측정시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오실로스코프로</a:t>
            </a:r>
            <a:r>
              <a:rPr lang="ko-KR" altLang="en-US" sz="1000" dirty="0"/>
              <a:t> 측정사진은 우측의 사진 참조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※ CCP</a:t>
            </a:r>
            <a:r>
              <a:rPr lang="ko-KR" altLang="en-US" sz="1000" dirty="0"/>
              <a:t>응답요청데이터 샘플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ex)</a:t>
            </a:r>
            <a:r>
              <a:rPr lang="ko-KR" altLang="en-US" sz="1000" dirty="0"/>
              <a:t>└</a:t>
            </a:r>
            <a:r>
              <a:rPr lang="en-US" altLang="ko-KR" sz="1000" dirty="0"/>
              <a:t>21113C100004000040025B12</a:t>
            </a:r>
            <a:r>
              <a:rPr lang="ko-KR" altLang="en-US" sz="1000" dirty="0"/>
              <a:t>┐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(Speed=19,200bps, </a:t>
            </a:r>
            <a:r>
              <a:rPr lang="en-US" altLang="ko-KR" sz="1000" dirty="0" err="1"/>
              <a:t>Databit</a:t>
            </a:r>
            <a:r>
              <a:rPr lang="en-US" altLang="ko-KR" sz="1000" dirty="0"/>
              <a:t>=8bit, </a:t>
            </a:r>
            <a:r>
              <a:rPr lang="en-US" altLang="ko-KR" sz="1000" dirty="0" err="1"/>
              <a:t>Stopbit</a:t>
            </a:r>
            <a:r>
              <a:rPr lang="en-US" altLang="ko-KR" sz="1000" dirty="0"/>
              <a:t>=1bit, None </a:t>
            </a:r>
            <a:r>
              <a:rPr lang="en-US" altLang="ko-KR" sz="1000" dirty="0" err="1"/>
              <a:t>paritybit</a:t>
            </a:r>
            <a:r>
              <a:rPr lang="en-US" altLang="ko-KR" sz="10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(STX= 0x01, ETX=0x04, check sum=CRC16)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356" y="3315515"/>
            <a:ext cx="5868126" cy="298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088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365760" y="355171"/>
            <a:ext cx="6537960" cy="421772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DTS</a:t>
            </a:r>
            <a:r>
              <a:rPr lang="ko-KR" altLang="en-US" dirty="0" err="1">
                <a:solidFill>
                  <a:schemeClr val="tx1"/>
                </a:solidFill>
              </a:rPr>
              <a:t>덴버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CCP CONTROL</a:t>
            </a:r>
            <a:r>
              <a:rPr lang="ko-KR" altLang="en-US" dirty="0">
                <a:solidFill>
                  <a:schemeClr val="tx1"/>
                </a:solidFill>
              </a:rPr>
              <a:t>보드 </a:t>
            </a:r>
            <a:r>
              <a:rPr lang="en-US" altLang="ko-KR" dirty="0">
                <a:solidFill>
                  <a:schemeClr val="tx1"/>
                </a:solidFill>
              </a:rPr>
              <a:t>RS485</a:t>
            </a:r>
            <a:r>
              <a:rPr lang="ko-KR" altLang="en-US" dirty="0" err="1">
                <a:solidFill>
                  <a:schemeClr val="tx1"/>
                </a:solidFill>
              </a:rPr>
              <a:t>통신불량</a:t>
            </a:r>
            <a:r>
              <a:rPr lang="ko-KR" altLang="en-US" dirty="0">
                <a:solidFill>
                  <a:schemeClr val="tx1"/>
                </a:solidFill>
              </a:rPr>
              <a:t> 설계 검토 사항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287383" y="1001486"/>
            <a:ext cx="4998720" cy="5756365"/>
          </a:xfrm>
          <a:prstGeom prst="roundRect">
            <a:avLst>
              <a:gd name="adj" fmla="val 464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65760" y="4220352"/>
            <a:ext cx="1341120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설계 검토 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88" y="4533538"/>
            <a:ext cx="46924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/>
              <a:t>현재 불량 발생 내용은 </a:t>
            </a:r>
            <a:r>
              <a:rPr lang="en-US" altLang="ko-KR" sz="1000" dirty="0"/>
              <a:t>485 </a:t>
            </a:r>
            <a:r>
              <a:rPr lang="ko-KR" altLang="en-US" sz="1000" dirty="0"/>
              <a:t>통신 </a:t>
            </a:r>
            <a:r>
              <a:rPr lang="en-US" altLang="ko-KR" sz="1000" dirty="0"/>
              <a:t>RTS</a:t>
            </a:r>
            <a:r>
              <a:rPr lang="ko-KR" altLang="en-US" sz="1000" dirty="0"/>
              <a:t>제어 불량이다</a:t>
            </a:r>
            <a:r>
              <a:rPr lang="en-US" altLang="ko-KR" sz="1000" dirty="0"/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00" dirty="0"/>
              <a:t>CCP PCB</a:t>
            </a:r>
            <a:r>
              <a:rPr lang="ko-KR" altLang="en-US" sz="1000" dirty="0"/>
              <a:t>는 </a:t>
            </a:r>
            <a:r>
              <a:rPr lang="en-US" altLang="ko-KR" sz="1000" dirty="0"/>
              <a:t>485</a:t>
            </a:r>
            <a:r>
              <a:rPr lang="ko-KR" altLang="en-US" sz="1000" dirty="0"/>
              <a:t>통신 </a:t>
            </a:r>
            <a:r>
              <a:rPr lang="en-US" altLang="ko-KR" sz="1000" dirty="0"/>
              <a:t>RTS </a:t>
            </a:r>
            <a:r>
              <a:rPr lang="ko-KR" altLang="en-US" sz="1000" dirty="0"/>
              <a:t>제어를 </a:t>
            </a:r>
            <a:r>
              <a:rPr lang="en-US" altLang="ko-KR" sz="1000" dirty="0"/>
              <a:t>HW </a:t>
            </a:r>
            <a:r>
              <a:rPr lang="ko-KR" altLang="en-US" sz="1000" dirty="0"/>
              <a:t>방식을 사용한다 </a:t>
            </a:r>
            <a:r>
              <a:rPr lang="en-US" altLang="ko-KR" sz="1000" dirty="0"/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00" dirty="0"/>
              <a:t>TX </a:t>
            </a:r>
            <a:r>
              <a:rPr lang="ko-KR" altLang="en-US" sz="1000" dirty="0"/>
              <a:t>데이터의 </a:t>
            </a:r>
            <a:r>
              <a:rPr lang="en-US" altLang="ko-KR" sz="1000" dirty="0" err="1"/>
              <a:t>Higt</a:t>
            </a:r>
            <a:r>
              <a:rPr lang="en-US" altLang="ko-KR" sz="1000" dirty="0"/>
              <a:t> </a:t>
            </a:r>
            <a:r>
              <a:rPr lang="ko-KR" altLang="en-US" sz="1000" dirty="0"/>
              <a:t>신호를 인식하여</a:t>
            </a:r>
            <a:r>
              <a:rPr lang="en-US" altLang="ko-KR" sz="1000" dirty="0"/>
              <a:t>, RTS </a:t>
            </a:r>
            <a:r>
              <a:rPr lang="ko-KR" altLang="en-US" sz="1000" dirty="0"/>
              <a:t>제어 신호를 일정 시간 동안 유지 하는 기능을 한다</a:t>
            </a:r>
            <a:r>
              <a:rPr lang="en-US" altLang="ko-KR" sz="1000" dirty="0"/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/>
              <a:t>현재 파형 분석 결과</a:t>
            </a:r>
            <a:r>
              <a:rPr lang="en-US" altLang="ko-KR" sz="1000" dirty="0"/>
              <a:t>, RTS </a:t>
            </a:r>
            <a:r>
              <a:rPr lang="ko-KR" altLang="en-US" sz="1000" dirty="0"/>
              <a:t>유지 시간이 짧아 시작 데이터 값에 따라 </a:t>
            </a:r>
            <a:r>
              <a:rPr lang="ko-KR" altLang="en-US" sz="1000" dirty="0" err="1"/>
              <a:t>이상동작이</a:t>
            </a:r>
            <a:r>
              <a:rPr lang="ko-KR" altLang="en-US" sz="1000" dirty="0"/>
              <a:t> 발생할 수 있는 가능성 확인</a:t>
            </a:r>
            <a:r>
              <a:rPr lang="en-US" altLang="ko-KR" sz="1000" dirty="0"/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/>
              <a:t>현재 회로도 상으로</a:t>
            </a:r>
            <a:r>
              <a:rPr lang="en-US" altLang="ko-KR" sz="1000" dirty="0"/>
              <a:t>, RTS </a:t>
            </a:r>
            <a:r>
              <a:rPr lang="ko-KR" altLang="en-US" sz="1000" dirty="0"/>
              <a:t>제어를 </a:t>
            </a:r>
            <a:r>
              <a:rPr lang="en-US" altLang="ko-KR" sz="1000" dirty="0"/>
              <a:t>50ns </a:t>
            </a:r>
            <a:r>
              <a:rPr lang="ko-KR" altLang="en-US" sz="1000" dirty="0"/>
              <a:t>동안만 유지 하는 것으로 설계</a:t>
            </a:r>
            <a:r>
              <a:rPr lang="en-US" altLang="ko-KR" sz="1000" dirty="0"/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dirty="0"/>
              <a:t>저항 값을 변경하여</a:t>
            </a:r>
            <a:r>
              <a:rPr lang="en-US" altLang="ko-KR" sz="1000" dirty="0"/>
              <a:t>, RTS </a:t>
            </a:r>
            <a:r>
              <a:rPr lang="ko-KR" altLang="en-US" sz="1000" dirty="0"/>
              <a:t>유지</a:t>
            </a:r>
            <a:r>
              <a:rPr lang="en-US" altLang="ko-KR" sz="1000" dirty="0"/>
              <a:t> </a:t>
            </a:r>
            <a:r>
              <a:rPr lang="ko-KR" altLang="en-US" sz="1000" dirty="0"/>
              <a:t>시간 시험 예정</a:t>
            </a:r>
            <a:r>
              <a:rPr lang="en-US" altLang="ko-KR" sz="1000" dirty="0"/>
              <a:t>.( </a:t>
            </a:r>
            <a:r>
              <a:rPr lang="en-US" altLang="ko-KR" sz="1000" b="1" dirty="0">
                <a:solidFill>
                  <a:srgbClr val="FF0000"/>
                </a:solidFill>
              </a:rPr>
              <a:t>10ms</a:t>
            </a:r>
            <a:r>
              <a:rPr lang="ko-KR" altLang="en-US" sz="1000" b="1" dirty="0">
                <a:solidFill>
                  <a:srgbClr val="FF0000"/>
                </a:solidFill>
              </a:rPr>
              <a:t>로 설정 예정</a:t>
            </a:r>
            <a:r>
              <a:rPr lang="en-US" altLang="ko-KR" sz="1000" dirty="0"/>
              <a:t>)</a:t>
            </a:r>
            <a:r>
              <a:rPr lang="ko-KR" altLang="en-US" sz="1000" dirty="0"/>
              <a:t> </a:t>
            </a:r>
            <a:r>
              <a:rPr lang="en-US" altLang="ko-KR" sz="1000" dirty="0"/>
              <a:t> </a:t>
            </a:r>
            <a:r>
              <a:rPr lang="ko-KR" altLang="en-US" sz="1000" dirty="0"/>
              <a:t>  </a:t>
            </a:r>
            <a:endParaRPr lang="en-US" altLang="ko-KR" sz="1000" dirty="0"/>
          </a:p>
        </p:txBody>
      </p:sp>
      <p:grpSp>
        <p:nvGrpSpPr>
          <p:cNvPr id="24" name="그룹 23"/>
          <p:cNvGrpSpPr/>
          <p:nvPr/>
        </p:nvGrpSpPr>
        <p:grpSpPr>
          <a:xfrm>
            <a:off x="5456513" y="1136740"/>
            <a:ext cx="3133748" cy="2567006"/>
            <a:chOff x="5707169" y="1100180"/>
            <a:chExt cx="3133748" cy="2567006"/>
          </a:xfrm>
        </p:grpSpPr>
        <p:grpSp>
          <p:nvGrpSpPr>
            <p:cNvPr id="19" name="그룹 18"/>
            <p:cNvGrpSpPr/>
            <p:nvPr/>
          </p:nvGrpSpPr>
          <p:grpSpPr>
            <a:xfrm>
              <a:off x="5707169" y="1100180"/>
              <a:ext cx="3133748" cy="2567006"/>
              <a:chOff x="5607319" y="1076125"/>
              <a:chExt cx="3133748" cy="2567006"/>
            </a:xfrm>
          </p:grpSpPr>
          <p:pic>
            <p:nvPicPr>
              <p:cNvPr id="17" name="그림 16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07319" y="1076125"/>
                <a:ext cx="3133748" cy="2567006"/>
              </a:xfrm>
              <a:prstGeom prst="rect">
                <a:avLst/>
              </a:prstGeom>
            </p:spPr>
          </p:pic>
          <p:sp>
            <p:nvSpPr>
              <p:cNvPr id="18" name="직사각형 17"/>
              <p:cNvSpPr/>
              <p:nvPr/>
            </p:nvSpPr>
            <p:spPr>
              <a:xfrm>
                <a:off x="6047874" y="2197768"/>
                <a:ext cx="2330115" cy="19667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6442346" y="1114927"/>
              <a:ext cx="1558654" cy="24622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74LS123 </a:t>
              </a:r>
              <a:r>
                <a:rPr lang="ko-KR" altLang="en-US" sz="1000" dirty="0"/>
                <a:t>외부 동작 조건</a:t>
              </a: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708449" y="1313476"/>
            <a:ext cx="3667035" cy="2829398"/>
            <a:chOff x="708449" y="1313476"/>
            <a:chExt cx="3670852" cy="3397248"/>
          </a:xfrm>
        </p:grpSpPr>
        <p:grpSp>
          <p:nvGrpSpPr>
            <p:cNvPr id="16" name="그룹 15"/>
            <p:cNvGrpSpPr/>
            <p:nvPr/>
          </p:nvGrpSpPr>
          <p:grpSpPr>
            <a:xfrm>
              <a:off x="708449" y="1313476"/>
              <a:ext cx="3670852" cy="3397248"/>
              <a:chOff x="708449" y="1313476"/>
              <a:chExt cx="3670852" cy="3397248"/>
            </a:xfrm>
          </p:grpSpPr>
          <p:pic>
            <p:nvPicPr>
              <p:cNvPr id="2" name="그림 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49" y="1313476"/>
                <a:ext cx="3670852" cy="3397248"/>
              </a:xfrm>
              <a:prstGeom prst="rect">
                <a:avLst/>
              </a:prstGeom>
            </p:spPr>
          </p:pic>
          <p:sp>
            <p:nvSpPr>
              <p:cNvPr id="14" name="아래쪽 화살표 13"/>
              <p:cNvSpPr/>
              <p:nvPr/>
            </p:nvSpPr>
            <p:spPr>
              <a:xfrm rot="13413432">
                <a:off x="2553702" y="3776147"/>
                <a:ext cx="216568" cy="292768"/>
              </a:xfrm>
              <a:prstGeom prst="down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아래쪽 화살표 14"/>
              <p:cNvSpPr/>
              <p:nvPr/>
            </p:nvSpPr>
            <p:spPr>
              <a:xfrm>
                <a:off x="2882537" y="3382447"/>
                <a:ext cx="216568" cy="292768"/>
              </a:xfrm>
              <a:prstGeom prst="down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1" name="직사각형 20"/>
            <p:cNvSpPr/>
            <p:nvPr/>
          </p:nvSpPr>
          <p:spPr>
            <a:xfrm>
              <a:off x="2201779" y="3312695"/>
              <a:ext cx="421105" cy="717884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5730930" y="3809410"/>
            <a:ext cx="3013698" cy="2886054"/>
            <a:chOff x="8917492" y="1036477"/>
            <a:chExt cx="3013698" cy="2886054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17492" y="1760605"/>
              <a:ext cx="3013698" cy="2161926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9146504" y="1036477"/>
              <a:ext cx="2424927" cy="553998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74LS123 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RTS </a:t>
              </a:r>
              <a:r>
                <a:rPr lang="ko-KR" altLang="en-US" sz="1000" dirty="0" err="1"/>
                <a:t>유지시간</a:t>
              </a:r>
              <a:r>
                <a:rPr lang="ko-KR" altLang="en-US" sz="1000" dirty="0"/>
                <a:t> 조건</a:t>
              </a:r>
              <a:endParaRPr lang="en-US" altLang="ko-KR" sz="1000" dirty="0"/>
            </a:p>
            <a:p>
              <a:r>
                <a:rPr lang="en-US" altLang="ko-KR" sz="1000" dirty="0"/>
                <a:t> - </a:t>
              </a:r>
              <a:r>
                <a:rPr lang="en-US" altLang="ko-KR" sz="1000" dirty="0" err="1"/>
                <a:t>Capactior</a:t>
              </a:r>
              <a:r>
                <a:rPr lang="en-US" altLang="ko-KR" sz="1000" dirty="0"/>
                <a:t> </a:t>
              </a:r>
              <a:r>
                <a:rPr lang="ko-KR" altLang="en-US" sz="1000" dirty="0"/>
                <a:t>와</a:t>
              </a:r>
              <a:r>
                <a:rPr lang="en-US" altLang="ko-KR" sz="1000" dirty="0"/>
                <a:t> </a:t>
              </a:r>
              <a:r>
                <a:rPr lang="ko-KR" altLang="en-US" sz="1000" dirty="0" err="1"/>
                <a:t>저항값에</a:t>
              </a:r>
              <a:r>
                <a:rPr lang="ko-KR" altLang="en-US" sz="1000" dirty="0"/>
                <a:t> 조합으로 </a:t>
              </a:r>
              <a:r>
                <a:rPr lang="en-US" altLang="ko-KR" sz="1000" dirty="0"/>
                <a:t>RTS </a:t>
              </a:r>
              <a:r>
                <a:rPr lang="ko-KR" altLang="en-US" sz="1000" dirty="0"/>
                <a:t>유지</a:t>
              </a:r>
              <a:r>
                <a:rPr lang="en-US" altLang="ko-KR" sz="1000" dirty="0"/>
                <a:t> </a:t>
              </a:r>
              <a:r>
                <a:rPr lang="ko-KR" altLang="en-US" sz="1000" dirty="0"/>
                <a:t>시간이 결정된다</a:t>
              </a:r>
              <a:r>
                <a:rPr lang="en-US" altLang="ko-KR" sz="1000" dirty="0"/>
                <a:t>. </a:t>
              </a:r>
              <a:endParaRPr lang="ko-KR" altLang="en-US" sz="1000" dirty="0"/>
            </a:p>
          </p:txBody>
        </p:sp>
      </p:grpSp>
      <p:grpSp>
        <p:nvGrpSpPr>
          <p:cNvPr id="26" name="그룹 25"/>
          <p:cNvGrpSpPr/>
          <p:nvPr/>
        </p:nvGrpSpPr>
        <p:grpSpPr>
          <a:xfrm>
            <a:off x="9189455" y="3922531"/>
            <a:ext cx="2769768" cy="2545975"/>
            <a:chOff x="5602670" y="4067422"/>
            <a:chExt cx="2769768" cy="254597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2670" y="4390659"/>
              <a:ext cx="2769768" cy="2222738"/>
            </a:xfrm>
            <a:prstGeom prst="rect">
              <a:avLst/>
            </a:prstGeom>
          </p:spPr>
        </p:pic>
        <p:sp>
          <p:nvSpPr>
            <p:cNvPr id="23" name="TextBox 22"/>
            <p:cNvSpPr txBox="1"/>
            <p:nvPr/>
          </p:nvSpPr>
          <p:spPr>
            <a:xfrm>
              <a:off x="6092678" y="4067422"/>
              <a:ext cx="1998749" cy="40011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74LS123 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RTS </a:t>
              </a:r>
              <a:r>
                <a:rPr lang="ko-KR" altLang="en-US" sz="1000" dirty="0" err="1"/>
                <a:t>조건표</a:t>
              </a:r>
              <a:r>
                <a:rPr lang="en-US" altLang="ko-KR" sz="1000" dirty="0"/>
                <a:t>.</a:t>
              </a:r>
            </a:p>
            <a:p>
              <a:r>
                <a:rPr lang="en-US" altLang="ko-KR" sz="1000" dirty="0"/>
                <a:t> - </a:t>
              </a:r>
              <a:r>
                <a:rPr lang="en-US" altLang="ko-KR" sz="1000" dirty="0" err="1"/>
                <a:t>Capactior</a:t>
              </a:r>
              <a:r>
                <a:rPr lang="en-US" altLang="ko-KR" sz="1000" dirty="0"/>
                <a:t> </a:t>
              </a:r>
              <a:r>
                <a:rPr lang="ko-KR" altLang="en-US" sz="1000" dirty="0"/>
                <a:t>와</a:t>
              </a:r>
              <a:r>
                <a:rPr lang="en-US" altLang="ko-KR" sz="1000" dirty="0"/>
                <a:t> </a:t>
              </a:r>
              <a:r>
                <a:rPr lang="ko-KR" altLang="en-US" sz="1000" dirty="0" err="1"/>
                <a:t>저항값</a:t>
              </a:r>
              <a:r>
                <a:rPr lang="ko-KR" altLang="en-US" sz="1000" dirty="0"/>
                <a:t> </a:t>
              </a:r>
              <a:r>
                <a:rPr lang="ko-KR" altLang="en-US" sz="1000" dirty="0" err="1"/>
                <a:t>조건표</a:t>
              </a:r>
              <a:r>
                <a:rPr lang="en-US" altLang="ko-KR" sz="1000" dirty="0"/>
                <a:t>. </a:t>
              </a:r>
              <a:endParaRPr lang="ko-KR" altLang="en-US" sz="1000" dirty="0"/>
            </a:p>
          </p:txBody>
        </p:sp>
      </p:grpSp>
      <p:sp>
        <p:nvSpPr>
          <p:cNvPr id="27" name="오른쪽 화살표 26"/>
          <p:cNvSpPr/>
          <p:nvPr/>
        </p:nvSpPr>
        <p:spPr>
          <a:xfrm>
            <a:off x="8706852" y="5236821"/>
            <a:ext cx="577516" cy="4821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374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365760" y="355171"/>
            <a:ext cx="6537960" cy="421772"/>
          </a:xfrm>
          <a:prstGeom prst="round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DTS</a:t>
            </a:r>
            <a:r>
              <a:rPr lang="ko-KR" altLang="en-US" dirty="0" err="1">
                <a:solidFill>
                  <a:schemeClr val="tx1"/>
                </a:solidFill>
              </a:rPr>
              <a:t>덴버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CCP CONTROL</a:t>
            </a:r>
            <a:r>
              <a:rPr lang="ko-KR" altLang="en-US" dirty="0">
                <a:solidFill>
                  <a:schemeClr val="tx1"/>
                </a:solidFill>
              </a:rPr>
              <a:t>보드 </a:t>
            </a:r>
            <a:r>
              <a:rPr lang="en-US" altLang="ko-KR" dirty="0">
                <a:solidFill>
                  <a:schemeClr val="tx1"/>
                </a:solidFill>
              </a:rPr>
              <a:t>RS485</a:t>
            </a:r>
            <a:r>
              <a:rPr lang="ko-KR" altLang="en-US" dirty="0" err="1">
                <a:solidFill>
                  <a:schemeClr val="tx1"/>
                </a:solidFill>
              </a:rPr>
              <a:t>통신불량</a:t>
            </a:r>
            <a:r>
              <a:rPr lang="ko-KR" altLang="en-US" dirty="0">
                <a:solidFill>
                  <a:schemeClr val="tx1"/>
                </a:solidFill>
              </a:rPr>
              <a:t> 시험 내용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287383" y="1001486"/>
            <a:ext cx="4998720" cy="5756365"/>
          </a:xfrm>
          <a:prstGeom prst="roundRect">
            <a:avLst>
              <a:gd name="adj" fmla="val 464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365760" y="3602669"/>
            <a:ext cx="1341120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시험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344" y="3888140"/>
            <a:ext cx="4692469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 err="1"/>
              <a:t>가변저항</a:t>
            </a:r>
            <a:r>
              <a:rPr lang="ko-KR" altLang="en-US" sz="1000" dirty="0"/>
              <a:t> </a:t>
            </a:r>
            <a:r>
              <a:rPr lang="en-US" altLang="ko-KR" sz="1000" dirty="0"/>
              <a:t>3.5K</a:t>
            </a:r>
            <a:r>
              <a:rPr lang="el-GR" altLang="ko-KR" sz="1000" dirty="0"/>
              <a:t>Ω</a:t>
            </a:r>
            <a:r>
              <a:rPr lang="en-US" altLang="ko-KR" sz="1000" dirty="0"/>
              <a:t> </a:t>
            </a:r>
            <a:r>
              <a:rPr lang="ko-KR" altLang="en-US" sz="1000" dirty="0"/>
              <a:t>시험 결과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      -&gt; </a:t>
            </a:r>
            <a:r>
              <a:rPr lang="ko-KR" altLang="en-US" sz="1000" dirty="0"/>
              <a:t>약 </a:t>
            </a:r>
            <a:r>
              <a:rPr lang="en-US" altLang="ko-KR" sz="1000" dirty="0"/>
              <a:t>670us 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 err="1"/>
              <a:t>가변저항</a:t>
            </a:r>
            <a:r>
              <a:rPr lang="ko-KR" altLang="en-US" sz="1000" dirty="0"/>
              <a:t> </a:t>
            </a:r>
            <a:r>
              <a:rPr lang="en-US" altLang="ko-KR" sz="1000" dirty="0"/>
              <a:t>10K</a:t>
            </a:r>
            <a:r>
              <a:rPr lang="el-GR" altLang="ko-KR" sz="1000" dirty="0"/>
              <a:t>Ω</a:t>
            </a:r>
            <a:r>
              <a:rPr lang="en-US" altLang="ko-KR" sz="1000" dirty="0"/>
              <a:t> </a:t>
            </a:r>
            <a:r>
              <a:rPr lang="ko-KR" altLang="en-US" sz="1000" dirty="0"/>
              <a:t>시험 결과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      -&gt; </a:t>
            </a:r>
            <a:r>
              <a:rPr lang="ko-KR" altLang="en-US" sz="1000" dirty="0"/>
              <a:t>약 </a:t>
            </a:r>
            <a:r>
              <a:rPr lang="en-US" altLang="ko-KR" sz="1000" dirty="0"/>
              <a:t>1.7ms</a:t>
            </a:r>
          </a:p>
          <a:p>
            <a:pPr>
              <a:lnSpc>
                <a:spcPct val="150000"/>
              </a:lnSpc>
            </a:pPr>
            <a:endParaRPr lang="en-US" altLang="ko-KR" sz="10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/>
              <a:t>데이터 시트 내용과 시험 결과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/>
              <a:t>과 그래프가 동일하게 반응함</a:t>
            </a:r>
            <a:r>
              <a:rPr lang="en-US" altLang="ko-KR" sz="1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/>
              <a:t>따라서 가변 저항을 </a:t>
            </a:r>
            <a:r>
              <a:rPr lang="en-US" altLang="ko-KR" sz="1000" dirty="0"/>
              <a:t>10K</a:t>
            </a:r>
            <a:r>
              <a:rPr lang="el-GR" altLang="ko-KR" sz="1000" dirty="0"/>
              <a:t>Ω</a:t>
            </a:r>
            <a:r>
              <a:rPr lang="en-US" altLang="ko-KR" sz="1000" dirty="0"/>
              <a:t> </a:t>
            </a:r>
            <a:r>
              <a:rPr lang="ko-KR" altLang="en-US" sz="1000" dirty="0"/>
              <a:t>변경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ko-KR" altLang="en-US" sz="1000" dirty="0"/>
              <a:t>하고자 함</a:t>
            </a:r>
            <a:r>
              <a:rPr lang="en-US" altLang="ko-KR" sz="1000" dirty="0"/>
              <a:t>.</a:t>
            </a:r>
          </a:p>
        </p:txBody>
      </p:sp>
      <p:grpSp>
        <p:nvGrpSpPr>
          <p:cNvPr id="42" name="그룹 41"/>
          <p:cNvGrpSpPr/>
          <p:nvPr/>
        </p:nvGrpSpPr>
        <p:grpSpPr>
          <a:xfrm>
            <a:off x="412883" y="2153345"/>
            <a:ext cx="4578611" cy="1439468"/>
            <a:chOff x="412883" y="2511503"/>
            <a:chExt cx="4578611" cy="1439468"/>
          </a:xfrm>
        </p:grpSpPr>
        <p:sp>
          <p:nvSpPr>
            <p:cNvPr id="5" name="직사각형 4"/>
            <p:cNvSpPr/>
            <p:nvPr/>
          </p:nvSpPr>
          <p:spPr>
            <a:xfrm>
              <a:off x="454550" y="2935308"/>
              <a:ext cx="4536944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0000FF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TX(CCP2) : 01 32 31 31 32 31 44 31 30 30 30 30 34 30 30 30 30 34 30 </a:t>
              </a:r>
            </a:p>
            <a:p>
              <a:r>
                <a:rPr lang="en-US" altLang="ko-KR" sz="1000" dirty="0">
                  <a:solidFill>
                    <a:srgbClr val="0000FF"/>
                  </a:solidFill>
                  <a:latin typeface="굴림체" panose="020B0609000101010101" pitchFamily="49" charset="-127"/>
                  <a:ea typeface="굴림체" panose="020B0609000101010101" pitchFamily="49" charset="-127"/>
                </a:rPr>
                <a:t>     30 35 32 32 32 44 04</a:t>
              </a:r>
            </a:p>
            <a:p>
              <a:endParaRPr lang="en-US" altLang="ko-KR" sz="1000" dirty="0">
                <a:solidFill>
                  <a:srgbClr val="0000FF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r>
                <a:rPr lang="en-US" altLang="ko-KR" sz="1000" dirty="0"/>
                <a:t>TX(CCP1) : 01 32 31 31 31 33 39 31 30 30 30 30 34 30 30 30 30 34 30 30 </a:t>
              </a:r>
            </a:p>
            <a:p>
              <a:r>
                <a:rPr lang="en-US" altLang="ko-KR" sz="1000" dirty="0"/>
                <a:t>      35 42 38 46 45 04</a:t>
              </a:r>
              <a:endParaRPr lang="en-US" altLang="ko-KR" sz="1000" dirty="0">
                <a:solidFill>
                  <a:srgbClr val="0000FF"/>
                </a:solidFill>
                <a:latin typeface="굴림체" panose="020B0609000101010101" pitchFamily="49" charset="-127"/>
                <a:ea typeface="굴림체" panose="020B0609000101010101" pitchFamily="49" charset="-127"/>
              </a:endParaRPr>
            </a:p>
            <a:p>
              <a:endParaRPr lang="ko-KR" altLang="en-US" sz="10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12883" y="2511503"/>
              <a:ext cx="1197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485 </a:t>
              </a:r>
              <a:r>
                <a:rPr lang="ko-KR" altLang="en-US" sz="1200" dirty="0"/>
                <a:t>통신 규격</a:t>
              </a:r>
              <a:r>
                <a:rPr lang="en-US" altLang="ko-KR" sz="1200" dirty="0"/>
                <a:t>.</a:t>
              </a:r>
            </a:p>
            <a:p>
              <a:r>
                <a:rPr lang="en-US" altLang="ko-KR" sz="1200" dirty="0"/>
                <a:t>1) 19200</a:t>
              </a:r>
              <a:endParaRPr lang="ko-KR" altLang="en-US" sz="1200" dirty="0"/>
            </a:p>
          </p:txBody>
        </p:sp>
      </p:grpSp>
      <p:grpSp>
        <p:nvGrpSpPr>
          <p:cNvPr id="68" name="그룹 67"/>
          <p:cNvGrpSpPr/>
          <p:nvPr/>
        </p:nvGrpSpPr>
        <p:grpSpPr>
          <a:xfrm>
            <a:off x="5635041" y="4112006"/>
            <a:ext cx="6263438" cy="2360524"/>
            <a:chOff x="5635041" y="4112006"/>
            <a:chExt cx="6263438" cy="2360524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3577" y="4271353"/>
              <a:ext cx="2934902" cy="2201177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35041" y="4295007"/>
              <a:ext cx="2902617" cy="2176963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6203170" y="4112006"/>
              <a:ext cx="1131081" cy="24622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000" dirty="0" err="1"/>
                <a:t>가변저항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3.5K</a:t>
              </a:r>
              <a:r>
                <a:rPr lang="el-GR" altLang="ko-KR" sz="1000" dirty="0"/>
                <a:t>Ω</a:t>
              </a:r>
              <a:endParaRPr lang="ko-KR" altLang="en-US" sz="10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359546" y="4298998"/>
              <a:ext cx="1140783" cy="24622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000" dirty="0" err="1"/>
                <a:t>가변저항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10 K</a:t>
              </a:r>
              <a:r>
                <a:rPr lang="el-GR" altLang="ko-KR" sz="1000" dirty="0"/>
                <a:t>Ω</a:t>
              </a:r>
              <a:endParaRPr lang="ko-KR" altLang="en-US" sz="1000" dirty="0"/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5453270" y="1270008"/>
            <a:ext cx="4150342" cy="2469901"/>
            <a:chOff x="6584682" y="1351271"/>
            <a:chExt cx="4150342" cy="2469901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6042" y="1842599"/>
              <a:ext cx="2638097" cy="1978573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8111980" y="1598605"/>
              <a:ext cx="1558654" cy="24622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CCP </a:t>
              </a:r>
              <a:r>
                <a:rPr lang="ko-KR" altLang="en-US" sz="1000" dirty="0"/>
                <a:t>통신</a:t>
              </a:r>
              <a:r>
                <a:rPr lang="en-US" altLang="ko-KR" sz="1000" dirty="0"/>
                <a:t> </a:t>
              </a:r>
              <a:r>
                <a:rPr lang="ko-KR" altLang="en-US" sz="1000" dirty="0"/>
                <a:t>시험 세트</a:t>
              </a:r>
            </a:p>
          </p:txBody>
        </p:sp>
        <p:sp>
          <p:nvSpPr>
            <p:cNvPr id="30" name="타원 29"/>
            <p:cNvSpPr/>
            <p:nvPr/>
          </p:nvSpPr>
          <p:spPr>
            <a:xfrm>
              <a:off x="7855306" y="2975351"/>
              <a:ext cx="189057" cy="20854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2" name="직선 화살표 연결선 31"/>
            <p:cNvCxnSpPr/>
            <p:nvPr/>
          </p:nvCxnSpPr>
          <p:spPr>
            <a:xfrm>
              <a:off x="7332537" y="1721715"/>
              <a:ext cx="511300" cy="130376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6584682" y="1413303"/>
              <a:ext cx="1076689" cy="24622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ko-KR" sz="1000" dirty="0"/>
                <a:t>10K</a:t>
              </a:r>
              <a:r>
                <a:rPr lang="el-GR" altLang="ko-KR" sz="1000" dirty="0"/>
                <a:t>Ω</a:t>
              </a:r>
              <a:r>
                <a:rPr lang="en-US" altLang="ko-KR" sz="1000" dirty="0"/>
                <a:t> </a:t>
              </a:r>
              <a:r>
                <a:rPr lang="ko-KR" altLang="en-US" sz="1000" dirty="0" err="1"/>
                <a:t>가변저항</a:t>
              </a:r>
              <a:endParaRPr lang="ko-KR" altLang="en-US" sz="1000" dirty="0"/>
            </a:p>
          </p:txBody>
        </p:sp>
        <p:sp>
          <p:nvSpPr>
            <p:cNvPr id="37" name="타원 36"/>
            <p:cNvSpPr/>
            <p:nvPr/>
          </p:nvSpPr>
          <p:spPr>
            <a:xfrm>
              <a:off x="9829668" y="2243177"/>
              <a:ext cx="378779" cy="443416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8" name="직선 화살표 연결선 37"/>
            <p:cNvCxnSpPr>
              <a:stCxn id="40" idx="2"/>
              <a:endCxn id="37" idx="7"/>
            </p:cNvCxnSpPr>
            <p:nvPr/>
          </p:nvCxnSpPr>
          <p:spPr>
            <a:xfrm flipH="1">
              <a:off x="10152976" y="1597492"/>
              <a:ext cx="278805" cy="71062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10128537" y="1351271"/>
              <a:ext cx="606487" cy="246221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노트북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412883" y="1083044"/>
            <a:ext cx="469246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/>
              <a:t> </a:t>
            </a:r>
            <a:r>
              <a:rPr lang="ko-KR" altLang="en-US" sz="1000" dirty="0"/>
              <a:t>덴버 </a:t>
            </a:r>
            <a:r>
              <a:rPr lang="en-US" altLang="ko-KR" sz="1000" dirty="0"/>
              <a:t>CCP PCB 485 </a:t>
            </a:r>
            <a:r>
              <a:rPr lang="ko-KR" altLang="en-US" sz="1000" dirty="0"/>
              <a:t>통신 </a:t>
            </a:r>
            <a:r>
              <a:rPr lang="en-US" altLang="ko-KR" sz="1000" dirty="0"/>
              <a:t>RTS </a:t>
            </a:r>
            <a:r>
              <a:rPr lang="ko-KR" altLang="en-US" sz="1000" dirty="0"/>
              <a:t>제어 </a:t>
            </a:r>
            <a:r>
              <a:rPr lang="ko-KR" altLang="en-US" sz="1000" dirty="0" err="1"/>
              <a:t>로직</a:t>
            </a:r>
            <a:r>
              <a:rPr lang="ko-KR" altLang="en-US" sz="1000" dirty="0"/>
              <a:t> 시험</a:t>
            </a:r>
            <a:r>
              <a:rPr lang="en-US" altLang="ko-KR" sz="1000" dirty="0"/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000" dirty="0"/>
              <a:t>CCP PCB </a:t>
            </a:r>
            <a:r>
              <a:rPr lang="en-US" altLang="ko-KR" sz="1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R298</a:t>
            </a:r>
            <a:r>
              <a:rPr lang="ko-KR" altLang="en-US" sz="1000" dirty="0"/>
              <a:t>번 가변 저항을 </a:t>
            </a:r>
            <a:r>
              <a:rPr lang="ko-KR" altLang="en-US" sz="1000" dirty="0" err="1"/>
              <a:t>연결후</a:t>
            </a:r>
            <a:r>
              <a:rPr lang="ko-KR" altLang="en-US" sz="1000" dirty="0"/>
              <a:t> </a:t>
            </a:r>
            <a:r>
              <a:rPr lang="en-US" altLang="ko-KR" sz="1000" dirty="0"/>
              <a:t>, </a:t>
            </a:r>
            <a:r>
              <a:rPr lang="ko-KR" altLang="en-US" sz="1000" dirty="0"/>
              <a:t>저항 변경에 따른 </a:t>
            </a:r>
            <a:r>
              <a:rPr lang="en-US" altLang="ko-KR" sz="1000" dirty="0"/>
              <a:t>RTS </a:t>
            </a:r>
            <a:r>
              <a:rPr lang="ko-KR" altLang="en-US" sz="1000" dirty="0"/>
              <a:t>제어</a:t>
            </a:r>
            <a:r>
              <a:rPr lang="en-US" altLang="ko-KR" sz="1000" dirty="0"/>
              <a:t> </a:t>
            </a:r>
            <a:r>
              <a:rPr lang="ko-KR" altLang="en-US" sz="1000" dirty="0"/>
              <a:t>타임을  확인 하였다</a:t>
            </a:r>
            <a:r>
              <a:rPr lang="en-US" altLang="ko-KR" sz="1000" dirty="0"/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000" dirty="0"/>
              <a:t>노트북에서 </a:t>
            </a:r>
            <a:r>
              <a:rPr lang="en-US" altLang="ko-KR" sz="1000" dirty="0"/>
              <a:t>CCP </a:t>
            </a:r>
            <a:r>
              <a:rPr lang="ko-KR" altLang="en-US" sz="1000" dirty="0"/>
              <a:t>프로토콜을 전송하여</a:t>
            </a:r>
            <a:r>
              <a:rPr lang="en-US" altLang="ko-KR" sz="1000" dirty="0"/>
              <a:t>, </a:t>
            </a:r>
            <a:r>
              <a:rPr lang="ko-KR" altLang="en-US" sz="1000" dirty="0"/>
              <a:t>응답 신호를 확인 하였다</a:t>
            </a:r>
            <a:r>
              <a:rPr lang="en-US" altLang="ko-KR" sz="1000" dirty="0"/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1000" dirty="0"/>
          </a:p>
        </p:txBody>
      </p:sp>
      <p:grpSp>
        <p:nvGrpSpPr>
          <p:cNvPr id="69" name="그룹 68"/>
          <p:cNvGrpSpPr/>
          <p:nvPr/>
        </p:nvGrpSpPr>
        <p:grpSpPr>
          <a:xfrm>
            <a:off x="2447514" y="3817356"/>
            <a:ext cx="2769768" cy="2545975"/>
            <a:chOff x="2447514" y="3817356"/>
            <a:chExt cx="2769768" cy="2545975"/>
          </a:xfrm>
        </p:grpSpPr>
        <p:grpSp>
          <p:nvGrpSpPr>
            <p:cNvPr id="45" name="그룹 44"/>
            <p:cNvGrpSpPr/>
            <p:nvPr/>
          </p:nvGrpSpPr>
          <p:grpSpPr>
            <a:xfrm>
              <a:off x="2447514" y="3817356"/>
              <a:ext cx="2769768" cy="2545975"/>
              <a:chOff x="5602670" y="4067422"/>
              <a:chExt cx="2769768" cy="2545975"/>
            </a:xfrm>
          </p:grpSpPr>
          <p:pic>
            <p:nvPicPr>
              <p:cNvPr id="46" name="그림 45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02670" y="4390659"/>
                <a:ext cx="2769768" cy="2222738"/>
              </a:xfrm>
              <a:prstGeom prst="rect">
                <a:avLst/>
              </a:prstGeom>
            </p:spPr>
          </p:pic>
          <p:sp>
            <p:nvSpPr>
              <p:cNvPr id="47" name="TextBox 46"/>
              <p:cNvSpPr txBox="1"/>
              <p:nvPr/>
            </p:nvSpPr>
            <p:spPr>
              <a:xfrm>
                <a:off x="6092678" y="4067422"/>
                <a:ext cx="1998749" cy="400110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74LS123 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RTS </a:t>
                </a:r>
                <a:r>
                  <a:rPr lang="ko-KR" altLang="en-US" sz="1000" dirty="0" err="1"/>
                  <a:t>조건표</a:t>
                </a:r>
                <a:r>
                  <a:rPr lang="en-US" altLang="ko-KR" sz="1000" dirty="0"/>
                  <a:t>.</a:t>
                </a:r>
              </a:p>
              <a:p>
                <a:r>
                  <a:rPr lang="en-US" altLang="ko-KR" sz="1000" dirty="0"/>
                  <a:t> - </a:t>
                </a:r>
                <a:r>
                  <a:rPr lang="en-US" altLang="ko-KR" sz="1000" dirty="0" err="1"/>
                  <a:t>Capactior</a:t>
                </a:r>
                <a:r>
                  <a:rPr lang="en-US" altLang="ko-KR" sz="1000" dirty="0"/>
                  <a:t> </a:t>
                </a:r>
                <a:r>
                  <a:rPr lang="ko-KR" altLang="en-US" sz="1000" dirty="0"/>
                  <a:t>와</a:t>
                </a:r>
                <a:r>
                  <a:rPr lang="en-US" altLang="ko-KR" sz="1000" dirty="0"/>
                  <a:t> </a:t>
                </a:r>
                <a:r>
                  <a:rPr lang="ko-KR" altLang="en-US" sz="1000" dirty="0" err="1"/>
                  <a:t>저항값</a:t>
                </a:r>
                <a:r>
                  <a:rPr lang="ko-KR" altLang="en-US" sz="1000" dirty="0"/>
                  <a:t> </a:t>
                </a:r>
                <a:r>
                  <a:rPr lang="ko-KR" altLang="en-US" sz="1000" dirty="0" err="1"/>
                  <a:t>조건표</a:t>
                </a:r>
                <a:r>
                  <a:rPr lang="en-US" altLang="ko-KR" sz="1000" dirty="0"/>
                  <a:t>. </a:t>
                </a:r>
                <a:endParaRPr lang="ko-KR" altLang="en-US" sz="1000" dirty="0"/>
              </a:p>
            </p:txBody>
          </p:sp>
        </p:grpSp>
        <p:cxnSp>
          <p:nvCxnSpPr>
            <p:cNvPr id="49" name="직선 연결선 48"/>
            <p:cNvCxnSpPr/>
            <p:nvPr/>
          </p:nvCxnSpPr>
          <p:spPr>
            <a:xfrm flipV="1">
              <a:off x="4802085" y="4271354"/>
              <a:ext cx="3278" cy="179048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/>
            <p:cNvCxnSpPr/>
            <p:nvPr/>
          </p:nvCxnSpPr>
          <p:spPr>
            <a:xfrm flipH="1" flipV="1">
              <a:off x="2723022" y="5029198"/>
              <a:ext cx="2453816" cy="952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타원 52"/>
            <p:cNvSpPr/>
            <p:nvPr/>
          </p:nvSpPr>
          <p:spPr>
            <a:xfrm>
              <a:off x="4743451" y="4957761"/>
              <a:ext cx="114300" cy="1897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화살표 연결선 54"/>
            <p:cNvCxnSpPr/>
            <p:nvPr/>
          </p:nvCxnSpPr>
          <p:spPr>
            <a:xfrm>
              <a:off x="2639498" y="4061240"/>
              <a:ext cx="546615" cy="96795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그룹 66"/>
          <p:cNvGrpSpPr/>
          <p:nvPr/>
        </p:nvGrpSpPr>
        <p:grpSpPr>
          <a:xfrm>
            <a:off x="9913699" y="1255649"/>
            <a:ext cx="1878275" cy="2484260"/>
            <a:chOff x="9913699" y="1255649"/>
            <a:chExt cx="1878275" cy="2484260"/>
          </a:xfrm>
        </p:grpSpPr>
        <p:grpSp>
          <p:nvGrpSpPr>
            <p:cNvPr id="62" name="그룹 61"/>
            <p:cNvGrpSpPr/>
            <p:nvPr/>
          </p:nvGrpSpPr>
          <p:grpSpPr>
            <a:xfrm>
              <a:off x="9913699" y="1255649"/>
              <a:ext cx="1878275" cy="2484260"/>
              <a:chOff x="9850214" y="1255649"/>
              <a:chExt cx="1878275" cy="2484260"/>
            </a:xfrm>
          </p:grpSpPr>
          <p:pic>
            <p:nvPicPr>
              <p:cNvPr id="57" name="그림 56"/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647" r="7277" b="27912"/>
              <a:stretch/>
            </p:blipFill>
            <p:spPr>
              <a:xfrm rot="16200000">
                <a:off x="9658965" y="1670385"/>
                <a:ext cx="2260773" cy="1878275"/>
              </a:xfrm>
              <a:prstGeom prst="rect">
                <a:avLst/>
              </a:prstGeom>
            </p:spPr>
          </p:pic>
          <p:sp>
            <p:nvSpPr>
              <p:cNvPr id="61" name="TextBox 60"/>
              <p:cNvSpPr txBox="1"/>
              <p:nvPr/>
            </p:nvSpPr>
            <p:spPr>
              <a:xfrm>
                <a:off x="10461099" y="1255649"/>
                <a:ext cx="735684" cy="246221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altLang="ko-KR" sz="1000" dirty="0"/>
                  <a:t>CCP PCB</a:t>
                </a:r>
                <a:endParaRPr lang="ko-KR" altLang="en-US" sz="1000" dirty="0"/>
              </a:p>
            </p:txBody>
          </p:sp>
        </p:grpSp>
        <p:sp>
          <p:nvSpPr>
            <p:cNvPr id="65" name="타원 64"/>
            <p:cNvSpPr/>
            <p:nvPr/>
          </p:nvSpPr>
          <p:spPr>
            <a:xfrm>
              <a:off x="10929938" y="2944219"/>
              <a:ext cx="239378" cy="244149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아래쪽 화살표 65"/>
            <p:cNvSpPr/>
            <p:nvPr/>
          </p:nvSpPr>
          <p:spPr>
            <a:xfrm>
              <a:off x="10922879" y="2680123"/>
              <a:ext cx="243044" cy="264096"/>
            </a:xfrm>
            <a:prstGeom prst="down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807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588794" y="1464109"/>
            <a:ext cx="2769768" cy="2222738"/>
            <a:chOff x="2447514" y="4140593"/>
            <a:chExt cx="2769768" cy="2222738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47514" y="4140593"/>
              <a:ext cx="2769768" cy="2222738"/>
            </a:xfrm>
            <a:prstGeom prst="rect">
              <a:avLst/>
            </a:prstGeom>
          </p:spPr>
        </p:pic>
        <p:cxnSp>
          <p:nvCxnSpPr>
            <p:cNvPr id="6" name="직선 연결선 5"/>
            <p:cNvCxnSpPr/>
            <p:nvPr/>
          </p:nvCxnSpPr>
          <p:spPr>
            <a:xfrm flipV="1">
              <a:off x="4802085" y="4271354"/>
              <a:ext cx="3278" cy="179048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/>
            <p:cNvCxnSpPr/>
            <p:nvPr/>
          </p:nvCxnSpPr>
          <p:spPr>
            <a:xfrm flipH="1" flipV="1">
              <a:off x="2723022" y="5029198"/>
              <a:ext cx="2453816" cy="952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타원 7"/>
            <p:cNvSpPr/>
            <p:nvPr/>
          </p:nvSpPr>
          <p:spPr>
            <a:xfrm>
              <a:off x="4743451" y="4957761"/>
              <a:ext cx="114300" cy="18978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화살표 연결선 8"/>
            <p:cNvCxnSpPr/>
            <p:nvPr/>
          </p:nvCxnSpPr>
          <p:spPr>
            <a:xfrm>
              <a:off x="2629391" y="4556302"/>
              <a:ext cx="556722" cy="47289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직선 연결선 12"/>
          <p:cNvCxnSpPr/>
          <p:nvPr/>
        </p:nvCxnSpPr>
        <p:spPr>
          <a:xfrm flipH="1" flipV="1">
            <a:off x="2864302" y="3231794"/>
            <a:ext cx="2453816" cy="952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2770671" y="2935495"/>
            <a:ext cx="556722" cy="27947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97061" y="2728317"/>
            <a:ext cx="583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FF0000"/>
                </a:solidFill>
              </a:rPr>
              <a:t>Before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80836" y="1711125"/>
            <a:ext cx="5834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smtClean="0">
                <a:solidFill>
                  <a:srgbClr val="FF0000"/>
                </a:solidFill>
              </a:rPr>
              <a:t>After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553413" y="3363049"/>
            <a:ext cx="12025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kern="0" dirty="0" smtClean="0">
                <a:solidFill>
                  <a:srgbClr val="00B0F0"/>
                </a:solidFill>
                <a:ea typeface="Arial" panose="020B0604020202020204" pitchFamily="34" charset="0"/>
              </a:rPr>
              <a:t>C</a:t>
            </a:r>
            <a:r>
              <a:rPr lang="ko-KR" altLang="ko-KR" sz="1200" b="1" kern="0" dirty="0" err="1" smtClean="0">
                <a:solidFill>
                  <a:srgbClr val="00B0F0"/>
                </a:solidFill>
                <a:ea typeface="Arial" panose="020B0604020202020204" pitchFamily="34" charset="0"/>
              </a:rPr>
              <a:t>apacitor</a:t>
            </a:r>
            <a:r>
              <a:rPr lang="en-US" altLang="ko-KR" sz="1200" b="1" kern="0" dirty="0">
                <a:solidFill>
                  <a:srgbClr val="00B0F0"/>
                </a:solidFill>
                <a:ea typeface="Arial" panose="020B0604020202020204" pitchFamily="34" charset="0"/>
              </a:rPr>
              <a:t> </a:t>
            </a:r>
            <a:r>
              <a:rPr lang="en-US" altLang="ko-KR" sz="1200" b="1" kern="0" dirty="0" smtClean="0">
                <a:solidFill>
                  <a:srgbClr val="00B0F0"/>
                </a:solidFill>
                <a:ea typeface="Arial" panose="020B0604020202020204" pitchFamily="34" charset="0"/>
              </a:rPr>
              <a:t>size</a:t>
            </a:r>
            <a:endParaRPr lang="ko-KR" altLang="en-US" sz="1200" b="1" dirty="0">
              <a:solidFill>
                <a:srgbClr val="00B0F0"/>
              </a:solidFill>
            </a:endParaRPr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3276927" y="3508266"/>
            <a:ext cx="2307882" cy="156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 flipH="1" flipV="1">
            <a:off x="3057376" y="1250663"/>
            <a:ext cx="12460" cy="22733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2713731" y="890853"/>
            <a:ext cx="12779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kern="0" dirty="0" smtClean="0">
                <a:solidFill>
                  <a:srgbClr val="00B0F0"/>
                </a:solidFill>
              </a:rPr>
              <a:t>Delay Time(ns)</a:t>
            </a:r>
            <a:endParaRPr lang="ko-KR" altLang="en-US" sz="1200" b="1" dirty="0">
              <a:solidFill>
                <a:srgbClr val="00B0F0"/>
              </a:solidFill>
            </a:endParaRPr>
          </a:p>
        </p:txBody>
      </p:sp>
      <p:cxnSp>
        <p:nvCxnSpPr>
          <p:cNvPr id="35" name="직선 화살표 연결선 34"/>
          <p:cNvCxnSpPr/>
          <p:nvPr/>
        </p:nvCxnSpPr>
        <p:spPr>
          <a:xfrm flipH="1" flipV="1">
            <a:off x="4614992" y="2880679"/>
            <a:ext cx="969817" cy="167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5535411" y="2648861"/>
            <a:ext cx="844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 err="1" smtClean="0">
                <a:solidFill>
                  <a:srgbClr val="00B0F0"/>
                </a:solidFill>
              </a:rPr>
              <a:t>R</a:t>
            </a:r>
            <a:r>
              <a:rPr lang="ko-KR" altLang="en-US" sz="1200" b="1" dirty="0" err="1" smtClean="0">
                <a:solidFill>
                  <a:srgbClr val="00B0F0"/>
                </a:solidFill>
              </a:rPr>
              <a:t>esistor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40" name="그림 39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794" y="4202522"/>
            <a:ext cx="4853305" cy="144208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</p:pic>
      <p:cxnSp>
        <p:nvCxnSpPr>
          <p:cNvPr id="42" name="직선 화살표 연결선 41"/>
          <p:cNvCxnSpPr/>
          <p:nvPr/>
        </p:nvCxnSpPr>
        <p:spPr>
          <a:xfrm>
            <a:off x="5109418" y="4983702"/>
            <a:ext cx="288388" cy="0"/>
          </a:xfrm>
          <a:prstGeom prst="straightConnector1">
            <a:avLst/>
          </a:prstGeom>
          <a:ln w="190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그림 44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4" t="2114" r="2450" b="7007"/>
          <a:stretch/>
        </p:blipFill>
        <p:spPr bwMode="auto">
          <a:xfrm>
            <a:off x="6236475" y="469613"/>
            <a:ext cx="5236845" cy="156210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46" name="직선 화살표 연결선 45"/>
          <p:cNvCxnSpPr/>
          <p:nvPr/>
        </p:nvCxnSpPr>
        <p:spPr>
          <a:xfrm>
            <a:off x="9296167" y="1070358"/>
            <a:ext cx="288388" cy="0"/>
          </a:xfrm>
          <a:prstGeom prst="straightConnector1">
            <a:avLst/>
          </a:prstGeom>
          <a:ln w="1905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그림 4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104" y="3313784"/>
            <a:ext cx="2934902" cy="220117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170433" y="3139133"/>
            <a:ext cx="1140783" cy="276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/>
              <a:t>Resistor</a:t>
            </a:r>
            <a:r>
              <a:rPr lang="ko-KR" altLang="en-US" sz="1000" dirty="0" smtClean="0"/>
              <a:t> </a:t>
            </a:r>
            <a:r>
              <a:rPr lang="en-US" altLang="ko-KR" sz="1000" dirty="0"/>
              <a:t>10 K</a:t>
            </a:r>
            <a:r>
              <a:rPr lang="el-GR" altLang="ko-KR" sz="1000" dirty="0"/>
              <a:t>Ω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733370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4865</TotalTime>
  <Words>406</Words>
  <Application>Microsoft Office PowerPoint</Application>
  <PresentationFormat>와이드스크린</PresentationFormat>
  <Paragraphs>58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굴림체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장덕수</cp:lastModifiedBy>
  <cp:revision>26</cp:revision>
  <dcterms:created xsi:type="dcterms:W3CDTF">2017-12-20T17:10:23Z</dcterms:created>
  <dcterms:modified xsi:type="dcterms:W3CDTF">2018-02-14T00:34:00Z</dcterms:modified>
</cp:coreProperties>
</file>