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40"/>
    <p:restoredTop sz="94670"/>
  </p:normalViewPr>
  <p:slideViewPr>
    <p:cSldViewPr snapToGrid="0" snapToObjects="1">
      <p:cViewPr>
        <p:scale>
          <a:sx n="88" d="100"/>
          <a:sy n="88" d="100"/>
        </p:scale>
        <p:origin x="512" y="15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8EABC8-660E-9445-B40B-A358C5327F86}" type="datetimeFigureOut">
              <a:rPr kumimoji="1" lang="ko-KR" altLang="en-US" smtClean="0"/>
              <a:t>2017. 7. 11.</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smtClean="0"/>
              <a:t>마스터 텍스트 스타일을 편집하려면 클릭</a:t>
            </a:r>
          </a:p>
          <a:p>
            <a:pPr lvl="1"/>
            <a:r>
              <a:rPr kumimoji="1" lang="ko-KR" altLang="en-US" smtClean="0"/>
              <a:t>두 번째 수준</a:t>
            </a:r>
          </a:p>
          <a:p>
            <a:pPr lvl="2"/>
            <a:r>
              <a:rPr kumimoji="1" lang="ko-KR" altLang="en-US" smtClean="0"/>
              <a:t>세 번째 수준</a:t>
            </a:r>
          </a:p>
          <a:p>
            <a:pPr lvl="3"/>
            <a:r>
              <a:rPr kumimoji="1" lang="ko-KR" altLang="en-US" smtClean="0"/>
              <a:t>네 번째 수준</a:t>
            </a:r>
          </a:p>
          <a:p>
            <a:pPr lvl="4"/>
            <a:r>
              <a:rPr kumimoji="1" lang="ko-KR" altLang="en-US" smtClean="0"/>
              <a:t>다섯 번째 수준</a:t>
            </a:r>
            <a:endParaRPr kumimoji="1"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F72941-0BDE-7E46-A748-3634EE9FEE32}" type="slidenum">
              <a:rPr kumimoji="1" lang="ko-KR" altLang="en-US" smtClean="0"/>
              <a:t>‹#›</a:t>
            </a:fld>
            <a:endParaRPr kumimoji="1" lang="ko-KR" altLang="en-US"/>
          </a:p>
        </p:txBody>
      </p:sp>
    </p:spTree>
    <p:extLst>
      <p:ext uri="{BB962C8B-B14F-4D97-AF65-F5344CB8AC3E}">
        <p14:creationId xmlns:p14="http://schemas.microsoft.com/office/powerpoint/2010/main" val="96831625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10"/>
          </p:nvPr>
        </p:nvSpPr>
        <p:spPr/>
        <p:txBody>
          <a:bodyPr/>
          <a:lstStyle/>
          <a:p>
            <a:fld id="{5FF72941-0BDE-7E46-A748-3634EE9FEE32}" type="slidenum">
              <a:rPr kumimoji="1" lang="ko-KR" altLang="en-US" smtClean="0"/>
              <a:t>1</a:t>
            </a:fld>
            <a:endParaRPr kumimoji="1" lang="ko-KR" altLang="en-US"/>
          </a:p>
        </p:txBody>
      </p:sp>
    </p:spTree>
    <p:extLst>
      <p:ext uri="{BB962C8B-B14F-4D97-AF65-F5344CB8AC3E}">
        <p14:creationId xmlns:p14="http://schemas.microsoft.com/office/powerpoint/2010/main" val="860220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kumimoji="1" lang="ko-KR" altLang="en-US" smtClean="0"/>
              <a:t>마스터 제목 스타일 편집</a:t>
            </a:r>
            <a:endParaRPr kumimoji="1" lang="ko-KR" altLang="en-US"/>
          </a:p>
        </p:txBody>
      </p:sp>
      <p:sp>
        <p:nvSpPr>
          <p:cNvPr id="3" name="부제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ko-KR" altLang="en-US" smtClean="0"/>
              <a:t>마스터 부제목 스타일 편집</a:t>
            </a:r>
            <a:endParaRPr kumimoji="1" lang="ko-KR" altLang="en-US"/>
          </a:p>
        </p:txBody>
      </p:sp>
      <p:sp>
        <p:nvSpPr>
          <p:cNvPr id="4" name="날짜 개체 틀 3"/>
          <p:cNvSpPr>
            <a:spLocks noGrp="1"/>
          </p:cNvSpPr>
          <p:nvPr>
            <p:ph type="dt" sz="half" idx="10"/>
          </p:nvPr>
        </p:nvSpPr>
        <p:spPr/>
        <p:txBody>
          <a:bodyPr/>
          <a:lstStyle/>
          <a:p>
            <a:fld id="{1C868743-2BB2-914E-94F9-1DD0F461A0D1}" type="datetimeFigureOut">
              <a:rPr kumimoji="1" lang="ko-KR" altLang="en-US" smtClean="0"/>
              <a:t>2017. 7. 11.</a:t>
            </a:fld>
            <a:endParaRPr kumimoji="1" lang="ko-KR" altLang="en-US"/>
          </a:p>
        </p:txBody>
      </p:sp>
      <p:sp>
        <p:nvSpPr>
          <p:cNvPr id="5" name="바닥글 개체 틀 4"/>
          <p:cNvSpPr>
            <a:spLocks noGrp="1"/>
          </p:cNvSpPr>
          <p:nvPr>
            <p:ph type="ftr" sz="quarter" idx="11"/>
          </p:nvPr>
        </p:nvSpPr>
        <p:spPr/>
        <p:txBody>
          <a:bodyPr/>
          <a:lstStyle/>
          <a:p>
            <a:endParaRPr kumimoji="1" lang="ko-KR" altLang="en-US"/>
          </a:p>
        </p:txBody>
      </p:sp>
      <p:sp>
        <p:nvSpPr>
          <p:cNvPr id="6" name="슬라이드 번호 개체 틀 5"/>
          <p:cNvSpPr>
            <a:spLocks noGrp="1"/>
          </p:cNvSpPr>
          <p:nvPr>
            <p:ph type="sldNum" sz="quarter" idx="12"/>
          </p:nvPr>
        </p:nvSpPr>
        <p:spPr/>
        <p:txBody>
          <a:bodyPr/>
          <a:lstStyle/>
          <a:p>
            <a:fld id="{513C2F37-7819-8544-8497-1D89E46550FE}" type="slidenum">
              <a:rPr kumimoji="1" lang="ko-KR" altLang="en-US" smtClean="0"/>
              <a:t>‹#›</a:t>
            </a:fld>
            <a:endParaRPr kumimoji="1" lang="ko-KR" altLang="en-US"/>
          </a:p>
        </p:txBody>
      </p:sp>
    </p:spTree>
    <p:extLst>
      <p:ext uri="{BB962C8B-B14F-4D97-AF65-F5344CB8AC3E}">
        <p14:creationId xmlns:p14="http://schemas.microsoft.com/office/powerpoint/2010/main" val="1837359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ko-KR" altLang="en-US" smtClean="0"/>
              <a:t>마스터 제목 스타일 편집</a:t>
            </a:r>
            <a:endParaRPr kumimoji="1" lang="ko-KR" altLang="en-US"/>
          </a:p>
        </p:txBody>
      </p:sp>
      <p:sp>
        <p:nvSpPr>
          <p:cNvPr id="3" name="내용 개체 틀 2"/>
          <p:cNvSpPr>
            <a:spLocks noGrp="1"/>
          </p:cNvSpPr>
          <p:nvPr>
            <p:ph idx="1"/>
          </p:nvPr>
        </p:nvSpPr>
        <p:spPr/>
        <p:txBody>
          <a:bodyPr/>
          <a:lstStyle/>
          <a:p>
            <a:pPr lvl="0"/>
            <a:r>
              <a:rPr kumimoji="1" lang="ko-KR" altLang="en-US" smtClean="0"/>
              <a:t>마스터 텍스트 스타일을 편집하려면 클릭</a:t>
            </a:r>
          </a:p>
          <a:p>
            <a:pPr lvl="1"/>
            <a:r>
              <a:rPr kumimoji="1" lang="ko-KR" altLang="en-US" smtClean="0"/>
              <a:t>두 번째 수준</a:t>
            </a:r>
          </a:p>
          <a:p>
            <a:pPr lvl="2"/>
            <a:r>
              <a:rPr kumimoji="1" lang="ko-KR" altLang="en-US" smtClean="0"/>
              <a:t>세 번째 수준</a:t>
            </a:r>
          </a:p>
          <a:p>
            <a:pPr lvl="3"/>
            <a:r>
              <a:rPr kumimoji="1" lang="ko-KR" altLang="en-US" smtClean="0"/>
              <a:t>네 번째 수준</a:t>
            </a:r>
          </a:p>
          <a:p>
            <a:pPr lvl="4"/>
            <a:r>
              <a:rPr kumimoji="1" lang="ko-KR" altLang="en-US" smtClean="0"/>
              <a:t>다섯 번째 수준</a:t>
            </a:r>
            <a:endParaRPr kumimoji="1" lang="ko-KR" altLang="en-US"/>
          </a:p>
        </p:txBody>
      </p:sp>
      <p:sp>
        <p:nvSpPr>
          <p:cNvPr id="4" name="날짜 개체 틀 3"/>
          <p:cNvSpPr>
            <a:spLocks noGrp="1"/>
          </p:cNvSpPr>
          <p:nvPr>
            <p:ph type="dt" sz="half" idx="10"/>
          </p:nvPr>
        </p:nvSpPr>
        <p:spPr/>
        <p:txBody>
          <a:bodyPr/>
          <a:lstStyle/>
          <a:p>
            <a:fld id="{1C868743-2BB2-914E-94F9-1DD0F461A0D1}" type="datetimeFigureOut">
              <a:rPr kumimoji="1" lang="ko-KR" altLang="en-US" smtClean="0"/>
              <a:t>2017. 7. 11.</a:t>
            </a:fld>
            <a:endParaRPr kumimoji="1" lang="ko-KR" altLang="en-US"/>
          </a:p>
        </p:txBody>
      </p:sp>
      <p:sp>
        <p:nvSpPr>
          <p:cNvPr id="5" name="바닥글 개체 틀 4"/>
          <p:cNvSpPr>
            <a:spLocks noGrp="1"/>
          </p:cNvSpPr>
          <p:nvPr>
            <p:ph type="ftr" sz="quarter" idx="11"/>
          </p:nvPr>
        </p:nvSpPr>
        <p:spPr/>
        <p:txBody>
          <a:bodyPr/>
          <a:lstStyle/>
          <a:p>
            <a:endParaRPr kumimoji="1" lang="ko-KR" altLang="en-US"/>
          </a:p>
        </p:txBody>
      </p:sp>
      <p:sp>
        <p:nvSpPr>
          <p:cNvPr id="6" name="슬라이드 번호 개체 틀 5"/>
          <p:cNvSpPr>
            <a:spLocks noGrp="1"/>
          </p:cNvSpPr>
          <p:nvPr>
            <p:ph type="sldNum" sz="quarter" idx="12"/>
          </p:nvPr>
        </p:nvSpPr>
        <p:spPr/>
        <p:txBody>
          <a:bodyPr/>
          <a:lstStyle/>
          <a:p>
            <a:fld id="{513C2F37-7819-8544-8497-1D89E46550FE}" type="slidenum">
              <a:rPr kumimoji="1" lang="ko-KR" altLang="en-US" smtClean="0"/>
              <a:t>‹#›</a:t>
            </a:fld>
            <a:endParaRPr kumimoji="1" lang="ko-KR" altLang="en-US"/>
          </a:p>
        </p:txBody>
      </p:sp>
    </p:spTree>
    <p:extLst>
      <p:ext uri="{BB962C8B-B14F-4D97-AF65-F5344CB8AC3E}">
        <p14:creationId xmlns:p14="http://schemas.microsoft.com/office/powerpoint/2010/main" val="1841151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kumimoji="1" lang="ko-KR" altLang="en-US" smtClean="0"/>
              <a:t>마스터 제목 스타일 편집</a:t>
            </a:r>
            <a:endParaRPr kumimoji="1" lang="ko-KR" altLang="en-US"/>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ko-KR" altLang="en-US" smtClean="0"/>
              <a:t>마스터 텍스트 스타일을 편집하려면 클릭</a:t>
            </a:r>
          </a:p>
        </p:txBody>
      </p:sp>
      <p:sp>
        <p:nvSpPr>
          <p:cNvPr id="4" name="날짜 개체 틀 3"/>
          <p:cNvSpPr>
            <a:spLocks noGrp="1"/>
          </p:cNvSpPr>
          <p:nvPr>
            <p:ph type="dt" sz="half" idx="10"/>
          </p:nvPr>
        </p:nvSpPr>
        <p:spPr/>
        <p:txBody>
          <a:bodyPr/>
          <a:lstStyle/>
          <a:p>
            <a:fld id="{1C868743-2BB2-914E-94F9-1DD0F461A0D1}" type="datetimeFigureOut">
              <a:rPr kumimoji="1" lang="ko-KR" altLang="en-US" smtClean="0"/>
              <a:t>2017. 7. 11.</a:t>
            </a:fld>
            <a:endParaRPr kumimoji="1" lang="ko-KR" altLang="en-US"/>
          </a:p>
        </p:txBody>
      </p:sp>
      <p:sp>
        <p:nvSpPr>
          <p:cNvPr id="5" name="바닥글 개체 틀 4"/>
          <p:cNvSpPr>
            <a:spLocks noGrp="1"/>
          </p:cNvSpPr>
          <p:nvPr>
            <p:ph type="ftr" sz="quarter" idx="11"/>
          </p:nvPr>
        </p:nvSpPr>
        <p:spPr/>
        <p:txBody>
          <a:bodyPr/>
          <a:lstStyle/>
          <a:p>
            <a:endParaRPr kumimoji="1" lang="ko-KR" altLang="en-US"/>
          </a:p>
        </p:txBody>
      </p:sp>
      <p:sp>
        <p:nvSpPr>
          <p:cNvPr id="6" name="슬라이드 번호 개체 틀 5"/>
          <p:cNvSpPr>
            <a:spLocks noGrp="1"/>
          </p:cNvSpPr>
          <p:nvPr>
            <p:ph type="sldNum" sz="quarter" idx="12"/>
          </p:nvPr>
        </p:nvSpPr>
        <p:spPr/>
        <p:txBody>
          <a:bodyPr/>
          <a:lstStyle/>
          <a:p>
            <a:fld id="{513C2F37-7819-8544-8497-1D89E46550FE}" type="slidenum">
              <a:rPr kumimoji="1" lang="ko-KR" altLang="en-US" smtClean="0"/>
              <a:t>‹#›</a:t>
            </a:fld>
            <a:endParaRPr kumimoji="1" lang="ko-KR" altLang="en-US"/>
          </a:p>
        </p:txBody>
      </p:sp>
    </p:spTree>
    <p:extLst>
      <p:ext uri="{BB962C8B-B14F-4D97-AF65-F5344CB8AC3E}">
        <p14:creationId xmlns:p14="http://schemas.microsoft.com/office/powerpoint/2010/main" val="1139155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ko-KR" altLang="en-US" smtClean="0"/>
              <a:t>마스터 제목 스타일 편집</a:t>
            </a:r>
            <a:endParaRPr kumimoji="1" lang="ko-KR" altLang="en-US"/>
          </a:p>
        </p:txBody>
      </p:sp>
      <p:sp>
        <p:nvSpPr>
          <p:cNvPr id="3" name="내용 개체 틀 2"/>
          <p:cNvSpPr>
            <a:spLocks noGrp="1"/>
          </p:cNvSpPr>
          <p:nvPr>
            <p:ph sz="half" idx="1"/>
          </p:nvPr>
        </p:nvSpPr>
        <p:spPr>
          <a:xfrm>
            <a:off x="838200" y="1825625"/>
            <a:ext cx="5181600" cy="4351338"/>
          </a:xfrm>
        </p:spPr>
        <p:txBody>
          <a:bodyPr/>
          <a:lstStyle/>
          <a:p>
            <a:pPr lvl="0"/>
            <a:r>
              <a:rPr kumimoji="1" lang="ko-KR" altLang="en-US" smtClean="0"/>
              <a:t>마스터 텍스트 스타일을 편집하려면 클릭</a:t>
            </a:r>
          </a:p>
          <a:p>
            <a:pPr lvl="1"/>
            <a:r>
              <a:rPr kumimoji="1" lang="ko-KR" altLang="en-US" smtClean="0"/>
              <a:t>두 번째 수준</a:t>
            </a:r>
          </a:p>
          <a:p>
            <a:pPr lvl="2"/>
            <a:r>
              <a:rPr kumimoji="1" lang="ko-KR" altLang="en-US" smtClean="0"/>
              <a:t>세 번째 수준</a:t>
            </a:r>
          </a:p>
          <a:p>
            <a:pPr lvl="3"/>
            <a:r>
              <a:rPr kumimoji="1" lang="ko-KR" altLang="en-US" smtClean="0"/>
              <a:t>네 번째 수준</a:t>
            </a:r>
          </a:p>
          <a:p>
            <a:pPr lvl="4"/>
            <a:r>
              <a:rPr kumimoji="1" lang="ko-KR" altLang="en-US" smtClean="0"/>
              <a:t>다섯 번째 수준</a:t>
            </a:r>
            <a:endParaRPr kumimoji="1" lang="ko-KR" altLang="en-US"/>
          </a:p>
        </p:txBody>
      </p:sp>
      <p:sp>
        <p:nvSpPr>
          <p:cNvPr id="4" name="내용 개체 틀 3"/>
          <p:cNvSpPr>
            <a:spLocks noGrp="1"/>
          </p:cNvSpPr>
          <p:nvPr>
            <p:ph sz="half" idx="2"/>
          </p:nvPr>
        </p:nvSpPr>
        <p:spPr>
          <a:xfrm>
            <a:off x="6172200" y="1825625"/>
            <a:ext cx="5181600" cy="4351338"/>
          </a:xfrm>
        </p:spPr>
        <p:txBody>
          <a:bodyPr/>
          <a:lstStyle/>
          <a:p>
            <a:pPr lvl="0"/>
            <a:r>
              <a:rPr kumimoji="1" lang="ko-KR" altLang="en-US" smtClean="0"/>
              <a:t>마스터 텍스트 스타일을 편집하려면 클릭</a:t>
            </a:r>
          </a:p>
          <a:p>
            <a:pPr lvl="1"/>
            <a:r>
              <a:rPr kumimoji="1" lang="ko-KR" altLang="en-US" smtClean="0"/>
              <a:t>두 번째 수준</a:t>
            </a:r>
          </a:p>
          <a:p>
            <a:pPr lvl="2"/>
            <a:r>
              <a:rPr kumimoji="1" lang="ko-KR" altLang="en-US" smtClean="0"/>
              <a:t>세 번째 수준</a:t>
            </a:r>
          </a:p>
          <a:p>
            <a:pPr lvl="3"/>
            <a:r>
              <a:rPr kumimoji="1" lang="ko-KR" altLang="en-US" smtClean="0"/>
              <a:t>네 번째 수준</a:t>
            </a:r>
          </a:p>
          <a:p>
            <a:pPr lvl="4"/>
            <a:r>
              <a:rPr kumimoji="1" lang="ko-KR" altLang="en-US" smtClean="0"/>
              <a:t>다섯 번째 수준</a:t>
            </a:r>
            <a:endParaRPr kumimoji="1" lang="ko-KR" altLang="en-US"/>
          </a:p>
        </p:txBody>
      </p:sp>
      <p:sp>
        <p:nvSpPr>
          <p:cNvPr id="5" name="날짜 개체 틀 4"/>
          <p:cNvSpPr>
            <a:spLocks noGrp="1"/>
          </p:cNvSpPr>
          <p:nvPr>
            <p:ph type="dt" sz="half" idx="10"/>
          </p:nvPr>
        </p:nvSpPr>
        <p:spPr/>
        <p:txBody>
          <a:bodyPr/>
          <a:lstStyle/>
          <a:p>
            <a:fld id="{1C868743-2BB2-914E-94F9-1DD0F461A0D1}" type="datetimeFigureOut">
              <a:rPr kumimoji="1" lang="ko-KR" altLang="en-US" smtClean="0"/>
              <a:t>2017. 7. 11.</a:t>
            </a:fld>
            <a:endParaRPr kumimoji="1" lang="ko-KR" altLang="en-US"/>
          </a:p>
        </p:txBody>
      </p:sp>
      <p:sp>
        <p:nvSpPr>
          <p:cNvPr id="6" name="바닥글 개체 틀 5"/>
          <p:cNvSpPr>
            <a:spLocks noGrp="1"/>
          </p:cNvSpPr>
          <p:nvPr>
            <p:ph type="ftr" sz="quarter" idx="11"/>
          </p:nvPr>
        </p:nvSpPr>
        <p:spPr/>
        <p:txBody>
          <a:bodyPr/>
          <a:lstStyle/>
          <a:p>
            <a:endParaRPr kumimoji="1" lang="ko-KR" altLang="en-US"/>
          </a:p>
        </p:txBody>
      </p:sp>
      <p:sp>
        <p:nvSpPr>
          <p:cNvPr id="7" name="슬라이드 번호 개체 틀 6"/>
          <p:cNvSpPr>
            <a:spLocks noGrp="1"/>
          </p:cNvSpPr>
          <p:nvPr>
            <p:ph type="sldNum" sz="quarter" idx="12"/>
          </p:nvPr>
        </p:nvSpPr>
        <p:spPr/>
        <p:txBody>
          <a:bodyPr/>
          <a:lstStyle/>
          <a:p>
            <a:fld id="{513C2F37-7819-8544-8497-1D89E46550FE}" type="slidenum">
              <a:rPr kumimoji="1" lang="ko-KR" altLang="en-US" smtClean="0"/>
              <a:t>‹#›</a:t>
            </a:fld>
            <a:endParaRPr kumimoji="1" lang="ko-KR" altLang="en-US"/>
          </a:p>
        </p:txBody>
      </p:sp>
    </p:spTree>
    <p:extLst>
      <p:ext uri="{BB962C8B-B14F-4D97-AF65-F5344CB8AC3E}">
        <p14:creationId xmlns:p14="http://schemas.microsoft.com/office/powerpoint/2010/main" val="970548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kumimoji="1" lang="ko-KR" altLang="en-US" smtClean="0"/>
              <a:t>마스터 제목 스타일 편집</a:t>
            </a:r>
            <a:endParaRPr kumimoji="1" lang="ko-KR" altLang="en-US"/>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ko-KR" altLang="en-US" smtClean="0"/>
              <a:t>마스터 텍스트 스타일을 편집하려면 클릭</a:t>
            </a:r>
          </a:p>
        </p:txBody>
      </p:sp>
      <p:sp>
        <p:nvSpPr>
          <p:cNvPr id="4" name="내용 개체 틀 3"/>
          <p:cNvSpPr>
            <a:spLocks noGrp="1"/>
          </p:cNvSpPr>
          <p:nvPr>
            <p:ph sz="half" idx="2"/>
          </p:nvPr>
        </p:nvSpPr>
        <p:spPr>
          <a:xfrm>
            <a:off x="839788" y="2505075"/>
            <a:ext cx="5157787" cy="3684588"/>
          </a:xfrm>
        </p:spPr>
        <p:txBody>
          <a:bodyPr/>
          <a:lstStyle/>
          <a:p>
            <a:pPr lvl="0"/>
            <a:r>
              <a:rPr kumimoji="1" lang="ko-KR" altLang="en-US" smtClean="0"/>
              <a:t>마스터 텍스트 스타일을 편집하려면 클릭</a:t>
            </a:r>
          </a:p>
          <a:p>
            <a:pPr lvl="1"/>
            <a:r>
              <a:rPr kumimoji="1" lang="ko-KR" altLang="en-US" smtClean="0"/>
              <a:t>두 번째 수준</a:t>
            </a:r>
          </a:p>
          <a:p>
            <a:pPr lvl="2"/>
            <a:r>
              <a:rPr kumimoji="1" lang="ko-KR" altLang="en-US" smtClean="0"/>
              <a:t>세 번째 수준</a:t>
            </a:r>
          </a:p>
          <a:p>
            <a:pPr lvl="3"/>
            <a:r>
              <a:rPr kumimoji="1" lang="ko-KR" altLang="en-US" smtClean="0"/>
              <a:t>네 번째 수준</a:t>
            </a:r>
          </a:p>
          <a:p>
            <a:pPr lvl="4"/>
            <a:r>
              <a:rPr kumimoji="1" lang="ko-KR" altLang="en-US" smtClean="0"/>
              <a:t>다섯 번째 수준</a:t>
            </a:r>
            <a:endParaRPr kumimoji="1" lang="ko-KR" altLang="en-US"/>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ko-KR" altLang="en-US" smtClean="0"/>
              <a:t>마스터 텍스트 스타일을 편집하려면 클릭</a:t>
            </a:r>
          </a:p>
        </p:txBody>
      </p:sp>
      <p:sp>
        <p:nvSpPr>
          <p:cNvPr id="6" name="내용 개체 틀 5"/>
          <p:cNvSpPr>
            <a:spLocks noGrp="1"/>
          </p:cNvSpPr>
          <p:nvPr>
            <p:ph sz="quarter" idx="4"/>
          </p:nvPr>
        </p:nvSpPr>
        <p:spPr>
          <a:xfrm>
            <a:off x="6172200" y="2505075"/>
            <a:ext cx="5183188" cy="3684588"/>
          </a:xfrm>
        </p:spPr>
        <p:txBody>
          <a:bodyPr/>
          <a:lstStyle/>
          <a:p>
            <a:pPr lvl="0"/>
            <a:r>
              <a:rPr kumimoji="1" lang="ko-KR" altLang="en-US" smtClean="0"/>
              <a:t>마스터 텍스트 스타일을 편집하려면 클릭</a:t>
            </a:r>
          </a:p>
          <a:p>
            <a:pPr lvl="1"/>
            <a:r>
              <a:rPr kumimoji="1" lang="ko-KR" altLang="en-US" smtClean="0"/>
              <a:t>두 번째 수준</a:t>
            </a:r>
          </a:p>
          <a:p>
            <a:pPr lvl="2"/>
            <a:r>
              <a:rPr kumimoji="1" lang="ko-KR" altLang="en-US" smtClean="0"/>
              <a:t>세 번째 수준</a:t>
            </a:r>
          </a:p>
          <a:p>
            <a:pPr lvl="3"/>
            <a:r>
              <a:rPr kumimoji="1" lang="ko-KR" altLang="en-US" smtClean="0"/>
              <a:t>네 번째 수준</a:t>
            </a:r>
          </a:p>
          <a:p>
            <a:pPr lvl="4"/>
            <a:r>
              <a:rPr kumimoji="1" lang="ko-KR" altLang="en-US" smtClean="0"/>
              <a:t>다섯 번째 수준</a:t>
            </a:r>
            <a:endParaRPr kumimoji="1" lang="ko-KR" altLang="en-US"/>
          </a:p>
        </p:txBody>
      </p:sp>
      <p:sp>
        <p:nvSpPr>
          <p:cNvPr id="7" name="날짜 개체 틀 6"/>
          <p:cNvSpPr>
            <a:spLocks noGrp="1"/>
          </p:cNvSpPr>
          <p:nvPr>
            <p:ph type="dt" sz="half" idx="10"/>
          </p:nvPr>
        </p:nvSpPr>
        <p:spPr/>
        <p:txBody>
          <a:bodyPr/>
          <a:lstStyle/>
          <a:p>
            <a:fld id="{1C868743-2BB2-914E-94F9-1DD0F461A0D1}" type="datetimeFigureOut">
              <a:rPr kumimoji="1" lang="ko-KR" altLang="en-US" smtClean="0"/>
              <a:t>2017. 7. 11.</a:t>
            </a:fld>
            <a:endParaRPr kumimoji="1" lang="ko-KR" altLang="en-US"/>
          </a:p>
        </p:txBody>
      </p:sp>
      <p:sp>
        <p:nvSpPr>
          <p:cNvPr id="8" name="바닥글 개체 틀 7"/>
          <p:cNvSpPr>
            <a:spLocks noGrp="1"/>
          </p:cNvSpPr>
          <p:nvPr>
            <p:ph type="ftr" sz="quarter" idx="11"/>
          </p:nvPr>
        </p:nvSpPr>
        <p:spPr/>
        <p:txBody>
          <a:bodyPr/>
          <a:lstStyle/>
          <a:p>
            <a:endParaRPr kumimoji="1" lang="ko-KR" altLang="en-US"/>
          </a:p>
        </p:txBody>
      </p:sp>
      <p:sp>
        <p:nvSpPr>
          <p:cNvPr id="9" name="슬라이드 번호 개체 틀 8"/>
          <p:cNvSpPr>
            <a:spLocks noGrp="1"/>
          </p:cNvSpPr>
          <p:nvPr>
            <p:ph type="sldNum" sz="quarter" idx="12"/>
          </p:nvPr>
        </p:nvSpPr>
        <p:spPr/>
        <p:txBody>
          <a:bodyPr/>
          <a:lstStyle/>
          <a:p>
            <a:fld id="{513C2F37-7819-8544-8497-1D89E46550FE}" type="slidenum">
              <a:rPr kumimoji="1" lang="ko-KR" altLang="en-US" smtClean="0"/>
              <a:t>‹#›</a:t>
            </a:fld>
            <a:endParaRPr kumimoji="1" lang="ko-KR" altLang="en-US"/>
          </a:p>
        </p:txBody>
      </p:sp>
    </p:spTree>
    <p:extLst>
      <p:ext uri="{BB962C8B-B14F-4D97-AF65-F5344CB8AC3E}">
        <p14:creationId xmlns:p14="http://schemas.microsoft.com/office/powerpoint/2010/main" val="1872306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ko-KR" altLang="en-US" smtClean="0"/>
              <a:t>마스터 제목 스타일 편집</a:t>
            </a:r>
            <a:endParaRPr kumimoji="1" lang="ko-KR" altLang="en-US"/>
          </a:p>
        </p:txBody>
      </p:sp>
      <p:sp>
        <p:nvSpPr>
          <p:cNvPr id="3" name="날짜 개체 틀 2"/>
          <p:cNvSpPr>
            <a:spLocks noGrp="1"/>
          </p:cNvSpPr>
          <p:nvPr>
            <p:ph type="dt" sz="half" idx="10"/>
          </p:nvPr>
        </p:nvSpPr>
        <p:spPr/>
        <p:txBody>
          <a:bodyPr/>
          <a:lstStyle/>
          <a:p>
            <a:fld id="{1C868743-2BB2-914E-94F9-1DD0F461A0D1}" type="datetimeFigureOut">
              <a:rPr kumimoji="1" lang="ko-KR" altLang="en-US" smtClean="0"/>
              <a:t>2017. 7. 11.</a:t>
            </a:fld>
            <a:endParaRPr kumimoji="1" lang="ko-KR" altLang="en-US"/>
          </a:p>
        </p:txBody>
      </p:sp>
      <p:sp>
        <p:nvSpPr>
          <p:cNvPr id="4" name="바닥글 개체 틀 3"/>
          <p:cNvSpPr>
            <a:spLocks noGrp="1"/>
          </p:cNvSpPr>
          <p:nvPr>
            <p:ph type="ftr" sz="quarter" idx="11"/>
          </p:nvPr>
        </p:nvSpPr>
        <p:spPr/>
        <p:txBody>
          <a:bodyPr/>
          <a:lstStyle/>
          <a:p>
            <a:endParaRPr kumimoji="1" lang="ko-KR" altLang="en-US"/>
          </a:p>
        </p:txBody>
      </p:sp>
      <p:sp>
        <p:nvSpPr>
          <p:cNvPr id="5" name="슬라이드 번호 개체 틀 4"/>
          <p:cNvSpPr>
            <a:spLocks noGrp="1"/>
          </p:cNvSpPr>
          <p:nvPr>
            <p:ph type="sldNum" sz="quarter" idx="12"/>
          </p:nvPr>
        </p:nvSpPr>
        <p:spPr/>
        <p:txBody>
          <a:bodyPr/>
          <a:lstStyle/>
          <a:p>
            <a:fld id="{513C2F37-7819-8544-8497-1D89E46550FE}" type="slidenum">
              <a:rPr kumimoji="1" lang="ko-KR" altLang="en-US" smtClean="0"/>
              <a:t>‹#›</a:t>
            </a:fld>
            <a:endParaRPr kumimoji="1" lang="ko-KR" altLang="en-US"/>
          </a:p>
        </p:txBody>
      </p:sp>
    </p:spTree>
    <p:extLst>
      <p:ext uri="{BB962C8B-B14F-4D97-AF65-F5344CB8AC3E}">
        <p14:creationId xmlns:p14="http://schemas.microsoft.com/office/powerpoint/2010/main" val="785096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백지">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1C868743-2BB2-914E-94F9-1DD0F461A0D1}" type="datetimeFigureOut">
              <a:rPr kumimoji="1" lang="ko-KR" altLang="en-US" smtClean="0"/>
              <a:t>2017. 7. 11.</a:t>
            </a:fld>
            <a:endParaRPr kumimoji="1" lang="ko-KR" altLang="en-US"/>
          </a:p>
        </p:txBody>
      </p:sp>
      <p:sp>
        <p:nvSpPr>
          <p:cNvPr id="3" name="바닥글 개체 틀 2"/>
          <p:cNvSpPr>
            <a:spLocks noGrp="1"/>
          </p:cNvSpPr>
          <p:nvPr>
            <p:ph type="ftr" sz="quarter" idx="11"/>
          </p:nvPr>
        </p:nvSpPr>
        <p:spPr/>
        <p:txBody>
          <a:bodyPr/>
          <a:lstStyle/>
          <a:p>
            <a:endParaRPr kumimoji="1" lang="ko-KR" altLang="en-US"/>
          </a:p>
        </p:txBody>
      </p:sp>
      <p:sp>
        <p:nvSpPr>
          <p:cNvPr id="4" name="슬라이드 번호 개체 틀 3"/>
          <p:cNvSpPr>
            <a:spLocks noGrp="1"/>
          </p:cNvSpPr>
          <p:nvPr>
            <p:ph type="sldNum" sz="quarter" idx="12"/>
          </p:nvPr>
        </p:nvSpPr>
        <p:spPr/>
        <p:txBody>
          <a:bodyPr/>
          <a:lstStyle/>
          <a:p>
            <a:fld id="{513C2F37-7819-8544-8497-1D89E46550FE}" type="slidenum">
              <a:rPr kumimoji="1" lang="ko-KR" altLang="en-US" smtClean="0"/>
              <a:t>‹#›</a:t>
            </a:fld>
            <a:endParaRPr kumimoji="1" lang="ko-KR" altLang="en-US"/>
          </a:p>
        </p:txBody>
      </p:sp>
    </p:spTree>
    <p:extLst>
      <p:ext uri="{BB962C8B-B14F-4D97-AF65-F5344CB8AC3E}">
        <p14:creationId xmlns:p14="http://schemas.microsoft.com/office/powerpoint/2010/main" val="975449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kumimoji="1" lang="ko-KR" altLang="en-US" smtClean="0"/>
              <a:t>마스터 제목 스타일 편집</a:t>
            </a:r>
            <a:endParaRPr kumimoji="1" lang="ko-KR" altLang="en-US"/>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ko-KR" altLang="en-US" smtClean="0"/>
              <a:t>마스터 텍스트 스타일을 편집하려면 클릭</a:t>
            </a:r>
          </a:p>
          <a:p>
            <a:pPr lvl="1"/>
            <a:r>
              <a:rPr kumimoji="1" lang="ko-KR" altLang="en-US" smtClean="0"/>
              <a:t>두 번째 수준</a:t>
            </a:r>
          </a:p>
          <a:p>
            <a:pPr lvl="2"/>
            <a:r>
              <a:rPr kumimoji="1" lang="ko-KR" altLang="en-US" smtClean="0"/>
              <a:t>세 번째 수준</a:t>
            </a:r>
          </a:p>
          <a:p>
            <a:pPr lvl="3"/>
            <a:r>
              <a:rPr kumimoji="1" lang="ko-KR" altLang="en-US" smtClean="0"/>
              <a:t>네 번째 수준</a:t>
            </a:r>
          </a:p>
          <a:p>
            <a:pPr lvl="4"/>
            <a:r>
              <a:rPr kumimoji="1" lang="ko-KR" altLang="en-US" smtClean="0"/>
              <a:t>다섯 번째 수준</a:t>
            </a:r>
            <a:endParaRPr kumimoji="1"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ko-KR" altLang="en-US" smtClean="0"/>
              <a:t>마스터 텍스트 스타일을 편집하려면 클릭</a:t>
            </a:r>
          </a:p>
        </p:txBody>
      </p:sp>
      <p:sp>
        <p:nvSpPr>
          <p:cNvPr id="5" name="날짜 개체 틀 4"/>
          <p:cNvSpPr>
            <a:spLocks noGrp="1"/>
          </p:cNvSpPr>
          <p:nvPr>
            <p:ph type="dt" sz="half" idx="10"/>
          </p:nvPr>
        </p:nvSpPr>
        <p:spPr/>
        <p:txBody>
          <a:bodyPr/>
          <a:lstStyle/>
          <a:p>
            <a:fld id="{1C868743-2BB2-914E-94F9-1DD0F461A0D1}" type="datetimeFigureOut">
              <a:rPr kumimoji="1" lang="ko-KR" altLang="en-US" smtClean="0"/>
              <a:t>2017. 7. 11.</a:t>
            </a:fld>
            <a:endParaRPr kumimoji="1" lang="ko-KR" altLang="en-US"/>
          </a:p>
        </p:txBody>
      </p:sp>
      <p:sp>
        <p:nvSpPr>
          <p:cNvPr id="6" name="바닥글 개체 틀 5"/>
          <p:cNvSpPr>
            <a:spLocks noGrp="1"/>
          </p:cNvSpPr>
          <p:nvPr>
            <p:ph type="ftr" sz="quarter" idx="11"/>
          </p:nvPr>
        </p:nvSpPr>
        <p:spPr/>
        <p:txBody>
          <a:bodyPr/>
          <a:lstStyle/>
          <a:p>
            <a:endParaRPr kumimoji="1" lang="ko-KR" altLang="en-US"/>
          </a:p>
        </p:txBody>
      </p:sp>
      <p:sp>
        <p:nvSpPr>
          <p:cNvPr id="7" name="슬라이드 번호 개체 틀 6"/>
          <p:cNvSpPr>
            <a:spLocks noGrp="1"/>
          </p:cNvSpPr>
          <p:nvPr>
            <p:ph type="sldNum" sz="quarter" idx="12"/>
          </p:nvPr>
        </p:nvSpPr>
        <p:spPr/>
        <p:txBody>
          <a:bodyPr/>
          <a:lstStyle/>
          <a:p>
            <a:fld id="{513C2F37-7819-8544-8497-1D89E46550FE}" type="slidenum">
              <a:rPr kumimoji="1" lang="ko-KR" altLang="en-US" smtClean="0"/>
              <a:t>‹#›</a:t>
            </a:fld>
            <a:endParaRPr kumimoji="1" lang="ko-KR" altLang="en-US"/>
          </a:p>
        </p:txBody>
      </p:sp>
    </p:spTree>
    <p:extLst>
      <p:ext uri="{BB962C8B-B14F-4D97-AF65-F5344CB8AC3E}">
        <p14:creationId xmlns:p14="http://schemas.microsoft.com/office/powerpoint/2010/main" val="483551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kumimoji="1" lang="ko-KR" altLang="en-US" smtClean="0"/>
              <a:t>마스터 제목 스타일 편집</a:t>
            </a:r>
            <a:endParaRPr kumimoji="1" lang="ko-KR" altLang="en-US"/>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ko-KR" altLang="en-US" smtClean="0"/>
              <a:t>마스터 텍스트 스타일을 편집하려면 클릭</a:t>
            </a:r>
          </a:p>
        </p:txBody>
      </p:sp>
      <p:sp>
        <p:nvSpPr>
          <p:cNvPr id="5" name="날짜 개체 틀 4"/>
          <p:cNvSpPr>
            <a:spLocks noGrp="1"/>
          </p:cNvSpPr>
          <p:nvPr>
            <p:ph type="dt" sz="half" idx="10"/>
          </p:nvPr>
        </p:nvSpPr>
        <p:spPr/>
        <p:txBody>
          <a:bodyPr/>
          <a:lstStyle/>
          <a:p>
            <a:fld id="{1C868743-2BB2-914E-94F9-1DD0F461A0D1}" type="datetimeFigureOut">
              <a:rPr kumimoji="1" lang="ko-KR" altLang="en-US" smtClean="0"/>
              <a:t>2017. 7. 11.</a:t>
            </a:fld>
            <a:endParaRPr kumimoji="1" lang="ko-KR" altLang="en-US"/>
          </a:p>
        </p:txBody>
      </p:sp>
      <p:sp>
        <p:nvSpPr>
          <p:cNvPr id="6" name="바닥글 개체 틀 5"/>
          <p:cNvSpPr>
            <a:spLocks noGrp="1"/>
          </p:cNvSpPr>
          <p:nvPr>
            <p:ph type="ftr" sz="quarter" idx="11"/>
          </p:nvPr>
        </p:nvSpPr>
        <p:spPr/>
        <p:txBody>
          <a:bodyPr/>
          <a:lstStyle/>
          <a:p>
            <a:endParaRPr kumimoji="1" lang="ko-KR" altLang="en-US"/>
          </a:p>
        </p:txBody>
      </p:sp>
      <p:sp>
        <p:nvSpPr>
          <p:cNvPr id="7" name="슬라이드 번호 개체 틀 6"/>
          <p:cNvSpPr>
            <a:spLocks noGrp="1"/>
          </p:cNvSpPr>
          <p:nvPr>
            <p:ph type="sldNum" sz="quarter" idx="12"/>
          </p:nvPr>
        </p:nvSpPr>
        <p:spPr/>
        <p:txBody>
          <a:bodyPr/>
          <a:lstStyle/>
          <a:p>
            <a:fld id="{513C2F37-7819-8544-8497-1D89E46550FE}" type="slidenum">
              <a:rPr kumimoji="1" lang="ko-KR" altLang="en-US" smtClean="0"/>
              <a:t>‹#›</a:t>
            </a:fld>
            <a:endParaRPr kumimoji="1" lang="ko-KR" altLang="en-US"/>
          </a:p>
        </p:txBody>
      </p:sp>
    </p:spTree>
    <p:extLst>
      <p:ext uri="{BB962C8B-B14F-4D97-AF65-F5344CB8AC3E}">
        <p14:creationId xmlns:p14="http://schemas.microsoft.com/office/powerpoint/2010/main" val="973436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ko-KR" altLang="en-US" smtClean="0"/>
              <a:t>마스터 제목 스타일 편집</a:t>
            </a:r>
            <a:endParaRPr kumimoji="1" lang="ko-KR" altLang="en-US"/>
          </a:p>
        </p:txBody>
      </p:sp>
      <p:sp>
        <p:nvSpPr>
          <p:cNvPr id="3" name="세로 텍스트 개체 틀 2"/>
          <p:cNvSpPr>
            <a:spLocks noGrp="1"/>
          </p:cNvSpPr>
          <p:nvPr>
            <p:ph type="body" orient="vert" idx="1"/>
          </p:nvPr>
        </p:nvSpPr>
        <p:spPr/>
        <p:txBody>
          <a:bodyPr vert="eaVert"/>
          <a:lstStyle/>
          <a:p>
            <a:pPr lvl="0"/>
            <a:r>
              <a:rPr kumimoji="1" lang="ko-KR" altLang="en-US" smtClean="0"/>
              <a:t>마스터 텍스트 스타일을 편집하려면 클릭</a:t>
            </a:r>
          </a:p>
          <a:p>
            <a:pPr lvl="1"/>
            <a:r>
              <a:rPr kumimoji="1" lang="ko-KR" altLang="en-US" smtClean="0"/>
              <a:t>두 번째 수준</a:t>
            </a:r>
          </a:p>
          <a:p>
            <a:pPr lvl="2"/>
            <a:r>
              <a:rPr kumimoji="1" lang="ko-KR" altLang="en-US" smtClean="0"/>
              <a:t>세 번째 수준</a:t>
            </a:r>
          </a:p>
          <a:p>
            <a:pPr lvl="3"/>
            <a:r>
              <a:rPr kumimoji="1" lang="ko-KR" altLang="en-US" smtClean="0"/>
              <a:t>네 번째 수준</a:t>
            </a:r>
          </a:p>
          <a:p>
            <a:pPr lvl="4"/>
            <a:r>
              <a:rPr kumimoji="1" lang="ko-KR" altLang="en-US" smtClean="0"/>
              <a:t>다섯 번째 수준</a:t>
            </a:r>
            <a:endParaRPr kumimoji="1" lang="ko-KR" altLang="en-US"/>
          </a:p>
        </p:txBody>
      </p:sp>
      <p:sp>
        <p:nvSpPr>
          <p:cNvPr id="4" name="날짜 개체 틀 3"/>
          <p:cNvSpPr>
            <a:spLocks noGrp="1"/>
          </p:cNvSpPr>
          <p:nvPr>
            <p:ph type="dt" sz="half" idx="10"/>
          </p:nvPr>
        </p:nvSpPr>
        <p:spPr/>
        <p:txBody>
          <a:bodyPr/>
          <a:lstStyle/>
          <a:p>
            <a:fld id="{1C868743-2BB2-914E-94F9-1DD0F461A0D1}" type="datetimeFigureOut">
              <a:rPr kumimoji="1" lang="ko-KR" altLang="en-US" smtClean="0"/>
              <a:t>2017. 7. 11.</a:t>
            </a:fld>
            <a:endParaRPr kumimoji="1" lang="ko-KR" altLang="en-US"/>
          </a:p>
        </p:txBody>
      </p:sp>
      <p:sp>
        <p:nvSpPr>
          <p:cNvPr id="5" name="바닥글 개체 틀 4"/>
          <p:cNvSpPr>
            <a:spLocks noGrp="1"/>
          </p:cNvSpPr>
          <p:nvPr>
            <p:ph type="ftr" sz="quarter" idx="11"/>
          </p:nvPr>
        </p:nvSpPr>
        <p:spPr/>
        <p:txBody>
          <a:bodyPr/>
          <a:lstStyle/>
          <a:p>
            <a:endParaRPr kumimoji="1" lang="ko-KR" altLang="en-US"/>
          </a:p>
        </p:txBody>
      </p:sp>
      <p:sp>
        <p:nvSpPr>
          <p:cNvPr id="6" name="슬라이드 번호 개체 틀 5"/>
          <p:cNvSpPr>
            <a:spLocks noGrp="1"/>
          </p:cNvSpPr>
          <p:nvPr>
            <p:ph type="sldNum" sz="quarter" idx="12"/>
          </p:nvPr>
        </p:nvSpPr>
        <p:spPr/>
        <p:txBody>
          <a:bodyPr/>
          <a:lstStyle/>
          <a:p>
            <a:fld id="{513C2F37-7819-8544-8497-1D89E46550FE}" type="slidenum">
              <a:rPr kumimoji="1" lang="ko-KR" altLang="en-US" smtClean="0"/>
              <a:t>‹#›</a:t>
            </a:fld>
            <a:endParaRPr kumimoji="1" lang="ko-KR" altLang="en-US"/>
          </a:p>
        </p:txBody>
      </p:sp>
    </p:spTree>
    <p:extLst>
      <p:ext uri="{BB962C8B-B14F-4D97-AF65-F5344CB8AC3E}">
        <p14:creationId xmlns:p14="http://schemas.microsoft.com/office/powerpoint/2010/main" val="1009689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kumimoji="1" lang="ko-KR" altLang="en-US" smtClean="0"/>
              <a:t>마스터 제목 스타일 편집</a:t>
            </a:r>
            <a:endParaRPr kumimoji="1" lang="ko-KR" altLang="en-US"/>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kumimoji="1" lang="ko-KR" altLang="en-US" smtClean="0"/>
              <a:t>마스터 텍스트 스타일을 편집하려면 클릭</a:t>
            </a:r>
          </a:p>
          <a:p>
            <a:pPr lvl="1"/>
            <a:r>
              <a:rPr kumimoji="1" lang="ko-KR" altLang="en-US" smtClean="0"/>
              <a:t>두 번째 수준</a:t>
            </a:r>
          </a:p>
          <a:p>
            <a:pPr lvl="2"/>
            <a:r>
              <a:rPr kumimoji="1" lang="ko-KR" altLang="en-US" smtClean="0"/>
              <a:t>세 번째 수준</a:t>
            </a:r>
          </a:p>
          <a:p>
            <a:pPr lvl="3"/>
            <a:r>
              <a:rPr kumimoji="1" lang="ko-KR" altLang="en-US" smtClean="0"/>
              <a:t>네 번째 수준</a:t>
            </a:r>
          </a:p>
          <a:p>
            <a:pPr lvl="4"/>
            <a:r>
              <a:rPr kumimoji="1" lang="ko-KR" altLang="en-US" smtClean="0"/>
              <a:t>다섯 번째 수준</a:t>
            </a:r>
            <a:endParaRPr kumimoji="1" lang="ko-KR" altLang="en-US"/>
          </a:p>
        </p:txBody>
      </p:sp>
      <p:sp>
        <p:nvSpPr>
          <p:cNvPr id="4" name="날짜 개체 틀 3"/>
          <p:cNvSpPr>
            <a:spLocks noGrp="1"/>
          </p:cNvSpPr>
          <p:nvPr>
            <p:ph type="dt" sz="half" idx="10"/>
          </p:nvPr>
        </p:nvSpPr>
        <p:spPr/>
        <p:txBody>
          <a:bodyPr/>
          <a:lstStyle/>
          <a:p>
            <a:fld id="{1C868743-2BB2-914E-94F9-1DD0F461A0D1}" type="datetimeFigureOut">
              <a:rPr kumimoji="1" lang="ko-KR" altLang="en-US" smtClean="0"/>
              <a:t>2017. 7. 11.</a:t>
            </a:fld>
            <a:endParaRPr kumimoji="1" lang="ko-KR" altLang="en-US"/>
          </a:p>
        </p:txBody>
      </p:sp>
      <p:sp>
        <p:nvSpPr>
          <p:cNvPr id="5" name="바닥글 개체 틀 4"/>
          <p:cNvSpPr>
            <a:spLocks noGrp="1"/>
          </p:cNvSpPr>
          <p:nvPr>
            <p:ph type="ftr" sz="quarter" idx="11"/>
          </p:nvPr>
        </p:nvSpPr>
        <p:spPr/>
        <p:txBody>
          <a:bodyPr/>
          <a:lstStyle/>
          <a:p>
            <a:endParaRPr kumimoji="1" lang="ko-KR" altLang="en-US"/>
          </a:p>
        </p:txBody>
      </p:sp>
      <p:sp>
        <p:nvSpPr>
          <p:cNvPr id="6" name="슬라이드 번호 개체 틀 5"/>
          <p:cNvSpPr>
            <a:spLocks noGrp="1"/>
          </p:cNvSpPr>
          <p:nvPr>
            <p:ph type="sldNum" sz="quarter" idx="12"/>
          </p:nvPr>
        </p:nvSpPr>
        <p:spPr/>
        <p:txBody>
          <a:bodyPr/>
          <a:lstStyle/>
          <a:p>
            <a:fld id="{513C2F37-7819-8544-8497-1D89E46550FE}" type="slidenum">
              <a:rPr kumimoji="1" lang="ko-KR" altLang="en-US" smtClean="0"/>
              <a:t>‹#›</a:t>
            </a:fld>
            <a:endParaRPr kumimoji="1" lang="ko-KR" altLang="en-US"/>
          </a:p>
        </p:txBody>
      </p:sp>
    </p:spTree>
    <p:extLst>
      <p:ext uri="{BB962C8B-B14F-4D97-AF65-F5344CB8AC3E}">
        <p14:creationId xmlns:p14="http://schemas.microsoft.com/office/powerpoint/2010/main" val="43865635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ko-KR" altLang="en-US" smtClean="0"/>
              <a:t>마스터 제목 스타일 편집</a:t>
            </a:r>
            <a:endParaRPr kumimoji="1" lang="ko-KR" alt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ko-KR" altLang="en-US" smtClean="0"/>
              <a:t>마스터 텍스트 스타일을 편집하려면 클릭</a:t>
            </a:r>
          </a:p>
          <a:p>
            <a:pPr lvl="1"/>
            <a:r>
              <a:rPr kumimoji="1" lang="ko-KR" altLang="en-US" smtClean="0"/>
              <a:t>두 번째 수준</a:t>
            </a:r>
          </a:p>
          <a:p>
            <a:pPr lvl="2"/>
            <a:r>
              <a:rPr kumimoji="1" lang="ko-KR" altLang="en-US" smtClean="0"/>
              <a:t>세 번째 수준</a:t>
            </a:r>
          </a:p>
          <a:p>
            <a:pPr lvl="3"/>
            <a:r>
              <a:rPr kumimoji="1" lang="ko-KR" altLang="en-US" smtClean="0"/>
              <a:t>네 번째 수준</a:t>
            </a:r>
          </a:p>
          <a:p>
            <a:pPr lvl="4"/>
            <a:r>
              <a:rPr kumimoji="1" lang="ko-KR" altLang="en-US" smtClean="0"/>
              <a:t>다섯 번째 수준</a:t>
            </a:r>
            <a:endParaRPr kumimoji="1" lang="ko-KR" altLang="en-US"/>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868743-2BB2-914E-94F9-1DD0F461A0D1}" type="datetimeFigureOut">
              <a:rPr kumimoji="1" lang="ko-KR" altLang="en-US" smtClean="0"/>
              <a:t>2017. 7. 11.</a:t>
            </a:fld>
            <a:endParaRPr kumimoji="1"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C2F37-7819-8544-8497-1D89E46550FE}" type="slidenum">
              <a:rPr kumimoji="1" lang="ko-KR" altLang="en-US" smtClean="0"/>
              <a:t>‹#›</a:t>
            </a:fld>
            <a:endParaRPr kumimoji="1" lang="ko-KR" altLang="en-US"/>
          </a:p>
        </p:txBody>
      </p:sp>
    </p:spTree>
    <p:extLst>
      <p:ext uri="{BB962C8B-B14F-4D97-AF65-F5344CB8AC3E}">
        <p14:creationId xmlns:p14="http://schemas.microsoft.com/office/powerpoint/2010/main" val="1852948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상자 3"/>
          <p:cNvSpPr txBox="1"/>
          <p:nvPr/>
        </p:nvSpPr>
        <p:spPr>
          <a:xfrm>
            <a:off x="304800" y="238533"/>
            <a:ext cx="11502887" cy="8640000"/>
          </a:xfrm>
          <a:prstGeom prst="rect">
            <a:avLst/>
          </a:prstGeom>
          <a:noFill/>
        </p:spPr>
        <p:txBody>
          <a:bodyPr wrap="square" numCol="2" rtlCol="0">
            <a:spAutoFit/>
          </a:bodyPr>
          <a:lstStyle/>
          <a:p>
            <a:r>
              <a:rPr kumimoji="1" lang="en-US" altLang="ko-KR" sz="1200" b="1" dirty="0" smtClean="0"/>
              <a:t>3.5.3.2. AVL Automated Audio Announcements</a:t>
            </a:r>
          </a:p>
          <a:p>
            <a:endParaRPr kumimoji="1" lang="en-US" altLang="ko-KR" sz="800" dirty="0"/>
          </a:p>
          <a:p>
            <a:r>
              <a:rPr kumimoji="1" lang="en-US" altLang="ko-KR" sz="800" dirty="0" smtClean="0"/>
              <a:t>The RTD Eagle P3 car automatic vehicle location system (AVL) is integrated in a manner that provides for several types of automated audio messaging. The received GPS information (vehicle location) will be transmitted to the CCP and CNCS, which is continually validated and/or adjusted utilizing real time operational telemetry. This redundant calculation process insures that very accurate vehicle location information is maintained. By comparing the vehicle’ s physical location to the route data stored on the CNCS hard drive, the CNCS can determine its exact location within the route. As such, it is possible to automate messages that are scheduled to be played at pre-defined trigger points within the route.</a:t>
            </a:r>
          </a:p>
          <a:p>
            <a:r>
              <a:rPr kumimoji="1" lang="en-US" altLang="ko-KR" sz="800" dirty="0" smtClean="0"/>
              <a:t>In the event that a trigger point is reached, the CNCS will automatically play the corresponding content as specified by the WOOJIN scheduler. The audio element of the selected content will be routed by the PAC through the amplifier(s) to the PA speakers. The message will be triggered by the controlling car to play simultaneously in all cars of a train consist. Additionally, the exterior speakers are interlocked with the doors so that the message is played only in the event the doors are open. The system can be configured to mute or reduce the exterior speakers maximum output levels on a station by station basis for a specified time of day. The AVL automated audio messaging provides for functionality in the following areas:</a:t>
            </a:r>
          </a:p>
          <a:p>
            <a:endParaRPr kumimoji="1" lang="en-US" altLang="ko-KR" sz="800" dirty="0" smtClean="0"/>
          </a:p>
          <a:p>
            <a:r>
              <a:rPr kumimoji="1" lang="en-US" altLang="ko-KR" sz="800" dirty="0" smtClean="0"/>
              <a:t> Automated Station Arrival Announcements: The system will automatically announce the arrival of all trains just prior to each specified stop. All announcements will commence based upon pre-defined trigger points, or in the event of a PA system scheduling conflict the announcements will be played sequentially in the priority order as defined in section 3.5.4.2 below. The system will continually monitor the operating route parameters entered into the CCP by the driver to identify those stations that have been marked to skip. A unique content library element to announce a train’ s arrival at each station specified by DENVER RTD in the attached station list will be initially provided by WOOJIN.</a:t>
            </a:r>
          </a:p>
          <a:p>
            <a:endParaRPr kumimoji="1" lang="en-US" altLang="ko-KR" sz="800" dirty="0" smtClean="0"/>
          </a:p>
          <a:p>
            <a:r>
              <a:rPr kumimoji="1" lang="en-US" altLang="ko-KR" sz="800" dirty="0" smtClean="0"/>
              <a:t> Automated In-Station Announcements (in conjunction with door signal): When the Train arrives at each specified stop (TP5), the pre-defined announcement will be made to the Exterior Speakers according to the Train schedule entered into the CCP. In order to ensure that the announcement is made after the Train is completely stopped and it can be properly utilized by the passengers on the station platform, the In-Station Announcements should be in conjunction with door open signal from the car.</a:t>
            </a:r>
          </a:p>
          <a:p>
            <a:endParaRPr kumimoji="1" lang="en-US" altLang="ko-KR" sz="800" dirty="0" smtClean="0"/>
          </a:p>
          <a:p>
            <a:r>
              <a:rPr kumimoji="1" lang="en-US" altLang="ko-KR" sz="800" dirty="0" smtClean="0"/>
              <a:t> Automated Emergency Announcements: In the event that a passenger presses the emergency call button on any of the PEI boxes located throughout the train consist, the system will immediately provide the driver with a visual notification on the active CCP, indicating the exact car # in which the PEI was activated. Immediately thereafter, the system will produce an audio PA announcement stating; “Passenger Needs Assistance in Car # xx”. (This announcement will be announced only in the cab area through the cab speaker for the driver) The message played will correspond to the specific car number indicated on the CCP. In the event that multiple PEI requests are received at the same time, the system will announce them in the order of the request. If an emergency announcement is interrupted by a manual announcement (Higher Priority), then the announcement will be repeated in its entirety at the conclusion of the manual announcement.</a:t>
            </a:r>
          </a:p>
          <a:p>
            <a:endParaRPr kumimoji="1" lang="en-US" altLang="ko-KR" sz="800" dirty="0" smtClean="0"/>
          </a:p>
          <a:p>
            <a:r>
              <a:rPr kumimoji="1" lang="en-US" altLang="ko-KR" sz="800" dirty="0" smtClean="0"/>
              <a:t> DPO IC Call Announcements : Train operator is able to use the IC button of the DPO unit to communicate with the other cab of the vehicle. The “Intercom request” announcement will continue to play every 3 second until the other cab responds, when the operator calls the other cab by pressing the IC button of the DPO unit. The IC button of the DPO will flash until the response, and the other crew can communicate with the operator by pressing the IC button of the DPO.</a:t>
            </a:r>
          </a:p>
          <a:p>
            <a:endParaRPr kumimoji="1" lang="en-US" altLang="ko-KR" sz="800" dirty="0"/>
          </a:p>
          <a:p>
            <a:r>
              <a:rPr kumimoji="1" lang="en-US" altLang="ko-KR" sz="800" dirty="0" smtClean="0"/>
              <a:t> Public Service Announcements or Third Party Advertisements: A wide range of content can be created to be announced over the system’ s loud speakers. The content must be scheduled utilizing the WOOJIN content management scheduler, and will be played in accordance with the rules defined within the active play list script. It should be noted that this type of content will typically be scheduled to play while the train is in motion with the doors closed. As such, the audio will be restricted to the interior of the vehicle.</a:t>
            </a:r>
          </a:p>
          <a:p>
            <a:endParaRPr kumimoji="1" lang="en-US" altLang="ko-KR" sz="800" dirty="0"/>
          </a:p>
          <a:p>
            <a:r>
              <a:rPr kumimoji="1" lang="en-US" altLang="ko-KR" sz="800" dirty="0" smtClean="0"/>
              <a:t>The automated messaging functionality relies on several key factors to provide for the specified functionality. </a:t>
            </a:r>
            <a:r>
              <a:rPr kumimoji="1" lang="en-US" altLang="ko-KR" sz="800" dirty="0" err="1" smtClean="0"/>
              <a:t>Woojin</a:t>
            </a:r>
            <a:r>
              <a:rPr kumimoji="1" lang="en-US" altLang="ko-KR" sz="800" dirty="0" smtClean="0"/>
              <a:t> communication System makes process by receiving data from the GPS System. As such WOOJIN will perform two independent site surveys, (#1 by CWA as part of the Wayside scope of work, and #2 by WOOJIN utilizing a GPS recording device), to produce a comprehensive GPS co-ordinate Map of the entire DENVER RTD Railway system. As a subset of that Map, WOOJIN will select five specific GPS co-ordinate points relative to each platform to be defined as Absolute Trigger Points. These Trigger Points will identify the center of each platform, the two leading edges of each platform, and the two points approximately 1000 feet from the center of each platform. The WOOJIN AVL messaging system will also provide for 2 additional Relative Trigger points which include user definable parameters for setting the distance from an adjacent (Absolute) trigger point. All trigger point data information is stored within the AVL database infrastructure as described in Section 4.5.4.6, (Automated Announcements Data File Structure and Process). It also makes process by interlocking with the speed information of the vehicle and door signal when failure </a:t>
            </a:r>
            <a:r>
              <a:rPr kumimoji="1" lang="en-US" altLang="ko-KR" sz="800" dirty="0" err="1" smtClean="0"/>
              <a:t>occurs.The</a:t>
            </a:r>
            <a:r>
              <a:rPr kumimoji="1" lang="en-US" altLang="ko-KR" sz="800" dirty="0" smtClean="0"/>
              <a:t> AVL database also stores a complete list of all defined trigger points as well as links to the specific content elements that are to be played when the trigger points are reached. When the CS loads the current train number’s route schedule, it identifies all active trigger points which have been defined and creates a virtual play list of all content for the specified route on a station by station basis. The following diagram provides an overview of how the system utilizes distinct trigger points relative to one specific station.</a:t>
            </a:r>
          </a:p>
          <a:p>
            <a:endParaRPr kumimoji="1" lang="en-US" altLang="ko-KR" sz="800" dirty="0" smtClean="0"/>
          </a:p>
          <a:p>
            <a:endParaRPr kumimoji="1" lang="en-US" altLang="ko-KR" sz="800" dirty="0"/>
          </a:p>
          <a:p>
            <a:endParaRPr kumimoji="1" lang="en-US" altLang="ko-KR" sz="800" dirty="0" smtClean="0"/>
          </a:p>
          <a:p>
            <a:endParaRPr kumimoji="1" lang="en-US" altLang="ko-KR" sz="800" dirty="0"/>
          </a:p>
          <a:p>
            <a:r>
              <a:rPr kumimoji="1" lang="en-US" altLang="ko-KR" sz="800" dirty="0" smtClean="0"/>
              <a:t>RTD Eagle P3 </a:t>
            </a:r>
            <a:r>
              <a:rPr kumimoji="1" lang="ko-KR" altLang="en-US" sz="800" dirty="0" smtClean="0"/>
              <a:t>자동차 자동 차량 위치 시스템 </a:t>
            </a:r>
            <a:r>
              <a:rPr kumimoji="1" lang="en-US" altLang="ko-KR" sz="800" dirty="0" smtClean="0"/>
              <a:t>(AVL)</a:t>
            </a:r>
            <a:r>
              <a:rPr kumimoji="1" lang="ko-KR" altLang="en-US" sz="800" dirty="0" smtClean="0"/>
              <a:t>은 여러 유형의 자동 오디오 메시징을 제공하는 방식으로 통합되어 있습니다</a:t>
            </a:r>
            <a:r>
              <a:rPr kumimoji="1" lang="en-US" altLang="ko-KR" sz="800" dirty="0" smtClean="0"/>
              <a:t>. </a:t>
            </a:r>
            <a:r>
              <a:rPr kumimoji="1" lang="ko-KR" altLang="en-US" sz="800" dirty="0" smtClean="0"/>
              <a:t>수신 된 </a:t>
            </a:r>
            <a:r>
              <a:rPr kumimoji="1" lang="en-US" altLang="ko-KR" sz="800" dirty="0" smtClean="0"/>
              <a:t>GPS </a:t>
            </a:r>
            <a:r>
              <a:rPr kumimoji="1" lang="ko-KR" altLang="en-US" sz="800" dirty="0" smtClean="0"/>
              <a:t>정보 </a:t>
            </a:r>
            <a:r>
              <a:rPr kumimoji="1" lang="en-US" altLang="ko-KR" sz="800" dirty="0" smtClean="0"/>
              <a:t>(</a:t>
            </a:r>
            <a:r>
              <a:rPr kumimoji="1" lang="ko-KR" altLang="en-US" sz="800" dirty="0" smtClean="0"/>
              <a:t>차량 위치</a:t>
            </a:r>
            <a:r>
              <a:rPr kumimoji="1" lang="en-US" altLang="ko-KR" sz="800" dirty="0" smtClean="0"/>
              <a:t>)</a:t>
            </a:r>
            <a:r>
              <a:rPr kumimoji="1" lang="ko-KR" altLang="en-US" sz="800" dirty="0" smtClean="0"/>
              <a:t>는 </a:t>
            </a:r>
            <a:r>
              <a:rPr kumimoji="1" lang="en-US" altLang="ko-KR" sz="800" dirty="0" smtClean="0"/>
              <a:t>CCP </a:t>
            </a:r>
            <a:r>
              <a:rPr kumimoji="1" lang="ko-KR" altLang="en-US" sz="800" dirty="0" smtClean="0"/>
              <a:t>및 </a:t>
            </a:r>
            <a:r>
              <a:rPr kumimoji="1" lang="en-US" altLang="ko-KR" sz="800" dirty="0" smtClean="0"/>
              <a:t>CNCS</a:t>
            </a:r>
            <a:r>
              <a:rPr kumimoji="1" lang="ko-KR" altLang="en-US" sz="800" dirty="0" smtClean="0"/>
              <a:t>로 전송되며</a:t>
            </a:r>
            <a:r>
              <a:rPr kumimoji="1" lang="en-US" altLang="ko-KR" sz="800" dirty="0" smtClean="0"/>
              <a:t>, CCP </a:t>
            </a:r>
            <a:r>
              <a:rPr kumimoji="1" lang="ko-KR" altLang="en-US" sz="800" dirty="0" smtClean="0"/>
              <a:t>및 </a:t>
            </a:r>
            <a:r>
              <a:rPr kumimoji="1" lang="en-US" altLang="ko-KR" sz="800" dirty="0" smtClean="0"/>
              <a:t>CNCS</a:t>
            </a:r>
            <a:r>
              <a:rPr kumimoji="1" lang="ko-KR" altLang="en-US" sz="800" dirty="0" smtClean="0"/>
              <a:t>는 실시간 운영 원격 측정을 사용하여 지속적으로 검증 및 </a:t>
            </a:r>
            <a:r>
              <a:rPr kumimoji="1" lang="en-US" altLang="ko-KR" sz="800" dirty="0" smtClean="0"/>
              <a:t>/ </a:t>
            </a:r>
            <a:r>
              <a:rPr kumimoji="1" lang="ko-KR" altLang="en-US" sz="800" dirty="0" smtClean="0"/>
              <a:t>또는 조정됩니다</a:t>
            </a:r>
            <a:r>
              <a:rPr kumimoji="1" lang="en-US" altLang="ko-KR" sz="800" dirty="0" smtClean="0"/>
              <a:t>. </a:t>
            </a:r>
            <a:r>
              <a:rPr kumimoji="1" lang="ko-KR" altLang="en-US" sz="800" dirty="0" smtClean="0"/>
              <a:t>이러한 중복 계산 프로세스는 매우 정확한 차량 위치 정보가 유지되도록 보장합니다</a:t>
            </a:r>
            <a:r>
              <a:rPr kumimoji="1" lang="en-US" altLang="ko-KR" sz="800" dirty="0" smtClean="0"/>
              <a:t>. CNCS </a:t>
            </a:r>
            <a:r>
              <a:rPr kumimoji="1" lang="ko-KR" altLang="en-US" sz="800" dirty="0" smtClean="0"/>
              <a:t>하드 드라이브에 저장된 경로 데이터와 차량의 물리적 위치를 비교하여 </a:t>
            </a:r>
            <a:r>
              <a:rPr kumimoji="1" lang="en-US" altLang="ko-KR" sz="800" dirty="0" smtClean="0"/>
              <a:t>CNCS</a:t>
            </a:r>
            <a:r>
              <a:rPr kumimoji="1" lang="ko-KR" altLang="en-US" sz="800" dirty="0" smtClean="0"/>
              <a:t>는 경로 내의 정확한 위치를 결정할 수 있습니다</a:t>
            </a:r>
            <a:r>
              <a:rPr kumimoji="1" lang="en-US" altLang="ko-KR" sz="800" dirty="0" smtClean="0"/>
              <a:t>. </a:t>
            </a:r>
            <a:r>
              <a:rPr kumimoji="1" lang="ko-KR" altLang="en-US" sz="800" dirty="0" smtClean="0"/>
              <a:t>따라서 경로 내의 사전 정의 된 트리거 지점에서 재생되도록 예약 된 메시지를 자동화 할 수 있습니다</a:t>
            </a:r>
            <a:r>
              <a:rPr kumimoji="1" lang="en-US" altLang="ko-KR" sz="800" dirty="0" smtClean="0"/>
              <a:t>.</a:t>
            </a:r>
            <a:r>
              <a:rPr kumimoji="1" lang="ko-KR" altLang="en-US" sz="800" dirty="0" smtClean="0"/>
              <a:t>트리거 포인트에 도달하면 </a:t>
            </a:r>
            <a:r>
              <a:rPr kumimoji="1" lang="en-US" altLang="ko-KR" sz="800" dirty="0" smtClean="0"/>
              <a:t>CNCS</a:t>
            </a:r>
            <a:r>
              <a:rPr kumimoji="1" lang="ko-KR" altLang="en-US" sz="800" dirty="0" smtClean="0"/>
              <a:t>는 </a:t>
            </a:r>
            <a:r>
              <a:rPr kumimoji="1" lang="en-US" altLang="ko-KR" sz="800" dirty="0" smtClean="0"/>
              <a:t>WOOJIN </a:t>
            </a:r>
            <a:r>
              <a:rPr kumimoji="1" lang="ko-KR" altLang="en-US" sz="800" dirty="0" smtClean="0"/>
              <a:t>스케줄러가 지정한대로 해당 컨텐츠를 자동으로 재생합니다</a:t>
            </a:r>
            <a:r>
              <a:rPr kumimoji="1" lang="en-US" altLang="ko-KR" sz="800" dirty="0" smtClean="0"/>
              <a:t>. </a:t>
            </a:r>
            <a:r>
              <a:rPr kumimoji="1" lang="ko-KR" altLang="en-US" sz="800" dirty="0" smtClean="0"/>
              <a:t>선택한 컨텐츠의 오디오 요소는 </a:t>
            </a:r>
            <a:r>
              <a:rPr kumimoji="1" lang="en-US" altLang="ko-KR" sz="800" dirty="0" smtClean="0"/>
              <a:t>PAC</a:t>
            </a:r>
            <a:r>
              <a:rPr kumimoji="1" lang="ko-KR" altLang="en-US" sz="800" dirty="0" smtClean="0"/>
              <a:t>에 의해 앰프를 통해 </a:t>
            </a:r>
            <a:r>
              <a:rPr kumimoji="1" lang="en-US" altLang="ko-KR" sz="800" dirty="0" smtClean="0"/>
              <a:t>PA </a:t>
            </a:r>
            <a:r>
              <a:rPr kumimoji="1" lang="ko-KR" altLang="en-US" sz="800" dirty="0" smtClean="0"/>
              <a:t>스피커로 라우팅됩니다</a:t>
            </a:r>
            <a:r>
              <a:rPr kumimoji="1" lang="en-US" altLang="ko-KR" sz="800" dirty="0" smtClean="0"/>
              <a:t>. </a:t>
            </a:r>
            <a:r>
              <a:rPr kumimoji="1" lang="ko-KR" altLang="en-US" sz="800" dirty="0" smtClean="0"/>
              <a:t>메시지는 기차 구성의 모든 자동차에서 동시에 재생할 제어 자동차에 의해 트리거됩니다</a:t>
            </a:r>
            <a:r>
              <a:rPr kumimoji="1" lang="en-US" altLang="ko-KR" sz="800" dirty="0" smtClean="0"/>
              <a:t>. </a:t>
            </a:r>
            <a:r>
              <a:rPr kumimoji="1" lang="ko-KR" altLang="en-US" sz="800" dirty="0" smtClean="0"/>
              <a:t>또한 외부 스피커는 도어와 연동되어 문이 열리는 경우에만 메시지가 재생됩니다</a:t>
            </a:r>
            <a:r>
              <a:rPr kumimoji="1" lang="en-US" altLang="ko-KR" sz="800" dirty="0" smtClean="0"/>
              <a:t>. </a:t>
            </a:r>
            <a:r>
              <a:rPr kumimoji="1" lang="ko-KR" altLang="en-US" sz="800" dirty="0" smtClean="0"/>
              <a:t>특정 시간 동안 스테이션별로 스테이션의 외부 스피커 최대 출력 레벨을 음소거 또는 감소 시키도록 시스템을 구성 할 수 있습니다</a:t>
            </a:r>
            <a:r>
              <a:rPr kumimoji="1" lang="en-US" altLang="ko-KR" sz="800" dirty="0" smtClean="0"/>
              <a:t>. AVL </a:t>
            </a:r>
            <a:r>
              <a:rPr kumimoji="1" lang="ko-KR" altLang="en-US" sz="800" dirty="0" smtClean="0"/>
              <a:t>자동 오디오 메시징은 다음 영역의 기능을 제공합니다</a:t>
            </a:r>
            <a:r>
              <a:rPr kumimoji="1" lang="en-US" altLang="ko-KR" sz="800" dirty="0" smtClean="0"/>
              <a:t>.</a:t>
            </a:r>
          </a:p>
          <a:p>
            <a:r>
              <a:rPr kumimoji="1" lang="ko-KR" altLang="en-US" sz="800" dirty="0" smtClean="0"/>
              <a:t> </a:t>
            </a:r>
            <a:r>
              <a:rPr kumimoji="1" lang="ko-KR" altLang="en-US" sz="800" b="1" dirty="0" smtClean="0">
                <a:solidFill>
                  <a:srgbClr val="0070C0"/>
                </a:solidFill>
              </a:rPr>
              <a:t>답변 </a:t>
            </a:r>
            <a:r>
              <a:rPr kumimoji="1" lang="en-US" altLang="ko-KR" sz="800" b="1" dirty="0" smtClean="0">
                <a:solidFill>
                  <a:srgbClr val="0070C0"/>
                </a:solidFill>
              </a:rPr>
              <a:t>:</a:t>
            </a:r>
            <a:r>
              <a:rPr kumimoji="1" lang="ko-KR" altLang="en-US" sz="800" b="1" dirty="0" smtClean="0">
                <a:solidFill>
                  <a:srgbClr val="0070C0"/>
                </a:solidFill>
              </a:rPr>
              <a:t>  현재 서술한 내용으로 동작 중</a:t>
            </a:r>
            <a:r>
              <a:rPr kumimoji="1" lang="en-US" altLang="ko-KR" sz="800" b="1" dirty="0" smtClean="0">
                <a:solidFill>
                  <a:srgbClr val="0070C0"/>
                </a:solidFill>
              </a:rPr>
              <a:t>.</a:t>
            </a:r>
            <a:endParaRPr kumimoji="1" lang="en-US" altLang="ko-KR" sz="800" b="1" dirty="0">
              <a:solidFill>
                <a:srgbClr val="0070C0"/>
              </a:solidFill>
            </a:endParaRPr>
          </a:p>
          <a:p>
            <a:endParaRPr kumimoji="1" lang="en-US" altLang="ko-KR" sz="800" dirty="0" smtClean="0"/>
          </a:p>
          <a:p>
            <a:endParaRPr kumimoji="1" lang="en-US" altLang="ko-KR" sz="800" dirty="0"/>
          </a:p>
          <a:p>
            <a:endParaRPr kumimoji="1" lang="en-US" altLang="ko-KR" sz="800" dirty="0" smtClean="0"/>
          </a:p>
          <a:p>
            <a:endParaRPr kumimoji="1" lang="en-US" altLang="ko-KR" sz="800" dirty="0"/>
          </a:p>
          <a:p>
            <a:r>
              <a:rPr kumimoji="1" lang="ko-KR" altLang="en-US" sz="800" dirty="0" smtClean="0"/>
              <a:t> 자동 역 도착 알림 </a:t>
            </a:r>
            <a:r>
              <a:rPr kumimoji="1" lang="en-US" altLang="ko-KR" sz="800" dirty="0" smtClean="0"/>
              <a:t>: </a:t>
            </a:r>
            <a:r>
              <a:rPr kumimoji="1" lang="ko-KR" altLang="en-US" sz="800" dirty="0" smtClean="0"/>
              <a:t>시스템은 지정된 정차 직전 모든 열차의 도착을 자동으로 알립니다</a:t>
            </a:r>
            <a:r>
              <a:rPr kumimoji="1" lang="en-US" altLang="ko-KR" sz="800" dirty="0" smtClean="0"/>
              <a:t>. </a:t>
            </a:r>
            <a:r>
              <a:rPr kumimoji="1" lang="ko-KR" altLang="en-US" sz="800" dirty="0" smtClean="0"/>
              <a:t>모든 고지는 사전 정의 된 트리거 포인트에 따라 시작되거나 </a:t>
            </a:r>
            <a:r>
              <a:rPr kumimoji="1" lang="en-US" altLang="ko-KR" sz="800" dirty="0" smtClean="0"/>
              <a:t>PA </a:t>
            </a:r>
            <a:r>
              <a:rPr kumimoji="1" lang="ko-KR" altLang="en-US" sz="800" dirty="0" smtClean="0"/>
              <a:t>시스템 일정이 충돌하는 경우 공지 사항은 아래 </a:t>
            </a:r>
            <a:r>
              <a:rPr kumimoji="1" lang="en-US" altLang="ko-KR" sz="800" dirty="0" smtClean="0"/>
              <a:t>3.5.4.2 </a:t>
            </a:r>
            <a:r>
              <a:rPr kumimoji="1" lang="ko-KR" altLang="en-US" sz="800" dirty="0" smtClean="0"/>
              <a:t>절에 정의 된 우선 순위로 순차적으로 재생됩니다</a:t>
            </a:r>
            <a:r>
              <a:rPr kumimoji="1" lang="en-US" altLang="ko-KR" sz="800" dirty="0" smtClean="0"/>
              <a:t>. </a:t>
            </a:r>
            <a:r>
              <a:rPr kumimoji="1" lang="ko-KR" altLang="en-US" sz="800" dirty="0" smtClean="0"/>
              <a:t>시스템은 운전자가 </a:t>
            </a:r>
            <a:r>
              <a:rPr kumimoji="1" lang="en-US" altLang="ko-KR" sz="800" dirty="0" smtClean="0"/>
              <a:t>CCP</a:t>
            </a:r>
            <a:r>
              <a:rPr kumimoji="1" lang="ko-KR" altLang="en-US" sz="800" dirty="0" smtClean="0"/>
              <a:t>에 입력 한 운전 경로 매개 변수를 지속적으로 모니터하여 건너 뛰기로 표시된 방송국을 식별합니다</a:t>
            </a:r>
            <a:r>
              <a:rPr kumimoji="1" lang="en-US" altLang="ko-KR" sz="800" dirty="0" smtClean="0"/>
              <a:t>. </a:t>
            </a:r>
            <a:r>
              <a:rPr kumimoji="1" lang="ko-KR" altLang="en-US" sz="800" dirty="0" smtClean="0"/>
              <a:t>첨부 된 방송국 목록에서 </a:t>
            </a:r>
            <a:r>
              <a:rPr kumimoji="1" lang="en-US" altLang="ko-KR" sz="800" dirty="0" smtClean="0"/>
              <a:t>DENVER RTD</a:t>
            </a:r>
            <a:r>
              <a:rPr kumimoji="1" lang="ko-KR" altLang="en-US" sz="800" dirty="0" smtClean="0"/>
              <a:t>로 지정된 각 방송국에 열차가 도착할 것을 알리는 고유 한 콘텐츠 라이브러리 요소가 처음에는 우진에서 제공됩니다</a:t>
            </a:r>
            <a:r>
              <a:rPr kumimoji="1" lang="en-US" altLang="ko-KR" sz="800" dirty="0" smtClean="0"/>
              <a:t>.</a:t>
            </a:r>
          </a:p>
          <a:p>
            <a:r>
              <a:rPr kumimoji="1" lang="ko-KR" altLang="en-US" sz="800" b="1" dirty="0" smtClean="0">
                <a:solidFill>
                  <a:srgbClr val="0070C0"/>
                </a:solidFill>
              </a:rPr>
              <a:t>답변 </a:t>
            </a:r>
            <a:r>
              <a:rPr kumimoji="1" lang="en-US" altLang="ko-KR" sz="800" b="1" dirty="0" smtClean="0">
                <a:solidFill>
                  <a:srgbClr val="0070C0"/>
                </a:solidFill>
              </a:rPr>
              <a:t>:</a:t>
            </a:r>
            <a:r>
              <a:rPr kumimoji="1" lang="ko-KR" altLang="en-US" sz="800" b="1" dirty="0" smtClean="0">
                <a:solidFill>
                  <a:srgbClr val="0070C0"/>
                </a:solidFill>
              </a:rPr>
              <a:t> </a:t>
            </a:r>
            <a:r>
              <a:rPr kumimoji="1" lang="ko-KR" altLang="en-US" sz="800" b="1" dirty="0" smtClean="0">
                <a:solidFill>
                  <a:srgbClr val="0070C0"/>
                </a:solidFill>
              </a:rPr>
              <a:t>현재 서술한 내용으로 동작 중</a:t>
            </a:r>
            <a:r>
              <a:rPr kumimoji="1" lang="en-US" altLang="ko-KR" sz="800" b="1" dirty="0" smtClean="0">
                <a:solidFill>
                  <a:srgbClr val="0070C0"/>
                </a:solidFill>
              </a:rPr>
              <a:t>.</a:t>
            </a:r>
            <a:endParaRPr kumimoji="1" lang="en-US" altLang="ko-KR" sz="800" b="1" dirty="0">
              <a:solidFill>
                <a:srgbClr val="0070C0"/>
              </a:solidFill>
            </a:endParaRPr>
          </a:p>
          <a:p>
            <a:endParaRPr kumimoji="1" lang="en-US" altLang="ko-KR" sz="800" dirty="0" smtClean="0"/>
          </a:p>
          <a:p>
            <a:r>
              <a:rPr kumimoji="1" lang="ko-KR" altLang="en-US" sz="800" dirty="0" smtClean="0"/>
              <a:t> 자동 내선 방송 </a:t>
            </a:r>
            <a:r>
              <a:rPr kumimoji="1" lang="en-US" altLang="ko-KR" sz="800" dirty="0" smtClean="0"/>
              <a:t>(</a:t>
            </a:r>
            <a:r>
              <a:rPr kumimoji="1" lang="ko-KR" altLang="en-US" sz="800" dirty="0" smtClean="0"/>
              <a:t>문 신호와 함께</a:t>
            </a:r>
            <a:r>
              <a:rPr kumimoji="1" lang="en-US" altLang="ko-KR" sz="800" dirty="0" smtClean="0"/>
              <a:t>) : </a:t>
            </a:r>
            <a:r>
              <a:rPr kumimoji="1" lang="ko-KR" altLang="en-US" sz="800" dirty="0" smtClean="0"/>
              <a:t>열차가 지정된 각 정차 </a:t>
            </a:r>
            <a:r>
              <a:rPr kumimoji="1" lang="en-US" altLang="ko-KR" sz="800" dirty="0" smtClean="0"/>
              <a:t>(TP5)</a:t>
            </a:r>
            <a:r>
              <a:rPr kumimoji="1" lang="ko-KR" altLang="en-US" sz="800" dirty="0" smtClean="0"/>
              <a:t>에 도착하면 </a:t>
            </a:r>
            <a:r>
              <a:rPr kumimoji="1" lang="en-US" altLang="ko-KR" sz="800" dirty="0" smtClean="0"/>
              <a:t>CCP</a:t>
            </a:r>
            <a:r>
              <a:rPr kumimoji="1" lang="ko-KR" altLang="en-US" sz="800" dirty="0" smtClean="0"/>
              <a:t>에 입력 된 열차 일정에 따라 외장 스피커에 대한 사전 공지가 이루어집니다</a:t>
            </a:r>
            <a:r>
              <a:rPr kumimoji="1" lang="en-US" altLang="ko-KR" sz="800" dirty="0" smtClean="0"/>
              <a:t>. </a:t>
            </a:r>
            <a:r>
              <a:rPr kumimoji="1" lang="ko-KR" altLang="en-US" sz="800" dirty="0" smtClean="0"/>
              <a:t>기차가 완전히 정지 된 후 방송국 플랫폼의 승객이 적절히 활용할 수 있도록 발표하기 위해 인 </a:t>
            </a:r>
            <a:r>
              <a:rPr kumimoji="1" lang="en-US" altLang="ko-KR" sz="800" dirty="0" smtClean="0"/>
              <a:t>- </a:t>
            </a:r>
            <a:r>
              <a:rPr kumimoji="1" lang="ko-KR" altLang="en-US" sz="800" dirty="0" smtClean="0"/>
              <a:t>스테이션 방송은 자동차의 문 열림 신호와 연결되어야합니다</a:t>
            </a:r>
            <a:r>
              <a:rPr kumimoji="1" lang="en-US" altLang="ko-KR" sz="800" dirty="0" smtClean="0"/>
              <a:t>.</a:t>
            </a:r>
          </a:p>
          <a:p>
            <a:r>
              <a:rPr kumimoji="1" lang="ko-KR" altLang="en-US" sz="800" b="1" dirty="0" smtClean="0">
                <a:solidFill>
                  <a:srgbClr val="0070C0"/>
                </a:solidFill>
              </a:rPr>
              <a:t>답변 </a:t>
            </a:r>
            <a:r>
              <a:rPr kumimoji="1" lang="en-US" altLang="ko-KR" sz="800" b="1" dirty="0" smtClean="0">
                <a:solidFill>
                  <a:srgbClr val="0070C0"/>
                </a:solidFill>
              </a:rPr>
              <a:t>:</a:t>
            </a:r>
            <a:r>
              <a:rPr kumimoji="1" lang="ko-KR" altLang="en-US" sz="800" b="1" dirty="0" smtClean="0">
                <a:solidFill>
                  <a:srgbClr val="0070C0"/>
                </a:solidFill>
              </a:rPr>
              <a:t> 현재 서술한 내용으로 동작 중</a:t>
            </a:r>
            <a:r>
              <a:rPr kumimoji="1" lang="en-US" altLang="ko-KR" sz="800" b="1" dirty="0" smtClean="0">
                <a:solidFill>
                  <a:srgbClr val="0070C0"/>
                </a:solidFill>
              </a:rPr>
              <a:t>.</a:t>
            </a:r>
            <a:endParaRPr kumimoji="1" lang="en-US" altLang="ko-KR" sz="800" dirty="0"/>
          </a:p>
          <a:p>
            <a:endParaRPr kumimoji="1" lang="en-US" altLang="ko-KR" sz="800" dirty="0" smtClean="0"/>
          </a:p>
          <a:p>
            <a:endParaRPr kumimoji="1" lang="en-US" altLang="ko-KR" sz="800" dirty="0"/>
          </a:p>
          <a:p>
            <a:r>
              <a:rPr kumimoji="1" lang="ko-KR" altLang="en-US" sz="800" dirty="0" smtClean="0"/>
              <a:t> 자동 긴급 공고 </a:t>
            </a:r>
            <a:r>
              <a:rPr kumimoji="1" lang="en-US" altLang="ko-KR" sz="800" dirty="0" smtClean="0"/>
              <a:t>: </a:t>
            </a:r>
            <a:r>
              <a:rPr kumimoji="1" lang="ko-KR" altLang="en-US" sz="800" dirty="0" smtClean="0"/>
              <a:t>열차 전체에 위치한 </a:t>
            </a:r>
            <a:r>
              <a:rPr kumimoji="1" lang="en-US" altLang="ko-KR" sz="800" dirty="0" smtClean="0"/>
              <a:t>PEI </a:t>
            </a:r>
            <a:r>
              <a:rPr kumimoji="1" lang="ko-KR" altLang="en-US" sz="800" dirty="0" smtClean="0"/>
              <a:t>상자 중 한 곳에서 여객이 비상 통화 버튼을 누르면 이벤트가 발생하면 </a:t>
            </a:r>
            <a:r>
              <a:rPr kumimoji="1" lang="en-US" altLang="ko-KR" sz="800" dirty="0" smtClean="0"/>
              <a:t>CCP</a:t>
            </a:r>
            <a:r>
              <a:rPr kumimoji="1" lang="ko-KR" altLang="en-US" sz="800" dirty="0" smtClean="0"/>
              <a:t>에 대한 시각적 알림이 즉시 표시됩니다</a:t>
            </a:r>
            <a:r>
              <a:rPr kumimoji="1" lang="en-US" altLang="ko-KR" sz="800" dirty="0" smtClean="0"/>
              <a:t>. PEI</a:t>
            </a:r>
            <a:r>
              <a:rPr kumimoji="1" lang="ko-KR" altLang="en-US" sz="800" dirty="0" smtClean="0"/>
              <a:t>가 활성화되었습니다</a:t>
            </a:r>
            <a:r>
              <a:rPr kumimoji="1" lang="en-US" altLang="ko-KR" sz="800" dirty="0" smtClean="0"/>
              <a:t>. </a:t>
            </a:r>
            <a:r>
              <a:rPr kumimoji="1" lang="ko-KR" altLang="en-US" sz="800" dirty="0" smtClean="0"/>
              <a:t>그 직후</a:t>
            </a:r>
            <a:r>
              <a:rPr kumimoji="1" lang="en-US" altLang="ko-KR" sz="800" dirty="0" smtClean="0"/>
              <a:t>, </a:t>
            </a:r>
            <a:r>
              <a:rPr kumimoji="1" lang="ko-KR" altLang="en-US" sz="800" dirty="0" smtClean="0"/>
              <a:t>시스템은 오디오 </a:t>
            </a:r>
            <a:r>
              <a:rPr kumimoji="1" lang="en-US" altLang="ko-KR" sz="800" dirty="0" smtClean="0"/>
              <a:t>PA </a:t>
            </a:r>
            <a:r>
              <a:rPr kumimoji="1" lang="ko-KR" altLang="en-US" sz="800" dirty="0" smtClean="0"/>
              <a:t>발표를 발표 할 것입니다</a:t>
            </a:r>
            <a:r>
              <a:rPr kumimoji="1" lang="en-US" altLang="ko-KR" sz="800" dirty="0" smtClean="0"/>
              <a:t>; "</a:t>
            </a:r>
            <a:r>
              <a:rPr kumimoji="1" lang="ko-KR" altLang="en-US" sz="800" dirty="0" smtClean="0"/>
              <a:t>승용차는 </a:t>
            </a:r>
            <a:r>
              <a:rPr kumimoji="1" lang="en-US" altLang="ko-KR" sz="800" dirty="0" smtClean="0"/>
              <a:t># xx </a:t>
            </a:r>
            <a:r>
              <a:rPr kumimoji="1" lang="ko-KR" altLang="en-US" sz="800" dirty="0" smtClean="0"/>
              <a:t>차량의 도움이 필요합니다</a:t>
            </a:r>
            <a:r>
              <a:rPr kumimoji="1" lang="en-US" altLang="ko-KR" sz="800" dirty="0" smtClean="0"/>
              <a:t>". (</a:t>
            </a:r>
            <a:r>
              <a:rPr kumimoji="1" lang="ko-KR" altLang="en-US" sz="800" dirty="0" smtClean="0"/>
              <a:t>이 발표는 운전자를위한 운전실 스피커를 통해 운전실 영역에서만 발표 될 것입니다</a:t>
            </a:r>
            <a:r>
              <a:rPr kumimoji="1" lang="en-US" altLang="ko-KR" sz="800" dirty="0" smtClean="0"/>
              <a:t>.) </a:t>
            </a:r>
            <a:r>
              <a:rPr kumimoji="1" lang="ko-KR" altLang="en-US" sz="800" dirty="0" smtClean="0"/>
              <a:t>재생 된 메시지는 </a:t>
            </a:r>
            <a:r>
              <a:rPr kumimoji="1" lang="en-US" altLang="ko-KR" sz="800" dirty="0" smtClean="0"/>
              <a:t>CCP</a:t>
            </a:r>
            <a:r>
              <a:rPr kumimoji="1" lang="ko-KR" altLang="en-US" sz="800" dirty="0" smtClean="0"/>
              <a:t>에 표시된 특정 차량 번호와 일치합니다</a:t>
            </a:r>
            <a:r>
              <a:rPr kumimoji="1" lang="en-US" altLang="ko-KR" sz="800" dirty="0" smtClean="0"/>
              <a:t>. </a:t>
            </a:r>
            <a:r>
              <a:rPr kumimoji="1" lang="ko-KR" altLang="en-US" sz="800" dirty="0" smtClean="0"/>
              <a:t>여러 </a:t>
            </a:r>
            <a:r>
              <a:rPr kumimoji="1" lang="en-US" altLang="ko-KR" sz="800" dirty="0" smtClean="0"/>
              <a:t>PEI </a:t>
            </a:r>
            <a:r>
              <a:rPr kumimoji="1" lang="ko-KR" altLang="en-US" sz="800" dirty="0" smtClean="0"/>
              <a:t>요청이 동시에 수신되는 경우 시스템은 요청 된 순서대로이를 알립니다</a:t>
            </a:r>
            <a:r>
              <a:rPr kumimoji="1" lang="en-US" altLang="ko-KR" sz="800" dirty="0" smtClean="0"/>
              <a:t>. </a:t>
            </a:r>
            <a:r>
              <a:rPr kumimoji="1" lang="ko-KR" altLang="en-US" sz="800" dirty="0" smtClean="0"/>
              <a:t>긴급 공표가 수동 공표 </a:t>
            </a:r>
            <a:r>
              <a:rPr kumimoji="1" lang="en-US" altLang="ko-KR" sz="800" dirty="0" smtClean="0"/>
              <a:t>(Higher Priority)</a:t>
            </a:r>
            <a:r>
              <a:rPr kumimoji="1" lang="ko-KR" altLang="en-US" sz="800" dirty="0" smtClean="0"/>
              <a:t>에 의해 중단되면</a:t>
            </a:r>
            <a:r>
              <a:rPr kumimoji="1" lang="en-US" altLang="ko-KR" sz="800" dirty="0" smtClean="0"/>
              <a:t>, </a:t>
            </a:r>
            <a:r>
              <a:rPr kumimoji="1" lang="ko-KR" altLang="en-US" sz="800" dirty="0" smtClean="0"/>
              <a:t>공고는 수동 공고가 끝날 때까지 반복 될 것입니다</a:t>
            </a:r>
            <a:r>
              <a:rPr kumimoji="1" lang="en-US" altLang="ko-KR" sz="800" dirty="0" smtClean="0"/>
              <a:t>.</a:t>
            </a:r>
          </a:p>
          <a:p>
            <a:r>
              <a:rPr kumimoji="1" lang="ko-KR" altLang="en-US" sz="800" b="1" dirty="0" smtClean="0">
                <a:solidFill>
                  <a:srgbClr val="0070C0"/>
                </a:solidFill>
              </a:rPr>
              <a:t>답변 </a:t>
            </a:r>
            <a:r>
              <a:rPr kumimoji="1" lang="en-US" altLang="ko-KR" sz="800" b="1" dirty="0" smtClean="0">
                <a:solidFill>
                  <a:srgbClr val="0070C0"/>
                </a:solidFill>
              </a:rPr>
              <a:t>:</a:t>
            </a:r>
            <a:r>
              <a:rPr kumimoji="1" lang="ko-KR" altLang="en-US" sz="800" b="1" dirty="0" smtClean="0">
                <a:solidFill>
                  <a:srgbClr val="0070C0"/>
                </a:solidFill>
              </a:rPr>
              <a:t> 현재 서술한 내용으로 동작 중</a:t>
            </a:r>
            <a:r>
              <a:rPr kumimoji="1" lang="en-US" altLang="ko-KR" sz="800" b="1" dirty="0" smtClean="0">
                <a:solidFill>
                  <a:srgbClr val="0070C0"/>
                </a:solidFill>
              </a:rPr>
              <a:t>.</a:t>
            </a:r>
            <a:endParaRPr kumimoji="1" lang="en-US" altLang="ko-KR" sz="800" dirty="0"/>
          </a:p>
          <a:p>
            <a:endParaRPr kumimoji="1" lang="en-US" altLang="ko-KR" sz="800" dirty="0" smtClean="0"/>
          </a:p>
          <a:p>
            <a:endParaRPr kumimoji="1" lang="en-US" altLang="ko-KR" sz="800" dirty="0"/>
          </a:p>
          <a:p>
            <a:r>
              <a:rPr kumimoji="1" lang="ko-KR" altLang="en-US" sz="800" dirty="0" smtClean="0"/>
              <a:t> </a:t>
            </a:r>
            <a:r>
              <a:rPr kumimoji="1" lang="en-US" altLang="ko-KR" sz="800" dirty="0" smtClean="0"/>
              <a:t>DPO IC Call Announcements : </a:t>
            </a:r>
            <a:r>
              <a:rPr kumimoji="1" lang="ko-KR" altLang="en-US" sz="800" dirty="0" smtClean="0"/>
              <a:t>열차 운전자는 </a:t>
            </a:r>
            <a:r>
              <a:rPr kumimoji="1" lang="en-US" altLang="ko-KR" sz="800" dirty="0" smtClean="0"/>
              <a:t>DPO </a:t>
            </a:r>
            <a:r>
              <a:rPr kumimoji="1" lang="ko-KR" altLang="en-US" sz="800" dirty="0" smtClean="0"/>
              <a:t>장치의 </a:t>
            </a:r>
            <a:r>
              <a:rPr kumimoji="1" lang="en-US" altLang="ko-KR" sz="800" dirty="0" smtClean="0"/>
              <a:t>IC </a:t>
            </a:r>
            <a:r>
              <a:rPr kumimoji="1" lang="ko-KR" altLang="en-US" sz="800" dirty="0" smtClean="0"/>
              <a:t>버튼을 사용하여 차량의 다른 운전실과 통신 할 수 있습니다</a:t>
            </a:r>
            <a:r>
              <a:rPr kumimoji="1" lang="en-US" altLang="ko-KR" sz="800" dirty="0" smtClean="0"/>
              <a:t>. "</a:t>
            </a:r>
            <a:r>
              <a:rPr kumimoji="1" lang="ko-KR" altLang="en-US" sz="800" dirty="0" smtClean="0"/>
              <a:t>인터콤 요청</a:t>
            </a:r>
            <a:r>
              <a:rPr kumimoji="1" lang="en-US" altLang="ko-KR" sz="800" dirty="0" smtClean="0"/>
              <a:t>"</a:t>
            </a:r>
            <a:r>
              <a:rPr kumimoji="1" lang="ko-KR" altLang="en-US" sz="800" dirty="0" smtClean="0"/>
              <a:t>알림은 운전자가 </a:t>
            </a:r>
            <a:r>
              <a:rPr kumimoji="1" lang="en-US" altLang="ko-KR" sz="800" dirty="0" smtClean="0"/>
              <a:t>DPO </a:t>
            </a:r>
            <a:r>
              <a:rPr kumimoji="1" lang="ko-KR" altLang="en-US" sz="800" dirty="0" smtClean="0"/>
              <a:t>장치의 </a:t>
            </a:r>
            <a:r>
              <a:rPr kumimoji="1" lang="en-US" altLang="ko-KR" sz="800" dirty="0" smtClean="0"/>
              <a:t>IC </a:t>
            </a:r>
            <a:r>
              <a:rPr kumimoji="1" lang="ko-KR" altLang="en-US" sz="800" dirty="0" smtClean="0"/>
              <a:t>단추를 눌러 다른 택시를 호출 할 때 다른 택시가 응답 할 때까지 </a:t>
            </a:r>
            <a:r>
              <a:rPr kumimoji="1" lang="en-US" altLang="ko-KR" sz="800" dirty="0" smtClean="0"/>
              <a:t>3 </a:t>
            </a:r>
            <a:r>
              <a:rPr kumimoji="1" lang="ko-KR" altLang="en-US" sz="800" dirty="0" smtClean="0"/>
              <a:t>초마다 계속해서 재생됩니다</a:t>
            </a:r>
            <a:r>
              <a:rPr kumimoji="1" lang="en-US" altLang="ko-KR" sz="800" dirty="0" smtClean="0"/>
              <a:t>. </a:t>
            </a:r>
            <a:r>
              <a:rPr kumimoji="1" lang="ko-KR" altLang="en-US" sz="800" dirty="0" smtClean="0"/>
              <a:t>응답이있을 때까지 </a:t>
            </a:r>
            <a:r>
              <a:rPr kumimoji="1" lang="en-US" altLang="ko-KR" sz="800" dirty="0" smtClean="0"/>
              <a:t>DPO</a:t>
            </a:r>
            <a:r>
              <a:rPr kumimoji="1" lang="ko-KR" altLang="en-US" sz="800" dirty="0" smtClean="0"/>
              <a:t>의 </a:t>
            </a:r>
            <a:r>
              <a:rPr kumimoji="1" lang="en-US" altLang="ko-KR" sz="800" dirty="0" smtClean="0"/>
              <a:t>IC </a:t>
            </a:r>
            <a:r>
              <a:rPr kumimoji="1" lang="ko-KR" altLang="en-US" sz="800" dirty="0" smtClean="0"/>
              <a:t>버튼이 깜박이고 다른 승무원은 </a:t>
            </a:r>
            <a:r>
              <a:rPr kumimoji="1" lang="en-US" altLang="ko-KR" sz="800" dirty="0" smtClean="0"/>
              <a:t>DPO</a:t>
            </a:r>
            <a:r>
              <a:rPr kumimoji="1" lang="ko-KR" altLang="en-US" sz="800" dirty="0" smtClean="0"/>
              <a:t>의 </a:t>
            </a:r>
            <a:r>
              <a:rPr kumimoji="1" lang="en-US" altLang="ko-KR" sz="800" dirty="0" smtClean="0"/>
              <a:t>IC </a:t>
            </a:r>
            <a:r>
              <a:rPr kumimoji="1" lang="ko-KR" altLang="en-US" sz="800" dirty="0" smtClean="0"/>
              <a:t>버튼을 눌러 조작자와 통신 할 수 있습니다</a:t>
            </a:r>
            <a:r>
              <a:rPr kumimoji="1" lang="en-US" altLang="ko-KR" sz="800" dirty="0" smtClean="0"/>
              <a:t>.</a:t>
            </a:r>
          </a:p>
          <a:p>
            <a:r>
              <a:rPr kumimoji="1" lang="ko-KR" altLang="en-US" sz="800" b="1" dirty="0" smtClean="0">
                <a:solidFill>
                  <a:srgbClr val="0070C0"/>
                </a:solidFill>
              </a:rPr>
              <a:t>답변 </a:t>
            </a:r>
            <a:r>
              <a:rPr kumimoji="1" lang="en-US" altLang="ko-KR" sz="800" b="1" dirty="0" smtClean="0">
                <a:solidFill>
                  <a:srgbClr val="0070C0"/>
                </a:solidFill>
              </a:rPr>
              <a:t>:</a:t>
            </a:r>
            <a:r>
              <a:rPr kumimoji="1" lang="ko-KR" altLang="en-US" sz="800" b="1" dirty="0" smtClean="0">
                <a:solidFill>
                  <a:srgbClr val="0070C0"/>
                </a:solidFill>
              </a:rPr>
              <a:t> 현재 서술한 내용으로 동작 중</a:t>
            </a:r>
            <a:r>
              <a:rPr kumimoji="1" lang="en-US" altLang="ko-KR" sz="800" b="1" dirty="0" smtClean="0">
                <a:solidFill>
                  <a:srgbClr val="0070C0"/>
                </a:solidFill>
              </a:rPr>
              <a:t>.</a:t>
            </a:r>
          </a:p>
          <a:p>
            <a:endParaRPr kumimoji="1" lang="en-US" altLang="ko-KR" sz="800" dirty="0"/>
          </a:p>
          <a:p>
            <a:endParaRPr kumimoji="1" lang="en-US" altLang="ko-KR" sz="800" dirty="0" smtClean="0"/>
          </a:p>
          <a:p>
            <a:r>
              <a:rPr kumimoji="1" lang="ko-KR" altLang="en-US" sz="800" dirty="0" smtClean="0"/>
              <a:t> 공익 광고 또는 제 </a:t>
            </a:r>
            <a:r>
              <a:rPr kumimoji="1" lang="en-US" altLang="ko-KR" sz="800" dirty="0" smtClean="0"/>
              <a:t>3 </a:t>
            </a:r>
            <a:r>
              <a:rPr kumimoji="1" lang="ko-KR" altLang="en-US" sz="800" dirty="0" smtClean="0"/>
              <a:t>자 광고 </a:t>
            </a:r>
            <a:r>
              <a:rPr kumimoji="1" lang="en-US" altLang="ko-KR" sz="800" dirty="0" smtClean="0"/>
              <a:t>: </a:t>
            </a:r>
            <a:r>
              <a:rPr kumimoji="1" lang="ko-KR" altLang="en-US" sz="800" dirty="0" smtClean="0"/>
              <a:t>시스템의 시끄러운 스피커를 통해 발표 할 수 있도록 다양한 콘텐츠를 만들 수 있습니다</a:t>
            </a:r>
            <a:r>
              <a:rPr kumimoji="1" lang="en-US" altLang="ko-KR" sz="800" dirty="0" smtClean="0"/>
              <a:t>. </a:t>
            </a:r>
            <a:r>
              <a:rPr kumimoji="1" lang="ko-KR" altLang="en-US" sz="800" dirty="0" smtClean="0"/>
              <a:t>콘텐츠는 </a:t>
            </a:r>
            <a:r>
              <a:rPr kumimoji="1" lang="en-US" altLang="ko-KR" sz="800" dirty="0" smtClean="0"/>
              <a:t>WOOJIN </a:t>
            </a:r>
            <a:r>
              <a:rPr kumimoji="1" lang="ko-KR" altLang="en-US" sz="800" dirty="0" smtClean="0"/>
              <a:t>콘텐츠 관리 스케줄러를 사용하여 예약해야하며 활성 재생 목록 스크립트에 정의 된 규칙에 따라 재생됩니다</a:t>
            </a:r>
            <a:r>
              <a:rPr kumimoji="1" lang="en-US" altLang="ko-KR" sz="800" dirty="0" smtClean="0"/>
              <a:t>. </a:t>
            </a:r>
            <a:r>
              <a:rPr kumimoji="1" lang="ko-KR" altLang="en-US" sz="800" dirty="0" smtClean="0"/>
              <a:t>이러한 유형의 콘텐츠는 일반적으로 문이 닫힌 상태에서 열차가 움직이는 동안 재생되도록 예약됩니다</a:t>
            </a:r>
            <a:r>
              <a:rPr kumimoji="1" lang="en-US" altLang="ko-KR" sz="800" dirty="0" smtClean="0"/>
              <a:t>. </a:t>
            </a:r>
            <a:r>
              <a:rPr kumimoji="1" lang="ko-KR" altLang="en-US" sz="800" dirty="0" smtClean="0"/>
              <a:t>따라서 오디오는 차량 내부로 제한됩니다</a:t>
            </a:r>
            <a:r>
              <a:rPr kumimoji="1" lang="en-US" altLang="ko-KR" sz="800" dirty="0" smtClean="0"/>
              <a:t>.</a:t>
            </a:r>
          </a:p>
          <a:p>
            <a:r>
              <a:rPr kumimoji="1" lang="ko-KR" altLang="en-US" sz="800" b="1" dirty="0" smtClean="0">
                <a:solidFill>
                  <a:srgbClr val="0070C0"/>
                </a:solidFill>
              </a:rPr>
              <a:t>답변 </a:t>
            </a:r>
            <a:r>
              <a:rPr kumimoji="1" lang="en-US" altLang="ko-KR" sz="800" b="1" dirty="0" smtClean="0">
                <a:solidFill>
                  <a:srgbClr val="0070C0"/>
                </a:solidFill>
              </a:rPr>
              <a:t>:</a:t>
            </a:r>
            <a:r>
              <a:rPr kumimoji="1" lang="ko-KR" altLang="en-US" sz="800" b="1" dirty="0" smtClean="0">
                <a:solidFill>
                  <a:srgbClr val="0070C0"/>
                </a:solidFill>
              </a:rPr>
              <a:t> 현재 서술한 내용으로 동작 중</a:t>
            </a:r>
            <a:r>
              <a:rPr kumimoji="1" lang="en-US" altLang="ko-KR" sz="800" b="1" dirty="0" smtClean="0">
                <a:solidFill>
                  <a:srgbClr val="0070C0"/>
                </a:solidFill>
              </a:rPr>
              <a:t>.</a:t>
            </a:r>
            <a:endParaRPr kumimoji="1" lang="en-US" altLang="ko-KR" sz="800" dirty="0"/>
          </a:p>
          <a:p>
            <a:endParaRPr kumimoji="1" lang="en-US" altLang="ko-KR" sz="800" dirty="0" smtClean="0"/>
          </a:p>
          <a:p>
            <a:r>
              <a:rPr kumimoji="1" lang="ko-KR" altLang="en-US" sz="800" dirty="0" smtClean="0"/>
              <a:t>자동화 된 메시징 기능은 지정된 기능을 제공하기위한 몇 가지 핵심 요소에 의존합니다</a:t>
            </a:r>
            <a:r>
              <a:rPr kumimoji="1" lang="en-US" altLang="ko-KR" sz="800" dirty="0" smtClean="0"/>
              <a:t>. </a:t>
            </a:r>
            <a:r>
              <a:rPr kumimoji="1" lang="ko-KR" altLang="en-US" sz="800" b="1" dirty="0" smtClean="0">
                <a:solidFill>
                  <a:srgbClr val="0070C0"/>
                </a:solidFill>
              </a:rPr>
              <a:t>우진 통신 시스템은 </a:t>
            </a:r>
            <a:r>
              <a:rPr kumimoji="1" lang="en-US" altLang="ko-KR" sz="800" b="1" dirty="0" smtClean="0">
                <a:solidFill>
                  <a:srgbClr val="0070C0"/>
                </a:solidFill>
              </a:rPr>
              <a:t>GPS </a:t>
            </a:r>
            <a:r>
              <a:rPr kumimoji="1" lang="ko-KR" altLang="en-US" sz="800" b="1" dirty="0" smtClean="0">
                <a:solidFill>
                  <a:srgbClr val="0070C0"/>
                </a:solidFill>
              </a:rPr>
              <a:t>시스템으로부터 데이터를 받아 처리합니다</a:t>
            </a:r>
            <a:r>
              <a:rPr kumimoji="1" lang="en-US" altLang="ko-KR" sz="800" b="1" dirty="0" smtClean="0">
                <a:solidFill>
                  <a:srgbClr val="0070C0"/>
                </a:solidFill>
              </a:rPr>
              <a:t>. </a:t>
            </a:r>
            <a:r>
              <a:rPr kumimoji="1" lang="en-US" altLang="ko-KR" sz="800" dirty="0" smtClean="0"/>
              <a:t>WOOJIN</a:t>
            </a:r>
            <a:r>
              <a:rPr kumimoji="1" lang="ko-KR" altLang="en-US" sz="800" dirty="0" smtClean="0"/>
              <a:t>은 </a:t>
            </a:r>
            <a:r>
              <a:rPr kumimoji="1" lang="en-US" altLang="ko-KR" sz="800" dirty="0" smtClean="0"/>
              <a:t>DENVER RTD </a:t>
            </a:r>
            <a:r>
              <a:rPr kumimoji="1" lang="ko-KR" altLang="en-US" sz="800" dirty="0" smtClean="0"/>
              <a:t>전체에 대한 포괄적 인 </a:t>
            </a:r>
            <a:r>
              <a:rPr kumimoji="1" lang="en-US" altLang="ko-KR" sz="800" dirty="0" smtClean="0"/>
              <a:t>GPS </a:t>
            </a:r>
            <a:r>
              <a:rPr kumimoji="1" lang="ko-KR" altLang="en-US" sz="800" dirty="0" smtClean="0"/>
              <a:t>좌표지도를 만들기 위해 </a:t>
            </a:r>
            <a:r>
              <a:rPr kumimoji="1" lang="en-US" altLang="ko-KR" sz="800" dirty="0" smtClean="0"/>
              <a:t>WAYIDE </a:t>
            </a:r>
            <a:r>
              <a:rPr kumimoji="1" lang="ko-KR" altLang="en-US" sz="800" dirty="0" smtClean="0"/>
              <a:t>작업 범위의 일환으로 </a:t>
            </a:r>
            <a:r>
              <a:rPr kumimoji="1" lang="en-US" altLang="ko-KR" sz="800" dirty="0" smtClean="0"/>
              <a:t>CWA</a:t>
            </a:r>
            <a:r>
              <a:rPr kumimoji="1" lang="ko-KR" altLang="en-US" sz="800" dirty="0" smtClean="0"/>
              <a:t>에서 </a:t>
            </a:r>
            <a:r>
              <a:rPr kumimoji="1" lang="en-US" altLang="ko-KR" sz="800" dirty="0" smtClean="0"/>
              <a:t>1 </a:t>
            </a:r>
            <a:r>
              <a:rPr kumimoji="1" lang="ko-KR" altLang="en-US" sz="800" dirty="0" smtClean="0"/>
              <a:t>위</a:t>
            </a:r>
            <a:r>
              <a:rPr kumimoji="1" lang="en-US" altLang="ko-KR" sz="800" dirty="0" smtClean="0"/>
              <a:t>, GPS </a:t>
            </a:r>
            <a:r>
              <a:rPr kumimoji="1" lang="ko-KR" altLang="en-US" sz="800" dirty="0" smtClean="0"/>
              <a:t>기록 장치를 사용하는 </a:t>
            </a:r>
            <a:r>
              <a:rPr kumimoji="1" lang="en-US" altLang="ko-KR" sz="800" dirty="0" smtClean="0"/>
              <a:t>WOOJIN</a:t>
            </a:r>
            <a:r>
              <a:rPr kumimoji="1" lang="ko-KR" altLang="en-US" sz="800" dirty="0" smtClean="0"/>
              <a:t>에 의해 </a:t>
            </a:r>
            <a:r>
              <a:rPr kumimoji="1" lang="en-US" altLang="ko-KR" sz="800" dirty="0" smtClean="0"/>
              <a:t>2 </a:t>
            </a:r>
            <a:r>
              <a:rPr kumimoji="1" lang="ko-KR" altLang="en-US" sz="800" dirty="0" smtClean="0"/>
              <a:t>위의 독립 사이트 조사를 수행합니다</a:t>
            </a:r>
            <a:r>
              <a:rPr kumimoji="1" lang="en-US" altLang="ko-KR" sz="800" dirty="0" smtClean="0"/>
              <a:t>. </a:t>
            </a:r>
            <a:r>
              <a:rPr kumimoji="1" lang="ko-KR" altLang="en-US" sz="800" dirty="0" smtClean="0"/>
              <a:t>철도 시스템입니다</a:t>
            </a:r>
            <a:r>
              <a:rPr kumimoji="1" lang="en-US" altLang="ko-KR" sz="800" dirty="0" smtClean="0"/>
              <a:t>. WOOJIN</a:t>
            </a:r>
            <a:r>
              <a:rPr kumimoji="1" lang="ko-KR" altLang="en-US" sz="800" dirty="0" smtClean="0"/>
              <a:t>은 해당 맵의 서브 세트로서 각 플랫폼에 상대적인 다섯 개의 특정 </a:t>
            </a:r>
            <a:r>
              <a:rPr kumimoji="1" lang="en-US" altLang="ko-KR" sz="800" dirty="0" smtClean="0"/>
              <a:t>GPS </a:t>
            </a:r>
            <a:r>
              <a:rPr kumimoji="1" lang="ko-KR" altLang="en-US" sz="800" dirty="0" smtClean="0"/>
              <a:t>좌표 포인트를 선택하여 </a:t>
            </a:r>
            <a:r>
              <a:rPr kumimoji="1" lang="en-US" altLang="ko-KR" sz="800" dirty="0" smtClean="0"/>
              <a:t>Absolute Trigger Points</a:t>
            </a:r>
            <a:r>
              <a:rPr kumimoji="1" lang="ko-KR" altLang="en-US" sz="800" dirty="0" smtClean="0"/>
              <a:t>로 정의합니다</a:t>
            </a:r>
            <a:r>
              <a:rPr kumimoji="1" lang="en-US" altLang="ko-KR" sz="800" dirty="0" smtClean="0"/>
              <a:t>. </a:t>
            </a:r>
            <a:r>
              <a:rPr kumimoji="1" lang="ko-KR" altLang="en-US" sz="800" dirty="0" smtClean="0"/>
              <a:t>이 트리거 포인트는 각 플랫폼의 중심</a:t>
            </a:r>
            <a:r>
              <a:rPr kumimoji="1" lang="en-US" altLang="ko-KR" sz="800" dirty="0" smtClean="0"/>
              <a:t>, </a:t>
            </a:r>
            <a:r>
              <a:rPr kumimoji="1" lang="ko-KR" altLang="en-US" sz="800" dirty="0" smtClean="0"/>
              <a:t>각 플랫폼의 두 선행 모서리 및 각 플랫폼의 중심에서 약 </a:t>
            </a:r>
            <a:r>
              <a:rPr kumimoji="1" lang="en-US" altLang="ko-KR" sz="800" dirty="0" smtClean="0"/>
              <a:t>1000 </a:t>
            </a:r>
            <a:r>
              <a:rPr kumimoji="1" lang="ko-KR" altLang="en-US" sz="800" dirty="0" smtClean="0"/>
              <a:t>피트 떨어진 두 점을 나타냅니다</a:t>
            </a:r>
            <a:r>
              <a:rPr kumimoji="1" lang="en-US" altLang="ko-KR" sz="800" dirty="0" smtClean="0"/>
              <a:t>. WOOJIN AVL </a:t>
            </a:r>
            <a:r>
              <a:rPr kumimoji="1" lang="ko-KR" altLang="en-US" sz="800" dirty="0" smtClean="0"/>
              <a:t>메시징 시스템은 인접한 </a:t>
            </a:r>
            <a:r>
              <a:rPr kumimoji="1" lang="en-US" altLang="ko-KR" sz="800" dirty="0" smtClean="0"/>
              <a:t>(</a:t>
            </a:r>
            <a:r>
              <a:rPr kumimoji="1" lang="ko-KR" altLang="en-US" sz="800" dirty="0" smtClean="0"/>
              <a:t>절대</a:t>
            </a:r>
            <a:r>
              <a:rPr kumimoji="1" lang="en-US" altLang="ko-KR" sz="800" dirty="0" smtClean="0"/>
              <a:t>) </a:t>
            </a:r>
            <a:r>
              <a:rPr kumimoji="1" lang="ko-KR" altLang="en-US" sz="800" dirty="0" smtClean="0"/>
              <a:t>트리거 지점으로부터의 거리를 설정하기 위해 사용자가 정의 할 수있는 매개 변수를 포함하는 </a:t>
            </a:r>
            <a:r>
              <a:rPr kumimoji="1" lang="en-US" altLang="ko-KR" sz="800" dirty="0" smtClean="0"/>
              <a:t>2 </a:t>
            </a:r>
            <a:r>
              <a:rPr kumimoji="1" lang="ko-KR" altLang="en-US" sz="800" dirty="0" smtClean="0"/>
              <a:t>개의 추가 </a:t>
            </a:r>
            <a:r>
              <a:rPr kumimoji="1" lang="en-US" altLang="ko-KR" sz="800" dirty="0" smtClean="0"/>
              <a:t>Relative Trigger </a:t>
            </a:r>
            <a:r>
              <a:rPr kumimoji="1" lang="ko-KR" altLang="en-US" sz="800" dirty="0" smtClean="0"/>
              <a:t>지점을 제공합니다</a:t>
            </a:r>
            <a:r>
              <a:rPr kumimoji="1" lang="en-US" altLang="ko-KR" sz="800" dirty="0" smtClean="0"/>
              <a:t>. </a:t>
            </a:r>
            <a:r>
              <a:rPr kumimoji="1" lang="ko-KR" altLang="en-US" sz="800" dirty="0" smtClean="0"/>
              <a:t>모든 트리거 포인트 데이터 정보는 </a:t>
            </a:r>
            <a:r>
              <a:rPr kumimoji="1" lang="en-US" altLang="ko-KR" sz="800" dirty="0" smtClean="0"/>
              <a:t>4.5.4.6 </a:t>
            </a:r>
            <a:r>
              <a:rPr kumimoji="1" lang="ko-KR" altLang="en-US" sz="800" dirty="0" smtClean="0"/>
              <a:t>절 </a:t>
            </a:r>
            <a:r>
              <a:rPr kumimoji="1" lang="en-US" altLang="ko-KR" sz="800" dirty="0" smtClean="0"/>
              <a:t>(</a:t>
            </a:r>
            <a:r>
              <a:rPr kumimoji="1" lang="ko-KR" altLang="en-US" sz="800" dirty="0" smtClean="0"/>
              <a:t>자동 알림 데이터 파일 구조 및 프로세스</a:t>
            </a:r>
            <a:r>
              <a:rPr kumimoji="1" lang="en-US" altLang="ko-KR" sz="800" dirty="0" smtClean="0"/>
              <a:t>)</a:t>
            </a:r>
            <a:r>
              <a:rPr kumimoji="1" lang="ko-KR" altLang="en-US" sz="800" dirty="0" smtClean="0"/>
              <a:t>에서 설명한대로 </a:t>
            </a:r>
            <a:r>
              <a:rPr kumimoji="1" lang="en-US" altLang="ko-KR" sz="800" dirty="0" smtClean="0"/>
              <a:t>AVL </a:t>
            </a:r>
            <a:r>
              <a:rPr kumimoji="1" lang="ko-KR" altLang="en-US" sz="800" dirty="0" smtClean="0"/>
              <a:t>데이터베이스 인프라에 저장됩니다</a:t>
            </a:r>
            <a:r>
              <a:rPr kumimoji="1" lang="en-US" altLang="ko-KR" sz="800" dirty="0" smtClean="0"/>
              <a:t>. </a:t>
            </a:r>
            <a:r>
              <a:rPr kumimoji="1" lang="ko-KR" altLang="en-US" sz="800" dirty="0" smtClean="0"/>
              <a:t>또한 장애 발생시 차량의 속도 정보 및 도어 신호와 연동하여 처리합니다</a:t>
            </a:r>
            <a:r>
              <a:rPr kumimoji="1" lang="en-US" altLang="ko-KR" sz="800" dirty="0" smtClean="0"/>
              <a:t>. AVL </a:t>
            </a:r>
            <a:r>
              <a:rPr kumimoji="1" lang="ko-KR" altLang="en-US" sz="800" dirty="0" smtClean="0"/>
              <a:t>데이터베이스는 정의 된 모든 트리거 포인트의 전체 목록과 트리거가 실행될 때 재생할 특정 컨텐츠 요소에 대한 링크도 저장합니다 포인트에 도달했습니다</a:t>
            </a:r>
            <a:r>
              <a:rPr kumimoji="1" lang="en-US" altLang="ko-KR" sz="800" dirty="0" smtClean="0"/>
              <a:t>. CS</a:t>
            </a:r>
            <a:r>
              <a:rPr kumimoji="1" lang="ko-KR" altLang="en-US" sz="800" dirty="0" smtClean="0"/>
              <a:t>가 현재 열차 번호의 경로 일정을로드하면 정의 된 모든 활성 트리거 점을 식별하고 지정된 경로에 대한 모든 내용의 가상 재생 목록을 스테이션별로 만듭니다</a:t>
            </a:r>
            <a:r>
              <a:rPr kumimoji="1" lang="en-US" altLang="ko-KR" sz="800" dirty="0" smtClean="0"/>
              <a:t>. </a:t>
            </a:r>
            <a:r>
              <a:rPr kumimoji="1" lang="ko-KR" altLang="en-US" sz="800" dirty="0" smtClean="0"/>
              <a:t>다음 다이어그램은 시스템이 특정 스테이션과 관련하여 별개의 트리거 포인트를 사용하는 방법에 대한 개요를 제공합니다</a:t>
            </a:r>
            <a:r>
              <a:rPr kumimoji="1" lang="en-US" altLang="ko-KR" sz="800" dirty="0" smtClean="0"/>
              <a:t>.</a:t>
            </a:r>
            <a:endParaRPr kumimoji="1" lang="ko-KR" altLang="en-US" sz="800" dirty="0"/>
          </a:p>
        </p:txBody>
      </p:sp>
    </p:spTree>
    <p:extLst>
      <p:ext uri="{BB962C8B-B14F-4D97-AF65-F5344CB8AC3E}">
        <p14:creationId xmlns:p14="http://schemas.microsoft.com/office/powerpoint/2010/main" val="186065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상자 3"/>
          <p:cNvSpPr txBox="1"/>
          <p:nvPr/>
        </p:nvSpPr>
        <p:spPr>
          <a:xfrm>
            <a:off x="464024" y="300249"/>
            <a:ext cx="11204812" cy="6247864"/>
          </a:xfrm>
          <a:prstGeom prst="rect">
            <a:avLst/>
          </a:prstGeom>
          <a:noFill/>
        </p:spPr>
        <p:txBody>
          <a:bodyPr wrap="square" numCol="2" rtlCol="0">
            <a:spAutoFit/>
          </a:bodyPr>
          <a:lstStyle/>
          <a:p>
            <a:r>
              <a:rPr kumimoji="1" lang="en-US" altLang="ko-KR" sz="1000" dirty="0" smtClean="0"/>
              <a:t>3.7.2.1. AVL Calculation Process:</a:t>
            </a:r>
          </a:p>
          <a:p>
            <a:endParaRPr kumimoji="1" lang="en-US" altLang="ko-KR" sz="1000" dirty="0" smtClean="0"/>
          </a:p>
          <a:p>
            <a:r>
              <a:rPr kumimoji="1" lang="en-US" altLang="ko-KR" sz="1000" dirty="0" smtClean="0"/>
              <a:t>The WOOJIN AVL system will typically utilize real-time GPS coordinates to trigger the AVL messaging system. However, in the event that the GPS signal is not available it will then rely on the inherent dead reckoning functionality of the GPS receiver to extrapolate the location coordinates.</a:t>
            </a:r>
          </a:p>
          <a:p>
            <a:endParaRPr kumimoji="1" lang="en-US" altLang="ko-KR" sz="1000" dirty="0"/>
          </a:p>
          <a:p>
            <a:r>
              <a:rPr kumimoji="1" lang="en-US" altLang="ko-KR" sz="1000" dirty="0" smtClean="0"/>
              <a:t>As previously described in SFD Section 3.5.3.2, the AVL system will employ the use of two different types of trigger points to initiate automated messaging. The first type are referred to as “Absolute” trigger points and are defined by specific latitude and Longitude (X,Y) coordinates. The second type are referred to as “Relative” trigger points and are defined by their distance relative to an absolute trigger point. In the case of the “Absolute” trigger points the comparison is made directly against the train’ s current position coordinates provided by the GPS. In the case of the “Relative” trigger points the distance from the current train position to a known “absolute” point is continually calculated. When the distance calculated </a:t>
            </a:r>
          </a:p>
          <a:p>
            <a:r>
              <a:rPr kumimoji="1" lang="en-US" altLang="ko-KR" sz="1000" dirty="0" smtClean="0"/>
              <a:t>becomes less than the relative distance specified, the “Relative” trigger point has been achieved. The following formula will be used to perform this calculation.</a:t>
            </a:r>
          </a:p>
          <a:p>
            <a:endParaRPr kumimoji="1" lang="en-US" altLang="ko-KR" sz="1000" dirty="0"/>
          </a:p>
          <a:p>
            <a:r>
              <a:rPr kumimoji="1" lang="en-US" altLang="ko-KR" sz="1000" dirty="0" smtClean="0"/>
              <a:t>D:                 </a:t>
            </a:r>
            <a:r>
              <a:rPr kumimoji="1" lang="en-US" altLang="ko-KR" sz="1000" dirty="0" smtClean="0"/>
              <a:t>Distance between “Absolute” Coordinates and the Train</a:t>
            </a:r>
            <a:endParaRPr kumimoji="1" lang="en-US" altLang="ko-KR" sz="1000" dirty="0" smtClean="0"/>
          </a:p>
          <a:p>
            <a:r>
              <a:rPr kumimoji="1" lang="en-US" altLang="ko-KR" sz="1000" dirty="0" smtClean="0"/>
              <a:t>(X 1 , Y 1 ):     </a:t>
            </a:r>
            <a:r>
              <a:rPr kumimoji="1" lang="en-US" altLang="ko-KR" sz="1000" dirty="0" smtClean="0"/>
              <a:t>Current Coordinates of the Train Location as provided by the GPS</a:t>
            </a:r>
            <a:endParaRPr kumimoji="1" lang="en-US" altLang="ko-KR" sz="1000" dirty="0" smtClean="0"/>
          </a:p>
          <a:p>
            <a:r>
              <a:rPr kumimoji="1" lang="en-US" altLang="ko-KR" sz="1000" dirty="0" smtClean="0"/>
              <a:t>(X 2 , Y 2 ):     Known “Absolute” Coordinates of the station</a:t>
            </a:r>
          </a:p>
          <a:p>
            <a:r>
              <a:rPr kumimoji="1" lang="en-US" altLang="ko-KR" sz="1000" dirty="0" smtClean="0"/>
              <a:t>D=(x 2 - x 1 ) 2 + (y 2 - y 1 ) 2</a:t>
            </a:r>
          </a:p>
          <a:p>
            <a:endParaRPr kumimoji="1" lang="en-US" altLang="ko-KR" sz="1000" dirty="0"/>
          </a:p>
          <a:p>
            <a:r>
              <a:rPr kumimoji="1" lang="en-US" altLang="ko-KR" sz="1000" dirty="0" smtClean="0"/>
              <a:t>3.7.2.2. Priority Order for application of Train Position Information</a:t>
            </a:r>
          </a:p>
          <a:p>
            <a:endParaRPr kumimoji="1" lang="en-US" altLang="ko-KR" sz="1000" dirty="0" smtClean="0"/>
          </a:p>
          <a:p>
            <a:r>
              <a:rPr kumimoji="1" lang="en-US" altLang="ko-KR" sz="1000" dirty="0" smtClean="0"/>
              <a:t> GPS Positioning Information</a:t>
            </a:r>
          </a:p>
          <a:p>
            <a:r>
              <a:rPr kumimoji="1" lang="en-US" altLang="ko-KR" sz="1000" dirty="0" smtClean="0"/>
              <a:t> </a:t>
            </a:r>
            <a:r>
              <a:rPr kumimoji="1" lang="en-US" altLang="ko-KR" sz="1000" dirty="0" smtClean="0"/>
              <a:t>GPS Sub-System Dead Reckoning</a:t>
            </a:r>
          </a:p>
          <a:p>
            <a:endParaRPr kumimoji="1" lang="en-US" altLang="ko-KR" sz="1000" dirty="0"/>
          </a:p>
          <a:p>
            <a:r>
              <a:rPr kumimoji="1" lang="en-US" altLang="ko-KR" sz="1000" dirty="0" smtClean="0"/>
              <a:t>3.7.2.3. Train Operational Information Created</a:t>
            </a:r>
          </a:p>
          <a:p>
            <a:endParaRPr kumimoji="1" lang="en-US" altLang="ko-KR" sz="1000" dirty="0" smtClean="0"/>
          </a:p>
          <a:p>
            <a:r>
              <a:rPr kumimoji="1" lang="en-US" altLang="ko-KR" sz="1000" dirty="0" smtClean="0"/>
              <a:t> </a:t>
            </a:r>
            <a:r>
              <a:rPr kumimoji="1" lang="en-US" altLang="ko-KR" sz="1000" dirty="0" smtClean="0"/>
              <a:t>Station Approach Signal</a:t>
            </a:r>
            <a:endParaRPr kumimoji="1" lang="en-US" altLang="ko-KR" sz="1000" dirty="0" smtClean="0"/>
          </a:p>
          <a:p>
            <a:r>
              <a:rPr kumimoji="1" lang="en-US" altLang="ko-KR" sz="1000" dirty="0" smtClean="0"/>
              <a:t> </a:t>
            </a:r>
            <a:r>
              <a:rPr kumimoji="1" lang="en-US" altLang="ko-KR" sz="1000" dirty="0" smtClean="0"/>
              <a:t>Station Arrival Signal</a:t>
            </a:r>
            <a:endParaRPr kumimoji="1" lang="en-US" altLang="ko-KR" sz="1000" dirty="0" smtClean="0"/>
          </a:p>
          <a:p>
            <a:r>
              <a:rPr kumimoji="1" lang="en-US" altLang="ko-KR" sz="1000" dirty="0" smtClean="0"/>
              <a:t> </a:t>
            </a:r>
            <a:r>
              <a:rPr kumimoji="1" lang="en-US" altLang="ko-KR" sz="1000" dirty="0" smtClean="0"/>
              <a:t>Door Open Signal</a:t>
            </a:r>
            <a:endParaRPr kumimoji="1" lang="en-US" altLang="ko-KR" sz="1000" dirty="0" smtClean="0"/>
          </a:p>
          <a:p>
            <a:r>
              <a:rPr kumimoji="1" lang="en-US" altLang="ko-KR" sz="1000" dirty="0" smtClean="0"/>
              <a:t> </a:t>
            </a:r>
            <a:r>
              <a:rPr kumimoji="1" lang="en-US" altLang="ko-KR" sz="1000" dirty="0" smtClean="0"/>
              <a:t>Door Closed Signal</a:t>
            </a:r>
            <a:endParaRPr kumimoji="1" lang="en-US" altLang="ko-KR" sz="1000" dirty="0" smtClean="0"/>
          </a:p>
          <a:p>
            <a:r>
              <a:rPr kumimoji="1" lang="en-US" altLang="ko-KR" sz="1000" dirty="0" smtClean="0"/>
              <a:t> </a:t>
            </a:r>
            <a:r>
              <a:rPr kumimoji="1" lang="en-US" altLang="ko-KR" sz="1000" dirty="0" smtClean="0"/>
              <a:t>Station Departure Signal</a:t>
            </a:r>
            <a:endParaRPr kumimoji="1" lang="en-US" altLang="ko-KR" sz="1000" dirty="0" smtClean="0"/>
          </a:p>
          <a:p>
            <a:r>
              <a:rPr kumimoji="1" lang="en-US" altLang="ko-KR" sz="1000" dirty="0" smtClean="0"/>
              <a:t></a:t>
            </a:r>
            <a:r>
              <a:rPr kumimoji="1" lang="en-US" altLang="ko-KR" sz="1000" dirty="0"/>
              <a:t> </a:t>
            </a:r>
            <a:r>
              <a:rPr kumimoji="1" lang="en-US" altLang="ko-KR" sz="1000" dirty="0" smtClean="0"/>
              <a:t>Current Date &amp; Time Data</a:t>
            </a:r>
          </a:p>
          <a:p>
            <a:endParaRPr kumimoji="1" lang="en-US" altLang="ko-KR" sz="1000" dirty="0"/>
          </a:p>
          <a:p>
            <a:endParaRPr kumimoji="1" lang="en-US" altLang="ko-KR" sz="1000" dirty="0" smtClean="0"/>
          </a:p>
          <a:p>
            <a:endParaRPr kumimoji="1" lang="en-US" altLang="ko-KR" sz="1000" dirty="0"/>
          </a:p>
          <a:p>
            <a:endParaRPr kumimoji="1" lang="en-US" altLang="ko-KR" sz="1000" dirty="0" smtClean="0"/>
          </a:p>
          <a:p>
            <a:endParaRPr kumimoji="1" lang="en-US" altLang="ko-KR" sz="1000" dirty="0" smtClean="0"/>
          </a:p>
          <a:p>
            <a:r>
              <a:rPr kumimoji="1" lang="ko-KR" altLang="en-US" sz="1000" dirty="0" smtClean="0">
                <a:solidFill>
                  <a:srgbClr val="FF0000"/>
                </a:solidFill>
              </a:rPr>
              <a:t>우진 </a:t>
            </a:r>
            <a:r>
              <a:rPr kumimoji="1" lang="en-US" altLang="ko-KR" sz="1000" dirty="0" smtClean="0">
                <a:solidFill>
                  <a:srgbClr val="FF0000"/>
                </a:solidFill>
              </a:rPr>
              <a:t>AVL </a:t>
            </a:r>
            <a:r>
              <a:rPr kumimoji="1" lang="ko-KR" altLang="en-US" sz="1000" dirty="0" smtClean="0">
                <a:solidFill>
                  <a:srgbClr val="FF0000"/>
                </a:solidFill>
              </a:rPr>
              <a:t>시스템은 일반적으로 실시간 </a:t>
            </a:r>
            <a:r>
              <a:rPr kumimoji="1" lang="en-US" altLang="ko-KR" sz="1000" dirty="0" smtClean="0">
                <a:solidFill>
                  <a:srgbClr val="FF0000"/>
                </a:solidFill>
              </a:rPr>
              <a:t>GPS </a:t>
            </a:r>
            <a:r>
              <a:rPr kumimoji="1" lang="ko-KR" altLang="en-US" sz="1000" dirty="0" smtClean="0">
                <a:solidFill>
                  <a:srgbClr val="FF0000"/>
                </a:solidFill>
              </a:rPr>
              <a:t>좌표를 이용하여 </a:t>
            </a:r>
            <a:r>
              <a:rPr kumimoji="1" lang="en-US" altLang="ko-KR" sz="1000" dirty="0" smtClean="0">
                <a:solidFill>
                  <a:srgbClr val="FF0000"/>
                </a:solidFill>
              </a:rPr>
              <a:t>AVL </a:t>
            </a:r>
            <a:r>
              <a:rPr kumimoji="1" lang="ko-KR" altLang="en-US" sz="1000" dirty="0" smtClean="0">
                <a:solidFill>
                  <a:srgbClr val="FF0000"/>
                </a:solidFill>
              </a:rPr>
              <a:t>메시징 시스템을 트리거합니다</a:t>
            </a:r>
            <a:r>
              <a:rPr kumimoji="1" lang="en-US" altLang="ko-KR" sz="1000" dirty="0" smtClean="0">
                <a:solidFill>
                  <a:srgbClr val="FF0000"/>
                </a:solidFill>
              </a:rPr>
              <a:t>. </a:t>
            </a:r>
            <a:r>
              <a:rPr kumimoji="1" lang="ko-KR" altLang="en-US" sz="1000" dirty="0" smtClean="0">
                <a:solidFill>
                  <a:srgbClr val="FF0000"/>
                </a:solidFill>
              </a:rPr>
              <a:t>그러나</a:t>
            </a:r>
            <a:r>
              <a:rPr kumimoji="1" lang="en-US" altLang="ko-KR" sz="1000" dirty="0" smtClean="0">
                <a:solidFill>
                  <a:srgbClr val="FF0000"/>
                </a:solidFill>
              </a:rPr>
              <a:t>, GPS </a:t>
            </a:r>
            <a:r>
              <a:rPr kumimoji="1" lang="ko-KR" altLang="en-US" sz="1000" dirty="0" smtClean="0">
                <a:solidFill>
                  <a:srgbClr val="FF0000"/>
                </a:solidFill>
              </a:rPr>
              <a:t>신호가 이용 가능하지 않은 경우에</a:t>
            </a:r>
            <a:r>
              <a:rPr kumimoji="1" lang="en-US" altLang="ko-KR" sz="1000" dirty="0" smtClean="0">
                <a:solidFill>
                  <a:srgbClr val="FF0000"/>
                </a:solidFill>
              </a:rPr>
              <a:t>, GPS </a:t>
            </a:r>
            <a:r>
              <a:rPr kumimoji="1" lang="ko-KR" altLang="en-US" sz="1000" dirty="0" smtClean="0">
                <a:solidFill>
                  <a:srgbClr val="FF0000"/>
                </a:solidFill>
              </a:rPr>
              <a:t>수신기의 고유의 데드 레커 닝 기능에 의존하여 위치 좌표를 외삽 </a:t>
            </a:r>
            <a:r>
              <a:rPr kumimoji="1" lang="en-US" altLang="ko-KR" sz="1000" dirty="0" smtClean="0">
                <a:solidFill>
                  <a:srgbClr val="FF0000"/>
                </a:solidFill>
              </a:rPr>
              <a:t>(extrapolate)</a:t>
            </a:r>
            <a:r>
              <a:rPr kumimoji="1" lang="ko-KR" altLang="en-US" sz="1000" dirty="0" smtClean="0">
                <a:solidFill>
                  <a:srgbClr val="FF0000"/>
                </a:solidFill>
              </a:rPr>
              <a:t>한다</a:t>
            </a:r>
            <a:r>
              <a:rPr kumimoji="1" lang="en-US" altLang="ko-KR" sz="1000" dirty="0" smtClean="0">
                <a:solidFill>
                  <a:srgbClr val="FF0000"/>
                </a:solidFill>
              </a:rPr>
              <a:t>.</a:t>
            </a:r>
          </a:p>
          <a:p>
            <a:r>
              <a:rPr kumimoji="1" lang="ko-KR" altLang="en-US" sz="1000" b="1" dirty="0" smtClean="0">
                <a:solidFill>
                  <a:srgbClr val="0070C0"/>
                </a:solidFill>
                <a:sym typeface="Wingdings"/>
              </a:rPr>
              <a:t>답변 </a:t>
            </a:r>
            <a:r>
              <a:rPr kumimoji="1" lang="en-US" altLang="ko-KR" sz="1000" b="1" dirty="0" smtClean="0">
                <a:solidFill>
                  <a:srgbClr val="0070C0"/>
                </a:solidFill>
                <a:sym typeface="Wingdings"/>
              </a:rPr>
              <a:t>:</a:t>
            </a:r>
            <a:r>
              <a:rPr kumimoji="1" lang="ko-KR" altLang="en-US" sz="1000" b="1" dirty="0" smtClean="0">
                <a:solidFill>
                  <a:srgbClr val="0070C0"/>
                </a:solidFill>
                <a:sym typeface="Wingdings"/>
              </a:rPr>
              <a:t> </a:t>
            </a:r>
            <a:r>
              <a:rPr kumimoji="1" lang="en-US" altLang="ko-KR" sz="1000" b="1" dirty="0" smtClean="0">
                <a:solidFill>
                  <a:srgbClr val="0070C0"/>
                </a:solidFill>
                <a:sym typeface="Wingdings"/>
              </a:rPr>
              <a:t> SEPTA </a:t>
            </a:r>
            <a:r>
              <a:rPr kumimoji="1" lang="ko-KR" altLang="en-US" sz="1000" b="1" dirty="0" smtClean="0">
                <a:solidFill>
                  <a:srgbClr val="0070C0"/>
                </a:solidFill>
                <a:sym typeface="Wingdings"/>
              </a:rPr>
              <a:t>내용이 입니다</a:t>
            </a:r>
            <a:r>
              <a:rPr kumimoji="1" lang="en-US" altLang="ko-KR" sz="1000" b="1" dirty="0" smtClean="0">
                <a:solidFill>
                  <a:srgbClr val="0070C0"/>
                </a:solidFill>
                <a:sym typeface="Wingdings"/>
              </a:rPr>
              <a:t>.</a:t>
            </a:r>
            <a:r>
              <a:rPr kumimoji="1" lang="ko-KR" altLang="en-US" sz="1000" b="1" dirty="0" smtClean="0">
                <a:solidFill>
                  <a:srgbClr val="0070C0"/>
                </a:solidFill>
                <a:sym typeface="Wingdings"/>
              </a:rPr>
              <a:t> 작성자 실수 입니다</a:t>
            </a:r>
            <a:r>
              <a:rPr kumimoji="1" lang="en-US" altLang="ko-KR" sz="1000" b="1" dirty="0" smtClean="0">
                <a:solidFill>
                  <a:srgbClr val="0070C0"/>
                </a:solidFill>
                <a:sym typeface="Wingdings"/>
              </a:rPr>
              <a:t>.</a:t>
            </a:r>
            <a:r>
              <a:rPr kumimoji="1" lang="ko-KR" altLang="en-US" sz="1000" b="1" dirty="0" smtClean="0">
                <a:solidFill>
                  <a:srgbClr val="0070C0"/>
                </a:solidFill>
                <a:sym typeface="Wingdings"/>
              </a:rPr>
              <a:t> 그래서 </a:t>
            </a:r>
            <a:r>
              <a:rPr kumimoji="1" lang="en-US" altLang="ko-KR" sz="1000" b="1" dirty="0" smtClean="0">
                <a:solidFill>
                  <a:srgbClr val="0070C0"/>
                </a:solidFill>
                <a:sym typeface="Wingdings"/>
              </a:rPr>
              <a:t>GPS </a:t>
            </a:r>
            <a:r>
              <a:rPr kumimoji="1" lang="ko-KR" altLang="en-US" sz="1000" b="1" dirty="0" smtClean="0">
                <a:solidFill>
                  <a:srgbClr val="0070C0"/>
                </a:solidFill>
                <a:sym typeface="Wingdings"/>
              </a:rPr>
              <a:t>백업 동작 알고리즘으로 대치 하는 것으로 시행청과 협의하여</a:t>
            </a:r>
            <a:r>
              <a:rPr kumimoji="1" lang="en-US" altLang="ko-KR" sz="1000" b="1" dirty="0" smtClean="0">
                <a:solidFill>
                  <a:srgbClr val="0070C0"/>
                </a:solidFill>
                <a:sym typeface="Wingdings"/>
              </a:rPr>
              <a:t>,</a:t>
            </a:r>
            <a:r>
              <a:rPr kumimoji="1" lang="ko-KR" altLang="en-US" sz="1000" b="1" dirty="0" smtClean="0">
                <a:solidFill>
                  <a:srgbClr val="0070C0"/>
                </a:solidFill>
                <a:sym typeface="Wingdings"/>
              </a:rPr>
              <a:t> 현차 입회 시험을 진행 하였습니다</a:t>
            </a:r>
            <a:r>
              <a:rPr kumimoji="1" lang="en-US" altLang="ko-KR" sz="1000" b="1" dirty="0" smtClean="0">
                <a:solidFill>
                  <a:srgbClr val="0070C0"/>
                </a:solidFill>
                <a:sym typeface="Wingdings"/>
              </a:rPr>
              <a:t>.</a:t>
            </a:r>
            <a:endParaRPr kumimoji="1" lang="en-US" altLang="ko-KR" sz="1000" b="1" dirty="0">
              <a:solidFill>
                <a:srgbClr val="0070C0"/>
              </a:solidFill>
            </a:endParaRPr>
          </a:p>
          <a:p>
            <a:endParaRPr kumimoji="1" lang="en-US" altLang="ko-KR" sz="1000" dirty="0" smtClean="0"/>
          </a:p>
          <a:p>
            <a:r>
              <a:rPr kumimoji="1" lang="ko-KR" altLang="en-US" sz="1000" dirty="0" smtClean="0"/>
              <a:t>이전에 </a:t>
            </a:r>
            <a:r>
              <a:rPr kumimoji="1" lang="en-US" altLang="ko-KR" sz="1000" dirty="0" smtClean="0"/>
              <a:t>SFD 3.5.3.2 </a:t>
            </a:r>
            <a:r>
              <a:rPr kumimoji="1" lang="ko-KR" altLang="en-US" sz="1000" dirty="0" smtClean="0"/>
              <a:t>절에서 설명한 것처럼 </a:t>
            </a:r>
            <a:r>
              <a:rPr kumimoji="1" lang="en-US" altLang="ko-KR" sz="1000" dirty="0" smtClean="0"/>
              <a:t>AVL </a:t>
            </a:r>
            <a:r>
              <a:rPr kumimoji="1" lang="ko-KR" altLang="en-US" sz="1000" dirty="0" smtClean="0"/>
              <a:t>시스템은 자동화 된 메시징을 시작하기 위해 두 가지 유형의 트리거 포인트를 사용합니다</a:t>
            </a:r>
            <a:r>
              <a:rPr kumimoji="1" lang="en-US" altLang="ko-KR" sz="1000" dirty="0" smtClean="0"/>
              <a:t>. </a:t>
            </a:r>
            <a:r>
              <a:rPr kumimoji="1" lang="ko-KR" altLang="en-US" sz="1000" dirty="0" smtClean="0"/>
              <a:t>첫 번째 유형은 </a:t>
            </a:r>
            <a:r>
              <a:rPr kumimoji="1" lang="en-US" altLang="ko-KR" sz="1000" dirty="0" smtClean="0"/>
              <a:t>"</a:t>
            </a:r>
            <a:r>
              <a:rPr kumimoji="1" lang="ko-KR" altLang="en-US" sz="1000" dirty="0" smtClean="0"/>
              <a:t>절대</a:t>
            </a:r>
            <a:r>
              <a:rPr kumimoji="1" lang="en-US" altLang="ko-KR" sz="1000" dirty="0" smtClean="0"/>
              <a:t>"</a:t>
            </a:r>
            <a:r>
              <a:rPr kumimoji="1" lang="ko-KR" altLang="en-US" sz="1000" dirty="0" smtClean="0"/>
              <a:t>트리거 점이라고하며 특정 위도 및 경도 </a:t>
            </a:r>
            <a:r>
              <a:rPr kumimoji="1" lang="en-US" altLang="ko-KR" sz="1000" dirty="0" smtClean="0"/>
              <a:t>(X, Y) </a:t>
            </a:r>
            <a:r>
              <a:rPr kumimoji="1" lang="ko-KR" altLang="en-US" sz="1000" dirty="0" smtClean="0"/>
              <a:t>좌표로 정의됩니다</a:t>
            </a:r>
            <a:r>
              <a:rPr kumimoji="1" lang="en-US" altLang="ko-KR" sz="1000" dirty="0" smtClean="0"/>
              <a:t>. </a:t>
            </a:r>
            <a:r>
              <a:rPr kumimoji="1" lang="ko-KR" altLang="en-US" sz="1000" dirty="0" smtClean="0"/>
              <a:t>두 번째 유형은 </a:t>
            </a:r>
            <a:r>
              <a:rPr kumimoji="1" lang="en-US" altLang="ko-KR" sz="1000" dirty="0" smtClean="0"/>
              <a:t>"</a:t>
            </a:r>
            <a:r>
              <a:rPr kumimoji="1" lang="ko-KR" altLang="en-US" sz="1000" dirty="0" smtClean="0"/>
              <a:t>상대</a:t>
            </a:r>
            <a:r>
              <a:rPr kumimoji="1" lang="en-US" altLang="ko-KR" sz="1000" dirty="0" smtClean="0"/>
              <a:t>"</a:t>
            </a:r>
            <a:r>
              <a:rPr kumimoji="1" lang="ko-KR" altLang="en-US" sz="1000" dirty="0" smtClean="0"/>
              <a:t>트리거 점이라고하며 절대 트리거 점에 대한 상대 거리로 정의됩니다</a:t>
            </a:r>
            <a:r>
              <a:rPr kumimoji="1" lang="en-US" altLang="ko-KR" sz="1000" dirty="0" smtClean="0"/>
              <a:t>. "Absolute"</a:t>
            </a:r>
            <a:r>
              <a:rPr kumimoji="1" lang="ko-KR" altLang="en-US" sz="1000" dirty="0" smtClean="0"/>
              <a:t>트리거 포인트의 경우 비교는 </a:t>
            </a:r>
            <a:r>
              <a:rPr kumimoji="1" lang="en-US" altLang="ko-KR" sz="1000" dirty="0" smtClean="0"/>
              <a:t>GPS</a:t>
            </a:r>
            <a:r>
              <a:rPr kumimoji="1" lang="ko-KR" altLang="en-US" sz="1000" dirty="0" smtClean="0"/>
              <a:t>가 제공하는 열차의 현재 위치 좌표와 직접 비교됩니다</a:t>
            </a:r>
            <a:r>
              <a:rPr kumimoji="1" lang="en-US" altLang="ko-KR" sz="1000" dirty="0" smtClean="0"/>
              <a:t>. "</a:t>
            </a:r>
            <a:r>
              <a:rPr kumimoji="1" lang="ko-KR" altLang="en-US" sz="1000" dirty="0" smtClean="0"/>
              <a:t>상대</a:t>
            </a:r>
            <a:r>
              <a:rPr kumimoji="1" lang="en-US" altLang="ko-KR" sz="1000" dirty="0" smtClean="0"/>
              <a:t>"</a:t>
            </a:r>
            <a:r>
              <a:rPr kumimoji="1" lang="ko-KR" altLang="en-US" sz="1000" dirty="0" smtClean="0"/>
              <a:t>트리거 포인트의 경우 현재 열차 위치에서 알려진 </a:t>
            </a:r>
            <a:r>
              <a:rPr kumimoji="1" lang="en-US" altLang="ko-KR" sz="1000" dirty="0" smtClean="0"/>
              <a:t>"</a:t>
            </a:r>
            <a:r>
              <a:rPr kumimoji="1" lang="ko-KR" altLang="en-US" sz="1000" dirty="0" smtClean="0"/>
              <a:t>절대</a:t>
            </a:r>
            <a:r>
              <a:rPr kumimoji="1" lang="en-US" altLang="ko-KR" sz="1000" dirty="0" smtClean="0"/>
              <a:t>"</a:t>
            </a:r>
            <a:r>
              <a:rPr kumimoji="1" lang="ko-KR" altLang="en-US" sz="1000" dirty="0" smtClean="0"/>
              <a:t>지점까지의 거리가 계속 계산됩니다</a:t>
            </a:r>
            <a:r>
              <a:rPr kumimoji="1" lang="en-US" altLang="ko-KR" sz="1000" dirty="0" smtClean="0"/>
              <a:t>. </a:t>
            </a:r>
            <a:r>
              <a:rPr kumimoji="1" lang="ko-KR" altLang="en-US" sz="1000" dirty="0" smtClean="0"/>
              <a:t>계산 된 거리지정된 상대 거리보다 작아지면 </a:t>
            </a:r>
            <a:r>
              <a:rPr kumimoji="1" lang="en-US" altLang="ko-KR" sz="1000" dirty="0" smtClean="0"/>
              <a:t>"</a:t>
            </a:r>
            <a:r>
              <a:rPr kumimoji="1" lang="ko-KR" altLang="en-US" sz="1000" dirty="0" smtClean="0"/>
              <a:t>상대</a:t>
            </a:r>
            <a:r>
              <a:rPr kumimoji="1" lang="en-US" altLang="ko-KR" sz="1000" dirty="0" smtClean="0"/>
              <a:t>"</a:t>
            </a:r>
            <a:r>
              <a:rPr kumimoji="1" lang="ko-KR" altLang="en-US" sz="1000" dirty="0" smtClean="0"/>
              <a:t>트리거 포인트가 달성됩니다</a:t>
            </a:r>
            <a:r>
              <a:rPr kumimoji="1" lang="en-US" altLang="ko-KR" sz="1000" dirty="0" smtClean="0"/>
              <a:t>. </a:t>
            </a:r>
            <a:r>
              <a:rPr kumimoji="1" lang="ko-KR" altLang="en-US" sz="1000" dirty="0" smtClean="0"/>
              <a:t>이 계산을 수행하는 데 다음 수식이 사용됩니다</a:t>
            </a:r>
            <a:r>
              <a:rPr kumimoji="1" lang="en-US" altLang="ko-KR" sz="1000" dirty="0" smtClean="0"/>
              <a:t>.</a:t>
            </a:r>
          </a:p>
          <a:p>
            <a:endParaRPr kumimoji="1" lang="en-US" altLang="ko-KR" sz="1000" dirty="0"/>
          </a:p>
          <a:p>
            <a:r>
              <a:rPr kumimoji="1" lang="ko-KR" altLang="en-US" sz="1000" b="1" dirty="0" smtClean="0">
                <a:solidFill>
                  <a:srgbClr val="0070C0"/>
                </a:solidFill>
              </a:rPr>
              <a:t>답변 </a:t>
            </a:r>
            <a:r>
              <a:rPr kumimoji="1" lang="en-US" altLang="ko-KR" sz="1000" b="1" dirty="0" smtClean="0">
                <a:solidFill>
                  <a:srgbClr val="0070C0"/>
                </a:solidFill>
              </a:rPr>
              <a:t>:</a:t>
            </a:r>
            <a:r>
              <a:rPr kumimoji="1" lang="ko-KR" altLang="en-US" sz="1000" b="1" dirty="0" smtClean="0">
                <a:solidFill>
                  <a:srgbClr val="0070C0"/>
                </a:solidFill>
              </a:rPr>
              <a:t> 현재 서술한 내용으로 동작 중</a:t>
            </a:r>
            <a:r>
              <a:rPr kumimoji="1" lang="en-US" altLang="ko-KR" sz="1000" b="1" dirty="0" smtClean="0">
                <a:solidFill>
                  <a:srgbClr val="0070C0"/>
                </a:solidFill>
              </a:rPr>
              <a:t>.</a:t>
            </a:r>
            <a:endParaRPr kumimoji="1" lang="en-US" altLang="ko-KR" sz="1000" b="1" dirty="0" smtClean="0">
              <a:solidFill>
                <a:srgbClr val="0070C0"/>
              </a:solidFill>
            </a:endParaRPr>
          </a:p>
          <a:p>
            <a:endParaRPr kumimoji="1" lang="en-US" altLang="ko-KR" sz="1000" dirty="0"/>
          </a:p>
          <a:p>
            <a:endParaRPr kumimoji="1" lang="en-US" altLang="ko-KR" sz="1000" dirty="0" smtClean="0"/>
          </a:p>
          <a:p>
            <a:endParaRPr kumimoji="1" lang="en-US" altLang="ko-KR" sz="1000" dirty="0"/>
          </a:p>
          <a:p>
            <a:endParaRPr kumimoji="1" lang="en-US" altLang="ko-KR" sz="1000" dirty="0" smtClean="0"/>
          </a:p>
          <a:p>
            <a:endParaRPr kumimoji="1" lang="en-US" altLang="ko-KR" sz="1000" dirty="0" smtClean="0"/>
          </a:p>
          <a:p>
            <a:endParaRPr kumimoji="1" lang="en-US" altLang="ko-KR" sz="1000" dirty="0"/>
          </a:p>
          <a:p>
            <a:endParaRPr kumimoji="1" lang="en-US" altLang="ko-KR" sz="1000" dirty="0" smtClean="0"/>
          </a:p>
          <a:p>
            <a:r>
              <a:rPr kumimoji="1" lang="en-US" altLang="ko-KR" sz="1000" dirty="0" smtClean="0"/>
              <a:t>3.7.2.2. </a:t>
            </a:r>
            <a:r>
              <a:rPr kumimoji="1" lang="ko-KR" altLang="en-US" sz="1000" dirty="0" smtClean="0"/>
              <a:t>열차 위치 정보 적용 우선 순위</a:t>
            </a:r>
            <a:endParaRPr kumimoji="1" lang="en-US" altLang="ko-KR" sz="1000" dirty="0" smtClean="0"/>
          </a:p>
          <a:p>
            <a:r>
              <a:rPr kumimoji="1" lang="ko-KR" altLang="en-US" sz="1000" dirty="0" smtClean="0"/>
              <a:t> </a:t>
            </a:r>
            <a:r>
              <a:rPr kumimoji="1" lang="en-US" altLang="ko-KR" sz="1000" dirty="0" smtClean="0"/>
              <a:t>GPS </a:t>
            </a:r>
            <a:r>
              <a:rPr kumimoji="1" lang="ko-KR" altLang="en-US" sz="1000" dirty="0" smtClean="0"/>
              <a:t>위치 정보</a:t>
            </a:r>
            <a:endParaRPr kumimoji="1" lang="en-US" altLang="ko-KR" sz="1000" dirty="0" smtClean="0"/>
          </a:p>
          <a:p>
            <a:r>
              <a:rPr kumimoji="1" lang="ko-KR" altLang="en-US" sz="1000" dirty="0" smtClean="0">
                <a:solidFill>
                  <a:srgbClr val="FF0000"/>
                </a:solidFill>
              </a:rPr>
              <a:t> </a:t>
            </a:r>
            <a:r>
              <a:rPr kumimoji="1" lang="en-US" altLang="ko-KR" sz="1000" dirty="0" smtClean="0">
                <a:solidFill>
                  <a:srgbClr val="FF0000"/>
                </a:solidFill>
              </a:rPr>
              <a:t>GPS </a:t>
            </a:r>
            <a:r>
              <a:rPr kumimoji="1" lang="ko-KR" altLang="en-US" sz="1000" dirty="0" smtClean="0">
                <a:solidFill>
                  <a:srgbClr val="FF0000"/>
                </a:solidFill>
              </a:rPr>
              <a:t>서브 시스템 추측 항법</a:t>
            </a:r>
            <a:endParaRPr kumimoji="1" lang="en-US" altLang="ko-KR" sz="1000" dirty="0" smtClean="0">
              <a:solidFill>
                <a:srgbClr val="FF0000"/>
              </a:solidFill>
            </a:endParaRPr>
          </a:p>
          <a:p>
            <a:r>
              <a:rPr kumimoji="1" lang="ko-KR" altLang="en-US" sz="1000" dirty="0" smtClean="0">
                <a:solidFill>
                  <a:srgbClr val="FF0000"/>
                </a:solidFill>
              </a:rPr>
              <a:t>   </a:t>
            </a:r>
            <a:r>
              <a:rPr kumimoji="1" lang="ko-KR" altLang="en-US" sz="1000" b="1" dirty="0" smtClean="0">
                <a:solidFill>
                  <a:srgbClr val="0070C0"/>
                </a:solidFill>
              </a:rPr>
              <a:t>답변 </a:t>
            </a:r>
            <a:r>
              <a:rPr kumimoji="1" lang="en-US" altLang="ko-KR" sz="1000" b="1" dirty="0" smtClean="0">
                <a:solidFill>
                  <a:srgbClr val="0070C0"/>
                </a:solidFill>
              </a:rPr>
              <a:t>:</a:t>
            </a:r>
            <a:r>
              <a:rPr kumimoji="1" lang="ko-KR" altLang="en-US" sz="1000" b="1" dirty="0" smtClean="0">
                <a:solidFill>
                  <a:srgbClr val="0070C0"/>
                </a:solidFill>
              </a:rPr>
              <a:t> </a:t>
            </a:r>
            <a:r>
              <a:rPr kumimoji="1" lang="en-US" altLang="ko-KR" sz="1000" b="1" dirty="0" smtClean="0">
                <a:solidFill>
                  <a:srgbClr val="0070C0"/>
                </a:solidFill>
              </a:rPr>
              <a:t>SEPTA</a:t>
            </a:r>
            <a:r>
              <a:rPr kumimoji="1" lang="ko-KR" altLang="en-US" sz="1000" b="1" dirty="0" smtClean="0">
                <a:solidFill>
                  <a:srgbClr val="0070C0"/>
                </a:solidFill>
              </a:rPr>
              <a:t> 내용 입니다</a:t>
            </a:r>
            <a:r>
              <a:rPr kumimoji="1" lang="en-US" altLang="ko-KR" sz="1000" b="1" dirty="0" smtClean="0">
                <a:solidFill>
                  <a:srgbClr val="0070C0"/>
                </a:solidFill>
              </a:rPr>
              <a:t>,</a:t>
            </a:r>
            <a:r>
              <a:rPr kumimoji="1" lang="ko-KR" altLang="en-US" sz="1000" b="1" dirty="0" smtClean="0">
                <a:solidFill>
                  <a:srgbClr val="0070C0"/>
                </a:solidFill>
              </a:rPr>
              <a:t> 위해서 언급 한것 처럼</a:t>
            </a:r>
            <a:r>
              <a:rPr kumimoji="1" lang="en-US" altLang="ko-KR" sz="1000" b="1" dirty="0" smtClean="0">
                <a:solidFill>
                  <a:srgbClr val="0070C0"/>
                </a:solidFill>
              </a:rPr>
              <a:t>,</a:t>
            </a:r>
            <a:r>
              <a:rPr kumimoji="1" lang="ko-KR" altLang="en-US" sz="1000" b="1" dirty="0" smtClean="0">
                <a:solidFill>
                  <a:srgbClr val="0070C0"/>
                </a:solidFill>
              </a:rPr>
              <a:t> </a:t>
            </a:r>
            <a:r>
              <a:rPr kumimoji="1" lang="en-US" altLang="ko-KR" sz="1000" b="1" dirty="0" smtClean="0">
                <a:solidFill>
                  <a:srgbClr val="0070C0"/>
                </a:solidFill>
              </a:rPr>
              <a:t>GPS </a:t>
            </a:r>
            <a:r>
              <a:rPr kumimoji="1" lang="ko-KR" altLang="en-US" sz="1000" b="1" dirty="0" smtClean="0">
                <a:solidFill>
                  <a:srgbClr val="0070C0"/>
                </a:solidFill>
              </a:rPr>
              <a:t>백업 데이타를 사용 하고 있습니다</a:t>
            </a:r>
            <a:r>
              <a:rPr kumimoji="1" lang="en-US" altLang="ko-KR" sz="1000" b="1" dirty="0" smtClean="0">
                <a:solidFill>
                  <a:srgbClr val="0070C0"/>
                </a:solidFill>
              </a:rPr>
              <a:t>.</a:t>
            </a:r>
          </a:p>
          <a:p>
            <a:endParaRPr kumimoji="1" lang="en-US" altLang="ko-KR" sz="1000" dirty="0"/>
          </a:p>
          <a:p>
            <a:r>
              <a:rPr kumimoji="1" lang="en-US" altLang="ko-KR" sz="1000" dirty="0" smtClean="0"/>
              <a:t>3.7.2.3. </a:t>
            </a:r>
            <a:r>
              <a:rPr kumimoji="1" lang="ko-KR" altLang="en-US" sz="1000" dirty="0" smtClean="0"/>
              <a:t>열차 </a:t>
            </a:r>
            <a:r>
              <a:rPr kumimoji="1" lang="ko-KR" altLang="en-US" sz="1000" b="1" dirty="0" smtClean="0">
                <a:solidFill>
                  <a:srgbClr val="0070C0"/>
                </a:solidFill>
              </a:rPr>
              <a:t>운행 정보 </a:t>
            </a:r>
            <a:r>
              <a:rPr kumimoji="1" lang="ko-KR" altLang="en-US" sz="1000" dirty="0" smtClean="0"/>
              <a:t>생성</a:t>
            </a:r>
            <a:r>
              <a:rPr kumimoji="1" lang="en-US" altLang="ko-KR" sz="1000" dirty="0" smtClean="0"/>
              <a:t> </a:t>
            </a:r>
            <a:r>
              <a:rPr kumimoji="1" lang="ko-KR" altLang="en-US" sz="1000" dirty="0" smtClean="0"/>
              <a:t> </a:t>
            </a:r>
            <a:endParaRPr kumimoji="1" lang="en-US" altLang="ko-KR" sz="1000" dirty="0"/>
          </a:p>
          <a:p>
            <a:r>
              <a:rPr kumimoji="1" lang="ko-KR" altLang="en-US" sz="1000" b="1" dirty="0" smtClean="0">
                <a:solidFill>
                  <a:srgbClr val="0070C0"/>
                </a:solidFill>
              </a:rPr>
              <a:t>답변 </a:t>
            </a:r>
            <a:r>
              <a:rPr kumimoji="1" lang="en-US" altLang="ko-KR" sz="1000" b="1" dirty="0" smtClean="0">
                <a:solidFill>
                  <a:srgbClr val="0070C0"/>
                </a:solidFill>
              </a:rPr>
              <a:t>:</a:t>
            </a:r>
            <a:r>
              <a:rPr kumimoji="1" lang="ko-KR" altLang="en-US" sz="1000" b="1" dirty="0" smtClean="0">
                <a:solidFill>
                  <a:srgbClr val="0070C0"/>
                </a:solidFill>
              </a:rPr>
              <a:t> 편집기에서 아래 내용들에 대하여</a:t>
            </a:r>
            <a:r>
              <a:rPr kumimoji="1" lang="en-US" altLang="ko-KR" sz="1000" b="1" dirty="0" smtClean="0">
                <a:solidFill>
                  <a:srgbClr val="0070C0"/>
                </a:solidFill>
              </a:rPr>
              <a:t>,</a:t>
            </a:r>
            <a:r>
              <a:rPr kumimoji="1" lang="ko-KR" altLang="en-US" sz="1000" b="1" dirty="0" smtClean="0">
                <a:solidFill>
                  <a:srgbClr val="0070C0"/>
                </a:solidFill>
              </a:rPr>
              <a:t> 편집 할수 있다는 내용 입니다</a:t>
            </a:r>
            <a:r>
              <a:rPr kumimoji="1" lang="en-US" altLang="ko-KR" sz="1000" b="1" dirty="0" smtClean="0">
                <a:solidFill>
                  <a:srgbClr val="0070C0"/>
                </a:solidFill>
              </a:rPr>
              <a:t>.</a:t>
            </a:r>
          </a:p>
          <a:p>
            <a:endParaRPr kumimoji="1" lang="en-US" altLang="ko-KR" sz="1000" dirty="0"/>
          </a:p>
          <a:p>
            <a:r>
              <a:rPr kumimoji="1" lang="ko-KR" altLang="en-US" sz="1000" dirty="0" smtClean="0"/>
              <a:t> 역 접근 신호</a:t>
            </a:r>
            <a:endParaRPr kumimoji="1" lang="en-US" altLang="ko-KR" sz="1000" dirty="0" smtClean="0"/>
          </a:p>
          <a:p>
            <a:r>
              <a:rPr kumimoji="1" lang="ko-KR" altLang="en-US" sz="1000" dirty="0" smtClean="0"/>
              <a:t> 역 도착 신호</a:t>
            </a:r>
            <a:endParaRPr kumimoji="1" lang="en-US" altLang="ko-KR" sz="1000" dirty="0" smtClean="0"/>
          </a:p>
          <a:p>
            <a:r>
              <a:rPr kumimoji="1" lang="ko-KR" altLang="en-US" sz="1000" dirty="0" smtClean="0"/>
              <a:t> 문 열림 신호</a:t>
            </a:r>
            <a:endParaRPr kumimoji="1" lang="en-US" altLang="ko-KR" sz="1000" dirty="0" smtClean="0"/>
          </a:p>
          <a:p>
            <a:r>
              <a:rPr kumimoji="1" lang="ko-KR" altLang="en-US" sz="1000" dirty="0" smtClean="0"/>
              <a:t> 도어 폐쇄 신호</a:t>
            </a:r>
            <a:endParaRPr kumimoji="1" lang="en-US" altLang="ko-KR" sz="1000" dirty="0" smtClean="0"/>
          </a:p>
          <a:p>
            <a:r>
              <a:rPr kumimoji="1" lang="ko-KR" altLang="en-US" sz="1000" dirty="0" smtClean="0"/>
              <a:t> 역 출발 신호</a:t>
            </a:r>
            <a:endParaRPr kumimoji="1" lang="en-US" altLang="ko-KR" sz="1000" dirty="0" smtClean="0"/>
          </a:p>
          <a:p>
            <a:r>
              <a:rPr kumimoji="1" lang="ko-KR" altLang="en-US" sz="1000" dirty="0" smtClean="0"/>
              <a:t> 현재 날짜 및 시간 데이터</a:t>
            </a:r>
            <a:endParaRPr kumimoji="1" lang="en-US" altLang="ko-KR" sz="1000" dirty="0" smtClean="0"/>
          </a:p>
          <a:p>
            <a:endParaRPr kumimoji="1" lang="ko-KR" altLang="en-US" sz="1000" dirty="0"/>
          </a:p>
        </p:txBody>
      </p:sp>
    </p:spTree>
    <p:extLst>
      <p:ext uri="{BB962C8B-B14F-4D97-AF65-F5344CB8AC3E}">
        <p14:creationId xmlns:p14="http://schemas.microsoft.com/office/powerpoint/2010/main" val="871393329"/>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2574</Words>
  <Application>Microsoft Macintosh PowerPoint</Application>
  <PresentationFormat>와이드스크린</PresentationFormat>
  <Paragraphs>103</Paragraphs>
  <Slides>2</Slides>
  <Notes>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vt:i4>
      </vt:variant>
    </vt:vector>
  </HeadingPairs>
  <TitlesOfParts>
    <vt:vector size="6" baseType="lpstr">
      <vt:lpstr>맑은 고딕</vt:lpstr>
      <vt:lpstr>Wingdings</vt:lpstr>
      <vt:lpstr>Arial</vt:lpstr>
      <vt:lpstr>Office 테마</vt:lpstr>
      <vt:lpstr>PowerPoint 프레젠테이션</vt:lpstr>
      <vt:lpstr>PowerPoint 프레젠테이션</vt:lpstr>
    </vt:vector>
  </TitlesOfParts>
  <Company/>
  <LinksUpToDate>false</LinksUpToDate>
  <SharedDoc>false</SharedDoc>
  <HyperlinksChanged>false</HyperlinksChanged>
  <AppVersion>15.0035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장덕수</dc:creator>
  <cp:lastModifiedBy>장덕수</cp:lastModifiedBy>
  <cp:revision>7</cp:revision>
  <dcterms:created xsi:type="dcterms:W3CDTF">2017-07-11T14:22:34Z</dcterms:created>
  <dcterms:modified xsi:type="dcterms:W3CDTF">2017-07-11T15:15:19Z</dcterms:modified>
</cp:coreProperties>
</file>