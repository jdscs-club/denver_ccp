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719" r:id="rId1"/>
    <p:sldMasterId id="2147486576" r:id="rId2"/>
  </p:sldMasterIdLst>
  <p:notesMasterIdLst>
    <p:notesMasterId r:id="rId11"/>
  </p:notesMasterIdLst>
  <p:handoutMasterIdLst>
    <p:handoutMasterId r:id="rId12"/>
  </p:handoutMasterIdLst>
  <p:sldIdLst>
    <p:sldId id="729" r:id="rId3"/>
    <p:sldId id="781" r:id="rId4"/>
    <p:sldId id="791" r:id="rId5"/>
    <p:sldId id="787" r:id="rId6"/>
    <p:sldId id="788" r:id="rId7"/>
    <p:sldId id="789" r:id="rId8"/>
    <p:sldId id="790" r:id="rId9"/>
    <p:sldId id="792" r:id="rId10"/>
  </p:sldIdLst>
  <p:sldSz cx="9906000" cy="6858000" type="A4"/>
  <p:notesSz cx="7010400" cy="9236075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굴림" charset="-127"/>
        <a:cs typeface="+mn-cs"/>
      </a:defRPr>
    </a:lvl1pPr>
    <a:lvl2pPr marL="488827" indent="1704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굴림" charset="-127"/>
        <a:cs typeface="+mn-cs"/>
      </a:defRPr>
    </a:lvl2pPr>
    <a:lvl3pPr marL="979357" indent="1704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굴림" charset="-127"/>
        <a:cs typeface="+mn-cs"/>
      </a:defRPr>
    </a:lvl3pPr>
    <a:lvl4pPr marL="1469887" indent="1704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굴림" charset="-127"/>
        <a:cs typeface="+mn-cs"/>
      </a:defRPr>
    </a:lvl4pPr>
    <a:lvl5pPr marL="1960417" indent="1704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굴림" charset="-127"/>
        <a:cs typeface="+mn-cs"/>
      </a:defRPr>
    </a:lvl5pPr>
    <a:lvl6pPr marL="2452649" algn="l" defTabSz="981060" rtl="0" eaLnBrk="1" latinLnBrk="1" hangingPunct="1">
      <a:defRPr kern="1200">
        <a:solidFill>
          <a:schemeClr val="tx1"/>
        </a:solidFill>
        <a:latin typeface="Arial" charset="0"/>
        <a:ea typeface="굴림" charset="-127"/>
        <a:cs typeface="+mn-cs"/>
      </a:defRPr>
    </a:lvl6pPr>
    <a:lvl7pPr marL="2943179" algn="l" defTabSz="981060" rtl="0" eaLnBrk="1" latinLnBrk="1" hangingPunct="1">
      <a:defRPr kern="1200">
        <a:solidFill>
          <a:schemeClr val="tx1"/>
        </a:solidFill>
        <a:latin typeface="Arial" charset="0"/>
        <a:ea typeface="굴림" charset="-127"/>
        <a:cs typeface="+mn-cs"/>
      </a:defRPr>
    </a:lvl7pPr>
    <a:lvl8pPr marL="3433709" algn="l" defTabSz="981060" rtl="0" eaLnBrk="1" latinLnBrk="1" hangingPunct="1">
      <a:defRPr kern="1200">
        <a:solidFill>
          <a:schemeClr val="tx1"/>
        </a:solidFill>
        <a:latin typeface="Arial" charset="0"/>
        <a:ea typeface="굴림" charset="-127"/>
        <a:cs typeface="+mn-cs"/>
      </a:defRPr>
    </a:lvl8pPr>
    <a:lvl9pPr marL="3924239" algn="l" defTabSz="981060" rtl="0" eaLnBrk="1" latinLnBrk="1" hangingPunct="1">
      <a:defRPr kern="1200">
        <a:solidFill>
          <a:schemeClr val="tx1"/>
        </a:solidFill>
        <a:latin typeface="Arial" charset="0"/>
        <a:ea typeface="굴림" charset="-127"/>
        <a:cs typeface="+mn-cs"/>
      </a:defRPr>
    </a:lvl9pPr>
  </p:defaultTextStyle>
  <p:extLst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66"/>
    <a:srgbClr val="0000CC"/>
    <a:srgbClr val="0000FF"/>
    <a:srgbClr val="CCFFCC"/>
    <a:srgbClr val="006600"/>
    <a:srgbClr val="FF99FF"/>
    <a:srgbClr val="7F7F7F"/>
    <a:srgbClr val="FFFFCC"/>
    <a:srgbClr val="FFFF99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어두운 스타일 1 - 강조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471" autoAdjust="0"/>
    <p:restoredTop sz="99885" autoAdjust="0"/>
  </p:normalViewPr>
  <p:slideViewPr>
    <p:cSldViewPr>
      <p:cViewPr>
        <p:scale>
          <a:sx n="80" d="100"/>
          <a:sy n="80" d="100"/>
        </p:scale>
        <p:origin x="-984" y="-816"/>
      </p:cViewPr>
      <p:guideLst>
        <p:guide orient="horz" pos="2160"/>
        <p:guide orient="horz" pos="4110"/>
        <p:guide orient="horz" pos="482"/>
        <p:guide pos="3120"/>
        <p:guide pos="6114"/>
        <p:guide pos="172"/>
        <p:guide pos="671"/>
        <p:guide pos="761"/>
        <p:guide pos="2621"/>
        <p:guide pos="444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66" d="100"/>
          <a:sy n="66" d="100"/>
        </p:scale>
        <p:origin x="-2646" y="-72"/>
      </p:cViewPr>
      <p:guideLst>
        <p:guide orient="horz" pos="2909"/>
        <p:guide pos="22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4" y="1"/>
            <a:ext cx="3037621" cy="461730"/>
          </a:xfrm>
          <a:prstGeom prst="rect">
            <a:avLst/>
          </a:prstGeom>
        </p:spPr>
        <p:txBody>
          <a:bodyPr vert="horz" lIns="91321" tIns="45661" rIns="91321" bIns="45661" rtlCol="0"/>
          <a:lstStyle>
            <a:lvl1pPr algn="l" eaLnBrk="1" latinLnBrk="1" hangingPunct="1">
              <a:defRPr kumimoji="1"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971147" y="1"/>
            <a:ext cx="3037621" cy="461730"/>
          </a:xfrm>
          <a:prstGeom prst="rect">
            <a:avLst/>
          </a:prstGeom>
        </p:spPr>
        <p:txBody>
          <a:bodyPr vert="horz" lIns="91321" tIns="45661" rIns="91321" bIns="45661" rtlCol="0"/>
          <a:lstStyle>
            <a:lvl1pPr algn="r" eaLnBrk="1" latinLnBrk="1" hangingPunct="1">
              <a:defRPr kumimoji="1"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8978FA94-3E67-4FD4-92FA-32818AE18FEE}" type="datetimeFigureOut">
              <a:rPr lang="ko-KR" altLang="en-US"/>
              <a:pPr>
                <a:defRPr/>
              </a:pPr>
              <a:t>2017-10-07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4" y="8772873"/>
            <a:ext cx="3037621" cy="461729"/>
          </a:xfrm>
          <a:prstGeom prst="rect">
            <a:avLst/>
          </a:prstGeom>
        </p:spPr>
        <p:txBody>
          <a:bodyPr vert="horz" lIns="91321" tIns="45661" rIns="91321" bIns="45661" rtlCol="0" anchor="b"/>
          <a:lstStyle>
            <a:lvl1pPr algn="l" eaLnBrk="1" latinLnBrk="1" hangingPunct="1">
              <a:defRPr kumimoji="1"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971147" y="8772873"/>
            <a:ext cx="3037621" cy="461729"/>
          </a:xfrm>
          <a:prstGeom prst="rect">
            <a:avLst/>
          </a:prstGeom>
        </p:spPr>
        <p:txBody>
          <a:bodyPr vert="horz" lIns="91321" tIns="45661" rIns="91321" bIns="45661" rtlCol="0" anchor="b"/>
          <a:lstStyle>
            <a:lvl1pPr algn="r" eaLnBrk="1" latinLnBrk="1" hangingPunct="1">
              <a:defRPr kumimoji="1"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74CD34C4-A78E-445E-BC18-9550B505388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67359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1"/>
            <a:ext cx="3037621" cy="4617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16" tIns="45658" rIns="91316" bIns="45658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1"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147" y="1"/>
            <a:ext cx="3037621" cy="4617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16" tIns="45658" rIns="91316" bIns="45658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1"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89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04888" y="692150"/>
            <a:ext cx="5002212" cy="34623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368" y="4387172"/>
            <a:ext cx="5607666" cy="4155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16" tIns="45658" rIns="91316" bIns="4565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8772873"/>
            <a:ext cx="3037621" cy="4617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16" tIns="45658" rIns="91316" bIns="45658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kumimoji="1"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147" y="8772873"/>
            <a:ext cx="3037621" cy="4617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16" tIns="45658" rIns="91316" bIns="45658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1"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B9D7B847-F395-4C89-BBC6-6C5A88D8BDC0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9879087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3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88827" algn="l" rtl="0" eaLnBrk="0" fontAlgn="base" latinLnBrk="1" hangingPunct="0">
      <a:spcBef>
        <a:spcPct val="30000"/>
      </a:spcBef>
      <a:spcAft>
        <a:spcPct val="0"/>
      </a:spcAft>
      <a:defRPr kumimoji="1" sz="13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79357" algn="l" rtl="0" eaLnBrk="0" fontAlgn="base" latinLnBrk="1" hangingPunct="0">
      <a:spcBef>
        <a:spcPct val="30000"/>
      </a:spcBef>
      <a:spcAft>
        <a:spcPct val="0"/>
      </a:spcAft>
      <a:defRPr kumimoji="1" sz="13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469887" algn="l" rtl="0" eaLnBrk="0" fontAlgn="base" latinLnBrk="1" hangingPunct="0">
      <a:spcBef>
        <a:spcPct val="30000"/>
      </a:spcBef>
      <a:spcAft>
        <a:spcPct val="0"/>
      </a:spcAft>
      <a:defRPr kumimoji="1" sz="13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960417" algn="l" rtl="0" eaLnBrk="0" fontAlgn="base" latinLnBrk="1" hangingPunct="0">
      <a:spcBef>
        <a:spcPct val="30000"/>
      </a:spcBef>
      <a:spcAft>
        <a:spcPct val="0"/>
      </a:spcAft>
      <a:defRPr kumimoji="1" sz="13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452228" algn="l" defTabSz="980892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942674" algn="l" defTabSz="980892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433120" algn="l" defTabSz="980892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923566" algn="l" defTabSz="980892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4888" y="692150"/>
            <a:ext cx="5002212" cy="3462338"/>
          </a:xfrm>
          <a:ln/>
        </p:spPr>
      </p:sp>
      <p:sp>
        <p:nvSpPr>
          <p:cNvPr id="39939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 smtClean="0">
              <a:latin typeface="굴림" charset="-127"/>
              <a:ea typeface="굴림" charset="-127"/>
            </a:endParaRPr>
          </a:p>
        </p:txBody>
      </p:sp>
      <p:sp>
        <p:nvSpPr>
          <p:cNvPr id="39940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  <a:lvl2pPr marL="741984" indent="-285379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2pPr>
            <a:lvl3pPr marL="1141514" indent="-228303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3pPr>
            <a:lvl4pPr marL="1598120" indent="-228303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4pPr>
            <a:lvl5pPr marL="2054725" indent="-228303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5pPr>
            <a:lvl6pPr marL="2511331" indent="-22830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6pPr>
            <a:lvl7pPr marL="2967937" indent="-22830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7pPr>
            <a:lvl8pPr marL="3424542" indent="-22830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8pPr>
            <a:lvl9pPr marL="3881148" indent="-22830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9pPr>
          </a:lstStyle>
          <a:p>
            <a:fld id="{8F7EBD01-90A4-43FB-86B4-48B3DDA3ADC4}" type="slidenum">
              <a:rPr lang="en-US" altLang="ko-KR" smtClean="0">
                <a:latin typeface="굴림" charset="-127"/>
              </a:rPr>
              <a:pPr/>
              <a:t>0</a:t>
            </a:fld>
            <a:endParaRPr lang="en-US" altLang="ko-KR" smtClean="0">
              <a:latin typeface="굴림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687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1984" indent="-285379" defTabSz="90687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1514" indent="-228303" defTabSz="90687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598120" indent="-228303" defTabSz="90687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4725" indent="-228303" defTabSz="90687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1331" indent="-228303" defTabSz="90687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67937" indent="-228303" defTabSz="90687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4542" indent="-228303" defTabSz="90687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1148" indent="-228303" defTabSz="90687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E57CA11F-C0A1-48DD-9BE3-C8877865BED2}" type="slidenum">
              <a:rPr lang="en-US" altLang="ko-KR" smtClean="0">
                <a:solidFill>
                  <a:srgbClr val="000000"/>
                </a:solidFill>
              </a:rPr>
              <a:pPr/>
              <a:t>1</a:t>
            </a:fld>
            <a:endParaRPr lang="en-US" altLang="ko-KR" smtClean="0">
              <a:solidFill>
                <a:srgbClr val="000000"/>
              </a:solidFill>
            </a:endParaRPr>
          </a:p>
        </p:txBody>
      </p:sp>
      <p:sp>
        <p:nvSpPr>
          <p:cNvPr id="101379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11238" y="693738"/>
            <a:ext cx="4995862" cy="3459162"/>
          </a:xfrm>
          <a:ln/>
        </p:spPr>
      </p:sp>
      <p:sp>
        <p:nvSpPr>
          <p:cNvPr id="101380" name="슬라이드 노트 개체 틀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929" tIns="44967" rIns="89929" bIns="44967"/>
          <a:lstStyle/>
          <a:p>
            <a:pPr eaLnBrk="1" hangingPunct="1">
              <a:spcBef>
                <a:spcPct val="0"/>
              </a:spcBef>
            </a:pPr>
            <a:endParaRPr lang="ko-KR" altLang="ko-KR" smtClean="0"/>
          </a:p>
        </p:txBody>
      </p:sp>
      <p:sp>
        <p:nvSpPr>
          <p:cNvPr id="101381" name="슬라이드 번호 개체 틀 3"/>
          <p:cNvSpPr txBox="1">
            <a:spLocks noGrp="1"/>
          </p:cNvSpPr>
          <p:nvPr/>
        </p:nvSpPr>
        <p:spPr bwMode="auto">
          <a:xfrm>
            <a:off x="3969510" y="8771395"/>
            <a:ext cx="3039258" cy="463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929" tIns="44967" rIns="89929" bIns="44967" anchor="b"/>
          <a:lstStyle>
            <a:lvl1pPr defTabSz="941388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41388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41388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41388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41388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413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413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413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413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r"/>
            <a:fld id="{170EBCB2-7565-4895-8693-C92E1807D88E}" type="slidenum">
              <a:rPr lang="en-US" altLang="ko-KR" b="1">
                <a:solidFill>
                  <a:srgbClr val="000000"/>
                </a:solidFill>
              </a:rPr>
              <a:pPr algn="r"/>
              <a:t>1</a:t>
            </a:fld>
            <a:endParaRPr lang="en-US" altLang="ko-KR" b="1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687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1984" indent="-285379" defTabSz="90687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1514" indent="-228303" defTabSz="90687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598120" indent="-228303" defTabSz="90687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4725" indent="-228303" defTabSz="90687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1331" indent="-228303" defTabSz="90687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67937" indent="-228303" defTabSz="90687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4542" indent="-228303" defTabSz="90687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1148" indent="-228303" defTabSz="90687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E57CA11F-C0A1-48DD-9BE3-C8877865BED2}" type="slidenum">
              <a:rPr lang="en-US" altLang="ko-KR" smtClean="0">
                <a:solidFill>
                  <a:srgbClr val="000000"/>
                </a:solidFill>
              </a:rPr>
              <a:pPr/>
              <a:t>2</a:t>
            </a:fld>
            <a:endParaRPr lang="en-US" altLang="ko-KR" smtClean="0">
              <a:solidFill>
                <a:srgbClr val="000000"/>
              </a:solidFill>
            </a:endParaRPr>
          </a:p>
        </p:txBody>
      </p:sp>
      <p:sp>
        <p:nvSpPr>
          <p:cNvPr id="101379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11238" y="693738"/>
            <a:ext cx="4995862" cy="3459162"/>
          </a:xfrm>
          <a:ln/>
        </p:spPr>
      </p:sp>
      <p:sp>
        <p:nvSpPr>
          <p:cNvPr id="101380" name="슬라이드 노트 개체 틀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929" tIns="44967" rIns="89929" bIns="44967"/>
          <a:lstStyle/>
          <a:p>
            <a:pPr eaLnBrk="1" hangingPunct="1">
              <a:spcBef>
                <a:spcPct val="0"/>
              </a:spcBef>
            </a:pPr>
            <a:endParaRPr lang="ko-KR" altLang="ko-KR" smtClean="0"/>
          </a:p>
        </p:txBody>
      </p:sp>
      <p:sp>
        <p:nvSpPr>
          <p:cNvPr id="101381" name="슬라이드 번호 개체 틀 3"/>
          <p:cNvSpPr txBox="1">
            <a:spLocks noGrp="1"/>
          </p:cNvSpPr>
          <p:nvPr/>
        </p:nvSpPr>
        <p:spPr bwMode="auto">
          <a:xfrm>
            <a:off x="3969510" y="8771395"/>
            <a:ext cx="3039258" cy="463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929" tIns="44967" rIns="89929" bIns="44967" anchor="b"/>
          <a:lstStyle>
            <a:lvl1pPr defTabSz="941388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41388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41388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41388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41388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413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413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413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413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r"/>
            <a:fld id="{170EBCB2-7565-4895-8693-C92E1807D88E}" type="slidenum">
              <a:rPr lang="en-US" altLang="ko-KR" b="1">
                <a:solidFill>
                  <a:srgbClr val="000000"/>
                </a:solidFill>
              </a:rPr>
              <a:pPr algn="r"/>
              <a:t>2</a:t>
            </a:fld>
            <a:endParaRPr lang="en-US" altLang="ko-KR" b="1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687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1984" indent="-285379" defTabSz="90687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1514" indent="-228303" defTabSz="90687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598120" indent="-228303" defTabSz="90687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4725" indent="-228303" defTabSz="90687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1331" indent="-228303" defTabSz="90687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67937" indent="-228303" defTabSz="90687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4542" indent="-228303" defTabSz="90687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1148" indent="-228303" defTabSz="90687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E57CA11F-C0A1-48DD-9BE3-C8877865BED2}" type="slidenum">
              <a:rPr lang="en-US" altLang="ko-KR" smtClean="0">
                <a:solidFill>
                  <a:srgbClr val="000000"/>
                </a:solidFill>
              </a:rPr>
              <a:pPr/>
              <a:t>3</a:t>
            </a:fld>
            <a:endParaRPr lang="en-US" altLang="ko-KR" smtClean="0">
              <a:solidFill>
                <a:srgbClr val="000000"/>
              </a:solidFill>
            </a:endParaRPr>
          </a:p>
        </p:txBody>
      </p:sp>
      <p:sp>
        <p:nvSpPr>
          <p:cNvPr id="101379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11238" y="693738"/>
            <a:ext cx="4995862" cy="3459162"/>
          </a:xfrm>
          <a:ln/>
        </p:spPr>
      </p:sp>
      <p:sp>
        <p:nvSpPr>
          <p:cNvPr id="101380" name="슬라이드 노트 개체 틀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929" tIns="44967" rIns="89929" bIns="44967"/>
          <a:lstStyle/>
          <a:p>
            <a:pPr eaLnBrk="1" hangingPunct="1">
              <a:spcBef>
                <a:spcPct val="0"/>
              </a:spcBef>
            </a:pPr>
            <a:endParaRPr lang="ko-KR" altLang="ko-KR" smtClean="0"/>
          </a:p>
        </p:txBody>
      </p:sp>
      <p:sp>
        <p:nvSpPr>
          <p:cNvPr id="101381" name="슬라이드 번호 개체 틀 3"/>
          <p:cNvSpPr txBox="1">
            <a:spLocks noGrp="1"/>
          </p:cNvSpPr>
          <p:nvPr/>
        </p:nvSpPr>
        <p:spPr bwMode="auto">
          <a:xfrm>
            <a:off x="3969510" y="8771395"/>
            <a:ext cx="3039258" cy="463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929" tIns="44967" rIns="89929" bIns="44967" anchor="b"/>
          <a:lstStyle>
            <a:lvl1pPr defTabSz="941388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41388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41388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41388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41388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413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413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413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413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r"/>
            <a:fld id="{170EBCB2-7565-4895-8693-C92E1807D88E}" type="slidenum">
              <a:rPr lang="en-US" altLang="ko-KR" b="1">
                <a:solidFill>
                  <a:srgbClr val="000000"/>
                </a:solidFill>
              </a:rPr>
              <a:pPr algn="r"/>
              <a:t>3</a:t>
            </a:fld>
            <a:endParaRPr lang="en-US" altLang="ko-KR" b="1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687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1984" indent="-285379" defTabSz="90687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1514" indent="-228303" defTabSz="90687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598120" indent="-228303" defTabSz="90687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4725" indent="-228303" defTabSz="90687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1331" indent="-228303" defTabSz="90687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67937" indent="-228303" defTabSz="90687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4542" indent="-228303" defTabSz="90687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1148" indent="-228303" defTabSz="90687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E57CA11F-C0A1-48DD-9BE3-C8877865BED2}" type="slidenum">
              <a:rPr lang="en-US" altLang="ko-KR" smtClean="0">
                <a:solidFill>
                  <a:srgbClr val="000000"/>
                </a:solidFill>
              </a:rPr>
              <a:pPr/>
              <a:t>4</a:t>
            </a:fld>
            <a:endParaRPr lang="en-US" altLang="ko-KR" smtClean="0">
              <a:solidFill>
                <a:srgbClr val="000000"/>
              </a:solidFill>
            </a:endParaRPr>
          </a:p>
        </p:txBody>
      </p:sp>
      <p:sp>
        <p:nvSpPr>
          <p:cNvPr id="101379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11238" y="693738"/>
            <a:ext cx="4995862" cy="3459162"/>
          </a:xfrm>
          <a:ln/>
        </p:spPr>
      </p:sp>
      <p:sp>
        <p:nvSpPr>
          <p:cNvPr id="101380" name="슬라이드 노트 개체 틀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929" tIns="44967" rIns="89929" bIns="44967"/>
          <a:lstStyle/>
          <a:p>
            <a:pPr eaLnBrk="1" hangingPunct="1">
              <a:spcBef>
                <a:spcPct val="0"/>
              </a:spcBef>
            </a:pPr>
            <a:endParaRPr lang="ko-KR" altLang="ko-KR" smtClean="0"/>
          </a:p>
        </p:txBody>
      </p:sp>
      <p:sp>
        <p:nvSpPr>
          <p:cNvPr id="101381" name="슬라이드 번호 개체 틀 3"/>
          <p:cNvSpPr txBox="1">
            <a:spLocks noGrp="1"/>
          </p:cNvSpPr>
          <p:nvPr/>
        </p:nvSpPr>
        <p:spPr bwMode="auto">
          <a:xfrm>
            <a:off x="3969510" y="8771395"/>
            <a:ext cx="3039258" cy="463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929" tIns="44967" rIns="89929" bIns="44967" anchor="b"/>
          <a:lstStyle>
            <a:lvl1pPr defTabSz="941388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41388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41388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41388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41388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413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413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413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413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r"/>
            <a:fld id="{170EBCB2-7565-4895-8693-C92E1807D88E}" type="slidenum">
              <a:rPr lang="en-US" altLang="ko-KR" b="1">
                <a:solidFill>
                  <a:srgbClr val="000000"/>
                </a:solidFill>
              </a:rPr>
              <a:pPr algn="r"/>
              <a:t>4</a:t>
            </a:fld>
            <a:endParaRPr lang="en-US" altLang="ko-KR" b="1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687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1984" indent="-285379" defTabSz="90687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1514" indent="-228303" defTabSz="90687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598120" indent="-228303" defTabSz="90687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4725" indent="-228303" defTabSz="90687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1331" indent="-228303" defTabSz="90687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67937" indent="-228303" defTabSz="90687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4542" indent="-228303" defTabSz="90687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1148" indent="-228303" defTabSz="90687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E57CA11F-C0A1-48DD-9BE3-C8877865BED2}" type="slidenum">
              <a:rPr lang="en-US" altLang="ko-KR" smtClean="0">
                <a:solidFill>
                  <a:srgbClr val="000000"/>
                </a:solidFill>
              </a:rPr>
              <a:pPr/>
              <a:t>5</a:t>
            </a:fld>
            <a:endParaRPr lang="en-US" altLang="ko-KR" smtClean="0">
              <a:solidFill>
                <a:srgbClr val="000000"/>
              </a:solidFill>
            </a:endParaRPr>
          </a:p>
        </p:txBody>
      </p:sp>
      <p:sp>
        <p:nvSpPr>
          <p:cNvPr id="101379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11238" y="693738"/>
            <a:ext cx="4995862" cy="3459162"/>
          </a:xfrm>
          <a:ln/>
        </p:spPr>
      </p:sp>
      <p:sp>
        <p:nvSpPr>
          <p:cNvPr id="101380" name="슬라이드 노트 개체 틀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929" tIns="44967" rIns="89929" bIns="44967"/>
          <a:lstStyle/>
          <a:p>
            <a:pPr eaLnBrk="1" hangingPunct="1">
              <a:spcBef>
                <a:spcPct val="0"/>
              </a:spcBef>
            </a:pPr>
            <a:endParaRPr lang="ko-KR" altLang="ko-KR" smtClean="0"/>
          </a:p>
        </p:txBody>
      </p:sp>
      <p:sp>
        <p:nvSpPr>
          <p:cNvPr id="101381" name="슬라이드 번호 개체 틀 3"/>
          <p:cNvSpPr txBox="1">
            <a:spLocks noGrp="1"/>
          </p:cNvSpPr>
          <p:nvPr/>
        </p:nvSpPr>
        <p:spPr bwMode="auto">
          <a:xfrm>
            <a:off x="3969510" y="8771395"/>
            <a:ext cx="3039258" cy="463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929" tIns="44967" rIns="89929" bIns="44967" anchor="b"/>
          <a:lstStyle>
            <a:lvl1pPr defTabSz="941388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41388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41388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41388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41388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413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413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413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413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r"/>
            <a:fld id="{170EBCB2-7565-4895-8693-C92E1807D88E}" type="slidenum">
              <a:rPr lang="en-US" altLang="ko-KR" b="1">
                <a:solidFill>
                  <a:srgbClr val="000000"/>
                </a:solidFill>
              </a:rPr>
              <a:pPr algn="r"/>
              <a:t>5</a:t>
            </a:fld>
            <a:endParaRPr lang="en-US" altLang="ko-KR" b="1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687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1984" indent="-285379" defTabSz="90687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1514" indent="-228303" defTabSz="90687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598120" indent="-228303" defTabSz="90687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4725" indent="-228303" defTabSz="90687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1331" indent="-228303" defTabSz="90687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67937" indent="-228303" defTabSz="90687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4542" indent="-228303" defTabSz="90687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1148" indent="-228303" defTabSz="90687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E57CA11F-C0A1-48DD-9BE3-C8877865BED2}" type="slidenum">
              <a:rPr lang="en-US" altLang="ko-KR" smtClean="0">
                <a:solidFill>
                  <a:srgbClr val="000000"/>
                </a:solidFill>
              </a:rPr>
              <a:pPr/>
              <a:t>6</a:t>
            </a:fld>
            <a:endParaRPr lang="en-US" altLang="ko-KR" smtClean="0">
              <a:solidFill>
                <a:srgbClr val="000000"/>
              </a:solidFill>
            </a:endParaRPr>
          </a:p>
        </p:txBody>
      </p:sp>
      <p:sp>
        <p:nvSpPr>
          <p:cNvPr id="101379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11238" y="693738"/>
            <a:ext cx="4995862" cy="3459162"/>
          </a:xfrm>
          <a:ln/>
        </p:spPr>
      </p:sp>
      <p:sp>
        <p:nvSpPr>
          <p:cNvPr id="101380" name="슬라이드 노트 개체 틀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929" tIns="44967" rIns="89929" bIns="44967"/>
          <a:lstStyle/>
          <a:p>
            <a:pPr eaLnBrk="1" hangingPunct="1">
              <a:spcBef>
                <a:spcPct val="0"/>
              </a:spcBef>
            </a:pPr>
            <a:endParaRPr lang="ko-KR" altLang="ko-KR" smtClean="0"/>
          </a:p>
        </p:txBody>
      </p:sp>
      <p:sp>
        <p:nvSpPr>
          <p:cNvPr id="101381" name="슬라이드 번호 개체 틀 3"/>
          <p:cNvSpPr txBox="1">
            <a:spLocks noGrp="1"/>
          </p:cNvSpPr>
          <p:nvPr/>
        </p:nvSpPr>
        <p:spPr bwMode="auto">
          <a:xfrm>
            <a:off x="3969510" y="8771395"/>
            <a:ext cx="3039258" cy="463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929" tIns="44967" rIns="89929" bIns="44967" anchor="b"/>
          <a:lstStyle>
            <a:lvl1pPr defTabSz="941388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41388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41388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41388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41388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413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413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413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413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r"/>
            <a:fld id="{170EBCB2-7565-4895-8693-C92E1807D88E}" type="slidenum">
              <a:rPr lang="en-US" altLang="ko-KR" b="1">
                <a:solidFill>
                  <a:srgbClr val="000000"/>
                </a:solidFill>
              </a:rPr>
              <a:pPr algn="r"/>
              <a:t>6</a:t>
            </a:fld>
            <a:endParaRPr lang="en-US" altLang="ko-KR" b="1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687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1984" indent="-285379" defTabSz="90687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1514" indent="-228303" defTabSz="90687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598120" indent="-228303" defTabSz="90687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4725" indent="-228303" defTabSz="90687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1331" indent="-228303" defTabSz="90687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67937" indent="-228303" defTabSz="90687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4542" indent="-228303" defTabSz="90687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1148" indent="-228303" defTabSz="90687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E57CA11F-C0A1-48DD-9BE3-C8877865BED2}" type="slidenum">
              <a:rPr lang="en-US" altLang="ko-KR" smtClean="0">
                <a:solidFill>
                  <a:srgbClr val="000000"/>
                </a:solidFill>
              </a:rPr>
              <a:pPr/>
              <a:t>7</a:t>
            </a:fld>
            <a:endParaRPr lang="en-US" altLang="ko-KR" smtClean="0">
              <a:solidFill>
                <a:srgbClr val="000000"/>
              </a:solidFill>
            </a:endParaRPr>
          </a:p>
        </p:txBody>
      </p:sp>
      <p:sp>
        <p:nvSpPr>
          <p:cNvPr id="101379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11238" y="693738"/>
            <a:ext cx="4995862" cy="3459162"/>
          </a:xfrm>
          <a:ln/>
        </p:spPr>
      </p:sp>
      <p:sp>
        <p:nvSpPr>
          <p:cNvPr id="101380" name="슬라이드 노트 개체 틀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929" tIns="44967" rIns="89929" bIns="44967"/>
          <a:lstStyle/>
          <a:p>
            <a:pPr eaLnBrk="1" hangingPunct="1">
              <a:spcBef>
                <a:spcPct val="0"/>
              </a:spcBef>
            </a:pPr>
            <a:endParaRPr lang="ko-KR" altLang="ko-KR" smtClean="0"/>
          </a:p>
        </p:txBody>
      </p:sp>
      <p:sp>
        <p:nvSpPr>
          <p:cNvPr id="101381" name="슬라이드 번호 개체 틀 3"/>
          <p:cNvSpPr txBox="1">
            <a:spLocks noGrp="1"/>
          </p:cNvSpPr>
          <p:nvPr/>
        </p:nvSpPr>
        <p:spPr bwMode="auto">
          <a:xfrm>
            <a:off x="3969510" y="8771395"/>
            <a:ext cx="3039258" cy="463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929" tIns="44967" rIns="89929" bIns="44967" anchor="b"/>
          <a:lstStyle>
            <a:lvl1pPr defTabSz="941388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41388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41388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41388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41388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413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413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413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413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r"/>
            <a:fld id="{170EBCB2-7565-4895-8693-C92E1807D88E}" type="slidenum">
              <a:rPr lang="en-US" altLang="ko-KR" b="1">
                <a:solidFill>
                  <a:srgbClr val="000000"/>
                </a:solidFill>
              </a:rPr>
              <a:pPr algn="r"/>
              <a:t>7</a:t>
            </a:fld>
            <a:endParaRPr lang="en-US" altLang="ko-KR" b="1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6"/>
          <p:cNvGrpSpPr>
            <a:grpSpLocks/>
          </p:cNvGrpSpPr>
          <p:nvPr userDrawn="1"/>
        </p:nvGrpSpPr>
        <p:grpSpPr bwMode="auto">
          <a:xfrm>
            <a:off x="269875" y="2689225"/>
            <a:ext cx="9363075" cy="230188"/>
            <a:chOff x="329" y="1821"/>
            <a:chExt cx="6071" cy="0"/>
          </a:xfrm>
        </p:grpSpPr>
        <p:sp>
          <p:nvSpPr>
            <p:cNvPr id="9" name="Line 7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Line 8"/>
            <p:cNvSpPr>
              <a:spLocks noChangeShapeType="1"/>
            </p:cNvSpPr>
            <p:nvPr/>
          </p:nvSpPr>
          <p:spPr bwMode="auto">
            <a:xfrm>
              <a:off x="4926" y="1821"/>
              <a:ext cx="147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11" name="Picture 10"/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9100" y="5818188"/>
            <a:ext cx="1549400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2" descr="BS_13"/>
          <p:cNvPicPr>
            <a:picLocks noChangeAspect="1" noChangeArrowheads="1"/>
          </p:cNvPicPr>
          <p:nvPr userDrawn="1"/>
        </p:nvPicPr>
        <p:blipFill>
          <a:blip r:embed="rId3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-9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6988" y="2401888"/>
            <a:ext cx="1781175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직사각형 6"/>
          <p:cNvSpPr/>
          <p:nvPr userDrawn="1"/>
        </p:nvSpPr>
        <p:spPr>
          <a:xfrm>
            <a:off x="2789586" y="260648"/>
            <a:ext cx="4323654" cy="9233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buFontTx/>
              <a:buNone/>
            </a:pPr>
            <a:r>
              <a:rPr lang="ko-KR" altLang="en-US" sz="1600" b="0" u="sng" smtClean="0">
                <a:solidFill>
                  <a:srgbClr val="0000FF"/>
                </a:solidFill>
                <a:latin typeface="현대하모니 M" pitchFamily="18" charset="-127"/>
                <a:ea typeface="현대하모니 M" pitchFamily="18" charset="-127"/>
              </a:rPr>
              <a:t> “ 핵심 역량 집중을 통한 재도약 실현 ”</a:t>
            </a:r>
          </a:p>
          <a:p>
            <a:pPr algn="ctr" eaLnBrk="1" latinLnBrk="1" hangingPunct="1">
              <a:lnSpc>
                <a:spcPct val="100000"/>
              </a:lnSpc>
              <a:buFontTx/>
              <a:buNone/>
            </a:pPr>
            <a:r>
              <a:rPr lang="ko-KR" altLang="en-US" sz="1200" b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</a:rPr>
              <a:t>사업 수행 역량 강화ㆍ글로벌 품질 역량 확보ㆍ미래성장 동력 확보</a:t>
            </a:r>
          </a:p>
          <a:p>
            <a:pPr algn="ctr" eaLnBrk="1" latinLnBrk="1" hangingPunct="1">
              <a:lnSpc>
                <a:spcPct val="150000"/>
              </a:lnSpc>
              <a:buFontTx/>
              <a:buNone/>
            </a:pPr>
            <a:endParaRPr lang="en-US" altLang="ko-KR" sz="1200" b="0" dirty="0">
              <a:solidFill>
                <a:srgbClr val="FF0000"/>
              </a:solidFill>
              <a:latin typeface="현대하모니 M" pitchFamily="18" charset="-127"/>
              <a:ea typeface="현대하모니 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082937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 noChangeArrowheads="1"/>
          </p:cNvSpPr>
          <p:nvPr userDrawn="1"/>
        </p:nvSpPr>
        <p:spPr bwMode="auto">
          <a:xfrm>
            <a:off x="4658349" y="6577013"/>
            <a:ext cx="498855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271D2A7B-8C11-459D-95AB-BD1739526508}" type="slidenum">
              <a:rPr lang="en-US" altLang="ko-KR" sz="1050" kern="0" smtClean="0">
                <a:solidFill>
                  <a:srgbClr val="000000"/>
                </a:solidFill>
                <a:latin typeface="현대하모니 M" pitchFamily="18" charset="-127"/>
                <a:ea typeface="현대하모니 M" pitchFamily="18" charset="-127"/>
              </a:rPr>
              <a:pPr algn="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lang="en-US" altLang="ko-KR" sz="1050" kern="0" dirty="0" smtClean="0">
                <a:solidFill>
                  <a:srgbClr val="000000"/>
                </a:solidFill>
                <a:latin typeface="현대하모니 M" pitchFamily="18" charset="-127"/>
                <a:ea typeface="현대하모니 M" pitchFamily="18" charset="-127"/>
              </a:rPr>
              <a:t>/7</a:t>
            </a:r>
            <a:endParaRPr lang="en-US" altLang="ko-KR" sz="1050" kern="0" dirty="0" smtClean="0">
              <a:solidFill>
                <a:srgbClr val="000000"/>
              </a:solidFill>
              <a:latin typeface="현대하모니 M" pitchFamily="18" charset="-127"/>
              <a:ea typeface="현대하모니 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189222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6562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7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700">
          <a:solidFill>
            <a:schemeClr val="tx2"/>
          </a:solidFill>
          <a:latin typeface="굴림" charset="-127"/>
          <a:ea typeface="굴림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700">
          <a:solidFill>
            <a:schemeClr val="tx2"/>
          </a:solidFill>
          <a:latin typeface="굴림" charset="-127"/>
          <a:ea typeface="굴림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700">
          <a:solidFill>
            <a:schemeClr val="tx2"/>
          </a:solidFill>
          <a:latin typeface="굴림" charset="-127"/>
          <a:ea typeface="굴림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700">
          <a:solidFill>
            <a:schemeClr val="tx2"/>
          </a:solidFill>
          <a:latin typeface="굴림" charset="-127"/>
          <a:ea typeface="굴림" charset="-127"/>
        </a:defRPr>
      </a:lvl5pPr>
      <a:lvl6pPr marL="490446" algn="ctr" rtl="0" eaLnBrk="0" fontAlgn="base" latinLnBrk="1" hangingPunct="0">
        <a:spcBef>
          <a:spcPct val="0"/>
        </a:spcBef>
        <a:spcAft>
          <a:spcPct val="0"/>
        </a:spcAft>
        <a:defRPr kumimoji="1" sz="4700">
          <a:solidFill>
            <a:schemeClr val="tx2"/>
          </a:solidFill>
          <a:latin typeface="굴림" charset="-127"/>
          <a:ea typeface="굴림" charset="-127"/>
        </a:defRPr>
      </a:lvl6pPr>
      <a:lvl7pPr marL="980892" algn="ctr" rtl="0" eaLnBrk="0" fontAlgn="base" latinLnBrk="1" hangingPunct="0">
        <a:spcBef>
          <a:spcPct val="0"/>
        </a:spcBef>
        <a:spcAft>
          <a:spcPct val="0"/>
        </a:spcAft>
        <a:defRPr kumimoji="1" sz="4700">
          <a:solidFill>
            <a:schemeClr val="tx2"/>
          </a:solidFill>
          <a:latin typeface="굴림" charset="-127"/>
          <a:ea typeface="굴림" charset="-127"/>
        </a:defRPr>
      </a:lvl7pPr>
      <a:lvl8pPr marL="1471338" algn="ctr" rtl="0" eaLnBrk="0" fontAlgn="base" latinLnBrk="1" hangingPunct="0">
        <a:spcBef>
          <a:spcPct val="0"/>
        </a:spcBef>
        <a:spcAft>
          <a:spcPct val="0"/>
        </a:spcAft>
        <a:defRPr kumimoji="1" sz="4700">
          <a:solidFill>
            <a:schemeClr val="tx2"/>
          </a:solidFill>
          <a:latin typeface="굴림" charset="-127"/>
          <a:ea typeface="굴림" charset="-127"/>
        </a:defRPr>
      </a:lvl8pPr>
      <a:lvl9pPr marL="1961783" algn="ctr" rtl="0" eaLnBrk="0" fontAlgn="base" latinLnBrk="1" hangingPunct="0">
        <a:spcBef>
          <a:spcPct val="0"/>
        </a:spcBef>
        <a:spcAft>
          <a:spcPct val="0"/>
        </a:spcAft>
        <a:defRPr kumimoji="1" sz="4700">
          <a:solidFill>
            <a:schemeClr val="tx2"/>
          </a:solidFill>
          <a:latin typeface="굴림" charset="-127"/>
          <a:ea typeface="굴림" charset="-127"/>
        </a:defRPr>
      </a:lvl9pPr>
    </p:titleStyle>
    <p:bodyStyle>
      <a:lvl1pPr marL="366195" indent="-366195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400">
          <a:solidFill>
            <a:schemeClr val="tx1"/>
          </a:solidFill>
          <a:latin typeface="+mn-lt"/>
          <a:ea typeface="+mn-ea"/>
          <a:cs typeface="+mn-cs"/>
        </a:defRPr>
      </a:lvl1pPr>
      <a:lvl2pPr marL="795408" indent="-304878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3000">
          <a:solidFill>
            <a:schemeClr val="tx1"/>
          </a:solidFill>
          <a:latin typeface="+mn-lt"/>
          <a:ea typeface="+mn-ea"/>
        </a:defRPr>
      </a:lvl2pPr>
      <a:lvl3pPr marL="1224622" indent="-243562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600">
          <a:solidFill>
            <a:schemeClr val="tx1"/>
          </a:solidFill>
          <a:latin typeface="+mn-lt"/>
          <a:ea typeface="+mn-ea"/>
        </a:defRPr>
      </a:lvl3pPr>
      <a:lvl4pPr marL="1715152" indent="-243562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4pPr>
      <a:lvl5pPr marL="2205682" indent="-243562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100">
          <a:solidFill>
            <a:schemeClr val="tx1"/>
          </a:solidFill>
          <a:latin typeface="+mn-lt"/>
          <a:ea typeface="+mn-ea"/>
        </a:defRPr>
      </a:lvl5pPr>
      <a:lvl6pPr marL="2697451" indent="-245223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100">
          <a:solidFill>
            <a:schemeClr val="tx1"/>
          </a:solidFill>
          <a:latin typeface="+mn-lt"/>
          <a:ea typeface="+mn-ea"/>
        </a:defRPr>
      </a:lvl6pPr>
      <a:lvl7pPr marL="3187897" indent="-245223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100">
          <a:solidFill>
            <a:schemeClr val="tx1"/>
          </a:solidFill>
          <a:latin typeface="+mn-lt"/>
          <a:ea typeface="+mn-ea"/>
        </a:defRPr>
      </a:lvl7pPr>
      <a:lvl8pPr marL="3678343" indent="-245223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100">
          <a:solidFill>
            <a:schemeClr val="tx1"/>
          </a:solidFill>
          <a:latin typeface="+mn-lt"/>
          <a:ea typeface="+mn-ea"/>
        </a:defRPr>
      </a:lvl8pPr>
      <a:lvl9pPr marL="4168789" indent="-245223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1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80892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90446" algn="l" defTabSz="980892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80892" algn="l" defTabSz="980892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71338" algn="l" defTabSz="980892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61783" algn="l" defTabSz="980892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52228" algn="l" defTabSz="980892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42674" algn="l" defTabSz="980892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33120" algn="l" defTabSz="980892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923566" algn="l" defTabSz="980892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609" name="Line 9"/>
          <p:cNvSpPr>
            <a:spLocks noChangeShapeType="1"/>
          </p:cNvSpPr>
          <p:nvPr userDrawn="1"/>
        </p:nvSpPr>
        <p:spPr bwMode="auto">
          <a:xfrm>
            <a:off x="200025" y="623888"/>
            <a:ext cx="9534525" cy="0"/>
          </a:xfrm>
          <a:prstGeom prst="line">
            <a:avLst/>
          </a:prstGeom>
          <a:noFill/>
          <a:ln w="12700">
            <a:solidFill>
              <a:srgbClr val="516285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/>
          </a:p>
        </p:txBody>
      </p:sp>
      <p:pic>
        <p:nvPicPr>
          <p:cNvPr id="1029" name="Picture 5"/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7950" y="6508750"/>
            <a:ext cx="908050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4532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577" r:id="rId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Group 138"/>
          <p:cNvGraphicFramePr>
            <a:graphicFrameLocks noGrp="1"/>
          </p:cNvGraphicFramePr>
          <p:nvPr/>
        </p:nvGraphicFramePr>
        <p:xfrm>
          <a:off x="8448675" y="184150"/>
          <a:ext cx="1079500" cy="823914"/>
        </p:xfrm>
        <a:graphic>
          <a:graphicData uri="http://schemas.openxmlformats.org/drawingml/2006/table">
            <a:tbl>
              <a:tblPr/>
              <a:tblGrid>
                <a:gridCol w="287338"/>
                <a:gridCol w="792162"/>
              </a:tblGrid>
              <a:tr h="274638">
                <a:tc>
                  <a:txBody>
                    <a:bodyPr/>
                    <a:lstStyle>
                      <a:lvl1pPr algn="l" defTabSz="1042988" latinLnBrk="1">
                        <a:spcBef>
                          <a:spcPct val="20000"/>
                        </a:spcBef>
                        <a:buFont typeface="Arial" pitchFamily="34" charset="0"/>
                        <a:defRPr sz="3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algn="l" defTabSz="1042988" latinLnBrk="1">
                        <a:spcBef>
                          <a:spcPct val="20000"/>
                        </a:spcBef>
                        <a:buFont typeface="Arial" pitchFamily="34" charset="0"/>
                        <a:defRPr sz="25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algn="l" defTabSz="1042988" latinLnBrk="1">
                        <a:spcBef>
                          <a:spcPct val="20000"/>
                        </a:spcBef>
                        <a:buFont typeface="Arial" pitchFamily="34" charset="0"/>
                        <a:defRPr sz="21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algn="l" defTabSz="1042988" latinLnBrk="1">
                        <a:spcBef>
                          <a:spcPct val="20000"/>
                        </a:spcBef>
                        <a:buFont typeface="Arial" pitchFamily="34" charset="0"/>
                        <a:defRPr sz="19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algn="l" defTabSz="1042988" latinLnBrk="1">
                        <a:spcBef>
                          <a:spcPct val="20000"/>
                        </a:spcBef>
                        <a:buFont typeface="Arial" pitchFamily="34" charset="0"/>
                        <a:defRPr sz="19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defTabSz="10429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9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defTabSz="10429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9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defTabSz="10429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9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defTabSz="10429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9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104298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</a:rPr>
                        <a:t>○ </a:t>
                      </a:r>
                      <a:endParaRPr kumimoji="0" lang="en-US" altLang="ko-KR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defTabSz="1042988" latinLnBrk="1">
                        <a:spcBef>
                          <a:spcPct val="20000"/>
                        </a:spcBef>
                        <a:buFont typeface="Arial" pitchFamily="34" charset="0"/>
                        <a:defRPr sz="3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algn="l" defTabSz="1042988" latinLnBrk="1">
                        <a:spcBef>
                          <a:spcPct val="20000"/>
                        </a:spcBef>
                        <a:buFont typeface="Arial" pitchFamily="34" charset="0"/>
                        <a:defRPr sz="25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algn="l" defTabSz="1042988" latinLnBrk="1">
                        <a:spcBef>
                          <a:spcPct val="20000"/>
                        </a:spcBef>
                        <a:buFont typeface="Arial" pitchFamily="34" charset="0"/>
                        <a:defRPr sz="21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algn="l" defTabSz="1042988" latinLnBrk="1">
                        <a:spcBef>
                          <a:spcPct val="20000"/>
                        </a:spcBef>
                        <a:buFont typeface="Arial" pitchFamily="34" charset="0"/>
                        <a:defRPr sz="19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algn="l" defTabSz="1042988" latinLnBrk="1">
                        <a:spcBef>
                          <a:spcPct val="20000"/>
                        </a:spcBef>
                        <a:buFont typeface="Arial" pitchFamily="34" charset="0"/>
                        <a:defRPr sz="19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defTabSz="10429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9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defTabSz="10429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9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defTabSz="10429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9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defTabSz="10429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9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104298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</a:rPr>
                        <a:t>의사결정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638">
                <a:tc>
                  <a:txBody>
                    <a:bodyPr/>
                    <a:lstStyle>
                      <a:lvl1pPr algn="l" defTabSz="1042988" latinLnBrk="1">
                        <a:spcBef>
                          <a:spcPct val="20000"/>
                        </a:spcBef>
                        <a:buFont typeface="Arial" pitchFamily="34" charset="0"/>
                        <a:defRPr sz="3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algn="l" defTabSz="1042988" latinLnBrk="1">
                        <a:spcBef>
                          <a:spcPct val="20000"/>
                        </a:spcBef>
                        <a:buFont typeface="Arial" pitchFamily="34" charset="0"/>
                        <a:defRPr sz="25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algn="l" defTabSz="1042988" latinLnBrk="1">
                        <a:spcBef>
                          <a:spcPct val="20000"/>
                        </a:spcBef>
                        <a:buFont typeface="Arial" pitchFamily="34" charset="0"/>
                        <a:defRPr sz="21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algn="l" defTabSz="1042988" latinLnBrk="1">
                        <a:spcBef>
                          <a:spcPct val="20000"/>
                        </a:spcBef>
                        <a:buFont typeface="Arial" pitchFamily="34" charset="0"/>
                        <a:defRPr sz="19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algn="l" defTabSz="1042988" latinLnBrk="1">
                        <a:spcBef>
                          <a:spcPct val="20000"/>
                        </a:spcBef>
                        <a:buFont typeface="Arial" pitchFamily="34" charset="0"/>
                        <a:defRPr sz="19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defTabSz="10429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9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defTabSz="10429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9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defTabSz="10429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9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defTabSz="10429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9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104298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</a:rPr>
                        <a:t>●</a:t>
                      </a:r>
                      <a:endParaRPr kumimoji="0" lang="en-US" altLang="ko-KR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defTabSz="1042988" latinLnBrk="1">
                        <a:spcBef>
                          <a:spcPct val="20000"/>
                        </a:spcBef>
                        <a:buFont typeface="Arial" pitchFamily="34" charset="0"/>
                        <a:defRPr sz="3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algn="l" defTabSz="1042988" latinLnBrk="1">
                        <a:spcBef>
                          <a:spcPct val="20000"/>
                        </a:spcBef>
                        <a:buFont typeface="Arial" pitchFamily="34" charset="0"/>
                        <a:defRPr sz="25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algn="l" defTabSz="1042988" latinLnBrk="1">
                        <a:spcBef>
                          <a:spcPct val="20000"/>
                        </a:spcBef>
                        <a:buFont typeface="Arial" pitchFamily="34" charset="0"/>
                        <a:defRPr sz="21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algn="l" defTabSz="1042988" latinLnBrk="1">
                        <a:spcBef>
                          <a:spcPct val="20000"/>
                        </a:spcBef>
                        <a:buFont typeface="Arial" pitchFamily="34" charset="0"/>
                        <a:defRPr sz="19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algn="l" defTabSz="1042988" latinLnBrk="1">
                        <a:spcBef>
                          <a:spcPct val="20000"/>
                        </a:spcBef>
                        <a:buFont typeface="Arial" pitchFamily="34" charset="0"/>
                        <a:defRPr sz="19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defTabSz="10429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9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defTabSz="10429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9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defTabSz="10429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9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defTabSz="10429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9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104298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</a:rPr>
                        <a:t>정보전달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638">
                <a:tc>
                  <a:txBody>
                    <a:bodyPr/>
                    <a:lstStyle>
                      <a:lvl1pPr algn="l" defTabSz="1042988" latinLnBrk="1">
                        <a:spcBef>
                          <a:spcPct val="20000"/>
                        </a:spcBef>
                        <a:buFont typeface="Arial" pitchFamily="34" charset="0"/>
                        <a:defRPr sz="3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algn="l" defTabSz="1042988" latinLnBrk="1">
                        <a:spcBef>
                          <a:spcPct val="20000"/>
                        </a:spcBef>
                        <a:buFont typeface="Arial" pitchFamily="34" charset="0"/>
                        <a:defRPr sz="25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algn="l" defTabSz="1042988" latinLnBrk="1">
                        <a:spcBef>
                          <a:spcPct val="20000"/>
                        </a:spcBef>
                        <a:buFont typeface="Arial" pitchFamily="34" charset="0"/>
                        <a:defRPr sz="21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algn="l" defTabSz="1042988" latinLnBrk="1">
                        <a:spcBef>
                          <a:spcPct val="20000"/>
                        </a:spcBef>
                        <a:buFont typeface="Arial" pitchFamily="34" charset="0"/>
                        <a:defRPr sz="19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algn="l" defTabSz="1042988" latinLnBrk="1">
                        <a:spcBef>
                          <a:spcPct val="20000"/>
                        </a:spcBef>
                        <a:buFont typeface="Arial" pitchFamily="34" charset="0"/>
                        <a:defRPr sz="19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defTabSz="10429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9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defTabSz="10429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9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defTabSz="10429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9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defTabSz="10429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9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104298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</a:rPr>
                        <a:t>○</a:t>
                      </a:r>
                      <a:endParaRPr kumimoji="0" lang="en-US" altLang="ko-KR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defTabSz="1042988" latinLnBrk="1">
                        <a:spcBef>
                          <a:spcPct val="20000"/>
                        </a:spcBef>
                        <a:buFont typeface="Arial" pitchFamily="34" charset="0"/>
                        <a:defRPr sz="3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algn="l" defTabSz="1042988" latinLnBrk="1">
                        <a:spcBef>
                          <a:spcPct val="20000"/>
                        </a:spcBef>
                        <a:buFont typeface="Arial" pitchFamily="34" charset="0"/>
                        <a:defRPr sz="25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algn="l" defTabSz="1042988" latinLnBrk="1">
                        <a:spcBef>
                          <a:spcPct val="20000"/>
                        </a:spcBef>
                        <a:buFont typeface="Arial" pitchFamily="34" charset="0"/>
                        <a:defRPr sz="21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algn="l" defTabSz="1042988" latinLnBrk="1">
                        <a:spcBef>
                          <a:spcPct val="20000"/>
                        </a:spcBef>
                        <a:buFont typeface="Arial" pitchFamily="34" charset="0"/>
                        <a:defRPr sz="19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algn="l" defTabSz="1042988" latinLnBrk="1">
                        <a:spcBef>
                          <a:spcPct val="20000"/>
                        </a:spcBef>
                        <a:buFont typeface="Arial" pitchFamily="34" charset="0"/>
                        <a:defRPr sz="19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defTabSz="10429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9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defTabSz="10429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9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defTabSz="10429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9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defTabSz="10429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9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104298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</a:rPr>
                        <a:t>지시사항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" name="Text Box 38"/>
          <p:cNvSpPr txBox="1">
            <a:spLocks noChangeArrowheads="1"/>
          </p:cNvSpPr>
          <p:nvPr/>
        </p:nvSpPr>
        <p:spPr bwMode="auto">
          <a:xfrm>
            <a:off x="625475" y="500063"/>
            <a:ext cx="1068388" cy="49847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3969" tIns="41985" rIns="83969" bIns="41985" anchor="ctr"/>
          <a:lstStyle>
            <a:lvl1pPr defTabSz="838200">
              <a:defRPr kumimoji="1" sz="1000" b="1">
                <a:solidFill>
                  <a:srgbClr val="000000"/>
                </a:solidFill>
                <a:latin typeface="Arial" charset="0"/>
                <a:ea typeface="가는각진제목체" pitchFamily="18" charset="-127"/>
              </a:defRPr>
            </a:lvl1pPr>
            <a:lvl2pPr marL="742950" indent="-285750" defTabSz="838200">
              <a:defRPr kumimoji="1" sz="1000" b="1">
                <a:solidFill>
                  <a:srgbClr val="000000"/>
                </a:solidFill>
                <a:latin typeface="Arial" charset="0"/>
                <a:ea typeface="가는각진제목체" pitchFamily="18" charset="-127"/>
              </a:defRPr>
            </a:lvl2pPr>
            <a:lvl3pPr marL="1143000" indent="-228600" defTabSz="838200">
              <a:defRPr kumimoji="1" sz="1000" b="1">
                <a:solidFill>
                  <a:srgbClr val="000000"/>
                </a:solidFill>
                <a:latin typeface="Arial" charset="0"/>
                <a:ea typeface="가는각진제목체" pitchFamily="18" charset="-127"/>
              </a:defRPr>
            </a:lvl3pPr>
            <a:lvl4pPr marL="1600200" indent="-228600" defTabSz="838200">
              <a:defRPr kumimoji="1" sz="1000" b="1">
                <a:solidFill>
                  <a:srgbClr val="000000"/>
                </a:solidFill>
                <a:latin typeface="Arial" charset="0"/>
                <a:ea typeface="가는각진제목체" pitchFamily="18" charset="-127"/>
              </a:defRPr>
            </a:lvl4pPr>
            <a:lvl5pPr marL="2057400" indent="-228600" defTabSz="838200">
              <a:defRPr kumimoji="1" sz="1000" b="1">
                <a:solidFill>
                  <a:srgbClr val="000000"/>
                </a:solidFill>
                <a:latin typeface="Arial" charset="0"/>
                <a:ea typeface="가는각진제목체" pitchFamily="18" charset="-127"/>
              </a:defRPr>
            </a:lvl5pPr>
            <a:lvl6pPr marL="2514600" indent="-228600" algn="ctr" defTabSz="838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1000" b="1">
                <a:solidFill>
                  <a:srgbClr val="000000"/>
                </a:solidFill>
                <a:latin typeface="Arial" charset="0"/>
                <a:ea typeface="가는각진제목체" pitchFamily="18" charset="-127"/>
              </a:defRPr>
            </a:lvl6pPr>
            <a:lvl7pPr marL="2971800" indent="-228600" algn="ctr" defTabSz="838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1000" b="1">
                <a:solidFill>
                  <a:srgbClr val="000000"/>
                </a:solidFill>
                <a:latin typeface="Arial" charset="0"/>
                <a:ea typeface="가는각진제목체" pitchFamily="18" charset="-127"/>
              </a:defRPr>
            </a:lvl7pPr>
            <a:lvl8pPr marL="3429000" indent="-228600" algn="ctr" defTabSz="838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1000" b="1">
                <a:solidFill>
                  <a:srgbClr val="000000"/>
                </a:solidFill>
                <a:latin typeface="Arial" charset="0"/>
                <a:ea typeface="가는각진제목체" pitchFamily="18" charset="-127"/>
              </a:defRPr>
            </a:lvl8pPr>
            <a:lvl9pPr marL="3886200" indent="-228600" algn="ctr" defTabSz="838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1000" b="1">
                <a:solidFill>
                  <a:srgbClr val="000000"/>
                </a:solidFill>
                <a:latin typeface="Arial" charset="0"/>
                <a:ea typeface="가는각진제목체" pitchFamily="18" charset="-127"/>
              </a:defRPr>
            </a:lvl9pPr>
          </a:lstStyle>
          <a:p>
            <a:pPr algn="ctr" eaLnBrk="1" latinLnBrk="1" hangingPunct="1">
              <a:lnSpc>
                <a:spcPct val="100000"/>
              </a:lnSpc>
              <a:buFontTx/>
              <a:buNone/>
            </a:pPr>
            <a:r>
              <a:rPr lang="ko-KR" altLang="en-US" sz="1200" b="0" dirty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</a:rPr>
              <a:t>대외비</a:t>
            </a:r>
            <a:endParaRPr lang="en-US" altLang="ko-KR" sz="1200" b="0" dirty="0">
              <a:solidFill>
                <a:srgbClr val="FF0000"/>
              </a:solidFill>
              <a:latin typeface="현대하모니 M" pitchFamily="18" charset="-127"/>
              <a:ea typeface="현대하모니 M" pitchFamily="18" charset="-127"/>
            </a:endParaRPr>
          </a:p>
          <a:p>
            <a:pPr eaLnBrk="1" latinLnBrk="1" hangingPunct="1">
              <a:lnSpc>
                <a:spcPct val="100000"/>
              </a:lnSpc>
              <a:buFontTx/>
              <a:buNone/>
            </a:pPr>
            <a:r>
              <a:rPr lang="en-US" altLang="ko-KR" sz="1200" b="0" dirty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</a:rPr>
              <a:t>RESTRICTED</a:t>
            </a:r>
            <a:endParaRPr lang="ko-KR" altLang="en-US" sz="1200" b="0" dirty="0">
              <a:solidFill>
                <a:srgbClr val="FF0000"/>
              </a:solidFill>
              <a:latin typeface="현대하모니 M" pitchFamily="18" charset="-127"/>
              <a:ea typeface="현대하모니 M" pitchFamily="18" charset="-127"/>
            </a:endParaRP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558800" y="4795838"/>
            <a:ext cx="1381448" cy="1343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3969" tIns="41985" rIns="83969" bIns="41985">
            <a:spAutoFit/>
          </a:bodyPr>
          <a:lstStyle>
            <a:lvl1pPr defTabSz="838200">
              <a:defRPr kumimoji="1" sz="1000" b="1">
                <a:solidFill>
                  <a:srgbClr val="000000"/>
                </a:solidFill>
                <a:latin typeface="Arial" charset="0"/>
                <a:ea typeface="가는각진제목체" pitchFamily="18" charset="-127"/>
              </a:defRPr>
            </a:lvl1pPr>
            <a:lvl2pPr marL="742950" indent="-285750" defTabSz="838200">
              <a:defRPr kumimoji="1" sz="1000" b="1">
                <a:solidFill>
                  <a:srgbClr val="000000"/>
                </a:solidFill>
                <a:latin typeface="Arial" charset="0"/>
                <a:ea typeface="가는각진제목체" pitchFamily="18" charset="-127"/>
              </a:defRPr>
            </a:lvl2pPr>
            <a:lvl3pPr marL="1143000" indent="-228600" defTabSz="838200">
              <a:defRPr kumimoji="1" sz="1000" b="1">
                <a:solidFill>
                  <a:srgbClr val="000000"/>
                </a:solidFill>
                <a:latin typeface="Arial" charset="0"/>
                <a:ea typeface="가는각진제목체" pitchFamily="18" charset="-127"/>
              </a:defRPr>
            </a:lvl3pPr>
            <a:lvl4pPr marL="1600200" indent="-228600" defTabSz="838200">
              <a:defRPr kumimoji="1" sz="1000" b="1">
                <a:solidFill>
                  <a:srgbClr val="000000"/>
                </a:solidFill>
                <a:latin typeface="Arial" charset="0"/>
                <a:ea typeface="가는각진제목체" pitchFamily="18" charset="-127"/>
              </a:defRPr>
            </a:lvl4pPr>
            <a:lvl5pPr marL="2057400" indent="-228600" defTabSz="838200">
              <a:defRPr kumimoji="1" sz="1000" b="1">
                <a:solidFill>
                  <a:srgbClr val="000000"/>
                </a:solidFill>
                <a:latin typeface="Arial" charset="0"/>
                <a:ea typeface="가는각진제목체" pitchFamily="18" charset="-127"/>
              </a:defRPr>
            </a:lvl5pPr>
            <a:lvl6pPr marL="2514600" indent="-228600" algn="ctr" defTabSz="838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1000" b="1">
                <a:solidFill>
                  <a:srgbClr val="000000"/>
                </a:solidFill>
                <a:latin typeface="Arial" charset="0"/>
                <a:ea typeface="가는각진제목체" pitchFamily="18" charset="-127"/>
              </a:defRPr>
            </a:lvl6pPr>
            <a:lvl7pPr marL="2971800" indent="-228600" algn="ctr" defTabSz="838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1000" b="1">
                <a:solidFill>
                  <a:srgbClr val="000000"/>
                </a:solidFill>
                <a:latin typeface="Arial" charset="0"/>
                <a:ea typeface="가는각진제목체" pitchFamily="18" charset="-127"/>
              </a:defRPr>
            </a:lvl7pPr>
            <a:lvl8pPr marL="3429000" indent="-228600" algn="ctr" defTabSz="838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1000" b="1">
                <a:solidFill>
                  <a:srgbClr val="000000"/>
                </a:solidFill>
                <a:latin typeface="Arial" charset="0"/>
                <a:ea typeface="가는각진제목체" pitchFamily="18" charset="-127"/>
              </a:defRPr>
            </a:lvl8pPr>
            <a:lvl9pPr marL="3886200" indent="-228600" algn="ctr" defTabSz="838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1000" b="1">
                <a:solidFill>
                  <a:srgbClr val="000000"/>
                </a:solidFill>
                <a:latin typeface="Arial" charset="0"/>
                <a:ea typeface="가는각진제목체" pitchFamily="18" charset="-127"/>
              </a:defRPr>
            </a:lvl9pPr>
          </a:lstStyle>
          <a:p>
            <a:pPr algn="l" eaLnBrk="1" latinLnBrk="1" hangingPunct="1">
              <a:lnSpc>
                <a:spcPct val="150000"/>
              </a:lnSpc>
              <a:spcBef>
                <a:spcPct val="20000"/>
              </a:spcBef>
              <a:buFontTx/>
              <a:buNone/>
            </a:pPr>
            <a:r>
              <a:rPr lang="en-US" altLang="ko-KR" sz="1600" b="0" dirty="0" smtClean="0">
                <a:latin typeface="현대하모니 M" pitchFamily="18" charset="-127"/>
                <a:ea typeface="현대하모니 M" pitchFamily="18" charset="-127"/>
              </a:rPr>
              <a:t>2017.10.07</a:t>
            </a:r>
            <a:endParaRPr lang="en-US" altLang="ko-KR" sz="1600" b="0" dirty="0" smtClean="0">
              <a:latin typeface="현대하모니 M" pitchFamily="18" charset="-127"/>
              <a:ea typeface="현대하모니 M" pitchFamily="18" charset="-127"/>
            </a:endParaRPr>
          </a:p>
          <a:p>
            <a:pPr algn="l" eaLnBrk="1" latinLnBrk="1" hangingPunct="1">
              <a:lnSpc>
                <a:spcPct val="150000"/>
              </a:lnSpc>
              <a:spcBef>
                <a:spcPct val="20000"/>
              </a:spcBef>
              <a:buFontTx/>
              <a:buNone/>
            </a:pPr>
            <a:r>
              <a:rPr lang="ko-KR" altLang="en-US" sz="1800" b="0" dirty="0" smtClean="0">
                <a:latin typeface="현대하모니 M" pitchFamily="18" charset="-127"/>
                <a:ea typeface="현대하모니 M" pitchFamily="18" charset="-127"/>
              </a:rPr>
              <a:t>철도영업본부</a:t>
            </a:r>
            <a:endParaRPr lang="en-US" altLang="ko-KR" sz="1800" b="0" dirty="0" smtClean="0">
              <a:latin typeface="현대하모니 M" pitchFamily="18" charset="-127"/>
              <a:ea typeface="현대하모니 M" pitchFamily="18" charset="-127"/>
            </a:endParaRPr>
          </a:p>
          <a:p>
            <a:pPr algn="l" eaLnBrk="1" latinLnBrk="1" hangingPunct="1">
              <a:lnSpc>
                <a:spcPct val="150000"/>
              </a:lnSpc>
              <a:spcBef>
                <a:spcPct val="20000"/>
              </a:spcBef>
              <a:buFontTx/>
              <a:buNone/>
            </a:pPr>
            <a:r>
              <a:rPr lang="ko-KR" altLang="en-US" sz="1600" b="0" dirty="0" smtClean="0">
                <a:latin typeface="현대하모니 M" pitchFamily="18" charset="-127"/>
                <a:ea typeface="현대하모니 M" pitchFamily="18" charset="-127"/>
              </a:rPr>
              <a:t>해외</a:t>
            </a:r>
            <a:r>
              <a:rPr lang="en-US" altLang="ko-KR" sz="1600" b="0" dirty="0" smtClean="0">
                <a:latin typeface="현대하모니 M" pitchFamily="18" charset="-127"/>
                <a:ea typeface="현대하모니 M" pitchFamily="18" charset="-127"/>
              </a:rPr>
              <a:t>CS</a:t>
            </a:r>
            <a:r>
              <a:rPr lang="ko-KR" altLang="en-US" sz="1600" b="0" dirty="0" smtClean="0">
                <a:latin typeface="현대하모니 M" pitchFamily="18" charset="-127"/>
                <a:ea typeface="현대하모니 M" pitchFamily="18" charset="-127"/>
              </a:rPr>
              <a:t>팀</a:t>
            </a:r>
            <a:endParaRPr lang="en-US" altLang="ko-KR" sz="1600" b="0" dirty="0">
              <a:latin typeface="현대하모니 M" pitchFamily="18" charset="-127"/>
              <a:ea typeface="현대하모니 M" pitchFamily="18" charset="-127"/>
            </a:endParaRPr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523874" y="1609725"/>
            <a:ext cx="6949406" cy="952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3969" tIns="41985" rIns="83969" bIns="41985">
            <a:spAutoFit/>
          </a:bodyPr>
          <a:lstStyle>
            <a:lvl1pPr defTabSz="838200">
              <a:defRPr kumimoji="1" sz="1000" b="1">
                <a:solidFill>
                  <a:srgbClr val="000000"/>
                </a:solidFill>
                <a:latin typeface="Arial" charset="0"/>
                <a:ea typeface="가는각진제목체" pitchFamily="18" charset="-127"/>
              </a:defRPr>
            </a:lvl1pPr>
            <a:lvl2pPr marL="742950" indent="-285750" defTabSz="838200">
              <a:defRPr kumimoji="1" sz="1000" b="1">
                <a:solidFill>
                  <a:srgbClr val="000000"/>
                </a:solidFill>
                <a:latin typeface="Arial" charset="0"/>
                <a:ea typeface="가는각진제목체" pitchFamily="18" charset="-127"/>
              </a:defRPr>
            </a:lvl2pPr>
            <a:lvl3pPr marL="1143000" indent="-228600" defTabSz="838200">
              <a:defRPr kumimoji="1" sz="1000" b="1">
                <a:solidFill>
                  <a:srgbClr val="000000"/>
                </a:solidFill>
                <a:latin typeface="Arial" charset="0"/>
                <a:ea typeface="가는각진제목체" pitchFamily="18" charset="-127"/>
              </a:defRPr>
            </a:lvl3pPr>
            <a:lvl4pPr marL="1600200" indent="-228600" defTabSz="838200">
              <a:defRPr kumimoji="1" sz="1000" b="1">
                <a:solidFill>
                  <a:srgbClr val="000000"/>
                </a:solidFill>
                <a:latin typeface="Arial" charset="0"/>
                <a:ea typeface="가는각진제목체" pitchFamily="18" charset="-127"/>
              </a:defRPr>
            </a:lvl4pPr>
            <a:lvl5pPr marL="2057400" indent="-228600" defTabSz="838200">
              <a:defRPr kumimoji="1" sz="1000" b="1">
                <a:solidFill>
                  <a:srgbClr val="000000"/>
                </a:solidFill>
                <a:latin typeface="Arial" charset="0"/>
                <a:ea typeface="가는각진제목체" pitchFamily="18" charset="-127"/>
              </a:defRPr>
            </a:lvl5pPr>
            <a:lvl6pPr marL="2514600" indent="-228600" algn="ctr" defTabSz="838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1000" b="1">
                <a:solidFill>
                  <a:srgbClr val="000000"/>
                </a:solidFill>
                <a:latin typeface="Arial" charset="0"/>
                <a:ea typeface="가는각진제목체" pitchFamily="18" charset="-127"/>
              </a:defRPr>
            </a:lvl6pPr>
            <a:lvl7pPr marL="2971800" indent="-228600" algn="ctr" defTabSz="838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1000" b="1">
                <a:solidFill>
                  <a:srgbClr val="000000"/>
                </a:solidFill>
                <a:latin typeface="Arial" charset="0"/>
                <a:ea typeface="가는각진제목체" pitchFamily="18" charset="-127"/>
              </a:defRPr>
            </a:lvl7pPr>
            <a:lvl8pPr marL="3429000" indent="-228600" algn="ctr" defTabSz="838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1000" b="1">
                <a:solidFill>
                  <a:srgbClr val="000000"/>
                </a:solidFill>
                <a:latin typeface="Arial" charset="0"/>
                <a:ea typeface="가는각진제목체" pitchFamily="18" charset="-127"/>
              </a:defRPr>
            </a:lvl8pPr>
            <a:lvl9pPr marL="3886200" indent="-228600" algn="ctr" defTabSz="838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1000" b="1">
                <a:solidFill>
                  <a:srgbClr val="000000"/>
                </a:solidFill>
                <a:latin typeface="Arial" charset="0"/>
                <a:ea typeface="가는각진제목체" pitchFamily="18" charset="-127"/>
              </a:defRPr>
            </a:lvl9pPr>
          </a:lstStyle>
          <a:p>
            <a:pPr algn="l" eaLnBrk="1" latinLnBrk="1" hangingPunct="1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ko-KR" altLang="en-US" sz="1800" b="0" dirty="0" smtClean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rPr>
              <a:t>미국 </a:t>
            </a:r>
            <a:r>
              <a:rPr lang="ko-KR" altLang="en-US" sz="1800" b="0" dirty="0" err="1" smtClean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rPr>
              <a:t>덴버</a:t>
            </a:r>
            <a:r>
              <a:rPr lang="ko-KR" altLang="en-US" sz="1800" b="0" dirty="0" smtClean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rPr>
              <a:t> </a:t>
            </a:r>
            <a:r>
              <a:rPr lang="en-US" altLang="ko-KR" sz="1800" b="0" dirty="0" smtClean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rPr>
              <a:t>DTS</a:t>
            </a:r>
            <a:r>
              <a:rPr lang="ko-KR" altLang="en-US" sz="1800" b="0" dirty="0" smtClean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rPr>
              <a:t> 전동차 </a:t>
            </a:r>
            <a:r>
              <a:rPr lang="en-US" altLang="ko-KR" sz="1800" b="0" dirty="0" smtClean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rPr>
              <a:t>66</a:t>
            </a:r>
            <a:r>
              <a:rPr lang="ko-KR" altLang="en-US" sz="1800" b="0" dirty="0" smtClean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rPr>
              <a:t>량</a:t>
            </a:r>
            <a:endParaRPr lang="ko-KR" altLang="en-US" sz="1800" b="0" dirty="0">
              <a:solidFill>
                <a:schemeClr val="tx1"/>
              </a:solidFill>
              <a:latin typeface="현대하모니 M" pitchFamily="18" charset="-127"/>
              <a:ea typeface="현대하모니 M" pitchFamily="18" charset="-127"/>
            </a:endParaRPr>
          </a:p>
          <a:p>
            <a:pPr eaLnBrk="1" latinLnBrk="1" hangingPunct="1">
              <a:spcBef>
                <a:spcPct val="20000"/>
              </a:spcBef>
            </a:pPr>
            <a:r>
              <a:rPr lang="en-US" altLang="ko-KR" sz="3200" b="0" dirty="0" smtClean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rPr>
              <a:t>MDS </a:t>
            </a:r>
            <a:r>
              <a:rPr lang="ko-KR" altLang="en-US" sz="3200" b="0" dirty="0" smtClean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rPr>
              <a:t>고장 자료 분석 결과</a:t>
            </a:r>
            <a:endParaRPr lang="ko-KR" altLang="en-US" sz="1800" b="0" dirty="0">
              <a:solidFill>
                <a:schemeClr val="tx1"/>
              </a:solidFill>
              <a:latin typeface="현대하모니 M" pitchFamily="18" charset="-127"/>
              <a:ea typeface="현대하모니 M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Control 1707" hidden="1"/>
          <p:cNvSpPr>
            <a:spLocks noRot="1" noChangeArrowheads="1" noChangeShapeType="1" noTextEdit="1"/>
          </p:cNvSpPr>
          <p:nvPr/>
        </p:nvSpPr>
        <p:spPr bwMode="auto">
          <a:xfrm>
            <a:off x="4065588" y="1962150"/>
            <a:ext cx="1114425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1139" name="Control 1706" hidden="1"/>
          <p:cNvSpPr>
            <a:spLocks noRot="1" noChangeArrowheads="1" noChangeShapeType="1" noTextEdit="1"/>
          </p:cNvSpPr>
          <p:nvPr/>
        </p:nvSpPr>
        <p:spPr bwMode="auto">
          <a:xfrm>
            <a:off x="4065588" y="1962150"/>
            <a:ext cx="1114425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7" name="Rectangle 12"/>
          <p:cNvSpPr>
            <a:spLocks noChangeArrowheads="1"/>
          </p:cNvSpPr>
          <p:nvPr/>
        </p:nvSpPr>
        <p:spPr bwMode="auto">
          <a:xfrm>
            <a:off x="229726" y="227429"/>
            <a:ext cx="470769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alibri" pitchFamily="34" charset="0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alibri" pitchFamily="34" charset="0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alibri" pitchFamily="34" charset="0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alibri" pitchFamily="34" charset="0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alibri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굴림" pitchFamily="50" charset="-127"/>
              </a:defRPr>
            </a:lvl9pPr>
          </a:lstStyle>
          <a:p>
            <a:pPr eaLnBrk="1" hangingPunct="1">
              <a:spcBef>
                <a:spcPct val="20000"/>
              </a:spcBef>
              <a:defRPr/>
            </a:pPr>
            <a:r>
              <a:rPr lang="en-US" altLang="ko-KR" sz="2400" dirty="0" smtClean="0">
                <a:solidFill>
                  <a:srgbClr val="000000"/>
                </a:solidFill>
                <a:latin typeface="현대하모니 M" pitchFamily="18" charset="-127"/>
                <a:ea typeface="현대하모니 M" pitchFamily="18" charset="-127"/>
              </a:rPr>
              <a:t>▣ </a:t>
            </a:r>
            <a:r>
              <a:rPr lang="ko-KR" altLang="en-US" sz="2400" dirty="0" smtClean="0">
                <a:solidFill>
                  <a:srgbClr val="000000"/>
                </a:solidFill>
                <a:latin typeface="현대하모니 M" pitchFamily="18" charset="-127"/>
                <a:ea typeface="현대하모니 M" pitchFamily="18" charset="-127"/>
              </a:rPr>
              <a:t>견인 장치</a:t>
            </a:r>
            <a:endParaRPr lang="ko-KR" altLang="en-US" sz="2400" dirty="0">
              <a:solidFill>
                <a:srgbClr val="000000"/>
              </a:solidFill>
              <a:latin typeface="현대하모니 M" pitchFamily="18" charset="-127"/>
              <a:ea typeface="현대하모니 M" pitchFamily="18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60512" y="764704"/>
            <a:ext cx="90730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latin typeface="현대하모니 L" pitchFamily="18" charset="-127"/>
                <a:ea typeface="현대하모니 L" pitchFamily="18" charset="-127"/>
              </a:rPr>
              <a:t>1. </a:t>
            </a:r>
            <a:r>
              <a:rPr lang="ko-KR" altLang="en-US" sz="1200" dirty="0" smtClean="0">
                <a:latin typeface="현대하모니 L" pitchFamily="18" charset="-127"/>
                <a:ea typeface="현대하모니 L" pitchFamily="18" charset="-127"/>
              </a:rPr>
              <a:t>총 고장 </a:t>
            </a:r>
            <a:r>
              <a:rPr lang="en-US" altLang="ko-KR" sz="1200" dirty="0">
                <a:latin typeface="현대하모니 L" pitchFamily="18" charset="-127"/>
                <a:ea typeface="현대하모니 L" pitchFamily="18" charset="-127"/>
              </a:rPr>
              <a:t> </a:t>
            </a:r>
            <a:r>
              <a:rPr lang="en-US" altLang="ko-KR" sz="1200" dirty="0" smtClean="0">
                <a:latin typeface="현대하모니 L" pitchFamily="18" charset="-127"/>
                <a:ea typeface="현대하모니 L" pitchFamily="18" charset="-127"/>
              </a:rPr>
              <a:t>41,079</a:t>
            </a:r>
            <a:r>
              <a:rPr lang="ko-KR" altLang="en-US" sz="1200" dirty="0" smtClean="0">
                <a:latin typeface="현대하모니 L" pitchFamily="18" charset="-127"/>
                <a:ea typeface="현대하모니 L" pitchFamily="18" charset="-127"/>
              </a:rPr>
              <a:t>건 발생</a:t>
            </a:r>
            <a:endParaRPr lang="en-US" altLang="ko-KR" sz="1200" dirty="0" smtClean="0">
              <a:latin typeface="현대하모니 L" pitchFamily="18" charset="-127"/>
              <a:ea typeface="현대하모니 L" pitchFamily="18" charset="-127"/>
            </a:endParaRPr>
          </a:p>
          <a:p>
            <a:r>
              <a:rPr lang="en-US" altLang="ko-KR" sz="1200" dirty="0">
                <a:latin typeface="현대하모니 L" pitchFamily="18" charset="-127"/>
                <a:ea typeface="현대하모니 L" pitchFamily="18" charset="-127"/>
              </a:rPr>
              <a:t> </a:t>
            </a:r>
            <a:r>
              <a:rPr lang="en-US" altLang="ko-KR" sz="1200" dirty="0" smtClean="0">
                <a:latin typeface="현대하모니 L" pitchFamily="18" charset="-127"/>
                <a:ea typeface="현대하모니 L" pitchFamily="18" charset="-127"/>
              </a:rPr>
              <a:t>   - 40,884</a:t>
            </a:r>
            <a:r>
              <a:rPr lang="ko-KR" altLang="en-US" sz="1200" dirty="0" smtClean="0">
                <a:latin typeface="현대하모니 L" pitchFamily="18" charset="-127"/>
                <a:ea typeface="현대하모니 L" pitchFamily="18" charset="-127"/>
              </a:rPr>
              <a:t>건 </a:t>
            </a:r>
            <a:r>
              <a:rPr lang="en-US" altLang="ko-KR" sz="1200" dirty="0" smtClean="0">
                <a:latin typeface="현대하모니 L" pitchFamily="18" charset="-127"/>
                <a:ea typeface="현대하모니 L" pitchFamily="18" charset="-127"/>
              </a:rPr>
              <a:t>: </a:t>
            </a:r>
            <a:r>
              <a:rPr lang="ko-KR" altLang="en-US" sz="1200" dirty="0">
                <a:latin typeface="현대하모니 L" pitchFamily="18" charset="-127"/>
                <a:ea typeface="현대하모니 L" pitchFamily="18" charset="-127"/>
              </a:rPr>
              <a:t>가</a:t>
            </a:r>
            <a:r>
              <a:rPr lang="ko-KR" altLang="en-US" sz="1200" dirty="0" smtClean="0">
                <a:latin typeface="현대하모니 L" pitchFamily="18" charset="-127"/>
                <a:ea typeface="현대하모니 L" pitchFamily="18" charset="-127"/>
              </a:rPr>
              <a:t>선 </a:t>
            </a:r>
            <a:r>
              <a:rPr lang="ko-KR" altLang="en-US" sz="1200" dirty="0" err="1" smtClean="0">
                <a:latin typeface="현대하모니 L" pitchFamily="18" charset="-127"/>
                <a:ea typeface="현대하모니 L" pitchFamily="18" charset="-127"/>
              </a:rPr>
              <a:t>통과시</a:t>
            </a:r>
            <a:r>
              <a:rPr lang="ko-KR" altLang="en-US" sz="1200" dirty="0" smtClean="0">
                <a:latin typeface="현대하모니 L" pitchFamily="18" charset="-127"/>
                <a:ea typeface="현대하모니 L" pitchFamily="18" charset="-127"/>
              </a:rPr>
              <a:t> 발생 </a:t>
            </a:r>
            <a:r>
              <a:rPr lang="en-US" altLang="ko-KR" sz="1200" dirty="0" smtClean="0">
                <a:latin typeface="현대하모니 L" pitchFamily="18" charset="-127"/>
                <a:ea typeface="현대하모니 L" pitchFamily="18" charset="-127"/>
              </a:rPr>
              <a:t>(</a:t>
            </a:r>
            <a:r>
              <a:rPr lang="ko-KR" altLang="en-US" sz="1200" dirty="0" smtClean="0">
                <a:latin typeface="현대하모니 L" pitchFamily="18" charset="-127"/>
                <a:ea typeface="현대하모니 L" pitchFamily="18" charset="-127"/>
              </a:rPr>
              <a:t>고장 아님</a:t>
            </a:r>
            <a:r>
              <a:rPr lang="en-US" altLang="ko-KR" sz="1200" dirty="0" smtClean="0">
                <a:latin typeface="현대하모니 L" pitchFamily="18" charset="-127"/>
                <a:ea typeface="현대하모니 L" pitchFamily="18" charset="-127"/>
              </a:rPr>
              <a:t>) </a:t>
            </a:r>
            <a:r>
              <a:rPr lang="en-US" altLang="ko-KR" sz="1200" dirty="0" smtClean="0">
                <a:latin typeface="현대하모니 L" pitchFamily="18" charset="-127"/>
                <a:ea typeface="현대하모니 L" pitchFamily="18" charset="-127"/>
                <a:sym typeface="Wingdings" pitchFamily="2" charset="2"/>
              </a:rPr>
              <a:t> </a:t>
            </a:r>
            <a:r>
              <a:rPr lang="ko-KR" altLang="en-US" sz="1200" dirty="0" smtClean="0">
                <a:solidFill>
                  <a:srgbClr val="FF0000"/>
                </a:solidFill>
                <a:latin typeface="현대하모니 L" pitchFamily="18" charset="-127"/>
                <a:ea typeface="현대하모니 L" pitchFamily="18" charset="-127"/>
                <a:sym typeface="Wingdings" pitchFamily="2" charset="2"/>
              </a:rPr>
              <a:t>서버에서 처리 필요</a:t>
            </a:r>
            <a:endParaRPr lang="en-US" altLang="ko-KR" sz="1200" dirty="0" smtClean="0">
              <a:solidFill>
                <a:srgbClr val="FF0000"/>
              </a:solidFill>
              <a:latin typeface="현대하모니 L" pitchFamily="18" charset="-127"/>
              <a:ea typeface="현대하모니 L" pitchFamily="18" charset="-127"/>
            </a:endParaRPr>
          </a:p>
          <a:p>
            <a:r>
              <a:rPr lang="en-US" altLang="ko-KR" sz="1200" dirty="0" smtClean="0">
                <a:latin typeface="현대하모니 L" pitchFamily="18" charset="-127"/>
                <a:ea typeface="현대하모니 L" pitchFamily="18" charset="-127"/>
              </a:rPr>
              <a:t>    </a:t>
            </a:r>
            <a:r>
              <a:rPr lang="en-US" altLang="ko-KR" sz="1200" dirty="0" smtClean="0">
                <a:latin typeface="현대하모니 L" pitchFamily="18" charset="-127"/>
                <a:ea typeface="현대하모니 L" pitchFamily="18" charset="-127"/>
              </a:rPr>
              <a:t>- </a:t>
            </a:r>
            <a:r>
              <a:rPr lang="en-US" altLang="ko-KR" sz="1200" dirty="0" smtClean="0">
                <a:latin typeface="현대하모니 L" pitchFamily="18" charset="-127"/>
                <a:ea typeface="현대하모니 L" pitchFamily="18" charset="-127"/>
              </a:rPr>
              <a:t>151</a:t>
            </a:r>
            <a:r>
              <a:rPr lang="ko-KR" altLang="en-US" sz="1200" dirty="0" smtClean="0">
                <a:latin typeface="현대하모니 L" pitchFamily="18" charset="-127"/>
                <a:ea typeface="현대하모니 L" pitchFamily="18" charset="-127"/>
              </a:rPr>
              <a:t>건 </a:t>
            </a:r>
            <a:r>
              <a:rPr lang="en-US" altLang="ko-KR" sz="1200" dirty="0" smtClean="0">
                <a:latin typeface="현대하모니 L" pitchFamily="18" charset="-127"/>
                <a:ea typeface="현대하모니 L" pitchFamily="18" charset="-127"/>
              </a:rPr>
              <a:t>: 4007</a:t>
            </a:r>
            <a:r>
              <a:rPr lang="ko-KR" altLang="en-US" sz="1200" dirty="0" smtClean="0">
                <a:latin typeface="현대하모니 L" pitchFamily="18" charset="-127"/>
                <a:ea typeface="현대하모니 L" pitchFamily="18" charset="-127"/>
              </a:rPr>
              <a:t>호 </a:t>
            </a:r>
            <a:r>
              <a:rPr lang="en-US" altLang="ko-KR" sz="1200" dirty="0" smtClean="0">
                <a:latin typeface="현대하모니 L" pitchFamily="18" charset="-127"/>
                <a:ea typeface="현대하모니 L" pitchFamily="18" charset="-127"/>
              </a:rPr>
              <a:t>FMI </a:t>
            </a:r>
            <a:r>
              <a:rPr lang="ko-KR" altLang="en-US" sz="1200" dirty="0" smtClean="0">
                <a:latin typeface="현대하모니 L" pitchFamily="18" charset="-127"/>
                <a:ea typeface="현대하모니 L" pitchFamily="18" charset="-127"/>
              </a:rPr>
              <a:t>수정 작업 불량</a:t>
            </a:r>
            <a:endParaRPr lang="en-US" altLang="ko-KR" sz="1200" dirty="0" smtClean="0">
              <a:latin typeface="현대하모니 L" pitchFamily="18" charset="-127"/>
              <a:ea typeface="현대하모니 L" pitchFamily="18" charset="-127"/>
            </a:endParaRPr>
          </a:p>
          <a:p>
            <a:r>
              <a:rPr lang="en-US" altLang="ko-KR" sz="1200" dirty="0">
                <a:latin typeface="현대하모니 L" pitchFamily="18" charset="-127"/>
                <a:ea typeface="현대하모니 L" pitchFamily="18" charset="-127"/>
              </a:rPr>
              <a:t> </a:t>
            </a:r>
            <a:r>
              <a:rPr lang="en-US" altLang="ko-KR" sz="1200" dirty="0" smtClean="0">
                <a:latin typeface="현대하모니 L" pitchFamily="18" charset="-127"/>
                <a:ea typeface="현대하모니 L" pitchFamily="18" charset="-127"/>
              </a:rPr>
              <a:t>   </a:t>
            </a:r>
            <a:r>
              <a:rPr lang="en-US" altLang="ko-KR" sz="1200" dirty="0" smtClean="0">
                <a:latin typeface="현대하모니 L" pitchFamily="18" charset="-127"/>
                <a:ea typeface="현대하모니 L" pitchFamily="18" charset="-127"/>
              </a:rPr>
              <a:t>- </a:t>
            </a:r>
            <a:r>
              <a:rPr lang="en-US" altLang="ko-KR" sz="1200" dirty="0" smtClean="0">
                <a:latin typeface="현대하모니 L" pitchFamily="18" charset="-127"/>
                <a:ea typeface="현대하모니 L" pitchFamily="18" charset="-127"/>
              </a:rPr>
              <a:t>20</a:t>
            </a:r>
            <a:r>
              <a:rPr lang="ko-KR" altLang="en-US" sz="1200" dirty="0" smtClean="0">
                <a:latin typeface="현대하모니 L" pitchFamily="18" charset="-127"/>
                <a:ea typeface="현대하모니 L" pitchFamily="18" charset="-127"/>
              </a:rPr>
              <a:t>건 </a:t>
            </a:r>
            <a:r>
              <a:rPr lang="en-US" altLang="ko-KR" sz="1200" dirty="0" smtClean="0">
                <a:latin typeface="현대하모니 L" pitchFamily="18" charset="-127"/>
                <a:ea typeface="현대하모니 L" pitchFamily="18" charset="-127"/>
              </a:rPr>
              <a:t>: 4047</a:t>
            </a:r>
            <a:r>
              <a:rPr lang="ko-KR" altLang="en-US" sz="1200" dirty="0" smtClean="0">
                <a:latin typeface="현대하모니 L" pitchFamily="18" charset="-127"/>
                <a:ea typeface="현대하모니 L" pitchFamily="18" charset="-127"/>
              </a:rPr>
              <a:t>호 시운전 차량 오결</a:t>
            </a:r>
            <a:endParaRPr lang="en-US" altLang="ko-KR" sz="1200" dirty="0" smtClean="0">
              <a:latin typeface="현대하모니 L" pitchFamily="18" charset="-127"/>
              <a:ea typeface="현대하모니 L" pitchFamily="18" charset="-127"/>
            </a:endParaRPr>
          </a:p>
          <a:p>
            <a:r>
              <a:rPr lang="en-US" altLang="ko-KR" sz="1200" dirty="0">
                <a:latin typeface="현대하모니 L" pitchFamily="18" charset="-127"/>
                <a:ea typeface="현대하모니 L" pitchFamily="18" charset="-127"/>
              </a:rPr>
              <a:t> </a:t>
            </a:r>
            <a:r>
              <a:rPr lang="en-US" altLang="ko-KR" sz="1200" dirty="0" smtClean="0">
                <a:latin typeface="현대하모니 L" pitchFamily="18" charset="-127"/>
                <a:ea typeface="현대하모니 L" pitchFamily="18" charset="-127"/>
              </a:rPr>
              <a:t>   - 24</a:t>
            </a:r>
            <a:r>
              <a:rPr lang="ko-KR" altLang="en-US" sz="1200" dirty="0" smtClean="0">
                <a:latin typeface="현대하모니 L" pitchFamily="18" charset="-127"/>
                <a:ea typeface="현대하모니 L" pitchFamily="18" charset="-127"/>
              </a:rPr>
              <a:t>건 </a:t>
            </a:r>
            <a:r>
              <a:rPr lang="en-US" altLang="ko-KR" sz="1200" dirty="0" smtClean="0">
                <a:latin typeface="현대하모니 L" pitchFamily="18" charset="-127"/>
                <a:ea typeface="현대하모니 L" pitchFamily="18" charset="-127"/>
              </a:rPr>
              <a:t>: </a:t>
            </a:r>
            <a:r>
              <a:rPr lang="ko-KR" altLang="en-US" sz="1200" dirty="0" smtClean="0">
                <a:latin typeface="현대하모니 L" pitchFamily="18" charset="-127"/>
                <a:ea typeface="현대하모니 L" pitchFamily="18" charset="-127"/>
              </a:rPr>
              <a:t>차량 조사 필요</a:t>
            </a:r>
            <a:endParaRPr lang="en-US" altLang="ko-KR" sz="1200" dirty="0" smtClean="0">
              <a:latin typeface="현대하모니 L" pitchFamily="18" charset="-127"/>
              <a:ea typeface="현대하모니 L" pitchFamily="18" charset="-127"/>
            </a:endParaRPr>
          </a:p>
        </p:txBody>
      </p:sp>
      <p:graphicFrame>
        <p:nvGraphicFramePr>
          <p:cNvPr id="53" name="Group 2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1158526"/>
              </p:ext>
            </p:extLst>
          </p:nvPr>
        </p:nvGraphicFramePr>
        <p:xfrm>
          <a:off x="612592" y="1772816"/>
          <a:ext cx="9020928" cy="4731963"/>
        </p:xfrm>
        <a:graphic>
          <a:graphicData uri="http://schemas.openxmlformats.org/drawingml/2006/table">
            <a:tbl>
              <a:tblPr/>
              <a:tblGrid>
                <a:gridCol w="407192"/>
                <a:gridCol w="2277032"/>
                <a:gridCol w="560388"/>
                <a:gridCol w="458788"/>
                <a:gridCol w="3877368"/>
                <a:gridCol w="1440160"/>
              </a:tblGrid>
              <a:tr h="23202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CODE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Fault</a:t>
                      </a: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 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NAME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# OF FAIL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Severity</a:t>
                      </a:r>
                    </a:p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(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1-4)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POSSIBLE CAUSE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REVIEW RESULT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</a:tr>
              <a:tr h="14489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Over voltage of catenary line (VSOVSM)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10,118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1) At the time of a section passage.</a:t>
                      </a:r>
                      <a:b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2) Break down of ACPT.</a:t>
                      </a:r>
                      <a:b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3) Break Down of HV PT on the Roof.</a:t>
                      </a:r>
                      <a:b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4) Malfunction of GCU.</a:t>
                      </a:r>
                      <a:b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5) Failure of Tap Changer(Future Installation).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PHASE GAP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통과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-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OK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489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Low voltage of catenary line (VSLVSM)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10,118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489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Over current of Secondary current1 (ISOC1SM)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10,118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537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67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Low Voltage of DC Circuit1 (VDLV1SM)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10,118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489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Frequency Irregular of Primary Circuit (FIRSM)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102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1) At the time of a section passage.</a:t>
                      </a:r>
                      <a:b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2) Break down of ACPT.</a:t>
                      </a:r>
                      <a:b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3) Break Down of HV PT on the Roof.</a:t>
                      </a:r>
                      <a:b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4) Malfunction of GCU.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PHASE GAP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통과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-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왜 상기 고장과 횟수가 다른지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?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915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Waveform Irregular of Primary voltage (VSDDSM)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310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405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32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Over Temperature of Inverter power unit (THDIM)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151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1) Break down of cooling fin.</a:t>
                      </a:r>
                      <a:b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2) Lack of cooling air.</a:t>
                      </a:r>
                      <a:b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3) Break down of blower motors.</a:t>
                      </a:r>
                      <a:b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4) Malfunction of gate control unit.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4007-INSULATOR FMI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후 </a:t>
                      </a:r>
                      <a:r>
                        <a:rPr lang="en-US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CONNECTOR </a:t>
                      </a:r>
                      <a:r>
                        <a:rPr lang="ko-KR" altLang="en-US" sz="900" b="0" i="0" u="none" strike="noStrike" dirty="0" err="1">
                          <a:solidFill>
                            <a:srgbClr val="FF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미체결로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 인한 </a:t>
                      </a:r>
                      <a:r>
                        <a:rPr lang="en-US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ISOLATED 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고장임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202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35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Blower Motor Fault (BMFS)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5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1) Break down of blower motors.</a:t>
                      </a:r>
                      <a:b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2) Break down of NFB installed in the input side of blowers.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rgbClr val="FF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4018, 4031, 4045 </a:t>
                      </a:r>
                      <a:r>
                        <a:rPr lang="ko-KR" alt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차량 조사 필요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601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38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Wheel Slip/Slide detected (WSDM)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Discconection</a:t>
                      </a: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 of P5-connector of the CIF board in the GCU.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rgbClr val="FF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4009</a:t>
                      </a:r>
                      <a:r>
                        <a:rPr lang="ko-KR" alt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호 조사 필요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803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41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Backward Speed Detection (BSDM)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20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1) Malfunction of GCU.</a:t>
                      </a:r>
                      <a:b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2) Slippery Track.</a:t>
                      </a:r>
                      <a:b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3) Unexpected grade level.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4047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시운전 차량 오결임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0816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47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Occurrence of slight degree of protection (OPR#)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A failure of severity level 2 </a:t>
                      </a:r>
                      <a:r>
                        <a:rPr 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occured</a:t>
                      </a: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. This bit will be activated when fault in LEVEL2 occurs.                      </a:t>
                      </a:r>
                      <a:b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</a:br>
                      <a:r>
                        <a:rPr lang="en-US" sz="9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The </a:t>
                      </a: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fault level is categorized to the following 3 LEVELs;                                                              - LEVEL1 means the faults which are produced by the disturbance factors and cause to the Propulsion fault. </a:t>
                      </a:r>
                      <a:b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In this case, Converter, Inverter and Brake chopper are stopped, but K and VCB are not tripped.  </a:t>
                      </a:r>
                      <a:b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- LEVEL2 means slight degree fault of Propulsion converter/inverter, which is called as “OPR”. K is tripped when OPR protection is detected.  </a:t>
                      </a:r>
                      <a:b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- LEVEL3 means heavy fault of Propulsion converter/inverter, which is called as “OCR”. VCB is tripped when OCR protection is detected</a:t>
                      </a:r>
                      <a:r>
                        <a:rPr lang="en-US" sz="9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.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차량 조사 필요 및 업체 문서</a:t>
                      </a:r>
                      <a:r>
                        <a:rPr lang="en-US" altLang="ko-KR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(HCN-L5772-16 and H30Q373/374/375) 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필요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202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71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Main Transformer failure (MTRFM)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6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1) Oil pump failure (MTOMN tripped).</a:t>
                      </a:r>
                      <a:b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2) Oil flow error.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4035, 4039, 4054 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차량 조사 필요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2391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Control 1707" hidden="1"/>
          <p:cNvSpPr>
            <a:spLocks noRot="1" noChangeArrowheads="1" noChangeShapeType="1" noTextEdit="1"/>
          </p:cNvSpPr>
          <p:nvPr/>
        </p:nvSpPr>
        <p:spPr bwMode="auto">
          <a:xfrm>
            <a:off x="4065588" y="1962150"/>
            <a:ext cx="1114425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1139" name="Control 1706" hidden="1"/>
          <p:cNvSpPr>
            <a:spLocks noRot="1" noChangeArrowheads="1" noChangeShapeType="1" noTextEdit="1"/>
          </p:cNvSpPr>
          <p:nvPr/>
        </p:nvSpPr>
        <p:spPr bwMode="auto">
          <a:xfrm>
            <a:off x="4065588" y="1962150"/>
            <a:ext cx="1114425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7" name="Rectangle 12"/>
          <p:cNvSpPr>
            <a:spLocks noChangeArrowheads="1"/>
          </p:cNvSpPr>
          <p:nvPr/>
        </p:nvSpPr>
        <p:spPr bwMode="auto">
          <a:xfrm>
            <a:off x="168302" y="173091"/>
            <a:ext cx="470769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alibri" pitchFamily="34" charset="0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alibri" pitchFamily="34" charset="0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alibri" pitchFamily="34" charset="0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alibri" pitchFamily="34" charset="0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alibri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굴림" pitchFamily="50" charset="-127"/>
              </a:defRPr>
            </a:lvl9pPr>
          </a:lstStyle>
          <a:p>
            <a:pPr eaLnBrk="1" hangingPunct="1">
              <a:spcBef>
                <a:spcPct val="20000"/>
              </a:spcBef>
              <a:defRPr/>
            </a:pPr>
            <a:r>
              <a:rPr lang="en-US" altLang="ko-KR" sz="2400" dirty="0" smtClean="0">
                <a:solidFill>
                  <a:srgbClr val="000000"/>
                </a:solidFill>
                <a:latin typeface="현대하모니 M" pitchFamily="18" charset="-127"/>
                <a:ea typeface="현대하모니 M" pitchFamily="18" charset="-127"/>
              </a:rPr>
              <a:t>▣ </a:t>
            </a:r>
            <a:r>
              <a:rPr lang="en-US" altLang="ko-KR" sz="2400" dirty="0" smtClean="0">
                <a:solidFill>
                  <a:srgbClr val="000000"/>
                </a:solidFill>
                <a:latin typeface="현대하모니 M" pitchFamily="18" charset="-127"/>
                <a:ea typeface="현대하모니 M" pitchFamily="18" charset="-127"/>
              </a:rPr>
              <a:t>DOOR</a:t>
            </a:r>
            <a:endParaRPr lang="ko-KR" altLang="en-US" sz="2400" dirty="0">
              <a:solidFill>
                <a:srgbClr val="000000"/>
              </a:solidFill>
              <a:latin typeface="현대하모니 M" pitchFamily="18" charset="-127"/>
              <a:ea typeface="현대하모니 M" pitchFamily="18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60512" y="764704"/>
            <a:ext cx="90730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latin typeface="현대하모니 L" pitchFamily="18" charset="-127"/>
                <a:ea typeface="현대하모니 L" pitchFamily="18" charset="-127"/>
              </a:rPr>
              <a:t>1. </a:t>
            </a:r>
            <a:r>
              <a:rPr lang="ko-KR" altLang="en-US" sz="1200" dirty="0" smtClean="0">
                <a:latin typeface="현대하모니 L" pitchFamily="18" charset="-127"/>
                <a:ea typeface="현대하모니 L" pitchFamily="18" charset="-127"/>
              </a:rPr>
              <a:t>총 고장 </a:t>
            </a:r>
            <a:r>
              <a:rPr lang="en-US" altLang="ko-KR" sz="1200" dirty="0">
                <a:latin typeface="현대하모니 L" pitchFamily="18" charset="-127"/>
                <a:ea typeface="현대하모니 L" pitchFamily="18" charset="-127"/>
              </a:rPr>
              <a:t> </a:t>
            </a:r>
            <a:r>
              <a:rPr lang="en-US" altLang="ko-KR" sz="1200" dirty="0" smtClean="0">
                <a:latin typeface="현대하모니 L" pitchFamily="18" charset="-127"/>
                <a:ea typeface="현대하모니 L" pitchFamily="18" charset="-127"/>
              </a:rPr>
              <a:t>37,666</a:t>
            </a:r>
            <a:r>
              <a:rPr lang="ko-KR" altLang="en-US" sz="1200" dirty="0" smtClean="0">
                <a:latin typeface="현대하모니 L" pitchFamily="18" charset="-127"/>
                <a:ea typeface="현대하모니 L" pitchFamily="18" charset="-127"/>
              </a:rPr>
              <a:t>건 발생</a:t>
            </a:r>
            <a:endParaRPr lang="en-US" altLang="ko-KR" sz="1200" dirty="0" smtClean="0">
              <a:latin typeface="현대하모니 L" pitchFamily="18" charset="-127"/>
              <a:ea typeface="현대하모니 L" pitchFamily="18" charset="-127"/>
            </a:endParaRPr>
          </a:p>
          <a:p>
            <a:r>
              <a:rPr lang="en-US" altLang="ko-KR" sz="1200" dirty="0">
                <a:latin typeface="현대하모니 L" pitchFamily="18" charset="-127"/>
                <a:ea typeface="현대하모니 L" pitchFamily="18" charset="-127"/>
              </a:rPr>
              <a:t> </a:t>
            </a:r>
            <a:r>
              <a:rPr lang="en-US" altLang="ko-KR" sz="1200" dirty="0" smtClean="0">
                <a:latin typeface="현대하모니 L" pitchFamily="18" charset="-127"/>
                <a:ea typeface="현대하모니 L" pitchFamily="18" charset="-127"/>
              </a:rPr>
              <a:t>   - </a:t>
            </a:r>
            <a:r>
              <a:rPr lang="ko-KR" altLang="en-US" sz="1200" dirty="0" smtClean="0">
                <a:latin typeface="현대하모니 L" pitchFamily="18" charset="-127"/>
                <a:ea typeface="현대하모니 L" pitchFamily="18" charset="-127"/>
              </a:rPr>
              <a:t>전체 고장에 대해 원인 조사 및 대책 수립</a:t>
            </a:r>
            <a:endParaRPr lang="en-US" altLang="ko-KR" sz="1200" dirty="0" smtClean="0">
              <a:latin typeface="현대하모니 L" pitchFamily="18" charset="-127"/>
              <a:ea typeface="현대하모니 L" pitchFamily="18" charset="-127"/>
            </a:endParaRPr>
          </a:p>
        </p:txBody>
      </p:sp>
      <p:graphicFrame>
        <p:nvGraphicFramePr>
          <p:cNvPr id="53" name="Group 2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49043"/>
              </p:ext>
            </p:extLst>
          </p:nvPr>
        </p:nvGraphicFramePr>
        <p:xfrm>
          <a:off x="612592" y="1412779"/>
          <a:ext cx="8948920" cy="5045791"/>
        </p:xfrm>
        <a:graphic>
          <a:graphicData uri="http://schemas.openxmlformats.org/drawingml/2006/table">
            <a:tbl>
              <a:tblPr/>
              <a:tblGrid>
                <a:gridCol w="407192"/>
                <a:gridCol w="2038350"/>
                <a:gridCol w="560388"/>
                <a:gridCol w="458788"/>
                <a:gridCol w="4620106"/>
                <a:gridCol w="864096"/>
              </a:tblGrid>
              <a:tr h="24654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CODE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Fault</a:t>
                      </a: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 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NAME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# OF FAIL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Severity</a:t>
                      </a:r>
                    </a:p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(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1-4)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POSSIBLE CAUSE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REVIEW RESULT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</a:tr>
              <a:tr h="12327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Resv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342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508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Zero Speed (+) CL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234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Zero Speed (+) CL Status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508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Zero Speed (-) CL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248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Zero Speed (-) CL Status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65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Open TL Command status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346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Open TL command received. Cleared when doors are fully open or other command is issued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65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Close TL Command Status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248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Closing TL command received. Cleared when doors are fully closed or other command is issued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50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Crew Switch Open Command Status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185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Crew Switch Open Command received. Cleared when doors are open or other command is issued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65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Crew Switch Close Command Status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305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Crew Switch Close Command received. Cleared when doors are closed or other command is issued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327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Passenger Door Enable (+) TL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254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nb-NO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Passenger Door Enable (+) TL input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50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Passenger Door Enable (-) TL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683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nb-NO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Passenger Door Enable (-) TL input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507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Passenger Door Open Pushbutton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535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Passenger Door Open Pushbutton status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327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Spare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372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None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327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Spare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374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None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327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Door closed status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413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Door is closed (Panel Sensing switch left and right indicate door closed)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327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Door locked status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261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Door is locked (Solenoid Lock switch right and left indicate door locked)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327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Spare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624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None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507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Door Summary Relay High Monitoring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809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DSR High monitoring input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507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Door Summary Relay Low Monitoring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233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DSR Low monitoring input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327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Spare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363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None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327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Spare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11,937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None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327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Reduced Speed Mode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4,088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The DCU detects condition that requires it to move doors in slow speed.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327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20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Disable Open Mode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10,876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The DCU detects condition that requires it to refuse the door open command.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327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21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Disable Close Mode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3,896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The DCU detects condition that requires it to refuse the door close command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396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42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PSS Mismatch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40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The DCU sets this event when there is a mismatch between left and right Panel sensing Switch signals. </a:t>
                      </a:r>
                      <a:b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</a:br>
                      <a:r>
                        <a:rPr lang="en-US" sz="9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Root </a:t>
                      </a: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cause could be PSS not adjusted properly. PSS could fail due to contact damaged, contamination, humidity, mechanical failure, thermal effects, wear. </a:t>
                      </a:r>
                      <a:b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DCU input circuit could fail due to overcurrent. issue can also be with door operator harness or connection of wiring between door operator connector and DCU connector.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8599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Control 1707" hidden="1"/>
          <p:cNvSpPr>
            <a:spLocks noRot="1" noChangeArrowheads="1" noChangeShapeType="1" noTextEdit="1"/>
          </p:cNvSpPr>
          <p:nvPr/>
        </p:nvSpPr>
        <p:spPr bwMode="auto">
          <a:xfrm>
            <a:off x="4065588" y="1962150"/>
            <a:ext cx="1114425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1139" name="Control 1706" hidden="1"/>
          <p:cNvSpPr>
            <a:spLocks noRot="1" noChangeArrowheads="1" noChangeShapeType="1" noTextEdit="1"/>
          </p:cNvSpPr>
          <p:nvPr/>
        </p:nvSpPr>
        <p:spPr bwMode="auto">
          <a:xfrm>
            <a:off x="4065588" y="1962150"/>
            <a:ext cx="1114425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7" name="Rectangle 12"/>
          <p:cNvSpPr>
            <a:spLocks noChangeArrowheads="1"/>
          </p:cNvSpPr>
          <p:nvPr/>
        </p:nvSpPr>
        <p:spPr bwMode="auto">
          <a:xfrm>
            <a:off x="168302" y="173091"/>
            <a:ext cx="470769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alibri" pitchFamily="34" charset="0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alibri" pitchFamily="34" charset="0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alibri" pitchFamily="34" charset="0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alibri" pitchFamily="34" charset="0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alibri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굴림" pitchFamily="50" charset="-127"/>
              </a:defRPr>
            </a:lvl9pPr>
          </a:lstStyle>
          <a:p>
            <a:pPr eaLnBrk="1" hangingPunct="1">
              <a:spcBef>
                <a:spcPct val="20000"/>
              </a:spcBef>
              <a:defRPr/>
            </a:pPr>
            <a:r>
              <a:rPr lang="en-US" altLang="ko-KR" sz="2400" dirty="0" smtClean="0">
                <a:solidFill>
                  <a:srgbClr val="000000"/>
                </a:solidFill>
                <a:latin typeface="현대하모니 M" pitchFamily="18" charset="-127"/>
                <a:ea typeface="현대하모니 M" pitchFamily="18" charset="-127"/>
              </a:rPr>
              <a:t>▣ </a:t>
            </a:r>
            <a:r>
              <a:rPr lang="en-US" altLang="ko-KR" sz="2400" dirty="0" smtClean="0">
                <a:solidFill>
                  <a:srgbClr val="000000"/>
                </a:solidFill>
                <a:latin typeface="현대하모니 M" pitchFamily="18" charset="-127"/>
                <a:ea typeface="현대하모니 M" pitchFamily="18" charset="-127"/>
              </a:rPr>
              <a:t>HVAC</a:t>
            </a:r>
            <a:endParaRPr lang="ko-KR" altLang="en-US" sz="2400" dirty="0">
              <a:solidFill>
                <a:srgbClr val="000000"/>
              </a:solidFill>
              <a:latin typeface="현대하모니 M" pitchFamily="18" charset="-127"/>
              <a:ea typeface="현대하모니 M" pitchFamily="18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60512" y="764704"/>
            <a:ext cx="9073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latin typeface="현대하모니 L" pitchFamily="18" charset="-127"/>
                <a:ea typeface="현대하모니 L" pitchFamily="18" charset="-127"/>
              </a:rPr>
              <a:t>1. </a:t>
            </a:r>
            <a:r>
              <a:rPr lang="ko-KR" altLang="en-US" sz="1200" dirty="0" smtClean="0">
                <a:latin typeface="현대하모니 L" pitchFamily="18" charset="-127"/>
                <a:ea typeface="현대하모니 L" pitchFamily="18" charset="-127"/>
              </a:rPr>
              <a:t>총 고장 </a:t>
            </a:r>
            <a:r>
              <a:rPr lang="en-US" altLang="ko-KR" sz="1200" dirty="0">
                <a:latin typeface="현대하모니 L" pitchFamily="18" charset="-127"/>
                <a:ea typeface="현대하모니 L" pitchFamily="18" charset="-127"/>
              </a:rPr>
              <a:t> </a:t>
            </a:r>
            <a:r>
              <a:rPr lang="en-US" altLang="ko-KR" sz="1200" dirty="0" smtClean="0">
                <a:latin typeface="현대하모니 L" pitchFamily="18" charset="-127"/>
                <a:ea typeface="현대하모니 L" pitchFamily="18" charset="-127"/>
              </a:rPr>
              <a:t>16,644</a:t>
            </a:r>
            <a:r>
              <a:rPr lang="ko-KR" altLang="en-US" sz="1200" dirty="0" smtClean="0">
                <a:latin typeface="현대하모니 L" pitchFamily="18" charset="-127"/>
                <a:ea typeface="현대하모니 L" pitchFamily="18" charset="-127"/>
              </a:rPr>
              <a:t>건 발생</a:t>
            </a:r>
            <a:endParaRPr lang="en-US" altLang="ko-KR" sz="1200" dirty="0" smtClean="0">
              <a:latin typeface="현대하모니 L" pitchFamily="18" charset="-127"/>
              <a:ea typeface="현대하모니 L" pitchFamily="18" charset="-127"/>
            </a:endParaRPr>
          </a:p>
          <a:p>
            <a:r>
              <a:rPr lang="en-US" altLang="ko-KR" sz="1200" dirty="0">
                <a:latin typeface="현대하모니 L" pitchFamily="18" charset="-127"/>
                <a:ea typeface="현대하모니 L" pitchFamily="18" charset="-127"/>
              </a:rPr>
              <a:t> </a:t>
            </a:r>
            <a:r>
              <a:rPr lang="en-US" altLang="ko-KR" sz="1200" dirty="0" smtClean="0">
                <a:latin typeface="현대하모니 L" pitchFamily="18" charset="-127"/>
                <a:ea typeface="현대하모니 L" pitchFamily="18" charset="-127"/>
              </a:rPr>
              <a:t>   - 16,262</a:t>
            </a:r>
            <a:r>
              <a:rPr lang="ko-KR" altLang="en-US" sz="1200" dirty="0" smtClean="0">
                <a:latin typeface="현대하모니 L" pitchFamily="18" charset="-127"/>
                <a:ea typeface="현대하모니 L" pitchFamily="18" charset="-127"/>
              </a:rPr>
              <a:t>건 </a:t>
            </a:r>
            <a:r>
              <a:rPr lang="en-US" altLang="ko-KR" sz="1200" dirty="0" smtClean="0">
                <a:latin typeface="현대하모니 L" pitchFamily="18" charset="-127"/>
                <a:ea typeface="현대하모니 L" pitchFamily="18" charset="-127"/>
              </a:rPr>
              <a:t>: AC 614V </a:t>
            </a:r>
            <a:r>
              <a:rPr lang="ko-KR" altLang="en-US" sz="1200" dirty="0" err="1" smtClean="0">
                <a:latin typeface="현대하모니 L" pitchFamily="18" charset="-127"/>
                <a:ea typeface="현대하모니 L" pitchFamily="18" charset="-127"/>
              </a:rPr>
              <a:t>미검지</a:t>
            </a:r>
            <a:r>
              <a:rPr lang="ko-KR" altLang="en-US" sz="1200" dirty="0" smtClean="0">
                <a:latin typeface="현대하모니 L" pitchFamily="18" charset="-127"/>
                <a:ea typeface="현대하모니 L" pitchFamily="18" charset="-127"/>
              </a:rPr>
              <a:t> 건 차량</a:t>
            </a:r>
            <a:r>
              <a:rPr lang="en-US" altLang="ko-KR" sz="1200" dirty="0" smtClean="0">
                <a:latin typeface="현대하모니 L" pitchFamily="18" charset="-127"/>
                <a:ea typeface="현대하모니 L" pitchFamily="18" charset="-127"/>
              </a:rPr>
              <a:t>/</a:t>
            </a:r>
            <a:r>
              <a:rPr lang="ko-KR" altLang="en-US" sz="1200" dirty="0" err="1" smtClean="0">
                <a:latin typeface="현대하모니 L" pitchFamily="18" charset="-127"/>
                <a:ea typeface="현대하모니 L" pitchFamily="18" charset="-127"/>
              </a:rPr>
              <a:t>로직</a:t>
            </a:r>
            <a:r>
              <a:rPr lang="ko-KR" altLang="en-US" sz="1200" dirty="0" smtClean="0">
                <a:latin typeface="현대하모니 L" pitchFamily="18" charset="-127"/>
                <a:ea typeface="현대하모니 L" pitchFamily="18" charset="-127"/>
              </a:rPr>
              <a:t> 검토 필요</a:t>
            </a:r>
            <a:r>
              <a:rPr lang="en-US" altLang="ko-KR" sz="1200" dirty="0" smtClean="0">
                <a:latin typeface="현대하모니 L" pitchFamily="18" charset="-127"/>
                <a:ea typeface="현대하모니 L" pitchFamily="18" charset="-127"/>
              </a:rPr>
              <a:t>(</a:t>
            </a:r>
            <a:r>
              <a:rPr lang="ko-KR" altLang="en-US" sz="1200" dirty="0" smtClean="0">
                <a:latin typeface="현대하모니 L" pitchFamily="18" charset="-127"/>
                <a:ea typeface="현대하모니 L" pitchFamily="18" charset="-127"/>
              </a:rPr>
              <a:t>전 편성 발생</a:t>
            </a:r>
            <a:r>
              <a:rPr lang="en-US" altLang="ko-KR" sz="1200" dirty="0" smtClean="0">
                <a:latin typeface="현대하모니 L" pitchFamily="18" charset="-127"/>
                <a:ea typeface="현대하모니 L" pitchFamily="18" charset="-127"/>
              </a:rPr>
              <a:t>)</a:t>
            </a:r>
            <a:endParaRPr lang="en-US" altLang="ko-KR" sz="1200" dirty="0" smtClean="0">
              <a:solidFill>
                <a:srgbClr val="FF0000"/>
              </a:solidFill>
              <a:latin typeface="현대하모니 L" pitchFamily="18" charset="-127"/>
              <a:ea typeface="현대하모니 L" pitchFamily="18" charset="-127"/>
            </a:endParaRPr>
          </a:p>
          <a:p>
            <a:r>
              <a:rPr lang="en-US" altLang="ko-KR" sz="1200" dirty="0" smtClean="0">
                <a:latin typeface="현대하모니 L" pitchFamily="18" charset="-127"/>
                <a:ea typeface="현대하모니 L" pitchFamily="18" charset="-127"/>
              </a:rPr>
              <a:t>    </a:t>
            </a:r>
            <a:r>
              <a:rPr lang="en-US" altLang="ko-KR" sz="1200" dirty="0" smtClean="0">
                <a:latin typeface="현대하모니 L" pitchFamily="18" charset="-127"/>
                <a:ea typeface="현대하모니 L" pitchFamily="18" charset="-127"/>
              </a:rPr>
              <a:t>- </a:t>
            </a:r>
            <a:r>
              <a:rPr lang="en-US" altLang="ko-KR" sz="1200" dirty="0" smtClean="0">
                <a:latin typeface="현대하모니 L" pitchFamily="18" charset="-127"/>
                <a:ea typeface="현대하모니 L" pitchFamily="18" charset="-127"/>
              </a:rPr>
              <a:t>382</a:t>
            </a:r>
            <a:r>
              <a:rPr lang="ko-KR" altLang="en-US" sz="1200" dirty="0" smtClean="0">
                <a:latin typeface="현대하모니 L" pitchFamily="18" charset="-127"/>
                <a:ea typeface="현대하모니 L" pitchFamily="18" charset="-127"/>
              </a:rPr>
              <a:t>건 개별 차량 조사 필요</a:t>
            </a:r>
            <a:endParaRPr lang="en-US" altLang="ko-KR" sz="1200" dirty="0" smtClean="0">
              <a:latin typeface="현대하모니 L" pitchFamily="18" charset="-127"/>
              <a:ea typeface="현대하모니 L" pitchFamily="18" charset="-127"/>
            </a:endParaRPr>
          </a:p>
        </p:txBody>
      </p:sp>
      <p:graphicFrame>
        <p:nvGraphicFramePr>
          <p:cNvPr id="53" name="Group 2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478103"/>
              </p:ext>
            </p:extLst>
          </p:nvPr>
        </p:nvGraphicFramePr>
        <p:xfrm>
          <a:off x="612592" y="1772816"/>
          <a:ext cx="9094747" cy="4680521"/>
        </p:xfrm>
        <a:graphic>
          <a:graphicData uri="http://schemas.openxmlformats.org/drawingml/2006/table">
            <a:tbl>
              <a:tblPr/>
              <a:tblGrid>
                <a:gridCol w="444817"/>
                <a:gridCol w="2277032"/>
                <a:gridCol w="560388"/>
                <a:gridCol w="494982"/>
                <a:gridCol w="3877368"/>
                <a:gridCol w="1440160"/>
              </a:tblGrid>
              <a:tr h="61195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3600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CODE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3600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Fault</a:t>
                      </a: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 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NAME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3600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# OF FAIL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ctr" fontAlgn="ctr"/>
                      <a:r>
                        <a:rPr lang="en-US" sz="9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Severity</a:t>
                      </a:r>
                    </a:p>
                    <a:p>
                      <a:pPr marL="36000" algn="ctr" fontAlgn="ctr"/>
                      <a:r>
                        <a:rPr lang="en-US" sz="9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(</a:t>
                      </a: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1-4)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POSSIBLE CAUSE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3600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REVIEW RESULT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</a:tr>
              <a:tr h="407971">
                <a:tc>
                  <a:txBody>
                    <a:bodyPr/>
                    <a:lstStyle/>
                    <a:p>
                      <a:pPr marL="36000"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Compressor #2 high pressure transducer fault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6000"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6000"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Bad sensor, bad connections or damaged TCU.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4016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호 조사 필요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971">
                <a:tc>
                  <a:txBody>
                    <a:bodyPr/>
                    <a:lstStyle/>
                    <a:p>
                      <a:pPr marL="36000"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20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Compressor #2 low pressure transducer fault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6000"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18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6000"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Bad sensor, bad connections or damaged TCU.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4034, 4047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호 조사 필요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971">
                <a:tc>
                  <a:txBody>
                    <a:bodyPr/>
                    <a:lstStyle/>
                    <a:p>
                      <a:pPr marL="36000"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22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Compressor #2 current out of range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6000"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6000"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Bad sensor, bad connections, tripped overload, excessive measured current or damaged TCU.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4004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호 조사 필요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971">
                <a:tc>
                  <a:txBody>
                    <a:bodyPr/>
                    <a:lstStyle/>
                    <a:p>
                      <a:pPr marL="36000"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25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Auto-resetable overhead over heat temperature switch opens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6000"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6000"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Bad overtemp device, bad connections, excessive overhead heater temperature or damaged TCU.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4004, 4031, 4033, 4066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호 조사 필요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3986">
                <a:tc>
                  <a:txBody>
                    <a:bodyPr/>
                    <a:lstStyle/>
                    <a:p>
                      <a:pPr marL="36000"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31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Smoke detector alarm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6000"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6000"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Fire detection or bad connection of smoke detector.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4018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호 조사 필요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7185">
                <a:tc>
                  <a:txBody>
                    <a:bodyPr/>
                    <a:lstStyle/>
                    <a:p>
                      <a:pPr marL="36000"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33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Compressor #2 defective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6000"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6000"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Malfunctioning of compressor due to high pressure, low pressure, pressure not changing at start-up or current out of range.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4025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호 조사 필요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1128">
                <a:tc>
                  <a:txBody>
                    <a:bodyPr/>
                    <a:lstStyle/>
                    <a:p>
                      <a:pPr marL="36000"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34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Smoke detector status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6000"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6000"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Fire detection or bad connection of smoke detector.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4018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호 조사 필요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0564">
                <a:tc>
                  <a:txBody>
                    <a:bodyPr/>
                    <a:lstStyle/>
                    <a:p>
                      <a:pPr marL="36000"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37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Fault to detect open damper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6000"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244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6000"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No open damper detection when damper not activated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차량 조사 필요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971">
                <a:tc>
                  <a:txBody>
                    <a:bodyPr/>
                    <a:lstStyle/>
                    <a:p>
                      <a:pPr marL="36000"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40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No 614 Vac when 208 Vac present fault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6000"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16,262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6000"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614 Vac breaker open or tripped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차량 조사 필요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5846">
                <a:tc>
                  <a:txBody>
                    <a:bodyPr/>
                    <a:lstStyle/>
                    <a:p>
                      <a:pPr marL="36000"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42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Current detected when no overhead heating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6000"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84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6000"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SSR failure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4027, 4028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호 차량 조사 필요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7940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Control 1707" hidden="1"/>
          <p:cNvSpPr>
            <a:spLocks noRot="1" noChangeArrowheads="1" noChangeShapeType="1" noTextEdit="1"/>
          </p:cNvSpPr>
          <p:nvPr/>
        </p:nvSpPr>
        <p:spPr bwMode="auto">
          <a:xfrm>
            <a:off x="4065588" y="1962150"/>
            <a:ext cx="1114425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1139" name="Control 1706" hidden="1"/>
          <p:cNvSpPr>
            <a:spLocks noRot="1" noChangeArrowheads="1" noChangeShapeType="1" noTextEdit="1"/>
          </p:cNvSpPr>
          <p:nvPr/>
        </p:nvSpPr>
        <p:spPr bwMode="auto">
          <a:xfrm>
            <a:off x="4065588" y="1962150"/>
            <a:ext cx="1114425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7" name="Rectangle 12"/>
          <p:cNvSpPr>
            <a:spLocks noChangeArrowheads="1"/>
          </p:cNvSpPr>
          <p:nvPr/>
        </p:nvSpPr>
        <p:spPr bwMode="auto">
          <a:xfrm>
            <a:off x="168302" y="173091"/>
            <a:ext cx="470769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alibri" pitchFamily="34" charset="0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alibri" pitchFamily="34" charset="0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alibri" pitchFamily="34" charset="0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alibri" pitchFamily="34" charset="0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alibri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굴림" pitchFamily="50" charset="-127"/>
              </a:defRPr>
            </a:lvl9pPr>
          </a:lstStyle>
          <a:p>
            <a:pPr eaLnBrk="1" hangingPunct="1">
              <a:spcBef>
                <a:spcPct val="20000"/>
              </a:spcBef>
              <a:defRPr/>
            </a:pPr>
            <a:r>
              <a:rPr lang="en-US" altLang="ko-KR" sz="2400" dirty="0" smtClean="0">
                <a:solidFill>
                  <a:srgbClr val="000000"/>
                </a:solidFill>
                <a:latin typeface="현대하모니 M" pitchFamily="18" charset="-127"/>
                <a:ea typeface="현대하모니 M" pitchFamily="18" charset="-127"/>
              </a:rPr>
              <a:t>▣ </a:t>
            </a:r>
            <a:r>
              <a:rPr lang="en-US" altLang="ko-KR" sz="2400" dirty="0" smtClean="0">
                <a:solidFill>
                  <a:srgbClr val="000000"/>
                </a:solidFill>
                <a:latin typeface="현대하모니 M" pitchFamily="18" charset="-127"/>
                <a:ea typeface="현대하모니 M" pitchFamily="18" charset="-127"/>
              </a:rPr>
              <a:t>BRAKE</a:t>
            </a:r>
            <a:endParaRPr lang="ko-KR" altLang="en-US" sz="2400" dirty="0">
              <a:solidFill>
                <a:srgbClr val="000000"/>
              </a:solidFill>
              <a:latin typeface="현대하모니 M" pitchFamily="18" charset="-127"/>
              <a:ea typeface="현대하모니 M" pitchFamily="18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60512" y="764704"/>
            <a:ext cx="9073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latin typeface="현대하모니 L" pitchFamily="18" charset="-127"/>
                <a:ea typeface="현대하모니 L" pitchFamily="18" charset="-127"/>
              </a:rPr>
              <a:t>1. </a:t>
            </a:r>
            <a:r>
              <a:rPr lang="ko-KR" altLang="en-US" sz="1200" dirty="0" smtClean="0">
                <a:latin typeface="현대하모니 L" pitchFamily="18" charset="-127"/>
                <a:ea typeface="현대하모니 L" pitchFamily="18" charset="-127"/>
              </a:rPr>
              <a:t>총 고장 </a:t>
            </a:r>
            <a:r>
              <a:rPr lang="en-US" altLang="ko-KR" sz="1200" dirty="0">
                <a:latin typeface="현대하모니 L" pitchFamily="18" charset="-127"/>
                <a:ea typeface="현대하모니 L" pitchFamily="18" charset="-127"/>
              </a:rPr>
              <a:t> </a:t>
            </a:r>
            <a:r>
              <a:rPr lang="en-US" altLang="ko-KR" sz="1200" dirty="0" smtClean="0">
                <a:latin typeface="현대하모니 L" pitchFamily="18" charset="-127"/>
                <a:ea typeface="현대하모니 L" pitchFamily="18" charset="-127"/>
              </a:rPr>
              <a:t>213</a:t>
            </a:r>
            <a:r>
              <a:rPr lang="ko-KR" altLang="en-US" sz="1200" dirty="0" smtClean="0">
                <a:latin typeface="현대하모니 L" pitchFamily="18" charset="-127"/>
                <a:ea typeface="현대하모니 L" pitchFamily="18" charset="-127"/>
              </a:rPr>
              <a:t>건 발생</a:t>
            </a:r>
            <a:endParaRPr lang="en-US" altLang="ko-KR" sz="1200" dirty="0" smtClean="0">
              <a:latin typeface="현대하모니 L" pitchFamily="18" charset="-127"/>
              <a:ea typeface="현대하모니 L" pitchFamily="18" charset="-127"/>
            </a:endParaRPr>
          </a:p>
          <a:p>
            <a:r>
              <a:rPr lang="en-US" altLang="ko-KR" sz="1200" dirty="0">
                <a:latin typeface="현대하모니 L" pitchFamily="18" charset="-127"/>
                <a:ea typeface="현대하모니 L" pitchFamily="18" charset="-127"/>
              </a:rPr>
              <a:t> </a:t>
            </a:r>
            <a:r>
              <a:rPr lang="en-US" altLang="ko-KR" sz="1200" dirty="0" smtClean="0">
                <a:latin typeface="현대하모니 L" pitchFamily="18" charset="-127"/>
                <a:ea typeface="현대하모니 L" pitchFamily="18" charset="-127"/>
              </a:rPr>
              <a:t>   - 68</a:t>
            </a:r>
            <a:r>
              <a:rPr lang="ko-KR" altLang="en-US" sz="1200" dirty="0" smtClean="0">
                <a:latin typeface="현대하모니 L" pitchFamily="18" charset="-127"/>
                <a:ea typeface="현대하모니 L" pitchFamily="18" charset="-127"/>
              </a:rPr>
              <a:t>건 </a:t>
            </a:r>
            <a:r>
              <a:rPr lang="en-US" altLang="ko-KR" sz="1200" dirty="0" smtClean="0">
                <a:latin typeface="현대하모니 L" pitchFamily="18" charset="-127"/>
                <a:ea typeface="현대하모니 L" pitchFamily="18" charset="-127"/>
              </a:rPr>
              <a:t>: </a:t>
            </a:r>
            <a:r>
              <a:rPr lang="ko-KR" altLang="en-US" sz="1200" dirty="0" smtClean="0">
                <a:latin typeface="현대하모니 L" pitchFamily="18" charset="-127"/>
                <a:ea typeface="현대하모니 L" pitchFamily="18" charset="-127"/>
              </a:rPr>
              <a:t>차량 기지 </a:t>
            </a:r>
            <a:r>
              <a:rPr lang="ko-KR" altLang="en-US" sz="1200" dirty="0" err="1" smtClean="0">
                <a:latin typeface="현대하모니 L" pitchFamily="18" charset="-127"/>
                <a:ea typeface="현대하모니 L" pitchFamily="18" charset="-127"/>
              </a:rPr>
              <a:t>유치시</a:t>
            </a:r>
            <a:r>
              <a:rPr lang="ko-KR" altLang="en-US" sz="1200" dirty="0" smtClean="0">
                <a:latin typeface="현대하모니 L" pitchFamily="18" charset="-127"/>
                <a:ea typeface="현대하모니 L" pitchFamily="18" charset="-127"/>
              </a:rPr>
              <a:t> </a:t>
            </a:r>
            <a:r>
              <a:rPr lang="en-US" altLang="ko-KR" sz="1200" dirty="0" smtClean="0">
                <a:latin typeface="현대하모니 L" pitchFamily="18" charset="-127"/>
                <a:ea typeface="현대하모니 L" pitchFamily="18" charset="-127"/>
              </a:rPr>
              <a:t>CUTOUT COCK</a:t>
            </a:r>
            <a:r>
              <a:rPr lang="ko-KR" altLang="en-US" sz="1200" dirty="0" smtClean="0">
                <a:latin typeface="현대하모니 L" pitchFamily="18" charset="-127"/>
                <a:ea typeface="현대하모니 L" pitchFamily="18" charset="-127"/>
              </a:rPr>
              <a:t>조작으로 인한 고장으로 추정 </a:t>
            </a:r>
            <a:r>
              <a:rPr lang="en-US" altLang="ko-KR" sz="1200" dirty="0" smtClean="0">
                <a:latin typeface="현대하모니 L" pitchFamily="18" charset="-127"/>
                <a:ea typeface="현대하모니 L" pitchFamily="18" charset="-127"/>
                <a:sym typeface="Wingdings" pitchFamily="2" charset="2"/>
              </a:rPr>
              <a:t> </a:t>
            </a:r>
            <a:r>
              <a:rPr lang="ko-KR" altLang="en-US" sz="1200" dirty="0" err="1" smtClean="0">
                <a:latin typeface="현대하모니 L" pitchFamily="18" charset="-127"/>
                <a:ea typeface="현대하모니 L" pitchFamily="18" charset="-127"/>
                <a:sym typeface="Wingdings" pitchFamily="2" charset="2"/>
              </a:rPr>
              <a:t>조사후</a:t>
            </a:r>
            <a:r>
              <a:rPr lang="ko-KR" altLang="en-US" sz="1200" dirty="0" smtClean="0">
                <a:latin typeface="현대하모니 L" pitchFamily="18" charset="-127"/>
                <a:ea typeface="현대하모니 L" pitchFamily="18" charset="-127"/>
                <a:sym typeface="Wingdings" pitchFamily="2" charset="2"/>
              </a:rPr>
              <a:t> 고장 삭제 필요</a:t>
            </a:r>
            <a:endParaRPr lang="en-US" altLang="ko-KR" sz="1200" dirty="0" smtClean="0">
              <a:latin typeface="현대하모니 L" pitchFamily="18" charset="-127"/>
              <a:ea typeface="현대하모니 L" pitchFamily="18" charset="-127"/>
              <a:sym typeface="Wingdings" pitchFamily="2" charset="2"/>
            </a:endParaRPr>
          </a:p>
          <a:p>
            <a:r>
              <a:rPr lang="en-US" altLang="ko-KR" sz="1200" dirty="0">
                <a:latin typeface="현대하모니 L" pitchFamily="18" charset="-127"/>
                <a:ea typeface="현대하모니 L" pitchFamily="18" charset="-127"/>
                <a:sym typeface="Wingdings" pitchFamily="2" charset="2"/>
              </a:rPr>
              <a:t> </a:t>
            </a:r>
            <a:r>
              <a:rPr lang="en-US" altLang="ko-KR" sz="1200" dirty="0" smtClean="0">
                <a:latin typeface="현대하모니 L" pitchFamily="18" charset="-127"/>
                <a:ea typeface="현대하모니 L" pitchFamily="18" charset="-127"/>
                <a:sym typeface="Wingdings" pitchFamily="2" charset="2"/>
              </a:rPr>
              <a:t>   - 7</a:t>
            </a:r>
            <a:r>
              <a:rPr lang="ko-KR" altLang="en-US" sz="1200" dirty="0" smtClean="0">
                <a:latin typeface="현대하모니 L" pitchFamily="18" charset="-127"/>
                <a:ea typeface="현대하모니 L" pitchFamily="18" charset="-127"/>
                <a:sym typeface="Wingdings" pitchFamily="2" charset="2"/>
              </a:rPr>
              <a:t>종 </a:t>
            </a:r>
            <a:r>
              <a:rPr lang="en-US" altLang="ko-KR" sz="1200" dirty="0" smtClean="0">
                <a:latin typeface="현대하모니 L" pitchFamily="18" charset="-127"/>
                <a:ea typeface="현대하모니 L" pitchFamily="18" charset="-127"/>
                <a:sym typeface="Wingdings" pitchFamily="2" charset="2"/>
              </a:rPr>
              <a:t>145</a:t>
            </a:r>
            <a:r>
              <a:rPr lang="ko-KR" altLang="en-US" sz="1200" dirty="0" smtClean="0">
                <a:latin typeface="현대하모니 L" pitchFamily="18" charset="-127"/>
                <a:ea typeface="현대하모니 L" pitchFamily="18" charset="-127"/>
                <a:sym typeface="Wingdings" pitchFamily="2" charset="2"/>
              </a:rPr>
              <a:t>건은 차량 조사 필요</a:t>
            </a:r>
            <a:endParaRPr lang="en-US" altLang="ko-KR" sz="1200" dirty="0" smtClean="0">
              <a:latin typeface="현대하모니 L" pitchFamily="18" charset="-127"/>
              <a:ea typeface="현대하모니 L" pitchFamily="18" charset="-127"/>
            </a:endParaRPr>
          </a:p>
        </p:txBody>
      </p:sp>
      <p:graphicFrame>
        <p:nvGraphicFramePr>
          <p:cNvPr id="53" name="Group 2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7601017"/>
              </p:ext>
            </p:extLst>
          </p:nvPr>
        </p:nvGraphicFramePr>
        <p:xfrm>
          <a:off x="612592" y="1412776"/>
          <a:ext cx="8876912" cy="5040562"/>
        </p:xfrm>
        <a:graphic>
          <a:graphicData uri="http://schemas.openxmlformats.org/drawingml/2006/table">
            <a:tbl>
              <a:tblPr/>
              <a:tblGrid>
                <a:gridCol w="444817"/>
                <a:gridCol w="1375311"/>
                <a:gridCol w="596582"/>
                <a:gridCol w="494982"/>
                <a:gridCol w="4525060"/>
                <a:gridCol w="1440160"/>
              </a:tblGrid>
              <a:tr h="29650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3600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CODE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3600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Fault</a:t>
                      </a: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 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NAME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3600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# OF FAIL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ctr" fontAlgn="ctr"/>
                      <a:r>
                        <a:rPr lang="en-US" sz="9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Severity</a:t>
                      </a:r>
                    </a:p>
                    <a:p>
                      <a:pPr marL="36000" algn="ctr" fontAlgn="ctr"/>
                      <a:r>
                        <a:rPr lang="en-US" sz="9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(</a:t>
                      </a: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1-4)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POSSIBLE CAUSE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3600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REVIEW RESULT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</a:tr>
              <a:tr h="29650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A End Brake Cylinder Pressure Cutout Cock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34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Status information of the BCP Cutout Cock switch indication.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</a:b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- Cutout Indication (All Truck BCP to actuators released)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0 - No Cutout 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Indication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차량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기지내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이동시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 사용으로 추정됨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-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기능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확인후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 종결하여 고장에서 제외 필요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650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28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F End Brake Cylinder Pressure Cutout Cock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28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475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Brake Control Pressure Cutout Cock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6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Status information of the BCC pressure Cutout Cock switch indication.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</a:b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= Cutout 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0 = Normal 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Operation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4125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33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Friction Brake Control Unit Health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16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Based on the FBCU Application software diagnostics of the FBCU hardware. 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 = Diagnostic Event, 0 = operational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need to review the events logged in the FBCU history log for the specific cause.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The specific causes or faults are grouped based on bit numbers within the CDT/MDS message.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4012, 4015, 4022, 4035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호 조사 필요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475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35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Low Car Battery Input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Based on the FBCU Application software input of the battery level.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</a:b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= Diagnostic event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0 = 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Operational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rgbClr val="FF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4048</a:t>
                      </a:r>
                      <a:r>
                        <a:rPr lang="ko-KR" alt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호 확인 필요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0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39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Brake Pipe Operating Module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90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Based on the FBCU Application software diagnostics of service brake cylinder pressure.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 = Diagnostic Event 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0 = operational   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The specific causes or faults are grouped based on bit numbers within the CDT/MDS message.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업체 차량</a:t>
                      </a:r>
                      <a:r>
                        <a:rPr lang="en-US" altLang="ko-KR" sz="900" b="0" i="0" u="none" strike="noStrike">
                          <a:solidFill>
                            <a:srgbClr val="FF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(20</a:t>
                      </a:r>
                      <a:r>
                        <a:rPr lang="ko-KR" alt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량</a:t>
                      </a:r>
                      <a:r>
                        <a:rPr lang="en-US" altLang="ko-KR" sz="900" b="0" i="0" u="none" strike="noStrike">
                          <a:solidFill>
                            <a:srgbClr val="FF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) </a:t>
                      </a:r>
                      <a:r>
                        <a:rPr lang="ko-KR" alt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조사 필요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140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41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Electronic Relay Valve F End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5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rgbClr val="FF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4034, 4049</a:t>
                      </a:r>
                      <a:r>
                        <a:rPr lang="ko-KR" alt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호 차량 조사 필요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650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43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Emergency Variable Load Valve A End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5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Based on the FBCU Application software diagnostics of emergency backup pressure.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 = Diagnostic Event, 0 = 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operational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rgbClr val="FF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4020, 4024, 4028</a:t>
                      </a:r>
                      <a:r>
                        <a:rPr lang="ko-KR" alt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호 차량 조사 필요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4125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48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Air Spring Pressure Out of Range A End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Diagnostic information of ASP transducer on BPCU. ASP is between (AW3+5) and (AW0–5) psi at above 10 mph.  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</a:b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At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zero speed, ASP less than (AW0–10) psi for 10s is an event.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 = ASP is under/over range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0 = ASP is normal range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rgbClr val="FF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4032</a:t>
                      </a:r>
                      <a:r>
                        <a:rPr lang="ko-KR" alt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호 차량 조사 필요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300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50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Main Reservoir Pressure Switch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26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Status information based on the FBCU Application software input signal of this pressure switch.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</a:b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0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= Main Reservoir Pressure Ok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 = Main Reservoir pressure 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low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8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량 차량 조사 필요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2019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Control 1707" hidden="1"/>
          <p:cNvSpPr>
            <a:spLocks noRot="1" noChangeArrowheads="1" noChangeShapeType="1" noTextEdit="1"/>
          </p:cNvSpPr>
          <p:nvPr/>
        </p:nvSpPr>
        <p:spPr bwMode="auto">
          <a:xfrm>
            <a:off x="4065588" y="1962150"/>
            <a:ext cx="1114425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1139" name="Control 1706" hidden="1"/>
          <p:cNvSpPr>
            <a:spLocks noRot="1" noChangeArrowheads="1" noChangeShapeType="1" noTextEdit="1"/>
          </p:cNvSpPr>
          <p:nvPr/>
        </p:nvSpPr>
        <p:spPr bwMode="auto">
          <a:xfrm>
            <a:off x="4065588" y="1962150"/>
            <a:ext cx="1114425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7" name="Rectangle 12"/>
          <p:cNvSpPr>
            <a:spLocks noChangeArrowheads="1"/>
          </p:cNvSpPr>
          <p:nvPr/>
        </p:nvSpPr>
        <p:spPr bwMode="auto">
          <a:xfrm>
            <a:off x="168302" y="173091"/>
            <a:ext cx="470769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alibri" pitchFamily="34" charset="0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alibri" pitchFamily="34" charset="0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alibri" pitchFamily="34" charset="0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alibri" pitchFamily="34" charset="0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alibri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굴림" pitchFamily="50" charset="-127"/>
              </a:defRPr>
            </a:lvl9pPr>
          </a:lstStyle>
          <a:p>
            <a:pPr eaLnBrk="1" hangingPunct="1">
              <a:spcBef>
                <a:spcPct val="20000"/>
              </a:spcBef>
              <a:defRPr/>
            </a:pPr>
            <a:r>
              <a:rPr lang="en-US" altLang="ko-KR" sz="2400" dirty="0" smtClean="0">
                <a:solidFill>
                  <a:srgbClr val="000000"/>
                </a:solidFill>
                <a:latin typeface="현대하모니 M" pitchFamily="18" charset="-127"/>
                <a:ea typeface="현대하모니 M" pitchFamily="18" charset="-127"/>
              </a:rPr>
              <a:t>▣ </a:t>
            </a:r>
            <a:r>
              <a:rPr lang="en-US" altLang="ko-KR" sz="2400" dirty="0" smtClean="0">
                <a:solidFill>
                  <a:srgbClr val="000000"/>
                </a:solidFill>
                <a:latin typeface="현대하모니 M" pitchFamily="18" charset="-127"/>
                <a:ea typeface="현대하모니 M" pitchFamily="18" charset="-127"/>
              </a:rPr>
              <a:t>APU</a:t>
            </a:r>
            <a:endParaRPr lang="ko-KR" altLang="en-US" sz="2400" dirty="0">
              <a:solidFill>
                <a:srgbClr val="000000"/>
              </a:solidFill>
              <a:latin typeface="현대하모니 M" pitchFamily="18" charset="-127"/>
              <a:ea typeface="현대하모니 M" pitchFamily="18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60512" y="764704"/>
            <a:ext cx="9073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latin typeface="현대하모니 L" pitchFamily="18" charset="-127"/>
                <a:ea typeface="현대하모니 L" pitchFamily="18" charset="-127"/>
              </a:rPr>
              <a:t>1. </a:t>
            </a:r>
            <a:r>
              <a:rPr lang="ko-KR" altLang="en-US" sz="1200" dirty="0" smtClean="0">
                <a:latin typeface="현대하모니 L" pitchFamily="18" charset="-127"/>
                <a:ea typeface="현대하모니 L" pitchFamily="18" charset="-127"/>
              </a:rPr>
              <a:t>총 고장 </a:t>
            </a:r>
            <a:r>
              <a:rPr lang="en-US" altLang="ko-KR" sz="1200" dirty="0">
                <a:latin typeface="현대하모니 L" pitchFamily="18" charset="-127"/>
                <a:ea typeface="현대하모니 L" pitchFamily="18" charset="-127"/>
              </a:rPr>
              <a:t> </a:t>
            </a:r>
            <a:r>
              <a:rPr lang="en-US" altLang="ko-KR" sz="1200" dirty="0" smtClean="0">
                <a:latin typeface="현대하모니 L" pitchFamily="18" charset="-127"/>
                <a:ea typeface="현대하모니 L" pitchFamily="18" charset="-127"/>
              </a:rPr>
              <a:t>10,245</a:t>
            </a:r>
            <a:r>
              <a:rPr lang="ko-KR" altLang="en-US" sz="1200" dirty="0" smtClean="0">
                <a:latin typeface="현대하모니 L" pitchFamily="18" charset="-127"/>
                <a:ea typeface="현대하모니 L" pitchFamily="18" charset="-127"/>
              </a:rPr>
              <a:t>건 발생</a:t>
            </a:r>
            <a:endParaRPr lang="en-US" altLang="ko-KR" sz="1200" dirty="0" smtClean="0">
              <a:latin typeface="현대하모니 L" pitchFamily="18" charset="-127"/>
              <a:ea typeface="현대하모니 L" pitchFamily="18" charset="-127"/>
            </a:endParaRPr>
          </a:p>
          <a:p>
            <a:r>
              <a:rPr lang="en-US" altLang="ko-KR" sz="1200" dirty="0">
                <a:latin typeface="현대하모니 L" pitchFamily="18" charset="-127"/>
                <a:ea typeface="현대하모니 L" pitchFamily="18" charset="-127"/>
              </a:rPr>
              <a:t> </a:t>
            </a:r>
            <a:r>
              <a:rPr lang="en-US" altLang="ko-KR" sz="1200" dirty="0" smtClean="0">
                <a:latin typeface="현대하모니 L" pitchFamily="18" charset="-127"/>
                <a:ea typeface="현대하모니 L" pitchFamily="18" charset="-127"/>
              </a:rPr>
              <a:t>   - 10,026</a:t>
            </a:r>
            <a:r>
              <a:rPr lang="ko-KR" altLang="en-US" sz="1200" dirty="0" smtClean="0">
                <a:latin typeface="현대하모니 L" pitchFamily="18" charset="-127"/>
                <a:ea typeface="현대하모니 L" pitchFamily="18" charset="-127"/>
              </a:rPr>
              <a:t>건 </a:t>
            </a:r>
            <a:r>
              <a:rPr lang="en-US" altLang="ko-KR" sz="1200" dirty="0">
                <a:latin typeface="현대하모니 L" pitchFamily="18" charset="-127"/>
                <a:ea typeface="현대하모니 L" pitchFamily="18" charset="-127"/>
              </a:rPr>
              <a:t>: </a:t>
            </a:r>
            <a:r>
              <a:rPr lang="en-US" altLang="ko-KR" sz="1200" dirty="0" err="1">
                <a:latin typeface="현대하모니 L" pitchFamily="18" charset="-127"/>
                <a:ea typeface="현대하모니 L" pitchFamily="18" charset="-127"/>
              </a:rPr>
              <a:t>APSx</a:t>
            </a:r>
            <a:r>
              <a:rPr lang="en-US" altLang="ko-KR" sz="1200" dirty="0">
                <a:latin typeface="현대하모니 L" pitchFamily="18" charset="-127"/>
                <a:ea typeface="현대하모니 L" pitchFamily="18" charset="-127"/>
              </a:rPr>
              <a:t> 4QC </a:t>
            </a:r>
            <a:r>
              <a:rPr lang="en-US" altLang="ko-KR" sz="1200" dirty="0" smtClean="0">
                <a:latin typeface="현대하모니 L" pitchFamily="18" charset="-127"/>
                <a:ea typeface="현대하모니 L" pitchFamily="18" charset="-127"/>
              </a:rPr>
              <a:t>STOP </a:t>
            </a:r>
            <a:r>
              <a:rPr lang="ko-KR" altLang="en-US" sz="1200" dirty="0" smtClean="0">
                <a:latin typeface="현대하모니 L" pitchFamily="18" charset="-127"/>
                <a:ea typeface="현대하모니 L" pitchFamily="18" charset="-127"/>
              </a:rPr>
              <a:t>관련하여 업체와 조치 방안 협의 필요</a:t>
            </a:r>
            <a:r>
              <a:rPr lang="en-US" altLang="ko-KR" sz="1200" dirty="0" smtClean="0">
                <a:latin typeface="현대하모니 L" pitchFamily="18" charset="-127"/>
                <a:ea typeface="현대하모니 L" pitchFamily="18" charset="-127"/>
              </a:rPr>
              <a:t>(</a:t>
            </a:r>
            <a:r>
              <a:rPr lang="ko-KR" altLang="en-US" sz="1200" dirty="0" smtClean="0">
                <a:latin typeface="현대하모니 L" pitchFamily="18" charset="-127"/>
                <a:ea typeface="현대하모니 L" pitchFamily="18" charset="-127"/>
              </a:rPr>
              <a:t>전 편성 발생</a:t>
            </a:r>
            <a:r>
              <a:rPr lang="en-US" altLang="ko-KR" sz="1200" dirty="0" smtClean="0">
                <a:latin typeface="현대하모니 L" pitchFamily="18" charset="-127"/>
                <a:ea typeface="현대하모니 L" pitchFamily="18" charset="-127"/>
              </a:rPr>
              <a:t>)</a:t>
            </a:r>
            <a:endParaRPr lang="en-US" altLang="ko-KR" sz="1200" dirty="0" smtClean="0">
              <a:solidFill>
                <a:srgbClr val="FF0000"/>
              </a:solidFill>
              <a:latin typeface="현대하모니 L" pitchFamily="18" charset="-127"/>
              <a:ea typeface="현대하모니 L" pitchFamily="18" charset="-127"/>
            </a:endParaRPr>
          </a:p>
          <a:p>
            <a:r>
              <a:rPr lang="en-US" altLang="ko-KR" sz="1200" dirty="0" smtClean="0">
                <a:latin typeface="현대하모니 L" pitchFamily="18" charset="-127"/>
                <a:ea typeface="현대하모니 L" pitchFamily="18" charset="-127"/>
              </a:rPr>
              <a:t>    </a:t>
            </a:r>
            <a:r>
              <a:rPr lang="en-US" altLang="ko-KR" sz="1200" dirty="0" smtClean="0">
                <a:latin typeface="현대하모니 L" pitchFamily="18" charset="-127"/>
                <a:ea typeface="현대하모니 L" pitchFamily="18" charset="-127"/>
              </a:rPr>
              <a:t>- </a:t>
            </a:r>
            <a:r>
              <a:rPr lang="en-US" altLang="ko-KR" sz="1200" dirty="0" smtClean="0">
                <a:latin typeface="현대하모니 L" pitchFamily="18" charset="-127"/>
                <a:ea typeface="현대하모니 L" pitchFamily="18" charset="-127"/>
              </a:rPr>
              <a:t>5</a:t>
            </a:r>
            <a:r>
              <a:rPr lang="ko-KR" altLang="en-US" sz="1200" dirty="0" smtClean="0">
                <a:latin typeface="현대하모니 L" pitchFamily="18" charset="-127"/>
                <a:ea typeface="현대하모니 L" pitchFamily="18" charset="-127"/>
              </a:rPr>
              <a:t>종 </a:t>
            </a:r>
            <a:r>
              <a:rPr lang="en-US" altLang="ko-KR" sz="1200" dirty="0" smtClean="0">
                <a:latin typeface="현대하모니 L" pitchFamily="18" charset="-127"/>
                <a:ea typeface="현대하모니 L" pitchFamily="18" charset="-127"/>
              </a:rPr>
              <a:t>219</a:t>
            </a:r>
            <a:r>
              <a:rPr lang="ko-KR" altLang="en-US" sz="1200" dirty="0" smtClean="0">
                <a:latin typeface="현대하모니 L" pitchFamily="18" charset="-127"/>
                <a:ea typeface="현대하모니 L" pitchFamily="18" charset="-127"/>
              </a:rPr>
              <a:t>건 차량 조사 필요</a:t>
            </a:r>
            <a:endParaRPr lang="en-US" altLang="ko-KR" sz="1200" dirty="0" smtClean="0">
              <a:latin typeface="현대하모니 L" pitchFamily="18" charset="-127"/>
              <a:ea typeface="현대하모니 L" pitchFamily="18" charset="-127"/>
            </a:endParaRPr>
          </a:p>
        </p:txBody>
      </p:sp>
      <p:graphicFrame>
        <p:nvGraphicFramePr>
          <p:cNvPr id="53" name="Group 2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079536"/>
              </p:ext>
            </p:extLst>
          </p:nvPr>
        </p:nvGraphicFramePr>
        <p:xfrm>
          <a:off x="612592" y="1772816"/>
          <a:ext cx="9094747" cy="3888433"/>
        </p:xfrm>
        <a:graphic>
          <a:graphicData uri="http://schemas.openxmlformats.org/drawingml/2006/table">
            <a:tbl>
              <a:tblPr/>
              <a:tblGrid>
                <a:gridCol w="444817"/>
                <a:gridCol w="2277032"/>
                <a:gridCol w="560388"/>
                <a:gridCol w="494982"/>
                <a:gridCol w="3877368"/>
                <a:gridCol w="1440160"/>
              </a:tblGrid>
              <a:tr h="77195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3600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CODE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3600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Fault</a:t>
                      </a: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 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NAME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3600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# OF FAIL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ctr" fontAlgn="ctr"/>
                      <a:r>
                        <a:rPr lang="en-US" sz="9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Severity</a:t>
                      </a:r>
                    </a:p>
                    <a:p>
                      <a:pPr marL="36000" algn="ctr" fontAlgn="ctr"/>
                      <a:r>
                        <a:rPr lang="en-US" sz="9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(</a:t>
                      </a: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1-4)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POSSIBLE CAUSE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3600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REVIEW RESULT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</a:tr>
              <a:tr h="51463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APSx AC Ground Fault Error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54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Leakage current(s) detected between chassis ground and one or more of the AC output phases.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차량 조사 필요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463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APSx Shop Power Contactor K903 Failure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K903 (Shp Pwr) fault (4x &lt; 120s) occurs when K903 FdBk ≠ K903 Drv.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4065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호 차량 조사 필요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463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APSx DC Ground Fault Error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126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Leakage current(s) detected between chassis ground and one or more of the DC outputs.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차량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(25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량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)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조사 필요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463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25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APSx AC Output CB Q301 Tripped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8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AC single phase output circuit breaker Q301 tripped.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4034, 4045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호 차량 조사 필요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906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29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APSx 4QC STOP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10,026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4QC 'Stop' mode caused by either:</a:t>
                      </a:r>
                      <a:b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</a:b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- loss of enable signal from CCU or</a:t>
                      </a:r>
                      <a:b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</a:b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- 4QC sub-system fault.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업체 조치 방안 협의 필요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887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70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APSx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 Battery Temp. Sensor Failure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24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Battery temperature compensation has been disabled due to temperature sensor circuit failure.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4014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호 조차 필요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0167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Control 1707" hidden="1"/>
          <p:cNvSpPr>
            <a:spLocks noRot="1" noChangeArrowheads="1" noChangeShapeType="1" noTextEdit="1"/>
          </p:cNvSpPr>
          <p:nvPr/>
        </p:nvSpPr>
        <p:spPr bwMode="auto">
          <a:xfrm>
            <a:off x="4065588" y="1962150"/>
            <a:ext cx="1114425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1139" name="Control 1706" hidden="1"/>
          <p:cNvSpPr>
            <a:spLocks noRot="1" noChangeArrowheads="1" noChangeShapeType="1" noTextEdit="1"/>
          </p:cNvSpPr>
          <p:nvPr/>
        </p:nvSpPr>
        <p:spPr bwMode="auto">
          <a:xfrm>
            <a:off x="4065588" y="1962150"/>
            <a:ext cx="1114425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7" name="Rectangle 12"/>
          <p:cNvSpPr>
            <a:spLocks noChangeArrowheads="1"/>
          </p:cNvSpPr>
          <p:nvPr/>
        </p:nvSpPr>
        <p:spPr bwMode="auto">
          <a:xfrm>
            <a:off x="168302" y="173091"/>
            <a:ext cx="470769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alibri" pitchFamily="34" charset="0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alibri" pitchFamily="34" charset="0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alibri" pitchFamily="34" charset="0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alibri" pitchFamily="34" charset="0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alibri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굴림" pitchFamily="50" charset="-127"/>
              </a:defRPr>
            </a:lvl9pPr>
          </a:lstStyle>
          <a:p>
            <a:pPr eaLnBrk="1" hangingPunct="1">
              <a:spcBef>
                <a:spcPct val="20000"/>
              </a:spcBef>
              <a:defRPr/>
            </a:pPr>
            <a:r>
              <a:rPr lang="en-US" altLang="ko-KR" sz="2400" dirty="0" smtClean="0">
                <a:solidFill>
                  <a:srgbClr val="000000"/>
                </a:solidFill>
                <a:latin typeface="현대하모니 M" pitchFamily="18" charset="-127"/>
                <a:ea typeface="현대하모니 M" pitchFamily="18" charset="-127"/>
              </a:rPr>
              <a:t>▣ </a:t>
            </a:r>
            <a:r>
              <a:rPr lang="ko-KR" altLang="en-US" sz="2400" dirty="0" smtClean="0">
                <a:solidFill>
                  <a:srgbClr val="000000"/>
                </a:solidFill>
                <a:latin typeface="현대하모니 M" pitchFamily="18" charset="-127"/>
                <a:ea typeface="현대하모니 M" pitchFamily="18" charset="-127"/>
              </a:rPr>
              <a:t>방송장치</a:t>
            </a:r>
            <a:endParaRPr lang="ko-KR" altLang="en-US" sz="2400" dirty="0">
              <a:solidFill>
                <a:srgbClr val="000000"/>
              </a:solidFill>
              <a:latin typeface="현대하모니 M" pitchFamily="18" charset="-127"/>
              <a:ea typeface="현대하모니 M" pitchFamily="18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60512" y="764704"/>
            <a:ext cx="90730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latin typeface="현대하모니 L" pitchFamily="18" charset="-127"/>
                <a:ea typeface="현대하모니 L" pitchFamily="18" charset="-127"/>
              </a:rPr>
              <a:t>1. </a:t>
            </a:r>
            <a:r>
              <a:rPr lang="ko-KR" altLang="en-US" sz="1200" dirty="0" smtClean="0">
                <a:latin typeface="현대하모니 L" pitchFamily="18" charset="-127"/>
                <a:ea typeface="현대하모니 L" pitchFamily="18" charset="-127"/>
              </a:rPr>
              <a:t>총 고장 </a:t>
            </a:r>
            <a:r>
              <a:rPr lang="en-US" altLang="ko-KR" sz="1200" dirty="0">
                <a:latin typeface="현대하모니 L" pitchFamily="18" charset="-127"/>
                <a:ea typeface="현대하모니 L" pitchFamily="18" charset="-127"/>
              </a:rPr>
              <a:t> </a:t>
            </a:r>
            <a:r>
              <a:rPr lang="en-US" altLang="ko-KR" sz="1200" dirty="0" smtClean="0">
                <a:latin typeface="현대하모니 L" pitchFamily="18" charset="-127"/>
                <a:ea typeface="현대하모니 L" pitchFamily="18" charset="-127"/>
              </a:rPr>
              <a:t>25,364</a:t>
            </a:r>
            <a:r>
              <a:rPr lang="ko-KR" altLang="en-US" sz="1200" dirty="0" smtClean="0">
                <a:latin typeface="현대하모니 L" pitchFamily="18" charset="-127"/>
                <a:ea typeface="현대하모니 L" pitchFamily="18" charset="-127"/>
              </a:rPr>
              <a:t>건 발생</a:t>
            </a:r>
            <a:endParaRPr lang="en-US" altLang="ko-KR" sz="1200" dirty="0" smtClean="0">
              <a:latin typeface="현대하모니 L" pitchFamily="18" charset="-127"/>
              <a:ea typeface="현대하모니 L" pitchFamily="18" charset="-127"/>
            </a:endParaRPr>
          </a:p>
          <a:p>
            <a:r>
              <a:rPr lang="en-US" altLang="ko-KR" sz="1200" dirty="0">
                <a:latin typeface="현대하모니 L" pitchFamily="18" charset="-127"/>
                <a:ea typeface="현대하모니 L" pitchFamily="18" charset="-127"/>
              </a:rPr>
              <a:t> </a:t>
            </a:r>
            <a:r>
              <a:rPr lang="en-US" altLang="ko-KR" sz="1200" dirty="0" smtClean="0">
                <a:latin typeface="현대하모니 L" pitchFamily="18" charset="-127"/>
                <a:ea typeface="현대하모니 L" pitchFamily="18" charset="-127"/>
              </a:rPr>
              <a:t>   - </a:t>
            </a:r>
            <a:r>
              <a:rPr lang="ko-KR" altLang="en-US" sz="1200" dirty="0" smtClean="0">
                <a:latin typeface="현대하모니 L" pitchFamily="18" charset="-127"/>
                <a:ea typeface="현대하모니 L" pitchFamily="18" charset="-127"/>
              </a:rPr>
              <a:t>전체 고장에 대해 업체의 원인 조사 및 대책 수립 필요 </a:t>
            </a:r>
            <a:r>
              <a:rPr lang="en-US" altLang="ko-KR" sz="1200" dirty="0" smtClean="0">
                <a:latin typeface="현대하모니 L" pitchFamily="18" charset="-127"/>
                <a:ea typeface="현대하모니 L" pitchFamily="18" charset="-127"/>
                <a:sym typeface="Wingdings" pitchFamily="2" charset="2"/>
              </a:rPr>
              <a:t> </a:t>
            </a:r>
            <a:r>
              <a:rPr lang="ko-KR" altLang="en-US" sz="1200" dirty="0" smtClean="0">
                <a:solidFill>
                  <a:srgbClr val="FF0000"/>
                </a:solidFill>
                <a:latin typeface="현대하모니 L" pitchFamily="18" charset="-127"/>
                <a:ea typeface="현대하모니 L" pitchFamily="18" charset="-127"/>
                <a:sym typeface="Wingdings" pitchFamily="2" charset="2"/>
              </a:rPr>
              <a:t>고장으로 등록하지 않는 방안 강구 필요</a:t>
            </a:r>
            <a:endParaRPr lang="en-US" altLang="ko-KR" sz="1200" dirty="0" smtClean="0">
              <a:latin typeface="현대하모니 L" pitchFamily="18" charset="-127"/>
              <a:ea typeface="현대하모니 L" pitchFamily="18" charset="-127"/>
            </a:endParaRPr>
          </a:p>
        </p:txBody>
      </p:sp>
      <p:graphicFrame>
        <p:nvGraphicFramePr>
          <p:cNvPr id="53" name="Group 2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4546840"/>
              </p:ext>
            </p:extLst>
          </p:nvPr>
        </p:nvGraphicFramePr>
        <p:xfrm>
          <a:off x="612592" y="1412778"/>
          <a:ext cx="8876912" cy="5104051"/>
        </p:xfrm>
        <a:graphic>
          <a:graphicData uri="http://schemas.openxmlformats.org/drawingml/2006/table">
            <a:tbl>
              <a:tblPr/>
              <a:tblGrid>
                <a:gridCol w="407192"/>
                <a:gridCol w="1700968"/>
                <a:gridCol w="416372"/>
                <a:gridCol w="458788"/>
                <a:gridCol w="4957488"/>
                <a:gridCol w="936104"/>
              </a:tblGrid>
              <a:tr h="29513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CODE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Fault</a:t>
                      </a: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 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NAME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# OF FAIL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Severity</a:t>
                      </a:r>
                    </a:p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(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1-4)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POSSIBLE CAUSE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REVIEW RESULT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</a:tr>
              <a:tr h="44270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CCP failure.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6,380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1. Power supply error.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2. Damaged CCP1 control board.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3. Loose connection between CCP and CRA.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업체 조사 필요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027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VTX failure.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124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1. PSA (Power supply of CRA ) error. </a:t>
                      </a:r>
                      <a:b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</a:b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2. Damage on VTX board.</a:t>
                      </a:r>
                      <a:b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</a:b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3. Damage on VRX board of PID.</a:t>
                      </a:r>
                      <a:b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</a:b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4. Loose connection between VTX and VRX of PID.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업체 조사 필요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591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VOIP failure.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1,056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1. PSA (P/S of CRA) error. 2. Damaged PAC board. 3. Damaged AAB assembly board.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업체 조사 필요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757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PAC failure.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1,757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027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LIC Main Process failure.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9,012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1. PSA (Power supply of CRA ) error.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2. Damage on LIC board.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3. Loosed connection between CRA and CDT.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4. Damage on CDT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업체 조사 필요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937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FDI failure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328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7"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1. Power supply error.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2. Damage on LEDC board.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3. Damage on LED module.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4. Loose connection of Address signal.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5. Loose connection between FDI1 and COMM.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7"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업체 조사 필요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937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SDI1 failure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290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937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SDI2 failure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352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937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SDI3 failure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276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937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SDI4 failure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353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937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PII1 failure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672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937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PII2 failure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562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12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VRX1 failure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260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1. Power supply error. 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2. Damaged VRX board.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3. Damaged LCD panel.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4. Loose connection of Address signal.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5. Loose connection between PID1-1 and COMM.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6.Loose coaxial connection between PID1-1 and COMM.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업체 조사 필요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12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VRX2 failure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324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12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VRX3 failure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324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12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VRX4 failure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250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12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VRX5 failure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244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757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CRA-Main Application 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failure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2,776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1. PSA (P/S of CRA ) error. 2. Damaged CNCS board.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3. Damaged HDD board.  4. O/S error.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5. GPS receiver error.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6. Loose connection between GIA and GPS receiver.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업체 조사 필요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270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23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CRA-FTP Application 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failure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24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3082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Control 1707" hidden="1"/>
          <p:cNvSpPr>
            <a:spLocks noRot="1" noChangeArrowheads="1" noChangeShapeType="1" noTextEdit="1"/>
          </p:cNvSpPr>
          <p:nvPr/>
        </p:nvSpPr>
        <p:spPr bwMode="auto">
          <a:xfrm>
            <a:off x="4065588" y="1962150"/>
            <a:ext cx="1114425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1139" name="Control 1706" hidden="1"/>
          <p:cNvSpPr>
            <a:spLocks noRot="1" noChangeArrowheads="1" noChangeShapeType="1" noTextEdit="1"/>
          </p:cNvSpPr>
          <p:nvPr/>
        </p:nvSpPr>
        <p:spPr bwMode="auto">
          <a:xfrm>
            <a:off x="4065588" y="1962150"/>
            <a:ext cx="1114425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7" name="Rectangle 12"/>
          <p:cNvSpPr>
            <a:spLocks noChangeArrowheads="1"/>
          </p:cNvSpPr>
          <p:nvPr/>
        </p:nvSpPr>
        <p:spPr bwMode="auto">
          <a:xfrm>
            <a:off x="168302" y="173091"/>
            <a:ext cx="470769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alibri" pitchFamily="34" charset="0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alibri" pitchFamily="34" charset="0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alibri" pitchFamily="34" charset="0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alibri" pitchFamily="34" charset="0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alibri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굴림" pitchFamily="50" charset="-127"/>
              </a:defRPr>
            </a:lvl9pPr>
          </a:lstStyle>
          <a:p>
            <a:pPr eaLnBrk="1" hangingPunct="1">
              <a:spcBef>
                <a:spcPct val="20000"/>
              </a:spcBef>
              <a:defRPr/>
            </a:pPr>
            <a:r>
              <a:rPr lang="en-US" altLang="ko-KR" sz="2400" dirty="0" smtClean="0">
                <a:solidFill>
                  <a:srgbClr val="000000"/>
                </a:solidFill>
                <a:latin typeface="현대하모니 M" pitchFamily="18" charset="-127"/>
                <a:ea typeface="현대하모니 M" pitchFamily="18" charset="-127"/>
              </a:rPr>
              <a:t>▣ </a:t>
            </a:r>
            <a:r>
              <a:rPr lang="en-US" altLang="ko-KR" sz="2400" dirty="0" smtClean="0">
                <a:solidFill>
                  <a:srgbClr val="000000"/>
                </a:solidFill>
                <a:latin typeface="현대하모니 M" pitchFamily="18" charset="-127"/>
                <a:ea typeface="현대하모니 M" pitchFamily="18" charset="-127"/>
              </a:rPr>
              <a:t>CDT</a:t>
            </a:r>
            <a:endParaRPr lang="ko-KR" altLang="en-US" sz="2400" dirty="0">
              <a:solidFill>
                <a:srgbClr val="000000"/>
              </a:solidFill>
              <a:latin typeface="현대하모니 M" pitchFamily="18" charset="-127"/>
              <a:ea typeface="현대하모니 M" pitchFamily="18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60512" y="764704"/>
            <a:ext cx="90730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latin typeface="현대하모니 L" pitchFamily="18" charset="-127"/>
                <a:ea typeface="현대하모니 L" pitchFamily="18" charset="-127"/>
              </a:rPr>
              <a:t>1. </a:t>
            </a:r>
            <a:r>
              <a:rPr lang="ko-KR" altLang="en-US" sz="1200" dirty="0" smtClean="0">
                <a:latin typeface="현대하모니 L" pitchFamily="18" charset="-127"/>
                <a:ea typeface="현대하모니 L" pitchFamily="18" charset="-127"/>
              </a:rPr>
              <a:t>총 고장 </a:t>
            </a:r>
            <a:r>
              <a:rPr lang="en-US" altLang="ko-KR" sz="1200" dirty="0">
                <a:latin typeface="현대하모니 L" pitchFamily="18" charset="-127"/>
                <a:ea typeface="현대하모니 L" pitchFamily="18" charset="-127"/>
              </a:rPr>
              <a:t> </a:t>
            </a:r>
            <a:r>
              <a:rPr lang="en-US" altLang="ko-KR" sz="1200" dirty="0" smtClean="0">
                <a:latin typeface="현대하모니 L" pitchFamily="18" charset="-127"/>
                <a:ea typeface="현대하모니 L" pitchFamily="18" charset="-127"/>
              </a:rPr>
              <a:t>106,335</a:t>
            </a:r>
            <a:r>
              <a:rPr lang="ko-KR" altLang="en-US" sz="1200" dirty="0" smtClean="0">
                <a:latin typeface="현대하모니 L" pitchFamily="18" charset="-127"/>
                <a:ea typeface="현대하모니 L" pitchFamily="18" charset="-127"/>
              </a:rPr>
              <a:t>건 발생</a:t>
            </a:r>
            <a:endParaRPr lang="en-US" altLang="ko-KR" sz="1200" dirty="0" smtClean="0">
              <a:latin typeface="현대하모니 L" pitchFamily="18" charset="-127"/>
              <a:ea typeface="현대하모니 L" pitchFamily="18" charset="-127"/>
            </a:endParaRPr>
          </a:p>
          <a:p>
            <a:r>
              <a:rPr lang="en-US" altLang="ko-KR" sz="1200" dirty="0">
                <a:latin typeface="현대하모니 L" pitchFamily="18" charset="-127"/>
                <a:ea typeface="현대하모니 L" pitchFamily="18" charset="-127"/>
              </a:rPr>
              <a:t> </a:t>
            </a:r>
            <a:r>
              <a:rPr lang="en-US" altLang="ko-KR" sz="1200" dirty="0" smtClean="0">
                <a:latin typeface="현대하모니 L" pitchFamily="18" charset="-127"/>
                <a:ea typeface="현대하모니 L" pitchFamily="18" charset="-127"/>
              </a:rPr>
              <a:t>   - 28</a:t>
            </a:r>
            <a:r>
              <a:rPr lang="ko-KR" altLang="en-US" sz="1200" dirty="0" smtClean="0">
                <a:latin typeface="현대하모니 L" pitchFamily="18" charset="-127"/>
                <a:ea typeface="현대하모니 L" pitchFamily="18" charset="-127"/>
              </a:rPr>
              <a:t>종</a:t>
            </a:r>
            <a:r>
              <a:rPr lang="en-US" altLang="ko-KR" sz="1200" dirty="0" smtClean="0">
                <a:latin typeface="현대하모니 L" pitchFamily="18" charset="-127"/>
                <a:ea typeface="현대하모니 L" pitchFamily="18" charset="-127"/>
              </a:rPr>
              <a:t> 65,304</a:t>
            </a:r>
            <a:r>
              <a:rPr lang="ko-KR" altLang="en-US" sz="1200" dirty="0" smtClean="0">
                <a:latin typeface="현대하모니 L" pitchFamily="18" charset="-127"/>
                <a:ea typeface="현대하모니 L" pitchFamily="18" charset="-127"/>
              </a:rPr>
              <a:t>건은 </a:t>
            </a:r>
            <a:r>
              <a:rPr lang="en-US" altLang="ko-KR" sz="1200" dirty="0" smtClean="0">
                <a:latin typeface="현대하모니 L" pitchFamily="18" charset="-127"/>
                <a:ea typeface="현대하모니 L" pitchFamily="18" charset="-127"/>
              </a:rPr>
              <a:t>FT ASSERT, COMM LOSS </a:t>
            </a:r>
            <a:r>
              <a:rPr lang="ko-KR" altLang="en-US" sz="1200" dirty="0" smtClean="0">
                <a:latin typeface="현대하모니 L" pitchFamily="18" charset="-127"/>
                <a:ea typeface="현대하모니 L" pitchFamily="18" charset="-127"/>
              </a:rPr>
              <a:t>등으로 차량 장치와 통신 불량</a:t>
            </a:r>
            <a:r>
              <a:rPr lang="en-US" altLang="ko-KR" sz="1200" dirty="0" smtClean="0">
                <a:latin typeface="현대하모니 L" pitchFamily="18" charset="-127"/>
                <a:ea typeface="현대하모니 L" pitchFamily="18" charset="-127"/>
              </a:rPr>
              <a:t>(RESET, </a:t>
            </a:r>
            <a:r>
              <a:rPr lang="ko-KR" altLang="en-US" sz="1200" dirty="0" smtClean="0">
                <a:latin typeface="현대하모니 L" pitchFamily="18" charset="-127"/>
                <a:ea typeface="현대하모니 L" pitchFamily="18" charset="-127"/>
              </a:rPr>
              <a:t>점검 등등</a:t>
            </a:r>
            <a:r>
              <a:rPr lang="en-US" altLang="ko-KR" sz="1200" dirty="0" smtClean="0">
                <a:latin typeface="현대하모니 L" pitchFamily="18" charset="-127"/>
                <a:ea typeface="현대하모니 L" pitchFamily="18" charset="-127"/>
              </a:rPr>
              <a:t>)</a:t>
            </a:r>
            <a:r>
              <a:rPr lang="ko-KR" altLang="en-US" sz="1200" dirty="0" smtClean="0">
                <a:latin typeface="현대하모니 L" pitchFamily="18" charset="-127"/>
                <a:ea typeface="현대하모니 L" pitchFamily="18" charset="-127"/>
              </a:rPr>
              <a:t>으로 인한 일시적인 고장으로 실재 부품의 고장 혹은 기능 이상이 아니므로 고장으로 등록 곤란</a:t>
            </a:r>
            <a:endParaRPr lang="en-US" altLang="ko-KR" sz="1200" dirty="0" smtClean="0">
              <a:latin typeface="현대하모니 L" pitchFamily="18" charset="-127"/>
              <a:ea typeface="현대하모니 L" pitchFamily="18" charset="-127"/>
            </a:endParaRPr>
          </a:p>
          <a:p>
            <a:r>
              <a:rPr lang="en-US" altLang="ko-KR" sz="1200" dirty="0">
                <a:latin typeface="현대하모니 L" pitchFamily="18" charset="-127"/>
                <a:ea typeface="현대하모니 L" pitchFamily="18" charset="-127"/>
              </a:rPr>
              <a:t> </a:t>
            </a:r>
            <a:r>
              <a:rPr lang="en-US" altLang="ko-KR" sz="1200" dirty="0" smtClean="0">
                <a:latin typeface="현대하모니 L" pitchFamily="18" charset="-127"/>
                <a:ea typeface="현대하모니 L" pitchFamily="18" charset="-127"/>
              </a:rPr>
              <a:t>   - </a:t>
            </a:r>
            <a:r>
              <a:rPr lang="ko-KR" altLang="en-US" sz="1200" dirty="0" smtClean="0">
                <a:latin typeface="현대하모니 L" pitchFamily="18" charset="-127"/>
                <a:ea typeface="현대하모니 L" pitchFamily="18" charset="-127"/>
              </a:rPr>
              <a:t>잔여 </a:t>
            </a:r>
            <a:r>
              <a:rPr lang="en-US" altLang="ko-KR" sz="1200" dirty="0" smtClean="0">
                <a:latin typeface="현대하모니 L" pitchFamily="18" charset="-127"/>
                <a:ea typeface="현대하모니 L" pitchFamily="18" charset="-127"/>
              </a:rPr>
              <a:t>10</a:t>
            </a:r>
            <a:r>
              <a:rPr lang="ko-KR" altLang="en-US" sz="1200" dirty="0" smtClean="0">
                <a:latin typeface="현대하모니 L" pitchFamily="18" charset="-127"/>
                <a:ea typeface="현대하모니 L" pitchFamily="18" charset="-127"/>
              </a:rPr>
              <a:t>종 중 하기 사항은 </a:t>
            </a:r>
            <a:r>
              <a:rPr lang="en-US" altLang="ko-KR" sz="1200" dirty="0" smtClean="0">
                <a:latin typeface="현대하모니 L" pitchFamily="18" charset="-127"/>
                <a:ea typeface="현대하모니 L" pitchFamily="18" charset="-127"/>
              </a:rPr>
              <a:t>41,031</a:t>
            </a:r>
            <a:r>
              <a:rPr lang="ko-KR" altLang="en-US" sz="1200" dirty="0" smtClean="0">
                <a:latin typeface="현대하모니 L" pitchFamily="18" charset="-127"/>
                <a:ea typeface="현대하모니 L" pitchFamily="18" charset="-127"/>
              </a:rPr>
              <a:t>건은 추가 확인</a:t>
            </a:r>
            <a:r>
              <a:rPr lang="en-US" altLang="ko-KR" sz="1200" dirty="0" smtClean="0">
                <a:latin typeface="현대하모니 L" pitchFamily="18" charset="-127"/>
                <a:ea typeface="현대하모니 L" pitchFamily="18" charset="-127"/>
              </a:rPr>
              <a:t>/</a:t>
            </a:r>
            <a:r>
              <a:rPr lang="ko-KR" altLang="en-US" sz="1200" dirty="0" smtClean="0">
                <a:latin typeface="현대하모니 L" pitchFamily="18" charset="-127"/>
                <a:ea typeface="현대하모니 L" pitchFamily="18" charset="-127"/>
              </a:rPr>
              <a:t>협의 필요</a:t>
            </a:r>
            <a:endParaRPr lang="en-US" altLang="ko-KR" sz="1200" dirty="0" smtClean="0">
              <a:latin typeface="현대하모니 L" pitchFamily="18" charset="-127"/>
              <a:ea typeface="현대하모니 L" pitchFamily="18" charset="-127"/>
            </a:endParaRPr>
          </a:p>
        </p:txBody>
      </p:sp>
      <p:graphicFrame>
        <p:nvGraphicFramePr>
          <p:cNvPr id="53" name="Group 2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2997647"/>
              </p:ext>
            </p:extLst>
          </p:nvPr>
        </p:nvGraphicFramePr>
        <p:xfrm>
          <a:off x="612592" y="1772816"/>
          <a:ext cx="8948920" cy="3190877"/>
        </p:xfrm>
        <a:graphic>
          <a:graphicData uri="http://schemas.openxmlformats.org/drawingml/2006/table">
            <a:tbl>
              <a:tblPr/>
              <a:tblGrid>
                <a:gridCol w="407192"/>
                <a:gridCol w="2038350"/>
                <a:gridCol w="560388"/>
                <a:gridCol w="458788"/>
                <a:gridCol w="3179946"/>
                <a:gridCol w="2304256"/>
              </a:tblGrid>
              <a:tr h="28053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CODE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Fault</a:t>
                      </a: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 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NAME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# OF FAIL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Severity</a:t>
                      </a:r>
                    </a:p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(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1-4)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POSSIBLE CAUSE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REVIEW RESULT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</a:tr>
              <a:tr h="3958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Power On or Reset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2,477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Set momentarily each time CDT powers on.  Can be used in CDT log to record startup.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차량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POWER ON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시마다 발생하는 것으로 고장아님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77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Watchdog Reset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5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CDT reset due to watchdog timeout. Possible CDT software or hardware error.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4065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호 차량 확인 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90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79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Power fault: Shutdown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CDT power supply shut down due to high temperature, low output voltage or high output current.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4053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호 차량 확인 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540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Power fault: High Temp Shutdown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16,794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CDT power supply shut down due to high temperature.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고장 현상에 대해 업체와 확인 요</a:t>
                      </a:r>
                      <a:r>
                        <a:rPr lang="en-US" altLang="ko-KR" sz="900" b="0" i="0" u="none" strike="noStrike">
                          <a:solidFill>
                            <a:srgbClr val="FF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(</a:t>
                      </a:r>
                      <a:r>
                        <a:rPr lang="ko-KR" alt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전편성 발생함</a:t>
                      </a:r>
                      <a:r>
                        <a:rPr lang="en-US" altLang="ko-KR" sz="900" b="0" i="0" u="none" strike="noStrike">
                          <a:solidFill>
                            <a:srgbClr val="FF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157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16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540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Display 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1,091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CDT display is turned on.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고장 현상에 대해 업체와 확인 요</a:t>
                      </a:r>
                      <a:r>
                        <a:rPr lang="en-US" altLang="ko-KR" sz="900" b="0" i="0" u="none" strike="noStrike">
                          <a:solidFill>
                            <a:srgbClr val="FF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(</a:t>
                      </a:r>
                      <a:r>
                        <a:rPr lang="ko-KR" alt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전편성 발생함</a:t>
                      </a:r>
                      <a:r>
                        <a:rPr lang="en-US" altLang="ko-KR" sz="900" b="0" i="0" u="none" strike="noStrike">
                          <a:solidFill>
                            <a:srgbClr val="FF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90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30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77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34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General Fault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trainline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 Asserted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683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nb-NO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Passenger Door Enable (-) TL input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 err="1">
                          <a:solidFill>
                            <a:srgbClr val="FF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고장아님</a:t>
                      </a:r>
                      <a:r>
                        <a:rPr lang="en-US" altLang="ko-KR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(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삭제요</a:t>
                      </a:r>
                      <a:r>
                        <a:rPr lang="en-US" altLang="ko-KR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31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120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Neuron Reset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1,368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CDT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LonWorks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 network Neuron has reset.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하부 장치와 통신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불량시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 발생하는 것으로 실재 통신 불량보다는 각 장치의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RESET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등 기타 사항으로 발생하는 것으로 고장 처리는 불가함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8980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_기본 디자인">
  <a:themeElements>
    <a:clrScheme name="2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ko-K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굴림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ko-K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굴림" charset="-127"/>
          </a:defRPr>
        </a:defPPr>
      </a:lstStyle>
    </a:lnDef>
  </a:objectDefaults>
  <a:extraClrSchemeLst>
    <a:extraClrScheme>
      <a:clrScheme name="2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제목 목차">
  <a:themeElements>
    <a:clrScheme name="제목 목차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제목 목차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57263" rtl="0" eaLnBrk="0" fontAlgn="base" latinLnBrk="0" hangingPunct="0">
          <a:lnSpc>
            <a:spcPct val="150000"/>
          </a:lnSpc>
          <a:spcBef>
            <a:spcPct val="0"/>
          </a:spcBef>
          <a:spcAft>
            <a:spcPct val="0"/>
          </a:spcAft>
          <a:buClrTx/>
          <a:buSzTx/>
          <a:buFontTx/>
          <a:buChar char="•"/>
          <a:tabLst/>
          <a:defRPr kumimoji="1" lang="ko-KR" altLang="en-US" sz="1000" b="1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ea typeface="가는각진제목체" pitchFamily="18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57263" rtl="0" eaLnBrk="0" fontAlgn="base" latinLnBrk="0" hangingPunct="0">
          <a:lnSpc>
            <a:spcPct val="150000"/>
          </a:lnSpc>
          <a:spcBef>
            <a:spcPct val="0"/>
          </a:spcBef>
          <a:spcAft>
            <a:spcPct val="0"/>
          </a:spcAft>
          <a:buClrTx/>
          <a:buSzTx/>
          <a:buFontTx/>
          <a:buChar char="•"/>
          <a:tabLst/>
          <a:defRPr kumimoji="1" lang="ko-KR" altLang="en-US" sz="1000" b="1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ea typeface="가는각진제목체" pitchFamily="18" charset="-127"/>
          </a:defRPr>
        </a:defPPr>
      </a:lstStyle>
    </a:lnDef>
  </a:objectDefaults>
  <a:extraClrSchemeLst>
    <a:extraClrScheme>
      <a:clrScheme name="제목 목차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제목 목차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제목 목차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제목 목차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제목 목차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제목 목차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제목 목차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제목 목차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제목 목차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제목 목차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제목 목차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제목 목차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59735</TotalTime>
  <Words>2060</Words>
  <Application>Microsoft Office PowerPoint</Application>
  <PresentationFormat>A4 용지(210x297mm)</PresentationFormat>
  <Paragraphs>580</Paragraphs>
  <Slides>8</Slides>
  <Notes>8</Notes>
  <HiddenSlides>0</HiddenSlides>
  <MMClips>0</MMClips>
  <ScaleCrop>false</ScaleCrop>
  <HeadingPairs>
    <vt:vector size="4" baseType="variant">
      <vt:variant>
        <vt:lpstr>테마</vt:lpstr>
      </vt:variant>
      <vt:variant>
        <vt:i4>2</vt:i4>
      </vt:variant>
      <vt:variant>
        <vt:lpstr>슬라이드 제목</vt:lpstr>
      </vt:variant>
      <vt:variant>
        <vt:i4>8</vt:i4>
      </vt:variant>
    </vt:vector>
  </HeadingPairs>
  <TitlesOfParts>
    <vt:vector size="10" baseType="lpstr">
      <vt:lpstr>2_기본 디자인</vt:lpstr>
      <vt:lpstr>제목 목차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myhome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user</dc:creator>
  <cp:lastModifiedBy>ROTEM</cp:lastModifiedBy>
  <cp:revision>1761</cp:revision>
  <cp:lastPrinted>2017-10-07T17:50:24Z</cp:lastPrinted>
  <dcterms:created xsi:type="dcterms:W3CDTF">2010-07-16T06:20:45Z</dcterms:created>
  <dcterms:modified xsi:type="dcterms:W3CDTF">2017-10-09T15:09:03Z</dcterms:modified>
</cp:coreProperties>
</file>