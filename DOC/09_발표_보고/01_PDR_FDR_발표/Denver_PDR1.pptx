
<file path=[Content_Types].xml><?xml version="1.0" encoding="utf-8"?>
<Types xmlns="http://schemas.openxmlformats.org/package/2006/content-types">
  <Default Extension="png" ContentType="image/png"/>
  <Default Extension="mp3" ContentType="audio/unknown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62" r:id="rId4"/>
    <p:sldId id="277" r:id="rId5"/>
    <p:sldId id="279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6" r:id="rId17"/>
    <p:sldId id="278" r:id="rId18"/>
    <p:sldId id="275" r:id="rId1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ds" initials="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22" autoAdjust="0"/>
    <p:restoredTop sz="94635" autoAdjust="0"/>
  </p:normalViewPr>
  <p:slideViewPr>
    <p:cSldViewPr>
      <p:cViewPr varScale="1">
        <p:scale>
          <a:sx n="87" d="100"/>
          <a:sy n="87" d="100"/>
        </p:scale>
        <p:origin x="-94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1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B811B-9147-4F45-B4EC-AB69EFD27CA6}" type="datetimeFigureOut">
              <a:rPr lang="ko-KR" altLang="en-US" smtClean="0"/>
              <a:pPr/>
              <a:t>2011-05-19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image" Target="../media/image14.jpeg"/><Relationship Id="rId3" Type="http://schemas.openxmlformats.org/officeDocument/2006/relationships/image" Target="../media/image3.jpeg"/><Relationship Id="rId7" Type="http://schemas.openxmlformats.org/officeDocument/2006/relationships/image" Target="../media/image8.jpeg"/><Relationship Id="rId12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11" Type="http://schemas.openxmlformats.org/officeDocument/2006/relationships/image" Target="../media/image12.jpe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4.jpeg"/><Relationship Id="rId9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3.jpeg"/><Relationship Id="rId7" Type="http://schemas.openxmlformats.org/officeDocument/2006/relationships/image" Target="../media/image18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10" Type="http://schemas.openxmlformats.org/officeDocument/2006/relationships/image" Target="../media/image21.png"/><Relationship Id="rId4" Type="http://schemas.openxmlformats.org/officeDocument/2006/relationships/image" Target="../media/image4.jpeg"/><Relationship Id="rId9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jpeg"/><Relationship Id="rId7" Type="http://schemas.openxmlformats.org/officeDocument/2006/relationships/image" Target="../media/image24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7.wmf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3"/>
            <a:ext cx="8229600" cy="391703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" y="5517232"/>
            <a:ext cx="9144000" cy="13407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배경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" y="-1211"/>
            <a:ext cx="9144000" cy="5518444"/>
          </a:xfrm>
          <a:prstGeom prst="rect">
            <a:avLst/>
          </a:prstGeom>
        </p:spPr>
      </p:pic>
      <p:pic>
        <p:nvPicPr>
          <p:cNvPr id="7" name="그림 6" descr="영문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37765" y="6237312"/>
            <a:ext cx="2092869" cy="6167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116632"/>
            <a:ext cx="910850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4400" b="1" dirty="0" smtClean="0">
                <a:latin typeface="Arial Black" pitchFamily="34" charset="0"/>
              </a:rPr>
              <a:t>DENVER RTD </a:t>
            </a:r>
          </a:p>
          <a:p>
            <a:pPr algn="r"/>
            <a:r>
              <a:rPr lang="en-US" altLang="ko-KR" sz="4400" b="1" dirty="0" smtClean="0">
                <a:latin typeface="Arial Black" pitchFamily="34" charset="0"/>
              </a:rPr>
              <a:t>PDR</a:t>
            </a:r>
          </a:p>
          <a:p>
            <a:pPr algn="r"/>
            <a:r>
              <a:rPr lang="en-US" altLang="ko-KR" sz="4400" b="1" dirty="0" smtClean="0">
                <a:latin typeface="Arial Black" pitchFamily="34" charset="0"/>
              </a:rPr>
              <a:t>2011. 5. 25</a:t>
            </a:r>
          </a:p>
        </p:txBody>
      </p:sp>
      <p:pic>
        <p:nvPicPr>
          <p:cNvPr id="9" name="그림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" y="6234656"/>
            <a:ext cx="1259629" cy="618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0" y="5517232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smtClean="0">
                <a:latin typeface="Arial Black" pitchFamily="34" charset="0"/>
              </a:rPr>
              <a:t>Communication System</a:t>
            </a:r>
            <a:endParaRPr lang="ko-KR" altLang="en-US" sz="4400" b="1" dirty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latin typeface="Calibri" pitchFamily="34" charset="0"/>
              </a:rPr>
              <a:t>Contents</a:t>
            </a:r>
            <a:endParaRPr lang="ko-KR" altLang="en-US" b="1" dirty="0">
              <a:latin typeface="Calibri" pitchFamily="34" charset="0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1" y="1268760"/>
            <a:ext cx="6131024" cy="4857403"/>
          </a:xfrm>
        </p:spPr>
        <p:txBody>
          <a:bodyPr>
            <a:normAutofit fontScale="70000" lnSpcReduction="20000"/>
          </a:bodyPr>
          <a:lstStyle/>
          <a:p>
            <a:r>
              <a:rPr lang="en-US" altLang="ko-KR" sz="3400" b="1" dirty="0" smtClean="0">
                <a:latin typeface="Constantia" pitchFamily="18" charset="0"/>
              </a:rPr>
              <a:t>System Overview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VoIP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Communication Rack A (CRA)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Communication Control Panel (CCP)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Passenger Information Display (PID)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Front Destination Indicator (FDI)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Side Destination Indicator (SDI)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Passenger Information Indicator (PII)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Driver PA Operation Box (DPO)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Driver PA Handset (DPH)</a:t>
            </a:r>
          </a:p>
          <a:p>
            <a:r>
              <a:rPr lang="en-US" altLang="ko-KR" sz="3400" b="1" dirty="0" smtClean="0">
                <a:latin typeface="Constantia" pitchFamily="18" charset="0"/>
              </a:rPr>
              <a:t>Passenger Emergency Intercom (PEI)</a:t>
            </a:r>
          </a:p>
          <a:p>
            <a:pPr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574" y="1213565"/>
            <a:ext cx="5831999" cy="5040000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latin typeface="Calibri" pitchFamily="34" charset="0"/>
              </a:rPr>
              <a:t>System Overview(PA)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직사각형 1"/>
          <p:cNvSpPr/>
          <p:nvPr/>
        </p:nvSpPr>
        <p:spPr>
          <a:xfrm>
            <a:off x="-2677740" y="188640"/>
            <a:ext cx="1584176" cy="451523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내용 개체 틀 6" descr="CRA1.jpg"/>
          <p:cNvPicPr>
            <a:picLocks noGrp="1" noChangeAspect="1"/>
          </p:cNvPicPr>
          <p:nvPr>
            <p:ph idx="1"/>
          </p:nvPr>
        </p:nvPicPr>
        <p:blipFill>
          <a:blip r:embed="rId5" cstate="print"/>
          <a:stretch>
            <a:fillRect/>
          </a:stretch>
        </p:blipFill>
        <p:spPr>
          <a:xfrm>
            <a:off x="-3204864" y="1066616"/>
            <a:ext cx="3024336" cy="1440997"/>
          </a:xfrm>
          <a:ln w="28575">
            <a:solidFill>
              <a:srgbClr val="00B050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-2281696" y="5863618"/>
            <a:ext cx="792088" cy="54153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림 32" descr="ESP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35909" y="7101408"/>
            <a:ext cx="1097505" cy="1080000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32" name="내용 개체 틀 4" descr="ISP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740700" y="7101408"/>
            <a:ext cx="1085399" cy="1080000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grpSp>
        <p:nvGrpSpPr>
          <p:cNvPr id="30" name="그룹 29"/>
          <p:cNvGrpSpPr/>
          <p:nvPr/>
        </p:nvGrpSpPr>
        <p:grpSpPr>
          <a:xfrm>
            <a:off x="3174248" y="4365104"/>
            <a:ext cx="3485984" cy="523977"/>
            <a:chOff x="3174248" y="4365104"/>
            <a:chExt cx="3485984" cy="523977"/>
          </a:xfrm>
        </p:grpSpPr>
        <p:sp>
          <p:nvSpPr>
            <p:cNvPr id="40" name="타원 39"/>
            <p:cNvSpPr/>
            <p:nvPr/>
          </p:nvSpPr>
          <p:spPr>
            <a:xfrm>
              <a:off x="4286122" y="4653136"/>
              <a:ext cx="533656" cy="23594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타원 40"/>
            <p:cNvSpPr/>
            <p:nvPr/>
          </p:nvSpPr>
          <p:spPr>
            <a:xfrm>
              <a:off x="3174248" y="4653136"/>
              <a:ext cx="533656" cy="23594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/>
            <p:cNvSpPr/>
            <p:nvPr/>
          </p:nvSpPr>
          <p:spPr>
            <a:xfrm>
              <a:off x="3750312" y="4653136"/>
              <a:ext cx="533656" cy="23594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/>
            <p:cNvSpPr/>
            <p:nvPr/>
          </p:nvSpPr>
          <p:spPr>
            <a:xfrm>
              <a:off x="4326376" y="4365104"/>
              <a:ext cx="533656" cy="23594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/>
            <p:cNvSpPr/>
            <p:nvPr/>
          </p:nvSpPr>
          <p:spPr>
            <a:xfrm>
              <a:off x="4902440" y="4365104"/>
              <a:ext cx="533656" cy="23594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/>
            <p:cNvSpPr/>
            <p:nvPr/>
          </p:nvSpPr>
          <p:spPr>
            <a:xfrm>
              <a:off x="5004048" y="4653136"/>
              <a:ext cx="533656" cy="23594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/>
            <p:cNvSpPr/>
            <p:nvPr/>
          </p:nvSpPr>
          <p:spPr>
            <a:xfrm>
              <a:off x="5550512" y="4653136"/>
              <a:ext cx="533656" cy="23594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/>
            <p:cNvSpPr/>
            <p:nvPr/>
          </p:nvSpPr>
          <p:spPr>
            <a:xfrm>
              <a:off x="6126576" y="4653136"/>
              <a:ext cx="533656" cy="23594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48" name="그룹 2047"/>
          <p:cNvGrpSpPr/>
          <p:nvPr/>
        </p:nvGrpSpPr>
        <p:grpSpPr>
          <a:xfrm>
            <a:off x="4126233" y="3028773"/>
            <a:ext cx="2700262" cy="457200"/>
            <a:chOff x="4126233" y="3028773"/>
            <a:chExt cx="2700262" cy="457200"/>
          </a:xfrm>
        </p:grpSpPr>
        <p:sp>
          <p:nvSpPr>
            <p:cNvPr id="31" name="타원 30"/>
            <p:cNvSpPr/>
            <p:nvPr/>
          </p:nvSpPr>
          <p:spPr>
            <a:xfrm>
              <a:off x="6346820" y="3028773"/>
              <a:ext cx="479675" cy="457200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/>
            <p:cNvSpPr/>
            <p:nvPr/>
          </p:nvSpPr>
          <p:spPr>
            <a:xfrm>
              <a:off x="4126233" y="3028773"/>
              <a:ext cx="479675" cy="457200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4" name="Picture 2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20271" y="1838754"/>
            <a:ext cx="1447791" cy="1580115"/>
          </a:xfrm>
          <a:prstGeom prst="rect">
            <a:avLst/>
          </a:prstGeom>
          <a:noFill/>
          <a:ln w="28575">
            <a:solidFill>
              <a:srgbClr val="FFC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052" name="그룹 2051"/>
          <p:cNvGrpSpPr/>
          <p:nvPr/>
        </p:nvGrpSpPr>
        <p:grpSpPr>
          <a:xfrm>
            <a:off x="3779912" y="3834692"/>
            <a:ext cx="3464067" cy="1466516"/>
            <a:chOff x="3779912" y="3834692"/>
            <a:chExt cx="3464067" cy="1466516"/>
          </a:xfrm>
        </p:grpSpPr>
        <p:grpSp>
          <p:nvGrpSpPr>
            <p:cNvPr id="25" name="그룹 24"/>
            <p:cNvGrpSpPr/>
            <p:nvPr/>
          </p:nvGrpSpPr>
          <p:grpSpPr>
            <a:xfrm>
              <a:off x="3779912" y="3834692"/>
              <a:ext cx="3464067" cy="1466516"/>
              <a:chOff x="3779912" y="3834692"/>
              <a:chExt cx="3464067" cy="1466516"/>
            </a:xfrm>
          </p:grpSpPr>
          <p:sp>
            <p:nvSpPr>
              <p:cNvPr id="14" name="아래쪽 화살표 설명선 13"/>
              <p:cNvSpPr/>
              <p:nvPr/>
            </p:nvSpPr>
            <p:spPr>
              <a:xfrm rot="5400000">
                <a:off x="5940721" y="3997949"/>
                <a:ext cx="1466516" cy="1140001"/>
              </a:xfrm>
              <a:prstGeom prst="downArrowCallout">
                <a:avLst>
                  <a:gd name="adj1" fmla="val 12749"/>
                  <a:gd name="adj2" fmla="val 12714"/>
                  <a:gd name="adj3" fmla="val 25632"/>
                  <a:gd name="adj4" fmla="val 6497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5605512" y="4355623"/>
                <a:ext cx="504056" cy="284813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3779912" y="4355622"/>
                <a:ext cx="504056" cy="284813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56" name="내용 개체 틀 4" descr="CPO.JP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7148" y="3988452"/>
              <a:ext cx="511740" cy="1168740"/>
            </a:xfrm>
            <a:prstGeom prst="rect">
              <a:avLst/>
            </a:prstGeom>
            <a:ln w="28575">
              <a:solidFill>
                <a:srgbClr val="FFC000"/>
              </a:solidFill>
            </a:ln>
          </p:spPr>
        </p:pic>
      </p:grpSp>
      <p:grpSp>
        <p:nvGrpSpPr>
          <p:cNvPr id="2049" name="그룹 2048"/>
          <p:cNvGrpSpPr/>
          <p:nvPr/>
        </p:nvGrpSpPr>
        <p:grpSpPr>
          <a:xfrm>
            <a:off x="3424635" y="1838754"/>
            <a:ext cx="1867445" cy="1608225"/>
            <a:chOff x="3424635" y="1838754"/>
            <a:chExt cx="1867445" cy="1608225"/>
          </a:xfrm>
        </p:grpSpPr>
        <p:grpSp>
          <p:nvGrpSpPr>
            <p:cNvPr id="23" name="그룹 22"/>
            <p:cNvGrpSpPr/>
            <p:nvPr/>
          </p:nvGrpSpPr>
          <p:grpSpPr>
            <a:xfrm>
              <a:off x="3424635" y="1838754"/>
              <a:ext cx="1867445" cy="1608225"/>
              <a:chOff x="3424635" y="1838754"/>
              <a:chExt cx="1867445" cy="1608225"/>
            </a:xfrm>
          </p:grpSpPr>
          <p:sp>
            <p:nvSpPr>
              <p:cNvPr id="18" name="직사각형 17"/>
              <p:cNvSpPr/>
              <p:nvPr/>
            </p:nvSpPr>
            <p:spPr>
              <a:xfrm>
                <a:off x="3424635" y="3118931"/>
                <a:ext cx="864096" cy="324921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4427984" y="3122058"/>
                <a:ext cx="864096" cy="324921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아래쪽 화살표 설명선 20"/>
              <p:cNvSpPr/>
              <p:nvPr/>
            </p:nvSpPr>
            <p:spPr>
              <a:xfrm>
                <a:off x="3491880" y="1838754"/>
                <a:ext cx="1658086" cy="1262042"/>
              </a:xfrm>
              <a:prstGeom prst="downArrowCallou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57" name="내용 개체 틀 4" descr="PEI.JPG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63888" y="1942210"/>
              <a:ext cx="1489036" cy="615371"/>
            </a:xfrm>
            <a:prstGeom prst="rect">
              <a:avLst/>
            </a:prstGeom>
            <a:solidFill>
              <a:srgbClr val="FFC000"/>
            </a:solidFill>
            <a:ln w="28575">
              <a:solidFill>
                <a:srgbClr val="FFC000"/>
              </a:solidFill>
            </a:ln>
          </p:spPr>
        </p:pic>
      </p:grpSp>
      <p:pic>
        <p:nvPicPr>
          <p:cNvPr id="61" name="Picture 2" descr="F:\1.jpg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612560" y="2633034"/>
            <a:ext cx="1546637" cy="1488927"/>
          </a:xfrm>
          <a:prstGeom prst="rect">
            <a:avLst/>
          </a:prstGeom>
          <a:noFill/>
          <a:ln w="28575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직사각형 2052"/>
          <p:cNvSpPr/>
          <p:nvPr/>
        </p:nvSpPr>
        <p:spPr>
          <a:xfrm>
            <a:off x="4463901" y="3834691"/>
            <a:ext cx="468139" cy="28727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3" name="Picture 1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93764" y="3785081"/>
            <a:ext cx="2016224" cy="1371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2" name="그룹 11"/>
          <p:cNvGrpSpPr/>
          <p:nvPr/>
        </p:nvGrpSpPr>
        <p:grpSpPr>
          <a:xfrm>
            <a:off x="4406780" y="5301208"/>
            <a:ext cx="2757508" cy="288032"/>
            <a:chOff x="3635896" y="5301208"/>
            <a:chExt cx="2757508" cy="288032"/>
          </a:xfrm>
        </p:grpSpPr>
        <p:sp>
          <p:nvSpPr>
            <p:cNvPr id="11" name="타원 10"/>
            <p:cNvSpPr/>
            <p:nvPr/>
          </p:nvSpPr>
          <p:spPr>
            <a:xfrm>
              <a:off x="5857540" y="5301208"/>
              <a:ext cx="535864" cy="288032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/>
            <p:cNvSpPr/>
            <p:nvPr/>
          </p:nvSpPr>
          <p:spPr>
            <a:xfrm>
              <a:off x="5332280" y="5301208"/>
              <a:ext cx="535864" cy="288032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타원 48"/>
            <p:cNvSpPr/>
            <p:nvPr/>
          </p:nvSpPr>
          <p:spPr>
            <a:xfrm>
              <a:off x="3635896" y="5301208"/>
              <a:ext cx="535864" cy="288032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/>
            <p:cNvSpPr/>
            <p:nvPr/>
          </p:nvSpPr>
          <p:spPr>
            <a:xfrm>
              <a:off x="4283968" y="5301208"/>
              <a:ext cx="535864" cy="288032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1" name="Picture 2" descr="C:\Users\jds\Desktop\JDS_PRO\SEPTA\자료\사진\단품 사진\P1060028.JPG"/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8917" y="7317432"/>
            <a:ext cx="1462499" cy="1080000"/>
          </a:xfrm>
          <a:prstGeom prst="rect">
            <a:avLst/>
          </a:prstGeom>
          <a:noFill/>
          <a:ln w="28575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모서리가 둥근 직사각형 14"/>
          <p:cNvSpPr/>
          <p:nvPr/>
        </p:nvSpPr>
        <p:spPr>
          <a:xfrm>
            <a:off x="3350644" y="5229200"/>
            <a:ext cx="573284" cy="4320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3.17919E-6 L 0.37014 0.0608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07" y="302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5.78035E-7 L 0.44635 0.1327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09" y="66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0.49358 0.1180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70" y="5903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44444E-6 L 0.60365 -0.31041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174" y="-15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6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4" dur="5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2.59259E-6 L -0.41527 0.16482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64" y="8241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2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8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4" dur="5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3.7037E-7 L 0.18038 -0.6456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10" y="-32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3.7037E-7 L -0.00087 -0.61412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30718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0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2.54335E-6 L 0.22622 -0.50844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02" y="-25434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 animBg="1"/>
      <p:bldP spid="4" grpId="1" animBg="1"/>
      <p:bldP spid="2053" grpId="0" animBg="1"/>
      <p:bldP spid="2053" grpId="1" animBg="1"/>
      <p:bldP spid="15" grpId="0" animBg="1"/>
      <p:bldP spid="15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 descr="그림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8856" y="1214896"/>
            <a:ext cx="5621353" cy="5040000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latin typeface="Calibri" pitchFamily="34" charset="0"/>
              </a:rPr>
              <a:t>System Overview(PIS)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78" name="내용 개체 틀 4" descr="CCP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-2916832" y="476672"/>
            <a:ext cx="2448272" cy="2015603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279" name="내용 개체 틀 4" descr="PID.JPG"/>
          <p:cNvPicPr>
            <a:picLocks noGrp="1" noChangeAspect="1"/>
          </p:cNvPicPr>
          <p:nvPr>
            <p:ph idx="1"/>
          </p:nvPr>
        </p:nvPicPr>
        <p:blipFill>
          <a:blip r:embed="rId6" cstate="print"/>
          <a:stretch>
            <a:fillRect/>
          </a:stretch>
        </p:blipFill>
        <p:spPr>
          <a:xfrm>
            <a:off x="-3135070" y="2716112"/>
            <a:ext cx="2666510" cy="2044824"/>
          </a:xfrm>
          <a:ln w="28575">
            <a:solidFill>
              <a:srgbClr val="FFC000"/>
            </a:solidFill>
          </a:ln>
        </p:spPr>
      </p:pic>
      <p:pic>
        <p:nvPicPr>
          <p:cNvPr id="280" name="그림 279" descr="PID(매립)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-3091850" y="5157192"/>
            <a:ext cx="2623290" cy="1872208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283" name="내용 개체 틀 4" descr="PII.JPG"/>
          <p:cNvPicPr>
            <a:picLocks noChangeAspect="1"/>
          </p:cNvPicPr>
          <p:nvPr/>
        </p:nvPicPr>
        <p:blipFill rotWithShape="1">
          <a:blip r:embed="rId8" cstate="print"/>
          <a:srcRect t="19892" r="861" b="19513"/>
          <a:stretch/>
        </p:blipFill>
        <p:spPr>
          <a:xfrm>
            <a:off x="9396536" y="3473450"/>
            <a:ext cx="7138864" cy="533490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sp>
        <p:nvSpPr>
          <p:cNvPr id="2" name="직사각형 1"/>
          <p:cNvSpPr/>
          <p:nvPr/>
        </p:nvSpPr>
        <p:spPr>
          <a:xfrm>
            <a:off x="3131840" y="1218524"/>
            <a:ext cx="720080" cy="69581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5032623" y="2502421"/>
            <a:ext cx="792088" cy="57793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6050260" y="2492896"/>
            <a:ext cx="792088" cy="57793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4663058" y="3427125"/>
            <a:ext cx="792088" cy="57793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5666978" y="3429000"/>
            <a:ext cx="792088" cy="57793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28276" y="3427125"/>
            <a:ext cx="792088" cy="579814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275856" y="1844824"/>
            <a:ext cx="748464" cy="4320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4139952" y="4221088"/>
            <a:ext cx="892671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5292080" y="4221088"/>
            <a:ext cx="892671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5428667" y="1988840"/>
            <a:ext cx="892671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6415062" y="1988840"/>
            <a:ext cx="892671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6264188" y="3961631"/>
            <a:ext cx="986395" cy="216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245827" y="2024844"/>
            <a:ext cx="986395" cy="216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Picture 2" descr="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64" b="5707"/>
          <a:stretch>
            <a:fillRect/>
          </a:stretch>
        </p:blipFill>
        <p:spPr bwMode="auto">
          <a:xfrm>
            <a:off x="10116616" y="-312738"/>
            <a:ext cx="4414837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2105" y="1916807"/>
            <a:ext cx="5927725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5155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9711E-6 L 0.34653 0.0314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26" y="157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3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1.11111E-6 L 0.35851 -0.0555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34" y="-277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6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1.15607E-6 L 0.36389 -0.33549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94" y="-16786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9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11111E-6 L -0.98159 0.54583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80" y="27292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2.59259E-6 L -0.91806 0.38635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903" y="19306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0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3.7037E-7 L -0.87847 0.17523 " pathEditMode="relative" rAng="0" ptsTypes="AA">
                                      <p:cBhvr>
                                        <p:cTn id="112" dur="2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924" y="8750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1" presetClass="entr" presetSubtype="1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2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10" grpId="0" animBg="1"/>
      <p:bldP spid="10" grpId="1" animBg="1"/>
      <p:bldP spid="11" grpId="0" animBg="1"/>
      <p:bldP spid="11" grpId="1" animBg="1"/>
      <p:bldP spid="13" grpId="0" animBg="1"/>
      <p:bldP spid="13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14" grpId="0" animBg="1"/>
      <p:bldP spid="14" grpId="1" animBg="1"/>
      <p:bldP spid="29" grpId="0" animBg="1"/>
      <p:bldP spid="2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5" name="직사각형 4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7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직사각형 7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제목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ko-KR" b="1" dirty="0" smtClean="0">
                <a:latin typeface="Calibri" pitchFamily="34" charset="0"/>
              </a:rPr>
              <a:t>SEPTA </a:t>
            </a:r>
            <a:r>
              <a:rPr lang="en-US" altLang="ko-KR" b="1" dirty="0">
                <a:latin typeface="Calibri" pitchFamily="34" charset="0"/>
              </a:rPr>
              <a:t>/</a:t>
            </a:r>
            <a:r>
              <a:rPr lang="ko-KR" altLang="en-US" b="1" dirty="0" smtClean="0">
                <a:latin typeface="Calibri" pitchFamily="34" charset="0"/>
              </a:rPr>
              <a:t> </a:t>
            </a:r>
            <a:r>
              <a:rPr lang="ko-KR" altLang="en-US" b="1" dirty="0" err="1" smtClean="0">
                <a:latin typeface="Calibri" pitchFamily="34" charset="0"/>
              </a:rPr>
              <a:t>덴버</a:t>
            </a:r>
            <a:r>
              <a:rPr lang="ko-KR" altLang="en-US" b="1" dirty="0" smtClean="0">
                <a:latin typeface="Calibri" pitchFamily="34" charset="0"/>
              </a:rPr>
              <a:t> 장치 비교</a:t>
            </a:r>
            <a:endParaRPr lang="ko-KR" altLang="en-US" b="1" dirty="0">
              <a:latin typeface="Calibri" pitchFamily="34" charset="0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924974"/>
              </p:ext>
            </p:extLst>
          </p:nvPr>
        </p:nvGraphicFramePr>
        <p:xfrm>
          <a:off x="235371" y="1628801"/>
          <a:ext cx="8610886" cy="41770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05443"/>
                <a:gridCol w="4305443"/>
              </a:tblGrid>
              <a:tr h="86043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4000" kern="100" dirty="0">
                          <a:solidFill>
                            <a:schemeClr val="tx1"/>
                          </a:solidFill>
                          <a:effectLst/>
                        </a:rPr>
                        <a:t>SEPTA</a:t>
                      </a:r>
                      <a:endParaRPr lang="ko-KR" sz="4000" kern="10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4000" kern="100" dirty="0" err="1">
                          <a:solidFill>
                            <a:schemeClr val="tx1"/>
                          </a:solidFill>
                          <a:effectLst/>
                        </a:rPr>
                        <a:t>덴버</a:t>
                      </a:r>
                      <a:endParaRPr lang="ko-KR" sz="4000" kern="10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3408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CRA-CRB </a:t>
                      </a:r>
                      <a:r>
                        <a:rPr lang="ko-KR" sz="2400" kern="100" dirty="0">
                          <a:solidFill>
                            <a:schemeClr val="tx1"/>
                          </a:solidFill>
                          <a:effectLst/>
                        </a:rPr>
                        <a:t>타입으로 차량 구성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ko-KR" sz="2400" kern="10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CRA-CRA </a:t>
                      </a:r>
                      <a:r>
                        <a:rPr lang="ko-KR" sz="2400" kern="100" dirty="0">
                          <a:effectLst/>
                        </a:rPr>
                        <a:t>타입으로 차량 구성</a:t>
                      </a:r>
                      <a:r>
                        <a:rPr lang="en-US" sz="2400" kern="100" dirty="0">
                          <a:effectLst/>
                        </a:rPr>
                        <a:t>.</a:t>
                      </a:r>
                      <a:endParaRPr lang="ko-KR" sz="2400" kern="100" dirty="0">
                        <a:effectLst/>
                      </a:endParaRPr>
                    </a:p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 kern="100" dirty="0">
                          <a:effectLst/>
                        </a:rPr>
                        <a:t>백업동작 관련하여 시스템 구성을 보완</a:t>
                      </a:r>
                      <a:r>
                        <a:rPr lang="en-US" sz="2400" kern="100" dirty="0">
                          <a:effectLst/>
                        </a:rPr>
                        <a:t>.</a:t>
                      </a:r>
                      <a:endParaRPr lang="ko-KR" sz="24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194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DPO/PEI</a:t>
                      </a:r>
                      <a:endParaRPr lang="ko-KR" sz="2400" kern="10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DPO/PEI tone </a:t>
                      </a:r>
                      <a:r>
                        <a:rPr lang="ko-KR" sz="2400" kern="100" dirty="0">
                          <a:effectLst/>
                        </a:rPr>
                        <a:t>과 음성 신호를 분리 하여</a:t>
                      </a:r>
                    </a:p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2400" kern="100" dirty="0" err="1">
                          <a:effectLst/>
                        </a:rPr>
                        <a:t>노이즈</a:t>
                      </a:r>
                      <a:r>
                        <a:rPr lang="ko-KR" sz="2400" kern="100" dirty="0">
                          <a:effectLst/>
                        </a:rPr>
                        <a:t> 및 처리 속도를 향상 시켰다</a:t>
                      </a:r>
                      <a:r>
                        <a:rPr lang="en-US" sz="2400" kern="100" dirty="0">
                          <a:effectLst/>
                        </a:rPr>
                        <a:t>.</a:t>
                      </a:r>
                      <a:endParaRPr lang="ko-KR" sz="24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3292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latin typeface="Calibri" pitchFamily="34" charset="0"/>
              </a:rPr>
              <a:t>VOIP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981643" y="1428067"/>
            <a:ext cx="5077979" cy="3473436"/>
            <a:chOff x="544513" y="1182688"/>
            <a:chExt cx="11090275" cy="7416800"/>
          </a:xfrm>
        </p:grpSpPr>
        <p:sp>
          <p:nvSpPr>
            <p:cNvPr id="6" name="Line 220"/>
            <p:cNvSpPr>
              <a:spLocks noChangeShapeType="1"/>
            </p:cNvSpPr>
            <p:nvPr/>
          </p:nvSpPr>
          <p:spPr bwMode="auto">
            <a:xfrm>
              <a:off x="8858250" y="3630613"/>
              <a:ext cx="1035050" cy="0"/>
            </a:xfrm>
            <a:prstGeom prst="line">
              <a:avLst/>
            </a:prstGeom>
            <a:noFill/>
            <a:ln w="15875">
              <a:solidFill>
                <a:srgbClr val="00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544513" y="1182688"/>
              <a:ext cx="11090275" cy="7416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altLang="ko-KR" sz="800"/>
            </a:p>
          </p:txBody>
        </p:sp>
        <p:sp>
          <p:nvSpPr>
            <p:cNvPr id="8" name="Rectangle 48"/>
            <p:cNvSpPr>
              <a:spLocks noChangeArrowheads="1"/>
            </p:cNvSpPr>
            <p:nvPr/>
          </p:nvSpPr>
          <p:spPr bwMode="auto">
            <a:xfrm>
              <a:off x="2057400" y="1903413"/>
              <a:ext cx="4895850" cy="5040312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8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>
                <a:defRPr/>
              </a:pPr>
              <a:endParaRPr lang="ko-KR" altLang="en-US" sz="800"/>
            </a:p>
          </p:txBody>
        </p:sp>
        <p:sp>
          <p:nvSpPr>
            <p:cNvPr id="9" name="Rectangle 56"/>
            <p:cNvSpPr>
              <a:spLocks noChangeArrowheads="1"/>
            </p:cNvSpPr>
            <p:nvPr/>
          </p:nvSpPr>
          <p:spPr bwMode="auto">
            <a:xfrm>
              <a:off x="2273300" y="3487738"/>
              <a:ext cx="1368425" cy="143986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ARM926</a:t>
              </a:r>
            </a:p>
          </p:txBody>
        </p:sp>
        <p:sp>
          <p:nvSpPr>
            <p:cNvPr id="10" name="Rectangle 59"/>
            <p:cNvSpPr>
              <a:spLocks noChangeArrowheads="1"/>
            </p:cNvSpPr>
            <p:nvPr/>
          </p:nvSpPr>
          <p:spPr bwMode="auto">
            <a:xfrm>
              <a:off x="2273300" y="2262188"/>
              <a:ext cx="1144588" cy="785812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Helvetica" pitchFamily="34" charset="0"/>
                  <a:ea typeface="굴림" charset="-127"/>
                </a:rPr>
                <a:t>SPI</a:t>
              </a:r>
            </a:p>
          </p:txBody>
        </p:sp>
        <p:sp>
          <p:nvSpPr>
            <p:cNvPr id="11" name="Rectangle 61"/>
            <p:cNvSpPr>
              <a:spLocks noChangeArrowheads="1"/>
            </p:cNvSpPr>
            <p:nvPr/>
          </p:nvSpPr>
          <p:spPr bwMode="auto">
            <a:xfrm>
              <a:off x="2273300" y="7446963"/>
              <a:ext cx="1079500" cy="720725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121789" tIns="60894" rIns="121789" bIns="60894" anchor="ctr"/>
            <a:lstStyle/>
            <a:p>
              <a:r>
                <a:rPr lang="en-US" altLang="ko-KR" sz="800" b="1"/>
                <a:t>Ethernet</a:t>
              </a:r>
            </a:p>
            <a:p>
              <a:endParaRPr lang="en-US" altLang="ko-KR" sz="800" b="1"/>
            </a:p>
          </p:txBody>
        </p:sp>
        <p:sp>
          <p:nvSpPr>
            <p:cNvPr id="12" name="Rectangle 63"/>
            <p:cNvSpPr>
              <a:spLocks noChangeArrowheads="1"/>
            </p:cNvSpPr>
            <p:nvPr/>
          </p:nvSpPr>
          <p:spPr bwMode="auto">
            <a:xfrm>
              <a:off x="9893300" y="3454400"/>
              <a:ext cx="1655763" cy="392113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TO RX AUDIO</a:t>
              </a:r>
            </a:p>
          </p:txBody>
        </p:sp>
        <p:sp>
          <p:nvSpPr>
            <p:cNvPr id="13" name="Rectangle 63"/>
            <p:cNvSpPr>
              <a:spLocks noChangeArrowheads="1"/>
            </p:cNvSpPr>
            <p:nvPr/>
          </p:nvSpPr>
          <p:spPr bwMode="auto">
            <a:xfrm>
              <a:off x="3568700" y="7519988"/>
              <a:ext cx="1111250" cy="60801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SDRAM</a:t>
              </a:r>
            </a:p>
          </p:txBody>
        </p:sp>
        <p:sp>
          <p:nvSpPr>
            <p:cNvPr id="14" name="Rectangle 63"/>
            <p:cNvSpPr>
              <a:spLocks noChangeArrowheads="1"/>
            </p:cNvSpPr>
            <p:nvPr/>
          </p:nvSpPr>
          <p:spPr bwMode="auto">
            <a:xfrm>
              <a:off x="9891713" y="2406650"/>
              <a:ext cx="1657350" cy="43180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To Recording</a:t>
              </a:r>
            </a:p>
          </p:txBody>
        </p:sp>
        <p:sp>
          <p:nvSpPr>
            <p:cNvPr id="15" name="Rectangle 63"/>
            <p:cNvSpPr>
              <a:spLocks noChangeArrowheads="1"/>
            </p:cNvSpPr>
            <p:nvPr/>
          </p:nvSpPr>
          <p:spPr bwMode="auto">
            <a:xfrm>
              <a:off x="2273300" y="6223000"/>
              <a:ext cx="1152525" cy="504825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RMII</a:t>
              </a:r>
            </a:p>
          </p:txBody>
        </p:sp>
        <p:sp>
          <p:nvSpPr>
            <p:cNvPr id="16" name="Rectangle 159"/>
            <p:cNvSpPr>
              <a:spLocks noChangeArrowheads="1"/>
            </p:cNvSpPr>
            <p:nvPr/>
          </p:nvSpPr>
          <p:spPr bwMode="auto">
            <a:xfrm>
              <a:off x="1265238" y="7662863"/>
              <a:ext cx="431800" cy="288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101489" tIns="50745" rIns="101489" bIns="50745" anchor="ctr"/>
            <a:lstStyle/>
            <a:p>
              <a:pPr algn="ctr">
                <a:defRPr/>
              </a:pPr>
              <a:r>
                <a:rPr lang="en-US" altLang="ko-KR" sz="800" b="1" dirty="0">
                  <a:latin typeface="Arial" charset="0"/>
                  <a:cs typeface="Arial" charset="0"/>
                </a:rPr>
                <a:t>RJ45</a:t>
              </a:r>
            </a:p>
          </p:txBody>
        </p:sp>
        <p:sp>
          <p:nvSpPr>
            <p:cNvPr id="17" name="Rectangle 63"/>
            <p:cNvSpPr>
              <a:spLocks noChangeArrowheads="1"/>
            </p:cNvSpPr>
            <p:nvPr/>
          </p:nvSpPr>
          <p:spPr bwMode="auto">
            <a:xfrm>
              <a:off x="2273300" y="5430838"/>
              <a:ext cx="1152525" cy="504825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UART</a:t>
              </a:r>
            </a:p>
          </p:txBody>
        </p:sp>
        <p:sp>
          <p:nvSpPr>
            <p:cNvPr id="18" name="Rectangle 56"/>
            <p:cNvSpPr>
              <a:spLocks noChangeArrowheads="1"/>
            </p:cNvSpPr>
            <p:nvPr/>
          </p:nvSpPr>
          <p:spPr bwMode="auto">
            <a:xfrm>
              <a:off x="3857625" y="3487738"/>
              <a:ext cx="1368425" cy="143986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DSP</a:t>
              </a:r>
            </a:p>
          </p:txBody>
        </p:sp>
        <p:sp>
          <p:nvSpPr>
            <p:cNvPr id="19" name="Rectangle 56"/>
            <p:cNvSpPr>
              <a:spLocks noChangeArrowheads="1"/>
            </p:cNvSpPr>
            <p:nvPr/>
          </p:nvSpPr>
          <p:spPr bwMode="auto">
            <a:xfrm>
              <a:off x="5441950" y="3487738"/>
              <a:ext cx="1368425" cy="143986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BMP</a:t>
              </a:r>
            </a:p>
          </p:txBody>
        </p:sp>
        <p:sp>
          <p:nvSpPr>
            <p:cNvPr id="20" name="Rectangle 63"/>
            <p:cNvSpPr>
              <a:spLocks noChangeArrowheads="1"/>
            </p:cNvSpPr>
            <p:nvPr/>
          </p:nvSpPr>
          <p:spPr bwMode="auto">
            <a:xfrm>
              <a:off x="3568700" y="6223000"/>
              <a:ext cx="1152525" cy="504825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SDI</a:t>
              </a:r>
            </a:p>
          </p:txBody>
        </p:sp>
        <p:sp>
          <p:nvSpPr>
            <p:cNvPr id="21" name="Rectangle 57"/>
            <p:cNvSpPr>
              <a:spLocks noChangeArrowheads="1"/>
            </p:cNvSpPr>
            <p:nvPr/>
          </p:nvSpPr>
          <p:spPr bwMode="auto">
            <a:xfrm>
              <a:off x="5368925" y="6151563"/>
              <a:ext cx="1049338" cy="56991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LDO</a:t>
              </a:r>
            </a:p>
          </p:txBody>
        </p:sp>
        <p:sp>
          <p:nvSpPr>
            <p:cNvPr id="22" name="Line 227"/>
            <p:cNvSpPr>
              <a:spLocks noChangeShapeType="1"/>
            </p:cNvSpPr>
            <p:nvPr/>
          </p:nvSpPr>
          <p:spPr bwMode="auto">
            <a:xfrm flipH="1">
              <a:off x="9618663" y="7807325"/>
              <a:ext cx="64770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1789" tIns="60894" rIns="121789" bIns="60894"/>
            <a:lstStyle/>
            <a:p>
              <a:endParaRPr lang="ko-KR" altLang="en-US" sz="800"/>
            </a:p>
          </p:txBody>
        </p:sp>
        <p:sp>
          <p:nvSpPr>
            <p:cNvPr id="23" name="Oval 231"/>
            <p:cNvSpPr>
              <a:spLocks noChangeArrowheads="1"/>
            </p:cNvSpPr>
            <p:nvPr/>
          </p:nvSpPr>
          <p:spPr bwMode="auto">
            <a:xfrm>
              <a:off x="10218738" y="7566025"/>
              <a:ext cx="479425" cy="479425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ko-KR" sz="800" b="1" dirty="0">
                  <a:solidFill>
                    <a:srgbClr val="FF0000"/>
                  </a:solidFill>
                </a:rPr>
                <a:t>12V</a:t>
              </a:r>
            </a:p>
          </p:txBody>
        </p:sp>
        <p:sp>
          <p:nvSpPr>
            <p:cNvPr id="24" name="Line 220"/>
            <p:cNvSpPr>
              <a:spLocks noChangeShapeType="1"/>
            </p:cNvSpPr>
            <p:nvPr/>
          </p:nvSpPr>
          <p:spPr bwMode="auto">
            <a:xfrm>
              <a:off x="8858250" y="2622550"/>
              <a:ext cx="1035050" cy="0"/>
            </a:xfrm>
            <a:prstGeom prst="line">
              <a:avLst/>
            </a:prstGeom>
            <a:noFill/>
            <a:ln w="15875">
              <a:solidFill>
                <a:srgbClr val="00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sp>
          <p:nvSpPr>
            <p:cNvPr id="25" name="Isosceles Triangle 271"/>
            <p:cNvSpPr>
              <a:spLocks noChangeArrowheads="1"/>
            </p:cNvSpPr>
            <p:nvPr/>
          </p:nvSpPr>
          <p:spPr bwMode="auto">
            <a:xfrm rot="5400000">
              <a:off x="9461500" y="2551113"/>
              <a:ext cx="158750" cy="158750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01489" tIns="50745" rIns="101489" bIns="50745"/>
            <a:lstStyle/>
            <a:p>
              <a:endParaRPr lang="en-US" altLang="ko-KR" sz="800"/>
            </a:p>
          </p:txBody>
        </p:sp>
        <p:sp>
          <p:nvSpPr>
            <p:cNvPr id="26" name="Rectangle 48"/>
            <p:cNvSpPr>
              <a:spLocks noChangeArrowheads="1"/>
            </p:cNvSpPr>
            <p:nvPr/>
          </p:nvSpPr>
          <p:spPr bwMode="auto">
            <a:xfrm>
              <a:off x="7372350" y="1903413"/>
              <a:ext cx="1728788" cy="504031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>
                <a:defRPr/>
              </a:pPr>
              <a:endParaRPr lang="ko-KR" altLang="en-US" sz="800"/>
            </a:p>
          </p:txBody>
        </p:sp>
        <p:sp>
          <p:nvSpPr>
            <p:cNvPr id="27" name="Rectangle 57"/>
            <p:cNvSpPr>
              <a:spLocks noChangeArrowheads="1"/>
            </p:cNvSpPr>
            <p:nvPr/>
          </p:nvSpPr>
          <p:spPr bwMode="auto">
            <a:xfrm>
              <a:off x="7732713" y="6151563"/>
              <a:ext cx="1047750" cy="56991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LDO</a:t>
              </a:r>
            </a:p>
          </p:txBody>
        </p:sp>
        <p:sp>
          <p:nvSpPr>
            <p:cNvPr id="28" name="Rectangle 58"/>
            <p:cNvSpPr>
              <a:spLocks noChangeArrowheads="1"/>
            </p:cNvSpPr>
            <p:nvPr/>
          </p:nvSpPr>
          <p:spPr bwMode="auto">
            <a:xfrm>
              <a:off x="7589838" y="2335213"/>
              <a:ext cx="1295400" cy="576262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Recording</a:t>
              </a:r>
            </a:p>
            <a:p>
              <a:pPr algn="ctr"/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AUDIO</a:t>
              </a:r>
            </a:p>
          </p:txBody>
        </p:sp>
        <p:sp>
          <p:nvSpPr>
            <p:cNvPr id="29" name="Rectangle 59"/>
            <p:cNvSpPr>
              <a:spLocks noChangeArrowheads="1"/>
            </p:cNvSpPr>
            <p:nvPr/>
          </p:nvSpPr>
          <p:spPr bwMode="auto">
            <a:xfrm>
              <a:off x="5521325" y="2262188"/>
              <a:ext cx="1144588" cy="785812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Helvetica" pitchFamily="34" charset="0"/>
                  <a:ea typeface="굴림" charset="-127"/>
                </a:rPr>
                <a:t>GPIO</a:t>
              </a:r>
            </a:p>
          </p:txBody>
        </p:sp>
        <p:sp>
          <p:nvSpPr>
            <p:cNvPr id="30" name="Rectangle 58"/>
            <p:cNvSpPr>
              <a:spLocks noChangeArrowheads="1"/>
            </p:cNvSpPr>
            <p:nvPr/>
          </p:nvSpPr>
          <p:spPr bwMode="auto">
            <a:xfrm>
              <a:off x="7589838" y="3414713"/>
              <a:ext cx="1295400" cy="576262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RX AMP</a:t>
              </a:r>
            </a:p>
          </p:txBody>
        </p:sp>
        <p:sp>
          <p:nvSpPr>
            <p:cNvPr id="31" name="Rectangle 58"/>
            <p:cNvSpPr>
              <a:spLocks noChangeArrowheads="1"/>
            </p:cNvSpPr>
            <p:nvPr/>
          </p:nvSpPr>
          <p:spPr bwMode="auto">
            <a:xfrm>
              <a:off x="7589838" y="4135438"/>
              <a:ext cx="1295400" cy="576262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b="1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TX AMP</a:t>
              </a:r>
            </a:p>
          </p:txBody>
        </p:sp>
        <p:sp>
          <p:nvSpPr>
            <p:cNvPr id="32" name="Isosceles Triangle 271"/>
            <p:cNvSpPr>
              <a:spLocks noChangeArrowheads="1"/>
            </p:cNvSpPr>
            <p:nvPr/>
          </p:nvSpPr>
          <p:spPr bwMode="auto">
            <a:xfrm rot="5400000">
              <a:off x="9440863" y="3559175"/>
              <a:ext cx="158750" cy="158750"/>
            </a:xfrm>
            <a:prstGeom prst="triangle">
              <a:avLst>
                <a:gd name="adj" fmla="val 50000"/>
              </a:avLst>
            </a:prstGeom>
            <a:solidFill>
              <a:srgbClr val="0099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01489" tIns="50745" rIns="101489" bIns="50745"/>
            <a:lstStyle/>
            <a:p>
              <a:endParaRPr lang="en-US" altLang="ko-KR" sz="800"/>
            </a:p>
          </p:txBody>
        </p:sp>
        <p:sp>
          <p:nvSpPr>
            <p:cNvPr id="33" name="Line 220"/>
            <p:cNvSpPr>
              <a:spLocks noChangeShapeType="1"/>
            </p:cNvSpPr>
            <p:nvPr/>
          </p:nvSpPr>
          <p:spPr bwMode="auto">
            <a:xfrm flipH="1">
              <a:off x="9128125" y="4397375"/>
              <a:ext cx="765175" cy="0"/>
            </a:xfrm>
            <a:prstGeom prst="line">
              <a:avLst/>
            </a:prstGeom>
            <a:noFill/>
            <a:ln w="15875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sp>
          <p:nvSpPr>
            <p:cNvPr id="34" name="Isosceles Triangle 271"/>
            <p:cNvSpPr>
              <a:spLocks noChangeArrowheads="1"/>
            </p:cNvSpPr>
            <p:nvPr/>
          </p:nvSpPr>
          <p:spPr bwMode="auto">
            <a:xfrm rot="16200000">
              <a:off x="9378951" y="4316412"/>
              <a:ext cx="215900" cy="142875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01489" tIns="50745" rIns="101489" bIns="50745"/>
            <a:lstStyle/>
            <a:p>
              <a:endParaRPr lang="en-US" altLang="ko-KR" sz="800"/>
            </a:p>
          </p:txBody>
        </p:sp>
        <p:sp>
          <p:nvSpPr>
            <p:cNvPr id="35" name="Rectangle 63"/>
            <p:cNvSpPr>
              <a:spLocks noChangeArrowheads="1"/>
            </p:cNvSpPr>
            <p:nvPr/>
          </p:nvSpPr>
          <p:spPr bwMode="auto">
            <a:xfrm>
              <a:off x="9893300" y="4206875"/>
              <a:ext cx="1655763" cy="392113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TO TX AUDIO</a:t>
              </a:r>
            </a:p>
          </p:txBody>
        </p:sp>
        <p:sp>
          <p:nvSpPr>
            <p:cNvPr id="36" name="Line 208"/>
            <p:cNvSpPr>
              <a:spLocks noChangeShapeType="1"/>
            </p:cNvSpPr>
            <p:nvPr/>
          </p:nvSpPr>
          <p:spPr bwMode="auto">
            <a:xfrm flipH="1" flipV="1">
              <a:off x="8177213" y="7015163"/>
              <a:ext cx="0" cy="86518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sp>
          <p:nvSpPr>
            <p:cNvPr id="37" name="Line 208"/>
            <p:cNvSpPr>
              <a:spLocks noChangeShapeType="1"/>
            </p:cNvSpPr>
            <p:nvPr/>
          </p:nvSpPr>
          <p:spPr bwMode="auto">
            <a:xfrm flipH="1" flipV="1">
              <a:off x="5945188" y="7015163"/>
              <a:ext cx="0" cy="86518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cxnSp>
          <p:nvCxnSpPr>
            <p:cNvPr id="38" name="Straight Arrow Connector 123"/>
            <p:cNvCxnSpPr>
              <a:cxnSpLocks noChangeShapeType="1"/>
            </p:cNvCxnSpPr>
            <p:nvPr/>
          </p:nvCxnSpPr>
          <p:spPr bwMode="auto">
            <a:xfrm rot="10800000">
              <a:off x="5932488" y="7880350"/>
              <a:ext cx="2767012" cy="3175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9" name="Rectangle 211"/>
            <p:cNvSpPr>
              <a:spLocks noChangeArrowheads="1"/>
            </p:cNvSpPr>
            <p:nvPr/>
          </p:nvSpPr>
          <p:spPr bwMode="auto">
            <a:xfrm>
              <a:off x="8656638" y="7591425"/>
              <a:ext cx="960437" cy="477838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ko-KR" sz="800" b="1" dirty="0"/>
                <a:t>Regulator</a:t>
              </a:r>
            </a:p>
          </p:txBody>
        </p:sp>
        <p:sp>
          <p:nvSpPr>
            <p:cNvPr id="40" name="Rectangle 54"/>
            <p:cNvSpPr>
              <a:spLocks noChangeArrowheads="1"/>
            </p:cNvSpPr>
            <p:nvPr/>
          </p:nvSpPr>
          <p:spPr bwMode="auto">
            <a:xfrm>
              <a:off x="2273300" y="7880350"/>
              <a:ext cx="431800" cy="287338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Mac</a:t>
              </a:r>
            </a:p>
          </p:txBody>
        </p:sp>
        <p:sp>
          <p:nvSpPr>
            <p:cNvPr id="41" name="Rectangle 63"/>
            <p:cNvSpPr>
              <a:spLocks noChangeArrowheads="1"/>
            </p:cNvSpPr>
            <p:nvPr/>
          </p:nvSpPr>
          <p:spPr bwMode="auto">
            <a:xfrm>
              <a:off x="730250" y="2303463"/>
              <a:ext cx="1111250" cy="608012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121789" tIns="60894" rIns="121789" bIns="60894" anchor="ctr"/>
            <a:lstStyle/>
            <a:p>
              <a:pPr algn="ctr">
                <a:defRPr/>
              </a:pPr>
              <a:r>
                <a:rPr lang="en-US" altLang="ja-JP" sz="8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  <a:ea typeface="굴림" charset="-127"/>
                </a:rPr>
                <a:t>FLASH</a:t>
              </a:r>
            </a:p>
          </p:txBody>
        </p:sp>
        <p:sp>
          <p:nvSpPr>
            <p:cNvPr id="42" name="Line 50"/>
            <p:cNvSpPr>
              <a:spLocks noChangeShapeType="1"/>
            </p:cNvSpPr>
            <p:nvPr/>
          </p:nvSpPr>
          <p:spPr bwMode="auto">
            <a:xfrm>
              <a:off x="1697038" y="7807325"/>
              <a:ext cx="5762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sp>
          <p:nvSpPr>
            <p:cNvPr id="43" name="Line 50"/>
            <p:cNvSpPr>
              <a:spLocks noChangeShapeType="1"/>
            </p:cNvSpPr>
            <p:nvPr/>
          </p:nvSpPr>
          <p:spPr bwMode="auto">
            <a:xfrm>
              <a:off x="1841500" y="2622550"/>
              <a:ext cx="2159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sp>
          <p:nvSpPr>
            <p:cNvPr id="44" name="Line 61"/>
            <p:cNvSpPr>
              <a:spLocks noChangeShapeType="1"/>
            </p:cNvSpPr>
            <p:nvPr/>
          </p:nvSpPr>
          <p:spPr bwMode="auto">
            <a:xfrm flipV="1">
              <a:off x="2776538" y="6943725"/>
              <a:ext cx="0" cy="5032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sp>
          <p:nvSpPr>
            <p:cNvPr id="45" name="Line 61"/>
            <p:cNvSpPr>
              <a:spLocks noChangeShapeType="1"/>
            </p:cNvSpPr>
            <p:nvPr/>
          </p:nvSpPr>
          <p:spPr bwMode="auto">
            <a:xfrm flipV="1">
              <a:off x="4073525" y="6943725"/>
              <a:ext cx="0" cy="5762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sp>
          <p:nvSpPr>
            <p:cNvPr id="46" name="Line 12"/>
            <p:cNvSpPr>
              <a:spLocks noChangeShapeType="1"/>
            </p:cNvSpPr>
            <p:nvPr/>
          </p:nvSpPr>
          <p:spPr bwMode="auto">
            <a:xfrm>
              <a:off x="688975" y="5719763"/>
              <a:ext cx="13684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sp>
          <p:nvSpPr>
            <p:cNvPr id="47" name="Text Box 96"/>
            <p:cNvSpPr txBox="1">
              <a:spLocks noChangeArrowheads="1"/>
            </p:cNvSpPr>
            <p:nvPr/>
          </p:nvSpPr>
          <p:spPr bwMode="auto">
            <a:xfrm>
              <a:off x="673100" y="5391152"/>
              <a:ext cx="1744662" cy="602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89" tIns="50745" rIns="101489" bIns="50745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 b="1">
                  <a:latin typeface="Arial" pitchFamily="34" charset="0"/>
                  <a:cs typeface="Arial" pitchFamily="34" charset="0"/>
                </a:rPr>
                <a:t>TO RS-485 Car Line</a:t>
              </a:r>
            </a:p>
          </p:txBody>
        </p:sp>
        <p:sp>
          <p:nvSpPr>
            <p:cNvPr id="48" name="Line 208"/>
            <p:cNvSpPr>
              <a:spLocks noChangeShapeType="1"/>
            </p:cNvSpPr>
            <p:nvPr/>
          </p:nvSpPr>
          <p:spPr bwMode="auto">
            <a:xfrm>
              <a:off x="6986588" y="4495800"/>
              <a:ext cx="385762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  <p:sp>
          <p:nvSpPr>
            <p:cNvPr id="49" name="Line 208"/>
            <p:cNvSpPr>
              <a:spLocks noChangeShapeType="1"/>
            </p:cNvSpPr>
            <p:nvPr/>
          </p:nvSpPr>
          <p:spPr bwMode="auto">
            <a:xfrm flipH="1">
              <a:off x="6953250" y="3775075"/>
              <a:ext cx="43180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1489" tIns="50745" rIns="101489" bIns="50745"/>
            <a:lstStyle/>
            <a:p>
              <a:endParaRPr lang="ko-KR" altLang="en-US" sz="800"/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52" name="직사각형 51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3" name="그림 52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54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직사각형 54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943342" y="5229200"/>
            <a:ext cx="7154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*Reliable VOIP</a:t>
            </a:r>
            <a:r>
              <a:rPr lang="ko-KR" altLang="en-US" dirty="0" smtClean="0"/>
              <a:t> </a:t>
            </a:r>
            <a:r>
              <a:rPr lang="en-US" altLang="ko-KR" dirty="0" smtClean="0"/>
              <a:t>function could be realized by close cooperation with the VOIP company.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latin typeface="Calibri" pitchFamily="34" charset="0"/>
              </a:rPr>
              <a:t>Communication Rack A (CRA)</a:t>
            </a:r>
            <a:endParaRPr lang="ko-KR" altLang="en-US" b="1" dirty="0">
              <a:latin typeface="Calibri" pitchFamily="34" charset="0"/>
            </a:endParaRPr>
          </a:p>
        </p:txBody>
      </p:sp>
      <p:pic>
        <p:nvPicPr>
          <p:cNvPr id="7" name="내용 개체 틀 6" descr="CRA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771800" y="1340768"/>
            <a:ext cx="3024336" cy="1440997"/>
          </a:xfrm>
        </p:spPr>
      </p:pic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9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직사각형 9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263026"/>
              </p:ext>
            </p:extLst>
          </p:nvPr>
        </p:nvGraphicFramePr>
        <p:xfrm>
          <a:off x="1907704" y="2924944"/>
          <a:ext cx="4752528" cy="2586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8079"/>
                <a:gridCol w="3254449"/>
              </a:tblGrid>
              <a:tr h="300608">
                <a:tc>
                  <a:txBody>
                    <a:bodyPr/>
                    <a:lstStyle/>
                    <a:p>
                      <a:pPr marL="38100" marR="43180" algn="ctr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It</a:t>
                      </a:r>
                      <a:r>
                        <a:rPr lang="en-US" sz="1000" spc="5" dirty="0">
                          <a:effectLst/>
                        </a:rPr>
                        <a:t>e</a:t>
                      </a:r>
                      <a:r>
                        <a:rPr lang="en-US" sz="1000" dirty="0">
                          <a:effectLst/>
                        </a:rPr>
                        <a:t>m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6050" marR="88265" indent="-62230" algn="ctr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Sp</a:t>
                      </a:r>
                      <a:r>
                        <a:rPr lang="en-US" sz="1000" spc="5" dirty="0">
                          <a:effectLst/>
                        </a:rPr>
                        <a:t>ec</a:t>
                      </a:r>
                      <a:r>
                        <a:rPr lang="en-US" sz="1000" dirty="0">
                          <a:effectLst/>
                        </a:rPr>
                        <a:t>if</a:t>
                      </a:r>
                      <a:r>
                        <a:rPr lang="en-US" sz="1000" spc="5" dirty="0">
                          <a:effectLst/>
                        </a:rPr>
                        <a:t>i</a:t>
                      </a:r>
                      <a:r>
                        <a:rPr lang="en-US" sz="1000" spc="-10" dirty="0">
                          <a:effectLst/>
                        </a:rPr>
                        <a:t>c</a:t>
                      </a:r>
                      <a:r>
                        <a:rPr lang="en-US" sz="1000" spc="5" dirty="0">
                          <a:effectLst/>
                        </a:rPr>
                        <a:t>a</a:t>
                      </a:r>
                      <a:r>
                        <a:rPr lang="en-US" sz="1000" dirty="0">
                          <a:effectLst/>
                        </a:rPr>
                        <a:t>ti</a:t>
                      </a:r>
                      <a:r>
                        <a:rPr lang="en-US" sz="1000" spc="5" dirty="0">
                          <a:effectLst/>
                        </a:rPr>
                        <a:t>o</a:t>
                      </a:r>
                      <a:r>
                        <a:rPr lang="en-US" sz="1000" dirty="0">
                          <a:effectLst/>
                        </a:rPr>
                        <a:t>n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9230"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Input Power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DC 37.5V (DC 24V~48V)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9230"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Power Load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Max. 375W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9230"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Size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21” 3U Sub-rack case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7325"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Weight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About 16 kg (Rack A)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9230"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Relative Humidity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10% ~ 95% (Non Condensing)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9230"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Control Switch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Power On/Off, Reset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05740"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Operating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05740"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Storage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-35°C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89230"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Status Indicator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LED indicator for power and status at each module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7325"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Material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 marR="43180" algn="just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Aluminum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691680" y="5661533"/>
            <a:ext cx="53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*Ensured sufficient capacity by CRA AMP Power supplementation.</a:t>
            </a:r>
            <a:r>
              <a:rPr lang="ko-KR" altLang="en-US" dirty="0" smtClean="0"/>
              <a:t>  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smtClean="0">
                <a:latin typeface="Calibri" pitchFamily="34" charset="0"/>
              </a:rPr>
              <a:t>Communication Control Panel (CCP)</a:t>
            </a:r>
            <a:endParaRPr lang="ko-KR" altLang="en-US" b="1" dirty="0">
              <a:latin typeface="Calibri" pitchFamily="34" charset="0"/>
            </a:endParaRPr>
          </a:p>
        </p:txBody>
      </p:sp>
      <p:pic>
        <p:nvPicPr>
          <p:cNvPr id="5" name="내용 개체 틀 4" descr="CCP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75494" y="2420888"/>
            <a:ext cx="2448272" cy="2015603"/>
          </a:xfrm>
        </p:spPr>
      </p:pic>
      <p:grpSp>
        <p:nvGrpSpPr>
          <p:cNvPr id="6" name="그룹 5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7" name="직사각형 6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9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직사각형 9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345171"/>
              </p:ext>
            </p:extLst>
          </p:nvPr>
        </p:nvGraphicFramePr>
        <p:xfrm>
          <a:off x="3563888" y="1196752"/>
          <a:ext cx="4950748" cy="45492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2284"/>
                <a:gridCol w="1869232"/>
                <a:gridCol w="1869232"/>
              </a:tblGrid>
              <a:tr h="34419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Item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R="1520190" algn="ctr">
                        <a:lnSpc>
                          <a:spcPct val="15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                                        Rat</a:t>
                      </a:r>
                      <a:r>
                        <a:rPr lang="en-US" sz="900" spc="5" dirty="0">
                          <a:effectLst/>
                        </a:rPr>
                        <a:t>i</a:t>
                      </a:r>
                      <a:r>
                        <a:rPr lang="en-US" sz="900" dirty="0">
                          <a:effectLst/>
                        </a:rPr>
                        <a:t>ng</a:t>
                      </a:r>
                      <a:r>
                        <a:rPr lang="en-US" sz="900" spc="5" dirty="0">
                          <a:effectLst/>
                        </a:rPr>
                        <a:t> a</a:t>
                      </a:r>
                      <a:r>
                        <a:rPr lang="en-US" sz="900" dirty="0">
                          <a:effectLst/>
                        </a:rPr>
                        <a:t>nd</a:t>
                      </a:r>
                      <a:r>
                        <a:rPr lang="en-US" sz="900" spc="-5" dirty="0">
                          <a:effectLst/>
                        </a:rPr>
                        <a:t> </a:t>
                      </a:r>
                      <a:r>
                        <a:rPr lang="en-US" sz="900" dirty="0">
                          <a:effectLst/>
                        </a:rPr>
                        <a:t>S</a:t>
                      </a:r>
                      <a:r>
                        <a:rPr lang="en-US" sz="900" spc="5" dirty="0">
                          <a:effectLst/>
                        </a:rPr>
                        <a:t>pe</a:t>
                      </a:r>
                      <a:r>
                        <a:rPr lang="en-US" sz="900" spc="-10" dirty="0">
                          <a:effectLst/>
                        </a:rPr>
                        <a:t>c</a:t>
                      </a:r>
                      <a:r>
                        <a:rPr lang="en-US" sz="900" dirty="0">
                          <a:effectLst/>
                        </a:rPr>
                        <a:t>if</a:t>
                      </a:r>
                      <a:r>
                        <a:rPr lang="en-US" sz="900" spc="5" dirty="0">
                          <a:effectLst/>
                        </a:rPr>
                        <a:t>ica</a:t>
                      </a:r>
                      <a:r>
                        <a:rPr lang="en-US" sz="900" dirty="0">
                          <a:effectLst/>
                        </a:rPr>
                        <a:t>t</a:t>
                      </a:r>
                      <a:r>
                        <a:rPr lang="en-US" sz="900" spc="-10" dirty="0">
                          <a:effectLst/>
                        </a:rPr>
                        <a:t>i</a:t>
                      </a:r>
                      <a:r>
                        <a:rPr lang="en-US" sz="900" dirty="0">
                          <a:effectLst/>
                        </a:rPr>
                        <a:t>on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09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Power Load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113665">
                        <a:lnSpc>
                          <a:spcPct val="150000"/>
                        </a:lnSpc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en-US" sz="900" spc="-20">
                          <a:effectLst/>
                        </a:rPr>
                        <a:t>M</a:t>
                      </a:r>
                      <a:r>
                        <a:rPr lang="en-US" sz="900" spc="15">
                          <a:effectLst/>
                        </a:rPr>
                        <a:t>a</a:t>
                      </a:r>
                      <a:r>
                        <a:rPr lang="en-US" sz="900" spc="-5">
                          <a:effectLst/>
                        </a:rPr>
                        <a:t>x</a:t>
                      </a:r>
                      <a:r>
                        <a:rPr lang="en-US" sz="900">
                          <a:effectLst/>
                        </a:rPr>
                        <a:t>.</a:t>
                      </a:r>
                      <a:r>
                        <a:rPr lang="en-US" sz="900" spc="10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6</a:t>
                      </a:r>
                      <a:r>
                        <a:rPr lang="en-US" sz="900" spc="-20">
                          <a:effectLst/>
                        </a:rPr>
                        <a:t>3</a:t>
                      </a:r>
                      <a:r>
                        <a:rPr lang="en-US" sz="900">
                          <a:effectLst/>
                        </a:rPr>
                        <a:t>W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09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Input Voltage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113665">
                        <a:lnSpc>
                          <a:spcPct val="150000"/>
                        </a:lnSpc>
                        <a:spcBef>
                          <a:spcPts val="23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</a:t>
                      </a:r>
                      <a:r>
                        <a:rPr lang="en-US" sz="900" spc="-5">
                          <a:effectLst/>
                        </a:rPr>
                        <a:t>C </a:t>
                      </a:r>
                      <a:r>
                        <a:rPr lang="en-US" sz="900" spc="5">
                          <a:effectLst/>
                        </a:rPr>
                        <a:t>37</a:t>
                      </a:r>
                      <a:r>
                        <a:rPr lang="en-US" sz="900">
                          <a:effectLst/>
                        </a:rPr>
                        <a:t>.</a:t>
                      </a:r>
                      <a:r>
                        <a:rPr lang="en-US" sz="900" spc="5">
                          <a:effectLst/>
                        </a:rPr>
                        <a:t>5</a:t>
                      </a:r>
                      <a:r>
                        <a:rPr lang="en-US" sz="900">
                          <a:effectLst/>
                        </a:rPr>
                        <a:t>V (DC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24</a:t>
                      </a:r>
                      <a:r>
                        <a:rPr lang="en-US" sz="900">
                          <a:effectLst/>
                        </a:rPr>
                        <a:t>V</a:t>
                      </a:r>
                      <a:r>
                        <a:rPr lang="en-US" sz="900" spc="-10">
                          <a:effectLst/>
                        </a:rPr>
                        <a:t>~</a:t>
                      </a:r>
                      <a:r>
                        <a:rPr lang="en-US" sz="900" spc="5">
                          <a:effectLst/>
                        </a:rPr>
                        <a:t>48</a:t>
                      </a:r>
                      <a:r>
                        <a:rPr lang="en-US" sz="900">
                          <a:effectLst/>
                        </a:rPr>
                        <a:t>V)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09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Input Method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113665">
                        <a:lnSpc>
                          <a:spcPct val="15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900" spc="-10">
                          <a:effectLst/>
                        </a:rPr>
                        <a:t>T</a:t>
                      </a:r>
                      <a:r>
                        <a:rPr lang="en-US" sz="900" spc="5">
                          <a:effectLst/>
                        </a:rPr>
                        <a:t>ouc</a:t>
                      </a:r>
                      <a:r>
                        <a:rPr lang="en-US" sz="900">
                          <a:effectLst/>
                        </a:rPr>
                        <a:t>h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S</a:t>
                      </a:r>
                      <a:r>
                        <a:rPr lang="en-US" sz="900" spc="5">
                          <a:effectLst/>
                        </a:rPr>
                        <a:t>c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10">
                          <a:effectLst/>
                        </a:rPr>
                        <a:t>e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n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0957"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Display Method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77520" marR="466725" algn="ctr">
                        <a:lnSpc>
                          <a:spcPct val="150000"/>
                        </a:lnSpc>
                        <a:spcBef>
                          <a:spcPts val="455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D</a:t>
                      </a:r>
                      <a:r>
                        <a:rPr lang="en-US" sz="900" spc="5">
                          <a:effectLst/>
                        </a:rPr>
                        <a:t>IS</a:t>
                      </a:r>
                      <a:r>
                        <a:rPr lang="en-US" sz="900" spc="-10">
                          <a:effectLst/>
                        </a:rPr>
                        <a:t>P</a:t>
                      </a:r>
                      <a:r>
                        <a:rPr lang="en-US" sz="900" spc="10">
                          <a:effectLst/>
                        </a:rPr>
                        <a:t>L</a:t>
                      </a:r>
                      <a:r>
                        <a:rPr lang="en-US" sz="900" spc="-100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Y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5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</a:t>
                      </a:r>
                      <a:r>
                        <a:rPr lang="en-US" sz="900" spc="-5">
                          <a:effectLst/>
                        </a:rPr>
                        <a:t>R</a:t>
                      </a:r>
                      <a:r>
                        <a:rPr lang="en-US" sz="900" spc="5">
                          <a:effectLst/>
                        </a:rPr>
                        <a:t>AP</a:t>
                      </a:r>
                      <a:r>
                        <a:rPr lang="en-US" sz="900" spc="-5">
                          <a:effectLst/>
                        </a:rPr>
                        <a:t>H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C</a:t>
                      </a:r>
                      <a:r>
                        <a:rPr lang="en-US" sz="900" spc="-20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-10">
                          <a:effectLst/>
                        </a:rPr>
                        <a:t>F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 LC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609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73685" algn="ctr">
                        <a:lnSpc>
                          <a:spcPct val="150000"/>
                        </a:lnSpc>
                        <a:spcBef>
                          <a:spcPts val="70"/>
                        </a:spcBef>
                        <a:spcAft>
                          <a:spcPts val="0"/>
                        </a:spcAft>
                      </a:pPr>
                      <a:r>
                        <a:rPr lang="en-US" sz="900" spc="-5" dirty="0">
                          <a:effectLst/>
                        </a:rPr>
                        <a:t>D</a:t>
                      </a:r>
                      <a:r>
                        <a:rPr lang="en-US" sz="900" spc="5" dirty="0">
                          <a:effectLst/>
                        </a:rPr>
                        <a:t>i</a:t>
                      </a:r>
                      <a:r>
                        <a:rPr lang="en-US" sz="900" spc="-5" dirty="0">
                          <a:effectLst/>
                        </a:rPr>
                        <a:t>s</a:t>
                      </a:r>
                      <a:r>
                        <a:rPr lang="en-US" sz="900" dirty="0">
                          <a:effectLst/>
                        </a:rPr>
                        <a:t>p</a:t>
                      </a:r>
                      <a:r>
                        <a:rPr lang="en-US" sz="900" spc="5" dirty="0">
                          <a:effectLst/>
                        </a:rPr>
                        <a:t>l</a:t>
                      </a:r>
                      <a:r>
                        <a:rPr lang="en-US" sz="900" spc="10" dirty="0">
                          <a:effectLst/>
                        </a:rPr>
                        <a:t>a</a:t>
                      </a:r>
                      <a:r>
                        <a:rPr lang="en-US" sz="900" dirty="0">
                          <a:effectLst/>
                        </a:rPr>
                        <a:t>y</a:t>
                      </a:r>
                      <a:r>
                        <a:rPr lang="en-US" sz="900" spc="-35" dirty="0">
                          <a:effectLst/>
                        </a:rPr>
                        <a:t> </a:t>
                      </a:r>
                      <a:r>
                        <a:rPr lang="en-US" sz="900" dirty="0">
                          <a:effectLst/>
                        </a:rPr>
                        <a:t>r</a:t>
                      </a:r>
                      <a:r>
                        <a:rPr lang="en-US" sz="900" spc="-5" dirty="0">
                          <a:effectLst/>
                        </a:rPr>
                        <a:t>es</a:t>
                      </a:r>
                      <a:r>
                        <a:rPr lang="en-US" sz="900" dirty="0">
                          <a:effectLst/>
                        </a:rPr>
                        <a:t>o</a:t>
                      </a:r>
                      <a:r>
                        <a:rPr lang="en-US" sz="900" spc="5" dirty="0">
                          <a:effectLst/>
                        </a:rPr>
                        <a:t>l</a:t>
                      </a:r>
                      <a:r>
                        <a:rPr lang="en-US" sz="900" dirty="0">
                          <a:effectLst/>
                        </a:rPr>
                        <a:t>u</a:t>
                      </a:r>
                      <a:r>
                        <a:rPr lang="en-US" sz="900" spc="-5" dirty="0">
                          <a:effectLst/>
                        </a:rPr>
                        <a:t>t</a:t>
                      </a:r>
                      <a:r>
                        <a:rPr lang="en-US" sz="900" spc="5" dirty="0">
                          <a:effectLst/>
                        </a:rPr>
                        <a:t>i</a:t>
                      </a:r>
                      <a:r>
                        <a:rPr lang="en-US" sz="900" dirty="0">
                          <a:effectLst/>
                        </a:rPr>
                        <a:t>on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50000"/>
                        </a:lnSpc>
                        <a:spcBef>
                          <a:spcPts val="85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800 </a:t>
                      </a:r>
                      <a:r>
                        <a:rPr lang="en-US" sz="900">
                          <a:effectLst/>
                        </a:rPr>
                        <a:t>× </a:t>
                      </a:r>
                      <a:r>
                        <a:rPr lang="en-US" sz="900" spc="-5">
                          <a:effectLst/>
                        </a:rPr>
                        <a:t>48</a:t>
                      </a:r>
                      <a:r>
                        <a:rPr lang="en-US" sz="900">
                          <a:effectLst/>
                        </a:rPr>
                        <a:t>0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609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ct val="150000"/>
                        </a:lnSpc>
                        <a:spcBef>
                          <a:spcPts val="25"/>
                        </a:spcBef>
                        <a:spcAft>
                          <a:spcPts val="0"/>
                        </a:spcAft>
                      </a:pPr>
                      <a:r>
                        <a:rPr lang="en-US" sz="900" spc="-50" dirty="0">
                          <a:effectLst/>
                        </a:rPr>
                        <a:t>A</a:t>
                      </a:r>
                      <a:r>
                        <a:rPr lang="en-US" sz="900" spc="10" dirty="0">
                          <a:effectLst/>
                        </a:rPr>
                        <a:t>v</a:t>
                      </a:r>
                      <a:r>
                        <a:rPr lang="en-US" sz="900" spc="-5" dirty="0">
                          <a:effectLst/>
                        </a:rPr>
                        <a:t>a</a:t>
                      </a:r>
                      <a:r>
                        <a:rPr lang="en-US" sz="900" spc="5" dirty="0">
                          <a:effectLst/>
                        </a:rPr>
                        <a:t>il</a:t>
                      </a:r>
                      <a:r>
                        <a:rPr lang="en-US" sz="900" spc="-5" dirty="0">
                          <a:effectLst/>
                        </a:rPr>
                        <a:t>a</a:t>
                      </a:r>
                      <a:r>
                        <a:rPr lang="en-US" sz="900" dirty="0">
                          <a:effectLst/>
                        </a:rPr>
                        <a:t>b</a:t>
                      </a:r>
                      <a:r>
                        <a:rPr lang="en-US" sz="900" spc="5" dirty="0">
                          <a:effectLst/>
                        </a:rPr>
                        <a:t>l</a:t>
                      </a:r>
                      <a:r>
                        <a:rPr lang="en-US" sz="900" dirty="0">
                          <a:effectLst/>
                        </a:rPr>
                        <a:t>e</a:t>
                      </a:r>
                      <a:r>
                        <a:rPr lang="en-US" sz="900" spc="5" dirty="0">
                          <a:effectLst/>
                        </a:rPr>
                        <a:t> </a:t>
                      </a:r>
                      <a:r>
                        <a:rPr lang="en-US" sz="900" spc="-15" dirty="0">
                          <a:effectLst/>
                        </a:rPr>
                        <a:t>D</a:t>
                      </a:r>
                      <a:r>
                        <a:rPr lang="en-US" sz="900" spc="5" dirty="0">
                          <a:effectLst/>
                        </a:rPr>
                        <a:t>i</a:t>
                      </a:r>
                      <a:r>
                        <a:rPr lang="en-US" sz="900" spc="-5" dirty="0">
                          <a:effectLst/>
                        </a:rPr>
                        <a:t>s</a:t>
                      </a:r>
                      <a:r>
                        <a:rPr lang="en-US" sz="900" dirty="0">
                          <a:effectLst/>
                        </a:rPr>
                        <a:t>p</a:t>
                      </a:r>
                      <a:r>
                        <a:rPr lang="en-US" sz="900" spc="5" dirty="0">
                          <a:effectLst/>
                        </a:rPr>
                        <a:t>l</a:t>
                      </a:r>
                      <a:r>
                        <a:rPr lang="en-US" sz="900" spc="10" dirty="0">
                          <a:effectLst/>
                        </a:rPr>
                        <a:t>a</a:t>
                      </a:r>
                      <a:r>
                        <a:rPr lang="en-US" sz="900" dirty="0">
                          <a:effectLst/>
                        </a:rPr>
                        <a:t>y</a:t>
                      </a:r>
                      <a:r>
                        <a:rPr lang="en-US" sz="900" spc="-45" dirty="0">
                          <a:effectLst/>
                        </a:rPr>
                        <a:t> </a:t>
                      </a:r>
                      <a:r>
                        <a:rPr lang="en-US" sz="900" spc="-30" dirty="0">
                          <a:effectLst/>
                        </a:rPr>
                        <a:t>A</a:t>
                      </a:r>
                      <a:r>
                        <a:rPr lang="en-US" sz="900" dirty="0">
                          <a:effectLst/>
                        </a:rPr>
                        <a:t>r</a:t>
                      </a:r>
                      <a:r>
                        <a:rPr lang="en-US" sz="900" spc="-5" dirty="0">
                          <a:effectLst/>
                        </a:rPr>
                        <a:t>e</a:t>
                      </a:r>
                      <a:r>
                        <a:rPr lang="en-US" sz="900" dirty="0">
                          <a:effectLst/>
                        </a:rPr>
                        <a:t>a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6</a:t>
                      </a:r>
                      <a:r>
                        <a:rPr lang="en-US" sz="900">
                          <a:effectLst/>
                        </a:rPr>
                        <a:t>”</a:t>
                      </a:r>
                      <a:r>
                        <a:rPr lang="en-US" sz="900" spc="5">
                          <a:effectLst/>
                        </a:rPr>
                        <a:t> ×</a:t>
                      </a:r>
                      <a:r>
                        <a:rPr lang="en-US" sz="900" spc="-40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3</a:t>
                      </a:r>
                      <a:r>
                        <a:rPr lang="en-US" sz="900" spc="5">
                          <a:effectLst/>
                        </a:rPr>
                        <a:t>.</a:t>
                      </a:r>
                      <a:r>
                        <a:rPr lang="en-US" sz="900">
                          <a:effectLst/>
                        </a:rPr>
                        <a:t>6</a:t>
                      </a:r>
                      <a:r>
                        <a:rPr lang="en-US" sz="900" spc="-10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”(152</a:t>
                      </a:r>
                      <a:r>
                        <a:rPr lang="en-US" sz="900" spc="5">
                          <a:effectLst/>
                        </a:rPr>
                        <a:t>.</a:t>
                      </a:r>
                      <a:r>
                        <a:rPr lang="en-US" sz="900" spc="-15">
                          <a:effectLst/>
                        </a:rPr>
                        <a:t>4</a:t>
                      </a:r>
                      <a:r>
                        <a:rPr lang="en-US" sz="900">
                          <a:effectLst/>
                        </a:rPr>
                        <a:t>m</a:t>
                      </a:r>
                      <a:r>
                        <a:rPr lang="en-US" sz="900" spc="10">
                          <a:effectLst/>
                        </a:rPr>
                        <a:t>m × </a:t>
                      </a:r>
                      <a:r>
                        <a:rPr lang="en-US" sz="900" spc="-5">
                          <a:effectLst/>
                        </a:rPr>
                        <a:t>91</a:t>
                      </a:r>
                      <a:r>
                        <a:rPr lang="en-US" sz="900" spc="5">
                          <a:effectLst/>
                        </a:rPr>
                        <a:t>.</a:t>
                      </a:r>
                      <a:r>
                        <a:rPr lang="en-US" sz="900" spc="-15">
                          <a:effectLst/>
                        </a:rPr>
                        <a:t>4</a:t>
                      </a:r>
                      <a:r>
                        <a:rPr lang="en-US" sz="900">
                          <a:effectLst/>
                        </a:rPr>
                        <a:t>m</a:t>
                      </a:r>
                      <a:r>
                        <a:rPr lang="en-US" sz="900" spc="5">
                          <a:effectLst/>
                        </a:rPr>
                        <a:t>m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609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61340" marR="546735" algn="ctr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</a:pPr>
                      <a:r>
                        <a:rPr lang="en-US" sz="900" spc="-5" dirty="0">
                          <a:effectLst/>
                        </a:rPr>
                        <a:t>C</a:t>
                      </a:r>
                      <a:r>
                        <a:rPr lang="en-US" sz="900" dirty="0">
                          <a:effectLst/>
                        </a:rPr>
                        <a:t>o</a:t>
                      </a:r>
                      <a:r>
                        <a:rPr lang="en-US" sz="900" spc="5" dirty="0">
                          <a:effectLst/>
                        </a:rPr>
                        <a:t>l</a:t>
                      </a:r>
                      <a:r>
                        <a:rPr lang="en-US" sz="900" dirty="0">
                          <a:effectLst/>
                        </a:rPr>
                        <a:t>or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50000"/>
                        </a:lnSpc>
                        <a:spcBef>
                          <a:spcPts val="490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16.7M</a:t>
                      </a:r>
                      <a:r>
                        <a:rPr lang="en-US" sz="900" spc="10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C</a:t>
                      </a:r>
                      <a:r>
                        <a:rPr lang="en-US" sz="900">
                          <a:effectLst/>
                        </a:rPr>
                        <a:t>O</a:t>
                      </a:r>
                      <a:r>
                        <a:rPr lang="en-US" sz="900" spc="-5">
                          <a:effectLst/>
                        </a:rPr>
                        <a:t>L</a:t>
                      </a:r>
                      <a:r>
                        <a:rPr lang="en-US" sz="900">
                          <a:effectLst/>
                        </a:rPr>
                        <a:t>OR 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527436">
                <a:tc rowSpan="5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</a:t>
                      </a:r>
                      <a:r>
                        <a:rPr lang="en-US" sz="900" spc="5">
                          <a:effectLst/>
                        </a:rPr>
                        <a:t>n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rfa</a:t>
                      </a:r>
                      <a:r>
                        <a:rPr lang="en-US" sz="900" spc="5">
                          <a:effectLst/>
                        </a:rPr>
                        <a:t>c</a:t>
                      </a:r>
                      <a:r>
                        <a:rPr lang="en-US" sz="900">
                          <a:effectLst/>
                        </a:rPr>
                        <a:t>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302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spc="5" dirty="0">
                          <a:effectLst/>
                        </a:rPr>
                        <a:t>D</a:t>
                      </a:r>
                      <a:r>
                        <a:rPr lang="en-US" sz="900" spc="-30" dirty="0">
                          <a:effectLst/>
                        </a:rPr>
                        <a:t>A</a:t>
                      </a:r>
                      <a:r>
                        <a:rPr lang="en-US" sz="900" spc="10" dirty="0">
                          <a:effectLst/>
                        </a:rPr>
                        <a:t>T</a:t>
                      </a:r>
                      <a:r>
                        <a:rPr lang="en-US" sz="900" dirty="0">
                          <a:effectLst/>
                        </a:rPr>
                        <a:t>A</a:t>
                      </a:r>
                      <a:r>
                        <a:rPr lang="en-US" sz="900" spc="-10" dirty="0">
                          <a:effectLst/>
                        </a:rPr>
                        <a:t> T</a:t>
                      </a:r>
                      <a:r>
                        <a:rPr lang="en-US" sz="900" dirty="0">
                          <a:effectLst/>
                        </a:rPr>
                        <a:t>r</a:t>
                      </a:r>
                      <a:r>
                        <a:rPr lang="en-US" sz="900" spc="-5" dirty="0">
                          <a:effectLst/>
                        </a:rPr>
                        <a:t>a</a:t>
                      </a:r>
                      <a:r>
                        <a:rPr lang="en-US" sz="900" dirty="0">
                          <a:effectLst/>
                        </a:rPr>
                        <a:t>nsm</a:t>
                      </a:r>
                      <a:r>
                        <a:rPr lang="en-US" sz="900" spc="5" dirty="0">
                          <a:effectLst/>
                        </a:rPr>
                        <a:t>i</a:t>
                      </a:r>
                      <a:r>
                        <a:rPr lang="en-US" sz="900" spc="-5" dirty="0">
                          <a:effectLst/>
                        </a:rPr>
                        <a:t>ss</a:t>
                      </a:r>
                      <a:r>
                        <a:rPr lang="en-US" sz="900" spc="5" dirty="0">
                          <a:effectLst/>
                        </a:rPr>
                        <a:t>i</a:t>
                      </a:r>
                      <a:r>
                        <a:rPr lang="en-US" sz="900" dirty="0">
                          <a:effectLst/>
                        </a:rPr>
                        <a:t>on</a:t>
                      </a:r>
                      <a:r>
                        <a:rPr lang="en-US" sz="900" spc="-5" dirty="0">
                          <a:effectLst/>
                        </a:rPr>
                        <a:t> </a:t>
                      </a:r>
                      <a:r>
                        <a:rPr lang="en-US" sz="900" dirty="0">
                          <a:effectLst/>
                        </a:rPr>
                        <a:t>Me</a:t>
                      </a:r>
                      <a:r>
                        <a:rPr lang="en-US" sz="900" spc="-5" dirty="0">
                          <a:effectLst/>
                        </a:rPr>
                        <a:t>t</a:t>
                      </a:r>
                      <a:r>
                        <a:rPr lang="en-US" sz="900" dirty="0">
                          <a:effectLst/>
                        </a:rPr>
                        <a:t>hod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marR="954405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609600" algn="l"/>
                          <a:tab pos="635000" algn="l"/>
                        </a:tabLst>
                      </a:pPr>
                      <a:r>
                        <a:rPr lang="en-US" sz="900" spc="5">
                          <a:effectLst/>
                        </a:rPr>
                        <a:t>CNCS : RS-485 2WIRE</a:t>
                      </a:r>
                      <a:r>
                        <a:rPr lang="en-US" sz="900">
                          <a:effectLst/>
                        </a:rPr>
                        <a:t> </a:t>
                      </a:r>
                      <a:endParaRPr lang="ko-KR" sz="1000">
                        <a:effectLst/>
                      </a:endParaRPr>
                    </a:p>
                    <a:p>
                      <a:pPr marL="1016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LC</a:t>
                      </a:r>
                      <a:r>
                        <a:rPr lang="en-US" sz="900">
                          <a:effectLst/>
                        </a:rPr>
                        <a:t>D </a:t>
                      </a:r>
                      <a:r>
                        <a:rPr lang="en-US" sz="900" spc="5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ou</a:t>
                      </a:r>
                      <a:r>
                        <a:rPr lang="en-US" sz="900" spc="5">
                          <a:effectLst/>
                        </a:rPr>
                        <a:t>c</a:t>
                      </a:r>
                      <a:r>
                        <a:rPr lang="en-US" sz="900">
                          <a:effectLst/>
                        </a:rPr>
                        <a:t>h :</a:t>
                      </a:r>
                      <a:r>
                        <a:rPr lang="en-US" sz="900" spc="10">
                          <a:effectLst/>
                        </a:rPr>
                        <a:t> </a:t>
                      </a:r>
                      <a:r>
                        <a:rPr lang="en-US" sz="900" spc="-15">
                          <a:effectLst/>
                        </a:rPr>
                        <a:t>R</a:t>
                      </a:r>
                      <a:r>
                        <a:rPr lang="en-US" sz="900" spc="10">
                          <a:effectLst/>
                        </a:rPr>
                        <a:t>S</a:t>
                      </a:r>
                      <a:r>
                        <a:rPr lang="en-US" sz="900" spc="-5">
                          <a:effectLst/>
                        </a:rPr>
                        <a:t>-232C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3441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5778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D</a:t>
                      </a:r>
                      <a:r>
                        <a:rPr lang="en-US" sz="900" spc="-30">
                          <a:effectLst/>
                        </a:rPr>
                        <a:t>A</a:t>
                      </a:r>
                      <a:r>
                        <a:rPr lang="en-US" sz="900" spc="10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A</a:t>
                      </a:r>
                      <a:r>
                        <a:rPr lang="en-US" sz="900" spc="-10">
                          <a:effectLst/>
                        </a:rPr>
                        <a:t> T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nsm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 spc="-5">
                          <a:effectLst/>
                        </a:rPr>
                        <a:t>ss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on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pe</a:t>
                      </a:r>
                      <a:r>
                        <a:rPr lang="en-US" sz="900" spc="-20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marR="63500" algn="just">
                        <a:lnSpc>
                          <a:spcPct val="150000"/>
                        </a:lnSpc>
                        <a:spcBef>
                          <a:spcPts val="25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CNCS : MAX. 19,200 PS</a:t>
                      </a:r>
                      <a:r>
                        <a:rPr lang="en-US" sz="900">
                          <a:effectLst/>
                        </a:rPr>
                        <a:t> </a:t>
                      </a:r>
                      <a:endParaRPr lang="ko-KR" sz="1000">
                        <a:effectLst/>
                      </a:endParaRPr>
                    </a:p>
                    <a:p>
                      <a:pPr marL="101600" marR="127000" algn="just">
                        <a:lnSpc>
                          <a:spcPct val="150000"/>
                        </a:lnSpc>
                        <a:spcBef>
                          <a:spcPts val="2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LCD </a:t>
                      </a:r>
                      <a:r>
                        <a:rPr lang="en-US" sz="900" spc="5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ou</a:t>
                      </a:r>
                      <a:r>
                        <a:rPr lang="en-US" sz="900" spc="5">
                          <a:effectLst/>
                        </a:rPr>
                        <a:t>c</a:t>
                      </a:r>
                      <a:r>
                        <a:rPr lang="en-US" sz="900">
                          <a:effectLst/>
                        </a:rPr>
                        <a:t>h:</a:t>
                      </a:r>
                      <a:r>
                        <a:rPr lang="en-US" sz="900" spc="10">
                          <a:effectLst/>
                        </a:rPr>
                        <a:t> </a:t>
                      </a: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 spc="5">
                          <a:effectLst/>
                        </a:rPr>
                        <a:t>A</a:t>
                      </a:r>
                      <a:r>
                        <a:rPr lang="en-US" sz="900" spc="-20">
                          <a:effectLst/>
                        </a:rPr>
                        <a:t>X</a:t>
                      </a:r>
                      <a:r>
                        <a:rPr lang="en-US" sz="900">
                          <a:effectLst/>
                        </a:rPr>
                        <a:t>.</a:t>
                      </a:r>
                      <a:r>
                        <a:rPr lang="en-US" sz="900" spc="10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9,60</a:t>
                      </a:r>
                      <a:r>
                        <a:rPr lang="en-US" sz="900">
                          <a:effectLst/>
                        </a:rPr>
                        <a:t>0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10">
                          <a:effectLst/>
                        </a:rPr>
                        <a:t>BP</a:t>
                      </a:r>
                      <a:r>
                        <a:rPr lang="en-US" sz="900">
                          <a:effectLst/>
                        </a:rPr>
                        <a:t>S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609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D</a:t>
                      </a:r>
                      <a:r>
                        <a:rPr lang="en-US" sz="900">
                          <a:effectLst/>
                        </a:rPr>
                        <a:t>O</a:t>
                      </a:r>
                      <a:r>
                        <a:rPr lang="en-US" sz="900" spc="-5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R 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 spc="-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gnal</a:t>
                      </a:r>
                      <a:r>
                        <a:rPr lang="en-US" sz="900" spc="-5">
                          <a:effectLst/>
                        </a:rPr>
                        <a:t> I</a:t>
                      </a:r>
                      <a:r>
                        <a:rPr lang="en-US" sz="900">
                          <a:effectLst/>
                        </a:rPr>
                        <a:t>nput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50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T</a:t>
                      </a:r>
                      <a:r>
                        <a:rPr lang="en-US" sz="900" spc="-5" dirty="0">
                          <a:effectLst/>
                        </a:rPr>
                        <a:t>ra</a:t>
                      </a:r>
                      <a:r>
                        <a:rPr lang="en-US" sz="900" dirty="0">
                          <a:effectLst/>
                        </a:rPr>
                        <a:t>in</a:t>
                      </a:r>
                      <a:r>
                        <a:rPr lang="en-US" sz="900" spc="5" dirty="0">
                          <a:effectLst/>
                        </a:rPr>
                        <a:t> S</a:t>
                      </a:r>
                      <a:r>
                        <a:rPr lang="en-US" sz="900" dirty="0">
                          <a:effectLst/>
                        </a:rPr>
                        <a:t>ig</a:t>
                      </a:r>
                      <a:r>
                        <a:rPr lang="en-US" sz="900" spc="-5" dirty="0">
                          <a:effectLst/>
                        </a:rPr>
                        <a:t>na</a:t>
                      </a:r>
                      <a:r>
                        <a:rPr lang="en-US" sz="900" dirty="0">
                          <a:effectLst/>
                        </a:rPr>
                        <a:t>l</a:t>
                      </a:r>
                      <a:r>
                        <a:rPr lang="en-US" sz="900" spc="-5" dirty="0">
                          <a:effectLst/>
                        </a:rPr>
                        <a:t> D</a:t>
                      </a:r>
                      <a:r>
                        <a:rPr lang="en-US" sz="900" spc="5" dirty="0">
                          <a:effectLst/>
                        </a:rPr>
                        <a:t>A</a:t>
                      </a:r>
                      <a:r>
                        <a:rPr lang="en-US" sz="900" spc="-10" dirty="0">
                          <a:effectLst/>
                        </a:rPr>
                        <a:t>T</a:t>
                      </a:r>
                      <a:r>
                        <a:rPr lang="en-US" sz="900" dirty="0">
                          <a:effectLst/>
                        </a:rPr>
                        <a:t>A</a:t>
                      </a:r>
                      <a:r>
                        <a:rPr lang="en-US" sz="900" spc="10" dirty="0">
                          <a:effectLst/>
                        </a:rPr>
                        <a:t> </a:t>
                      </a:r>
                      <a:r>
                        <a:rPr lang="en-US" sz="900" spc="-5" dirty="0">
                          <a:effectLst/>
                        </a:rPr>
                        <a:t>(D</a:t>
                      </a:r>
                      <a:r>
                        <a:rPr lang="en-US" sz="900" dirty="0">
                          <a:effectLst/>
                        </a:rPr>
                        <a:t>C </a:t>
                      </a:r>
                      <a:r>
                        <a:rPr lang="en-US" sz="900" spc="-5" dirty="0">
                          <a:effectLst/>
                        </a:rPr>
                        <a:t>10</a:t>
                      </a:r>
                      <a:r>
                        <a:rPr lang="en-US" sz="900" spc="-15" dirty="0">
                          <a:effectLst/>
                        </a:rPr>
                        <a:t>0</a:t>
                      </a:r>
                      <a:r>
                        <a:rPr lang="en-US" sz="900" spc="5" dirty="0">
                          <a:effectLst/>
                        </a:rPr>
                        <a:t>V</a:t>
                      </a:r>
                      <a:r>
                        <a:rPr lang="en-US" sz="900" dirty="0">
                          <a:effectLst/>
                        </a:rPr>
                        <a:t>)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609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ct val="150000"/>
                        </a:lnSpc>
                        <a:spcBef>
                          <a:spcPts val="14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Odo</a:t>
                      </a:r>
                      <a:r>
                        <a:rPr lang="en-US" sz="900" spc="5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ete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 spc="-10">
                          <a:effectLst/>
                        </a:rPr>
                        <a:t>S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gn</a:t>
                      </a:r>
                      <a:r>
                        <a:rPr lang="en-US" sz="900" spc="-1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l</a:t>
                      </a:r>
                      <a:r>
                        <a:rPr lang="en-US" sz="900" spc="10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nput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 spc="-5">
                          <a:effectLst/>
                        </a:rPr>
                        <a:t>u</a:t>
                      </a:r>
                      <a:r>
                        <a:rPr lang="en-US" sz="900">
                          <a:effectLst/>
                        </a:rPr>
                        <a:t>l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e</a:t>
                      </a:r>
                      <a:r>
                        <a:rPr lang="en-US" sz="900" spc="-10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ig</a:t>
                      </a:r>
                      <a:r>
                        <a:rPr lang="en-US" sz="900" spc="-5">
                          <a:effectLst/>
                        </a:rPr>
                        <a:t>na</a:t>
                      </a:r>
                      <a:r>
                        <a:rPr lang="en-US" sz="900">
                          <a:effectLst/>
                        </a:rPr>
                        <a:t>l</a:t>
                      </a:r>
                      <a:r>
                        <a:rPr lang="en-US" sz="900" spc="-5">
                          <a:effectLst/>
                        </a:rPr>
                        <a:t> (D</a:t>
                      </a:r>
                      <a:r>
                        <a:rPr lang="en-US" sz="900">
                          <a:effectLst/>
                        </a:rPr>
                        <a:t>C </a:t>
                      </a:r>
                      <a:r>
                        <a:rPr lang="en-US" sz="900" spc="-5">
                          <a:effectLst/>
                        </a:rPr>
                        <a:t>100</a:t>
                      </a:r>
                      <a:r>
                        <a:rPr lang="en-US" sz="900" spc="5">
                          <a:effectLst/>
                        </a:rPr>
                        <a:t>V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50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905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spc="-10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5">
                          <a:effectLst/>
                        </a:rPr>
                        <a:t>a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n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Loc</a:t>
                      </a:r>
                      <a:r>
                        <a:rPr lang="en-US" sz="900" spc="-5">
                          <a:effectLst/>
                        </a:rPr>
                        <a:t>at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n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Si</a:t>
                      </a:r>
                      <a:r>
                        <a:rPr lang="en-US" sz="900" spc="-10">
                          <a:effectLst/>
                        </a:rPr>
                        <a:t>g</a:t>
                      </a:r>
                      <a:r>
                        <a:rPr lang="en-US" sz="900">
                          <a:effectLst/>
                        </a:rPr>
                        <a:t>nal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 spc="-10">
                          <a:effectLst/>
                        </a:rPr>
                        <a:t>n</a:t>
                      </a:r>
                      <a:r>
                        <a:rPr lang="en-US" sz="900">
                          <a:effectLst/>
                        </a:rPr>
                        <a:t>put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900" spc="-5">
                          <a:effectLst/>
                        </a:rPr>
                        <a:t>R</a:t>
                      </a:r>
                      <a:r>
                        <a:rPr lang="fr-FR" sz="900" spc="5">
                          <a:effectLst/>
                        </a:rPr>
                        <a:t>S</a:t>
                      </a:r>
                      <a:r>
                        <a:rPr lang="fr-FR" sz="900" spc="-5">
                          <a:effectLst/>
                        </a:rPr>
                        <a:t>-48</a:t>
                      </a:r>
                      <a:r>
                        <a:rPr lang="fr-FR" sz="900">
                          <a:effectLst/>
                        </a:rPr>
                        <a:t>5 T</a:t>
                      </a:r>
                      <a:r>
                        <a:rPr lang="fr-FR" sz="900" spc="-5">
                          <a:effectLst/>
                        </a:rPr>
                        <a:t>ra</a:t>
                      </a:r>
                      <a:r>
                        <a:rPr lang="fr-FR" sz="900">
                          <a:effectLst/>
                        </a:rPr>
                        <a:t>in</a:t>
                      </a:r>
                      <a:r>
                        <a:rPr lang="fr-FR" sz="900" spc="5">
                          <a:effectLst/>
                        </a:rPr>
                        <a:t> </a:t>
                      </a:r>
                      <a:r>
                        <a:rPr lang="fr-FR" sz="900" spc="-5">
                          <a:effectLst/>
                        </a:rPr>
                        <a:t>Lo</a:t>
                      </a:r>
                      <a:r>
                        <a:rPr lang="fr-FR" sz="900" spc="5">
                          <a:effectLst/>
                        </a:rPr>
                        <a:t>c</a:t>
                      </a:r>
                      <a:r>
                        <a:rPr lang="fr-FR" sz="900" spc="-15">
                          <a:effectLst/>
                        </a:rPr>
                        <a:t>a</a:t>
                      </a:r>
                      <a:r>
                        <a:rPr lang="fr-FR" sz="900" spc="5">
                          <a:effectLst/>
                        </a:rPr>
                        <a:t>t</a:t>
                      </a:r>
                      <a:r>
                        <a:rPr lang="fr-FR" sz="900">
                          <a:effectLst/>
                        </a:rPr>
                        <a:t>ion </a:t>
                      </a:r>
                      <a:r>
                        <a:rPr lang="fr-FR" sz="900" spc="-5">
                          <a:effectLst/>
                        </a:rPr>
                        <a:t>Da</a:t>
                      </a:r>
                      <a:r>
                        <a:rPr lang="fr-FR" sz="900" spc="5">
                          <a:effectLst/>
                        </a:rPr>
                        <a:t>t</a:t>
                      </a:r>
                      <a:r>
                        <a:rPr lang="fr-FR" sz="900">
                          <a:effectLst/>
                        </a:rPr>
                        <a:t>a</a:t>
                      </a:r>
                      <a:r>
                        <a:rPr lang="fr-FR" sz="900" spc="-10">
                          <a:effectLst/>
                        </a:rPr>
                        <a:t> S</a:t>
                      </a:r>
                      <a:r>
                        <a:rPr lang="fr-FR" sz="900">
                          <a:effectLst/>
                        </a:rPr>
                        <a:t>i</a:t>
                      </a:r>
                      <a:r>
                        <a:rPr lang="fr-FR" sz="900" spc="-15">
                          <a:effectLst/>
                        </a:rPr>
                        <a:t>g</a:t>
                      </a:r>
                      <a:r>
                        <a:rPr lang="fr-FR" sz="900" spc="-5">
                          <a:effectLst/>
                        </a:rPr>
                        <a:t>na</a:t>
                      </a:r>
                      <a:r>
                        <a:rPr lang="fr-FR" sz="900">
                          <a:effectLst/>
                        </a:rPr>
                        <a:t>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609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Weight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113665">
                        <a:lnSpc>
                          <a:spcPct val="150000"/>
                        </a:lnSpc>
                        <a:spcBef>
                          <a:spcPts val="470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5 k</a:t>
                      </a:r>
                      <a:r>
                        <a:rPr lang="en-US" sz="900">
                          <a:effectLst/>
                        </a:rPr>
                        <a:t>g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4419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Operating Temperature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0°C ~ +45°C (LCD: 0°C ~ +40°C)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286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Storage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113665" algn="just">
                        <a:lnSpc>
                          <a:spcPct val="150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-35°C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09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Humidity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113665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</a:pPr>
                      <a:r>
                        <a:rPr lang="en-US" sz="900" spc="5" dirty="0">
                          <a:effectLst/>
                        </a:rPr>
                        <a:t>10</a:t>
                      </a:r>
                      <a:r>
                        <a:rPr lang="en-US" sz="900" dirty="0">
                          <a:effectLst/>
                        </a:rPr>
                        <a:t>%</a:t>
                      </a:r>
                      <a:r>
                        <a:rPr lang="en-US" sz="900" spc="10" dirty="0">
                          <a:effectLst/>
                        </a:rPr>
                        <a:t> </a:t>
                      </a:r>
                      <a:r>
                        <a:rPr lang="en-US" sz="900" dirty="0">
                          <a:effectLst/>
                        </a:rPr>
                        <a:t>~</a:t>
                      </a:r>
                      <a:r>
                        <a:rPr lang="en-US" sz="900" spc="-5" dirty="0">
                          <a:effectLst/>
                        </a:rPr>
                        <a:t> </a:t>
                      </a:r>
                      <a:r>
                        <a:rPr lang="en-US" sz="900" spc="5" dirty="0">
                          <a:effectLst/>
                        </a:rPr>
                        <a:t>95</a:t>
                      </a:r>
                      <a:r>
                        <a:rPr lang="en-US" sz="900" dirty="0">
                          <a:effectLst/>
                        </a:rPr>
                        <a:t>%</a:t>
                      </a:r>
                      <a:r>
                        <a:rPr lang="en-US" sz="900" spc="5" dirty="0">
                          <a:effectLst/>
                        </a:rPr>
                        <a:t> </a:t>
                      </a:r>
                      <a:r>
                        <a:rPr lang="en-US" sz="900" spc="-10" dirty="0">
                          <a:effectLst/>
                        </a:rPr>
                        <a:t>(</a:t>
                      </a:r>
                      <a:r>
                        <a:rPr lang="en-US" sz="900" spc="5" dirty="0">
                          <a:effectLst/>
                        </a:rPr>
                        <a:t>a</a:t>
                      </a:r>
                      <a:r>
                        <a:rPr lang="en-US" sz="900" dirty="0">
                          <a:effectLst/>
                        </a:rPr>
                        <a:t>t</a:t>
                      </a:r>
                      <a:r>
                        <a:rPr lang="en-US" sz="900" spc="5" dirty="0">
                          <a:effectLst/>
                        </a:rPr>
                        <a:t> </a:t>
                      </a:r>
                      <a:r>
                        <a:rPr lang="en-US" sz="900" spc="-10" dirty="0">
                          <a:effectLst/>
                        </a:rPr>
                        <a:t>+</a:t>
                      </a:r>
                      <a:r>
                        <a:rPr lang="en-US" sz="900" spc="5" dirty="0">
                          <a:effectLst/>
                        </a:rPr>
                        <a:t>3</a:t>
                      </a:r>
                      <a:r>
                        <a:rPr lang="en-US" sz="900" spc="10" dirty="0">
                          <a:effectLst/>
                        </a:rPr>
                        <a:t>5</a:t>
                      </a:r>
                      <a:r>
                        <a:rPr lang="en-US" sz="900" dirty="0">
                          <a:effectLst/>
                        </a:rPr>
                        <a:t>°,</a:t>
                      </a:r>
                      <a:r>
                        <a:rPr lang="en-US" sz="900" spc="5" dirty="0">
                          <a:effectLst/>
                        </a:rPr>
                        <a:t> </a:t>
                      </a:r>
                      <a:r>
                        <a:rPr lang="en-US" sz="900" dirty="0">
                          <a:effectLst/>
                        </a:rPr>
                        <a:t>N</a:t>
                      </a:r>
                      <a:r>
                        <a:rPr lang="en-US" sz="900" spc="-10" dirty="0">
                          <a:effectLst/>
                        </a:rPr>
                        <a:t>o</a:t>
                      </a:r>
                      <a:r>
                        <a:rPr lang="en-US" sz="900" spc="5" dirty="0">
                          <a:effectLst/>
                        </a:rPr>
                        <a:t>n</a:t>
                      </a:r>
                      <a:r>
                        <a:rPr lang="en-US" sz="900" dirty="0">
                          <a:effectLst/>
                        </a:rPr>
                        <a:t> Co</a:t>
                      </a:r>
                      <a:r>
                        <a:rPr lang="en-US" sz="900" spc="-5" dirty="0">
                          <a:effectLst/>
                        </a:rPr>
                        <a:t>n</a:t>
                      </a:r>
                      <a:r>
                        <a:rPr lang="en-US" sz="900" spc="5" dirty="0">
                          <a:effectLst/>
                        </a:rPr>
                        <a:t>den</a:t>
                      </a:r>
                      <a:r>
                        <a:rPr lang="en-US" sz="900" spc="-5" dirty="0">
                          <a:effectLst/>
                        </a:rPr>
                        <a:t>s</a:t>
                      </a:r>
                      <a:r>
                        <a:rPr lang="en-US" sz="900" spc="5" dirty="0">
                          <a:effectLst/>
                        </a:rPr>
                        <a:t>ing</a:t>
                      </a:r>
                      <a:r>
                        <a:rPr lang="en-US" sz="900" dirty="0">
                          <a:effectLst/>
                        </a:rPr>
                        <a:t>)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49" name="Picture 1" descr="C:\Users\jds\Downloads\CCP Screen\Home.BMP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68760" y="1484784"/>
            <a:ext cx="180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jds\Downloads\CCP Screen\Check-1.BMP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7052" y="2780928"/>
            <a:ext cx="180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jds\Downloads\CCP Screen\Check-MA.BMP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78384" y="4077072"/>
            <a:ext cx="180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jds\Downloads\CCP Screen\Train.BMP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78384" y="5556849"/>
            <a:ext cx="180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115122" y="5789072"/>
            <a:ext cx="7992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*Fast and accurate vehicle information transmission by convenient UI (User Interface) display configuration.</a:t>
            </a:r>
            <a:r>
              <a:rPr lang="ko-KR" altLang="en-US" sz="1400" dirty="0" smtClean="0"/>
              <a:t>  </a:t>
            </a:r>
            <a:endParaRPr lang="ko-KR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312 0.0787 L 0.30312 0.00092 C 0.30312 -0.03403 0.33767 -0.07662 0.36597 -0.07662 L 0.42899 -0.07662 " pathEditMode="relative" rAng="0" ptsTypes="FfFF">
                                      <p:cBhvr>
                                        <p:cTn id="6" dur="2000" fill="hold"/>
                                        <p:tgtEl>
                                          <p:spTgt spid="20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85" y="-777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434 -0.04699 L 0.30434 0.03657 C 0.30434 0.0743 0.33871 0.12106 0.36701 0.12106 L 0.4302 0.12106 " pathEditMode="relative" rAng="0" ptsTypes="FfFF">
                                      <p:cBhvr>
                                        <p:cTn id="8" dur="2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85" y="8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5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889 -0.05787 L 0.23889 -0.13056 C 0.23889 -0.16296 0.27986 -0.20278 0.31372 -0.20278 L 0.38854 -0.20278 " pathEditMode="relative" rAng="0" ptsTypes="FfFF">
                                      <p:cBhvr>
                                        <p:cTn id="11" dur="2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83" y="-7245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3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114 -0.30486 L 0.24114 -0.2419 C 0.24114 -0.21366 0.28003 -0.1787 0.31197 -0.1787 L 0.38281 -0.1787 " pathEditMode="relative" rAng="0" ptsTypes="FfFF">
                                      <p:cBhvr>
                                        <p:cTn id="13" dur="2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83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smtClean="0">
                <a:latin typeface="Calibri" pitchFamily="34" charset="0"/>
              </a:rPr>
              <a:t>Passenger Information Display (PID)</a:t>
            </a:r>
            <a:endParaRPr lang="ko-KR" altLang="en-US" b="1" dirty="0">
              <a:latin typeface="Calibri" pitchFamily="34" charset="0"/>
            </a:endParaRPr>
          </a:p>
        </p:txBody>
      </p:sp>
      <p:pic>
        <p:nvPicPr>
          <p:cNvPr id="5" name="내용 개체 틀 4" descr="PID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95536" y="1412776"/>
            <a:ext cx="2666510" cy="2044824"/>
          </a:xfrm>
        </p:spPr>
      </p:pic>
      <p:pic>
        <p:nvPicPr>
          <p:cNvPr id="6" name="그림 5" descr="PID(매립)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7" y="3861048"/>
            <a:ext cx="2623290" cy="1872208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8" name="직사각형 7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" name="그림 8" descr="영문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10" name="그림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직사각형 10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14532"/>
              </p:ext>
            </p:extLst>
          </p:nvPr>
        </p:nvGraphicFramePr>
        <p:xfrm>
          <a:off x="3491880" y="1556792"/>
          <a:ext cx="5226695" cy="342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0523"/>
                <a:gridCol w="3446172"/>
              </a:tblGrid>
              <a:tr h="193675">
                <a:tc>
                  <a:txBody>
                    <a:bodyPr/>
                    <a:lstStyle/>
                    <a:p>
                      <a:pPr marL="52070" marR="63500" algn="ctr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It</a:t>
                      </a:r>
                      <a:r>
                        <a:rPr lang="en-US" sz="1000" spc="5" dirty="0">
                          <a:effectLst/>
                        </a:rPr>
                        <a:t>e</a:t>
                      </a:r>
                      <a:r>
                        <a:rPr lang="en-US" sz="1000" dirty="0">
                          <a:effectLst/>
                        </a:rPr>
                        <a:t>m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6545" marR="1419225" algn="ctr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Sp</a:t>
                      </a:r>
                      <a:r>
                        <a:rPr lang="en-US" sz="1000" spc="5">
                          <a:effectLst/>
                        </a:rPr>
                        <a:t>ec</a:t>
                      </a:r>
                      <a:r>
                        <a:rPr lang="en-US" sz="1000">
                          <a:effectLst/>
                        </a:rPr>
                        <a:t>if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 spc="-10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ti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n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93675">
                <a:tc>
                  <a:txBody>
                    <a:bodyPr/>
                    <a:lstStyle/>
                    <a:p>
                      <a:pPr marL="63500">
                        <a:lnSpc>
                          <a:spcPct val="15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Si</a:t>
                      </a:r>
                      <a:r>
                        <a:rPr lang="en-US" sz="1000" spc="5">
                          <a:effectLst/>
                        </a:rPr>
                        <a:t>g</a:t>
                      </a:r>
                      <a:r>
                        <a:rPr lang="en-US" sz="1000">
                          <a:effectLst/>
                        </a:rPr>
                        <a:t>n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l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Ha</a:t>
                      </a:r>
                      <a:r>
                        <a:rPr lang="en-US" sz="1000" spc="-10">
                          <a:effectLst/>
                        </a:rPr>
                        <a:t>n</a:t>
                      </a:r>
                      <a:r>
                        <a:rPr lang="en-US" sz="1000">
                          <a:effectLst/>
                        </a:rPr>
                        <a:t>d</a:t>
                      </a:r>
                      <a:r>
                        <a:rPr lang="en-US" sz="1000" spc="5">
                          <a:effectLst/>
                        </a:rPr>
                        <a:t>l</a:t>
                      </a:r>
                      <a:r>
                        <a:rPr lang="en-US" sz="1000">
                          <a:effectLst/>
                        </a:rPr>
                        <a:t>i</a:t>
                      </a:r>
                      <a:r>
                        <a:rPr lang="en-US" sz="1000" spc="5">
                          <a:effectLst/>
                        </a:rPr>
                        <a:t>n</a:t>
                      </a:r>
                      <a:r>
                        <a:rPr lang="en-US" sz="1000">
                          <a:effectLst/>
                        </a:rPr>
                        <a:t>g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Me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-10">
                          <a:effectLst/>
                        </a:rPr>
                        <a:t>h</a:t>
                      </a:r>
                      <a:r>
                        <a:rPr lang="en-US" sz="1000">
                          <a:effectLst/>
                        </a:rPr>
                        <a:t>od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FPGA </a:t>
                      </a:r>
                      <a:r>
                        <a:rPr lang="en-US" sz="1000" spc="5">
                          <a:effectLst/>
                        </a:rPr>
                        <a:t>con</a:t>
                      </a:r>
                      <a:r>
                        <a:rPr lang="en-US" sz="1000">
                          <a:effectLst/>
                        </a:rPr>
                        <a:t>tr</a:t>
                      </a:r>
                      <a:r>
                        <a:rPr lang="en-US" sz="1000" spc="-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1770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Transmission Speed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spc="5">
                          <a:effectLst/>
                        </a:rPr>
                        <a:t>0</a:t>
                      </a:r>
                      <a:r>
                        <a:rPr lang="en-US" sz="1000">
                          <a:effectLst/>
                        </a:rPr>
                        <a:t>.6</a:t>
                      </a:r>
                      <a:r>
                        <a:rPr lang="en-US" sz="1000" spc="215">
                          <a:effectLst/>
                        </a:rPr>
                        <a:t> </a:t>
                      </a:r>
                      <a:r>
                        <a:rPr lang="ko-KR" sz="1000">
                          <a:effectLst/>
                        </a:rPr>
                        <a:t>～</a:t>
                      </a:r>
                      <a:r>
                        <a:rPr lang="ko-KR" sz="1000" spc="145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1</a:t>
                      </a:r>
                      <a:r>
                        <a:rPr lang="en-US" sz="1000">
                          <a:effectLst/>
                        </a:rPr>
                        <a:t>.</a:t>
                      </a:r>
                      <a:r>
                        <a:rPr lang="en-US" sz="1000" spc="5">
                          <a:effectLst/>
                        </a:rPr>
                        <a:t>5</a:t>
                      </a:r>
                      <a:r>
                        <a:rPr lang="en-US" sz="1000" spc="-5">
                          <a:effectLst/>
                        </a:rPr>
                        <a:t>G</a:t>
                      </a:r>
                      <a:r>
                        <a:rPr lang="en-US" sz="1000" spc="-10">
                          <a:effectLst/>
                        </a:rPr>
                        <a:t>b</a:t>
                      </a:r>
                      <a:r>
                        <a:rPr lang="en-US" sz="1000" spc="5">
                          <a:effectLst/>
                        </a:rPr>
                        <a:t>p</a:t>
                      </a:r>
                      <a:r>
                        <a:rPr lang="en-US" sz="1000">
                          <a:effectLst/>
                        </a:rPr>
                        <a:t>s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3675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Digital Video Input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Bef>
                          <a:spcPts val="23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BNC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onnec</a:t>
                      </a:r>
                      <a:r>
                        <a:rPr lang="en-US" sz="1000" spc="-1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r </a:t>
                      </a:r>
                      <a:r>
                        <a:rPr lang="en-US" sz="1000" spc="5">
                          <a:effectLst/>
                        </a:rPr>
                        <a:t>1</a:t>
                      </a:r>
                      <a:r>
                        <a:rPr lang="en-US" sz="1000">
                          <a:effectLst/>
                        </a:rPr>
                        <a:t>P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 spc="-10">
                          <a:effectLst/>
                        </a:rPr>
                        <a:t>r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3675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Digital Video Output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BNC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onnec</a:t>
                      </a:r>
                      <a:r>
                        <a:rPr lang="en-US" sz="1000" spc="-1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r </a:t>
                      </a:r>
                      <a:r>
                        <a:rPr lang="en-US" sz="1000" spc="5">
                          <a:effectLst/>
                        </a:rPr>
                        <a:t>1</a:t>
                      </a:r>
                      <a:r>
                        <a:rPr lang="en-US" sz="1000">
                          <a:effectLst/>
                        </a:rPr>
                        <a:t>P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 spc="-10">
                          <a:effectLst/>
                        </a:rPr>
                        <a:t>r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1770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Input Power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190500" algn="just">
                        <a:lnSpc>
                          <a:spcPct val="15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AC2</a:t>
                      </a:r>
                      <a:r>
                        <a:rPr lang="en-US" sz="1000" spc="5">
                          <a:effectLst/>
                        </a:rPr>
                        <a:t>30</a:t>
                      </a:r>
                      <a:r>
                        <a:rPr lang="en-US" sz="1000">
                          <a:effectLst/>
                        </a:rPr>
                        <a:t>V(AC </a:t>
                      </a:r>
                      <a:r>
                        <a:rPr lang="en-US" sz="1000" spc="-10">
                          <a:effectLst/>
                        </a:rPr>
                        <a:t>1</a:t>
                      </a:r>
                      <a:r>
                        <a:rPr lang="en-US" sz="1000" spc="5">
                          <a:effectLst/>
                        </a:rPr>
                        <a:t>80</a:t>
                      </a:r>
                      <a:r>
                        <a:rPr lang="en-US" sz="1000">
                          <a:effectLst/>
                        </a:rPr>
                        <a:t>V~</a:t>
                      </a:r>
                      <a:r>
                        <a:rPr lang="en-US" sz="1000" spc="-5">
                          <a:effectLst/>
                        </a:rPr>
                        <a:t>2</a:t>
                      </a:r>
                      <a:r>
                        <a:rPr lang="en-US" sz="1000" spc="5">
                          <a:effectLst/>
                        </a:rPr>
                        <a:t>60</a:t>
                      </a:r>
                      <a:r>
                        <a:rPr lang="en-US" sz="1000">
                          <a:effectLst/>
                        </a:rPr>
                        <a:t>V)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3675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Power Load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Bef>
                          <a:spcPts val="230"/>
                        </a:spcBef>
                        <a:spcAft>
                          <a:spcPts val="0"/>
                        </a:spcAft>
                      </a:pPr>
                      <a:r>
                        <a:rPr lang="en-US" sz="1000" spc="-20" dirty="0">
                          <a:effectLst/>
                        </a:rPr>
                        <a:t>M</a:t>
                      </a:r>
                      <a:r>
                        <a:rPr lang="en-US" sz="1000" spc="15" dirty="0">
                          <a:effectLst/>
                        </a:rPr>
                        <a:t>a</a:t>
                      </a:r>
                      <a:r>
                        <a:rPr lang="en-US" sz="1000" spc="-5" dirty="0">
                          <a:effectLst/>
                        </a:rPr>
                        <a:t>x</a:t>
                      </a:r>
                      <a:r>
                        <a:rPr lang="en-US" sz="1000" dirty="0">
                          <a:effectLst/>
                        </a:rPr>
                        <a:t>.</a:t>
                      </a:r>
                      <a:r>
                        <a:rPr lang="en-US" sz="1000" spc="5" dirty="0">
                          <a:effectLst/>
                        </a:rPr>
                        <a:t> 12</a:t>
                      </a:r>
                      <a:r>
                        <a:rPr lang="en-US" sz="1000" spc="-20" dirty="0">
                          <a:effectLst/>
                        </a:rPr>
                        <a:t>5</a:t>
                      </a:r>
                      <a:r>
                        <a:rPr lang="en-US" sz="1000" dirty="0">
                          <a:effectLst/>
                        </a:rPr>
                        <a:t>W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3675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Insulation Resistance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spc="5">
                          <a:effectLst/>
                        </a:rPr>
                        <a:t>500</a:t>
                      </a:r>
                      <a:r>
                        <a:rPr lang="en-US" sz="1000">
                          <a:effectLst/>
                        </a:rPr>
                        <a:t>V,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 spc="-10">
                          <a:effectLst/>
                        </a:rPr>
                        <a:t>5</a:t>
                      </a:r>
                      <a:r>
                        <a:rPr lang="en-US" sz="1000" spc="5">
                          <a:effectLst/>
                        </a:rPr>
                        <a:t>0</a:t>
                      </a:r>
                      <a:r>
                        <a:rPr lang="en-US" sz="1000" spc="-15">
                          <a:effectLst/>
                        </a:rPr>
                        <a:t>M</a:t>
                      </a:r>
                      <a:r>
                        <a:rPr lang="en-US" sz="1000">
                          <a:effectLst/>
                        </a:rPr>
                        <a:t>Ω</a:t>
                      </a:r>
                      <a:r>
                        <a:rPr lang="en-US" sz="1000" spc="155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b</a:t>
                      </a:r>
                      <a:r>
                        <a:rPr lang="en-US" sz="1000">
                          <a:effectLst/>
                        </a:rPr>
                        <a:t>y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insul</a:t>
                      </a:r>
                      <a:r>
                        <a:rPr lang="en-US" sz="1000" spc="-10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n</a:t>
                      </a:r>
                      <a:r>
                        <a:rPr lang="en-US" sz="1000" spc="5">
                          <a:effectLst/>
                        </a:rPr>
                        <a:t> o</a:t>
                      </a:r>
                      <a:r>
                        <a:rPr lang="en-US" sz="1000" spc="-10">
                          <a:effectLst/>
                        </a:rPr>
                        <a:t>h</a:t>
                      </a:r>
                      <a:r>
                        <a:rPr lang="en-US" sz="1000" spc="5">
                          <a:effectLst/>
                        </a:rPr>
                        <a:t>mme</a:t>
                      </a:r>
                      <a:r>
                        <a:rPr lang="en-US" sz="1000" spc="-1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e</a:t>
                      </a:r>
                      <a:r>
                        <a:rPr lang="en-US" sz="1000">
                          <a:effectLst/>
                        </a:rPr>
                        <a:t>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1770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Dielectric strength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AC </a:t>
                      </a:r>
                      <a:r>
                        <a:rPr lang="en-US" sz="1000" spc="5">
                          <a:effectLst/>
                        </a:rPr>
                        <a:t>1200</a:t>
                      </a:r>
                      <a:r>
                        <a:rPr lang="en-US" sz="1000">
                          <a:effectLst/>
                        </a:rPr>
                        <a:t>V</a:t>
                      </a:r>
                      <a:r>
                        <a:rPr lang="en-US" sz="1000" spc="-10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60</a:t>
                      </a:r>
                      <a:r>
                        <a:rPr lang="en-US" sz="1000">
                          <a:effectLst/>
                        </a:rPr>
                        <a:t>Hz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 spc="-10">
                          <a:effectLst/>
                        </a:rPr>
                        <a:t>w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hi</a:t>
                      </a:r>
                      <a:r>
                        <a:rPr lang="en-US" sz="1000">
                          <a:effectLst/>
                        </a:rPr>
                        <a:t>n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1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min</a:t>
                      </a:r>
                      <a:r>
                        <a:rPr lang="en-US" sz="1000">
                          <a:effectLst/>
                        </a:rPr>
                        <a:t>.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3675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Operating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spc="5">
                          <a:effectLst/>
                        </a:rPr>
                        <a:t>0</a:t>
                      </a:r>
                      <a:r>
                        <a:rPr lang="en-US" sz="1000">
                          <a:effectLst/>
                        </a:rPr>
                        <a:t>°</a:t>
                      </a:r>
                      <a:r>
                        <a:rPr lang="en-US" sz="1000" spc="21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~</a:t>
                      </a:r>
                      <a:r>
                        <a:rPr lang="en-US" sz="1000" spc="155">
                          <a:effectLst/>
                        </a:rPr>
                        <a:t> </a:t>
                      </a:r>
                      <a:r>
                        <a:rPr lang="en-US" sz="1000" spc="-10">
                          <a:effectLst/>
                        </a:rPr>
                        <a:t>+</a:t>
                      </a:r>
                      <a:r>
                        <a:rPr lang="en-US" sz="1000" spc="5">
                          <a:effectLst/>
                        </a:rPr>
                        <a:t>45</a:t>
                      </a:r>
                      <a:r>
                        <a:rPr lang="en-US" sz="1000">
                          <a:effectLst/>
                        </a:rPr>
                        <a:t>°C (LCD: </a:t>
                      </a:r>
                      <a:r>
                        <a:rPr lang="en-US" sz="1000" spc="5">
                          <a:effectLst/>
                        </a:rPr>
                        <a:t>0</a:t>
                      </a:r>
                      <a:r>
                        <a:rPr lang="en-US" sz="1000">
                          <a:effectLst/>
                        </a:rPr>
                        <a:t>°</a:t>
                      </a:r>
                      <a:r>
                        <a:rPr lang="en-US" sz="1000" spc="21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~</a:t>
                      </a:r>
                      <a:r>
                        <a:rPr lang="en-US" sz="1000" spc="155">
                          <a:effectLst/>
                        </a:rPr>
                        <a:t> </a:t>
                      </a:r>
                      <a:r>
                        <a:rPr lang="en-US" sz="1000" spc="-10">
                          <a:effectLst/>
                        </a:rPr>
                        <a:t>+</a:t>
                      </a:r>
                      <a:r>
                        <a:rPr lang="en-US" sz="1000" spc="5">
                          <a:effectLst/>
                        </a:rPr>
                        <a:t>40</a:t>
                      </a:r>
                      <a:r>
                        <a:rPr lang="en-US" sz="1000">
                          <a:effectLst/>
                        </a:rPr>
                        <a:t>°C)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3675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Storage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-35°C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3675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Relative Humidity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</a:pPr>
                      <a:r>
                        <a:rPr lang="en-US" sz="1000" spc="5">
                          <a:effectLst/>
                        </a:rPr>
                        <a:t>10</a:t>
                      </a:r>
                      <a:r>
                        <a:rPr lang="en-US" sz="1000">
                          <a:effectLst/>
                        </a:rPr>
                        <a:t>%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~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95</a:t>
                      </a:r>
                      <a:r>
                        <a:rPr lang="en-US" sz="1000">
                          <a:effectLst/>
                        </a:rPr>
                        <a:t>%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 spc="-10">
                          <a:effectLst/>
                        </a:rPr>
                        <a:t>(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 spc="-10">
                          <a:effectLst/>
                        </a:rPr>
                        <a:t>+</a:t>
                      </a:r>
                      <a:r>
                        <a:rPr lang="en-US" sz="1000" spc="5">
                          <a:effectLst/>
                        </a:rPr>
                        <a:t>35</a:t>
                      </a:r>
                      <a:r>
                        <a:rPr lang="en-US" sz="1000">
                          <a:effectLst/>
                        </a:rPr>
                        <a:t>°,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N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 spc="15">
                          <a:effectLst/>
                        </a:rPr>
                        <a:t>n</a:t>
                      </a:r>
                      <a:r>
                        <a:rPr lang="en-US" sz="1000">
                          <a:effectLst/>
                        </a:rPr>
                        <a:t> Co</a:t>
                      </a:r>
                      <a:r>
                        <a:rPr lang="en-US" sz="1000" spc="-5">
                          <a:effectLst/>
                        </a:rPr>
                        <a:t>n</a:t>
                      </a:r>
                      <a:r>
                        <a:rPr lang="en-US" sz="1000" spc="5">
                          <a:effectLst/>
                        </a:rPr>
                        <a:t>den</a:t>
                      </a:r>
                      <a:r>
                        <a:rPr lang="en-US" sz="1000" spc="-5">
                          <a:effectLst/>
                        </a:rPr>
                        <a:t>s</a:t>
                      </a:r>
                      <a:r>
                        <a:rPr lang="en-US" sz="1000" spc="5">
                          <a:effectLst/>
                        </a:rPr>
                        <a:t>ing</a:t>
                      </a:r>
                      <a:r>
                        <a:rPr lang="en-US" sz="10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1770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Color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N8</a:t>
                      </a:r>
                      <a:r>
                        <a:rPr lang="en-US" sz="1000" spc="5">
                          <a:effectLst/>
                        </a:rPr>
                        <a:t>.</a:t>
                      </a:r>
                      <a:r>
                        <a:rPr lang="en-US" sz="1000">
                          <a:effectLst/>
                        </a:rPr>
                        <a:t>5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3675">
                <a:tc>
                  <a:txBody>
                    <a:bodyPr/>
                    <a:lstStyle/>
                    <a:p>
                      <a:pPr marL="52070" marR="63500">
                        <a:lnSpc>
                          <a:spcPct val="150000"/>
                        </a:lnSpc>
                        <a:spcBef>
                          <a:spcPts val="20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Weight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just">
                        <a:lnSpc>
                          <a:spcPct val="150000"/>
                        </a:lnSpc>
                        <a:spcBef>
                          <a:spcPts val="230"/>
                        </a:spcBef>
                        <a:spcAft>
                          <a:spcPts val="0"/>
                        </a:spcAft>
                      </a:pPr>
                      <a:r>
                        <a:rPr lang="en-US" sz="1000" spc="5" dirty="0">
                          <a:effectLst/>
                        </a:rPr>
                        <a:t>12</a:t>
                      </a:r>
                      <a:r>
                        <a:rPr lang="en-US" sz="1000" dirty="0">
                          <a:effectLst/>
                        </a:rPr>
                        <a:t>.</a:t>
                      </a:r>
                      <a:r>
                        <a:rPr lang="en-US" sz="1000" spc="-5" dirty="0">
                          <a:effectLst/>
                        </a:rPr>
                        <a:t>5 </a:t>
                      </a:r>
                      <a:r>
                        <a:rPr lang="en-US" sz="1000" spc="5" dirty="0">
                          <a:effectLst/>
                        </a:rPr>
                        <a:t>k</a:t>
                      </a:r>
                      <a:r>
                        <a:rPr lang="en-US" sz="1000" dirty="0">
                          <a:effectLst/>
                        </a:rPr>
                        <a:t>g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27337" y="5808715"/>
            <a:ext cx="7489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*Controlling clean and smooth video information is available based on the verified video control technology. </a:t>
            </a:r>
            <a:r>
              <a:rPr lang="ko-KR" altLang="en-US" sz="1400" dirty="0" smtClean="0"/>
              <a:t>  </a:t>
            </a:r>
            <a:endParaRPr lang="ko-KR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smtClean="0">
                <a:latin typeface="Calibri" pitchFamily="34" charset="0"/>
              </a:rPr>
              <a:t>Front Destination Indicator (FDI)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7" name="직사각형 6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9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직사각형 9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875754"/>
              </p:ext>
            </p:extLst>
          </p:nvPr>
        </p:nvGraphicFramePr>
        <p:xfrm>
          <a:off x="1512379" y="3284984"/>
          <a:ext cx="6115050" cy="22967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0952"/>
                <a:gridCol w="2372049"/>
                <a:gridCol w="2372049"/>
              </a:tblGrid>
              <a:tr h="222250">
                <a:tc gridSpan="2">
                  <a:txBody>
                    <a:bodyPr/>
                    <a:lstStyle/>
                    <a:p>
                      <a:pPr marL="63500" marR="127000" algn="ctr">
                        <a:lnSpc>
                          <a:spcPct val="15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It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m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7000" algn="ctr">
                        <a:lnSpc>
                          <a:spcPct val="15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Rat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ng</a:t>
                      </a:r>
                      <a:r>
                        <a:rPr lang="en-US" sz="900" spc="5">
                          <a:effectLst/>
                        </a:rPr>
                        <a:t> a</a:t>
                      </a:r>
                      <a:r>
                        <a:rPr lang="en-US" sz="900">
                          <a:effectLst/>
                        </a:rPr>
                        <a:t>nd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S</a:t>
                      </a:r>
                      <a:r>
                        <a:rPr lang="en-US" sz="900" spc="5">
                          <a:effectLst/>
                        </a:rPr>
                        <a:t>pe</a:t>
                      </a:r>
                      <a:r>
                        <a:rPr lang="en-US" sz="900" spc="-10">
                          <a:effectLst/>
                        </a:rPr>
                        <a:t>c</a:t>
                      </a:r>
                      <a:r>
                        <a:rPr lang="en-US" sz="900">
                          <a:effectLst/>
                        </a:rPr>
                        <a:t>if</a:t>
                      </a:r>
                      <a:r>
                        <a:rPr lang="en-US" sz="900" spc="5">
                          <a:effectLst/>
                        </a:rPr>
                        <a:t>ica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-10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on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2250">
                <a:tc gridSpan="2">
                  <a:txBody>
                    <a:bodyPr/>
                    <a:lstStyle/>
                    <a:p>
                      <a:pPr marL="876300" marR="863600" algn="ctr">
                        <a:lnSpc>
                          <a:spcPct val="150000"/>
                        </a:lnSpc>
                        <a:spcBef>
                          <a:spcPts val="370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C</a:t>
                      </a: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>
                          <a:effectLst/>
                        </a:rPr>
                        <a:t>U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7315" algn="just">
                        <a:lnSpc>
                          <a:spcPct val="15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A</a:t>
                      </a:r>
                      <a:r>
                        <a:rPr lang="en-US" sz="900" spc="-5">
                          <a:effectLst/>
                        </a:rPr>
                        <a:t>R</a:t>
                      </a: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7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D</a:t>
                      </a: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>
                          <a:effectLst/>
                        </a:rPr>
                        <a:t>I </a:t>
                      </a:r>
                      <a:r>
                        <a:rPr lang="en-US" sz="900" spc="-5">
                          <a:effectLst/>
                        </a:rPr>
                        <a:t>3</a:t>
                      </a:r>
                      <a:r>
                        <a:rPr lang="en-US" sz="900" spc="5">
                          <a:effectLst/>
                        </a:rPr>
                        <a:t>2</a:t>
                      </a:r>
                      <a:r>
                        <a:rPr lang="en-US" sz="900" spc="-5">
                          <a:effectLst/>
                        </a:rPr>
                        <a:t>-b</a:t>
                      </a:r>
                      <a:r>
                        <a:rPr lang="en-US" sz="900">
                          <a:effectLst/>
                        </a:rPr>
                        <a:t>it </a:t>
                      </a:r>
                      <a:r>
                        <a:rPr lang="en-US" sz="900" spc="-5">
                          <a:effectLst/>
                        </a:rPr>
                        <a:t>RI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C </a:t>
                      </a:r>
                      <a:r>
                        <a:rPr lang="en-US" sz="900" spc="-5">
                          <a:effectLst/>
                        </a:rPr>
                        <a:t>C</a:t>
                      </a: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>
                          <a:effectLst/>
                        </a:rPr>
                        <a:t>U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4945">
                <a:tc gridSpan="2">
                  <a:txBody>
                    <a:bodyPr/>
                    <a:lstStyle/>
                    <a:p>
                      <a:pPr marL="788035" marR="77406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spc="15">
                          <a:effectLst/>
                        </a:rPr>
                        <a:t>M</a:t>
                      </a:r>
                      <a:r>
                        <a:rPr lang="en-US" sz="900" spc="-15">
                          <a:effectLst/>
                        </a:rPr>
                        <a:t>e</a:t>
                      </a:r>
                      <a:r>
                        <a:rPr lang="en-US" sz="900" spc="5">
                          <a:effectLst/>
                        </a:rPr>
                        <a:t>m</a:t>
                      </a:r>
                      <a:r>
                        <a:rPr lang="en-US" sz="900">
                          <a:effectLst/>
                        </a:rPr>
                        <a:t>o</a:t>
                      </a:r>
                      <a:r>
                        <a:rPr lang="en-US" sz="900" spc="10">
                          <a:effectLst/>
                        </a:rPr>
                        <a:t>r</a:t>
                      </a:r>
                      <a:r>
                        <a:rPr lang="en-US" sz="900">
                          <a:effectLst/>
                        </a:rPr>
                        <a:t>y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7315" algn="just">
                        <a:lnSpc>
                          <a:spcPct val="150000"/>
                        </a:lnSpc>
                        <a:spcBef>
                          <a:spcPts val="8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FLA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H</a:t>
                      </a:r>
                      <a:r>
                        <a:rPr lang="en-US" sz="900" spc="-10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Y</a:t>
                      </a: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>
                          <a:effectLst/>
                        </a:rPr>
                        <a:t>E </a:t>
                      </a:r>
                      <a:r>
                        <a:rPr lang="en-US" sz="900" spc="-5">
                          <a:effectLst/>
                        </a:rPr>
                        <a:t>(progra</a:t>
                      </a:r>
                      <a:r>
                        <a:rPr lang="en-US" sz="900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c</a:t>
                      </a:r>
                      <a:r>
                        <a:rPr lang="en-US" sz="900" spc="-5">
                          <a:effectLst/>
                        </a:rPr>
                        <a:t>ode</a:t>
                      </a:r>
                      <a:r>
                        <a:rPr lang="en-US" sz="900">
                          <a:effectLst/>
                        </a:rPr>
                        <a:t>, </a:t>
                      </a:r>
                      <a:r>
                        <a:rPr lang="en-US" sz="900" spc="-10">
                          <a:effectLst/>
                        </a:rPr>
                        <a:t>i</a:t>
                      </a:r>
                      <a:r>
                        <a:rPr lang="en-US" sz="900" spc="15">
                          <a:effectLst/>
                        </a:rPr>
                        <a:t>m</a:t>
                      </a:r>
                      <a:r>
                        <a:rPr lang="en-US" sz="900" spc="-15">
                          <a:effectLst/>
                        </a:rPr>
                        <a:t>a</a:t>
                      </a:r>
                      <a:r>
                        <a:rPr lang="en-US" sz="900" spc="-5">
                          <a:effectLst/>
                        </a:rPr>
                        <a:t>g</a:t>
                      </a:r>
                      <a:r>
                        <a:rPr lang="en-US" sz="900">
                          <a:effectLst/>
                        </a:rPr>
                        <a:t>e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da</a:t>
                      </a:r>
                      <a:r>
                        <a:rPr lang="en-US" sz="900" spc="5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0980">
                <a:tc gridSpan="2">
                  <a:txBody>
                    <a:bodyPr/>
                    <a:lstStyle/>
                    <a:p>
                      <a:pPr marL="695325" marR="683260" algn="ctr">
                        <a:lnSpc>
                          <a:spcPct val="15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10">
                          <a:effectLst/>
                        </a:rPr>
                        <a:t>w</a:t>
                      </a:r>
                      <a:r>
                        <a:rPr lang="en-US" sz="900" spc="-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Load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5730" algn="just">
                        <a:lnSpc>
                          <a:spcPct val="150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 spc="10">
                          <a:effectLst/>
                        </a:rPr>
                        <a:t>a</a:t>
                      </a:r>
                      <a:r>
                        <a:rPr lang="en-US" sz="900" spc="-20">
                          <a:effectLst/>
                        </a:rPr>
                        <a:t>x</a:t>
                      </a:r>
                      <a:r>
                        <a:rPr lang="en-US" sz="900">
                          <a:effectLst/>
                        </a:rPr>
                        <a:t>.</a:t>
                      </a:r>
                      <a:r>
                        <a:rPr lang="en-US" sz="900" spc="10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320</a:t>
                      </a:r>
                      <a:r>
                        <a:rPr lang="en-US" sz="900">
                          <a:effectLst/>
                        </a:rPr>
                        <a:t>W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2250">
                <a:tc gridSpan="2">
                  <a:txBody>
                    <a:bodyPr/>
                    <a:lstStyle/>
                    <a:p>
                      <a:pPr marL="666115" marR="652780" algn="ctr">
                        <a:lnSpc>
                          <a:spcPct val="150000"/>
                        </a:lnSpc>
                        <a:spcBef>
                          <a:spcPts val="370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nput</a:t>
                      </a:r>
                      <a:r>
                        <a:rPr lang="en-US" sz="900" spc="-10">
                          <a:effectLst/>
                        </a:rPr>
                        <a:t> </a:t>
                      </a:r>
                      <a:r>
                        <a:rPr lang="en-US" sz="900" spc="-55">
                          <a:effectLst/>
                        </a:rPr>
                        <a:t>V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5">
                          <a:effectLst/>
                        </a:rPr>
                        <a:t>l</a:t>
                      </a:r>
                      <a:r>
                        <a:rPr lang="en-US" sz="900" spc="-5">
                          <a:effectLst/>
                        </a:rPr>
                        <a:t>ta</a:t>
                      </a:r>
                      <a:r>
                        <a:rPr lang="en-US" sz="900">
                          <a:effectLst/>
                        </a:rPr>
                        <a:t>ge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5730" algn="just">
                        <a:lnSpc>
                          <a:spcPct val="15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C </a:t>
                      </a:r>
                      <a:r>
                        <a:rPr lang="en-US" sz="900" spc="-5">
                          <a:effectLst/>
                        </a:rPr>
                        <a:t>230</a:t>
                      </a:r>
                      <a:r>
                        <a:rPr lang="en-US" sz="900" spc="5">
                          <a:effectLst/>
                        </a:rPr>
                        <a:t>V</a:t>
                      </a:r>
                      <a:r>
                        <a:rPr lang="en-US" sz="900" spc="-5">
                          <a:effectLst/>
                        </a:rPr>
                        <a:t>(</a:t>
                      </a:r>
                      <a:r>
                        <a:rPr lang="en-US" sz="900" spc="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C</a:t>
                      </a:r>
                      <a:r>
                        <a:rPr lang="en-US" sz="900" spc="-10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180</a:t>
                      </a:r>
                      <a:r>
                        <a:rPr lang="en-US" sz="900" spc="5">
                          <a:effectLst/>
                        </a:rPr>
                        <a:t>V</a:t>
                      </a:r>
                      <a:r>
                        <a:rPr lang="en-US" sz="900">
                          <a:effectLst/>
                        </a:rPr>
                        <a:t>~</a:t>
                      </a:r>
                      <a:r>
                        <a:rPr lang="en-US" sz="900" spc="-5">
                          <a:effectLst/>
                        </a:rPr>
                        <a:t>260</a:t>
                      </a:r>
                      <a:r>
                        <a:rPr lang="en-US" sz="900" spc="5">
                          <a:effectLst/>
                        </a:rPr>
                        <a:t>V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43840">
                <a:tc gridSpan="2">
                  <a:txBody>
                    <a:bodyPr/>
                    <a:lstStyle/>
                    <a:p>
                      <a:pPr marL="680085" marR="667385" algn="ctr">
                        <a:lnSpc>
                          <a:spcPct val="150000"/>
                        </a:lnSpc>
                        <a:spcBef>
                          <a:spcPts val="455"/>
                        </a:spcBef>
                        <a:spcAft>
                          <a:spcPts val="0"/>
                        </a:spcAft>
                      </a:pPr>
                      <a:r>
                        <a:rPr lang="en-US" sz="900" spc="-70">
                          <a:effectLst/>
                        </a:rPr>
                        <a:t>Operating T</a:t>
                      </a:r>
                      <a:r>
                        <a:rPr lang="en-US" sz="900" spc="-5">
                          <a:effectLst/>
                        </a:rPr>
                        <a:t>e</a:t>
                      </a:r>
                      <a:r>
                        <a:rPr lang="en-US" sz="900" spc="5">
                          <a:effectLst/>
                        </a:rPr>
                        <a:t>m</a:t>
                      </a:r>
                      <a:r>
                        <a:rPr lang="en-US" sz="900">
                          <a:effectLst/>
                        </a:rPr>
                        <a:t>pe</a:t>
                      </a:r>
                      <a:r>
                        <a:rPr lang="en-US" sz="900" spc="-5">
                          <a:effectLst/>
                        </a:rPr>
                        <a:t>rat</a:t>
                      </a:r>
                      <a:r>
                        <a:rPr lang="en-US" sz="900">
                          <a:effectLst/>
                        </a:rPr>
                        <a:t>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573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43840">
                <a:tc gridSpan="2">
                  <a:txBody>
                    <a:bodyPr/>
                    <a:lstStyle/>
                    <a:p>
                      <a:pPr marL="680085" marR="667385" algn="ctr">
                        <a:lnSpc>
                          <a:spcPct val="150000"/>
                        </a:lnSpc>
                        <a:spcBef>
                          <a:spcPts val="45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Storage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5730" algn="just">
                        <a:lnSpc>
                          <a:spcPct val="150000"/>
                        </a:lnSpc>
                        <a:spcBef>
                          <a:spcPts val="15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-35°C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2250">
                <a:tc gridSpan="2">
                  <a:txBody>
                    <a:bodyPr/>
                    <a:lstStyle/>
                    <a:p>
                      <a:pPr marL="767080" marR="751205" algn="ctr">
                        <a:lnSpc>
                          <a:spcPct val="15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H</a:t>
                      </a:r>
                      <a:r>
                        <a:rPr lang="en-US" sz="900">
                          <a:effectLst/>
                        </a:rPr>
                        <a:t>u</a:t>
                      </a:r>
                      <a:r>
                        <a:rPr lang="en-US" sz="900" spc="5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r>
                        <a:rPr lang="en-US" sz="900" spc="5">
                          <a:effectLst/>
                        </a:rPr>
                        <a:t>it</a:t>
                      </a:r>
                      <a:r>
                        <a:rPr lang="en-US" sz="900">
                          <a:effectLst/>
                        </a:rPr>
                        <a:t>y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5730" algn="just">
                        <a:lnSpc>
                          <a:spcPct val="150000"/>
                        </a:lnSpc>
                        <a:spcBef>
                          <a:spcPts val="370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30</a:t>
                      </a:r>
                      <a:r>
                        <a:rPr lang="en-US" sz="900">
                          <a:effectLst/>
                        </a:rPr>
                        <a:t>~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90</a:t>
                      </a:r>
                      <a:r>
                        <a:rPr lang="en-US" sz="900">
                          <a:effectLst/>
                        </a:rPr>
                        <a:t>%</a:t>
                      </a:r>
                      <a:r>
                        <a:rPr lang="en-US" sz="900" spc="10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(Non Condensing</a:t>
                      </a:r>
                      <a:r>
                        <a:rPr lang="en-US" sz="900" spc="5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71145">
                <a:tc rowSpan="2">
                  <a:txBody>
                    <a:bodyPr/>
                    <a:lstStyle/>
                    <a:p>
                      <a:pPr marL="685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n</a:t>
                      </a:r>
                      <a:r>
                        <a:rPr lang="en-US" sz="900" spc="-5">
                          <a:effectLst/>
                        </a:rPr>
                        <a:t>te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5">
                          <a:effectLst/>
                        </a:rPr>
                        <a:t>fac</a:t>
                      </a:r>
                      <a:r>
                        <a:rPr lang="en-US" sz="900">
                          <a:effectLst/>
                        </a:rPr>
                        <a:t>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00" marR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Dat</a:t>
                      </a:r>
                      <a:r>
                        <a:rPr lang="en-US" sz="900">
                          <a:effectLst/>
                        </a:rPr>
                        <a:t>a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60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nsm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 spc="-5">
                          <a:effectLst/>
                        </a:rPr>
                        <a:t>ss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on </a:t>
                      </a:r>
                      <a:r>
                        <a:rPr lang="en-US" sz="900" spc="15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et</a:t>
                      </a:r>
                      <a:r>
                        <a:rPr lang="en-US" sz="900" spc="-10">
                          <a:effectLst/>
                        </a:rPr>
                        <a:t>h</a:t>
                      </a:r>
                      <a:r>
                        <a:rPr lang="en-US" sz="900">
                          <a:effectLst/>
                        </a:rPr>
                        <a:t>od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573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R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 spc="-5">
                          <a:effectLst/>
                        </a:rPr>
                        <a:t>-48</a:t>
                      </a:r>
                      <a:r>
                        <a:rPr lang="en-US" sz="900">
                          <a:effectLst/>
                        </a:rPr>
                        <a:t>5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15">
                          <a:effectLst/>
                        </a:rPr>
                        <a:t>2</a:t>
                      </a:r>
                      <a:r>
                        <a:rPr lang="en-US" sz="900" spc="20">
                          <a:effectLst/>
                        </a:rPr>
                        <a:t>W</a:t>
                      </a:r>
                      <a:r>
                        <a:rPr lang="en-US" sz="900" spc="-5">
                          <a:effectLst/>
                        </a:rPr>
                        <a:t>IR</a:t>
                      </a:r>
                      <a:r>
                        <a:rPr lang="en-US" sz="900">
                          <a:effectLst/>
                        </a:rPr>
                        <a:t>E </a:t>
                      </a: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U</a:t>
                      </a:r>
                      <a:r>
                        <a:rPr lang="en-US" sz="900" spc="-65">
                          <a:effectLst/>
                        </a:rPr>
                        <a:t>L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10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-</a:t>
                      </a:r>
                      <a:r>
                        <a:rPr lang="en-US" sz="900" spc="-5">
                          <a:effectLst/>
                        </a:rPr>
                        <a:t>DR</a:t>
                      </a:r>
                      <a:r>
                        <a:rPr lang="en-US" sz="900">
                          <a:effectLst/>
                        </a:rPr>
                        <a:t>OP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22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9695" algn="just">
                        <a:lnSpc>
                          <a:spcPct val="15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900" spc="-60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nsm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 spc="-5">
                          <a:effectLst/>
                        </a:rPr>
                        <a:t>ss</a:t>
                      </a:r>
                      <a:r>
                        <a:rPr lang="en-US" sz="900" spc="5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on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pe</a:t>
                      </a:r>
                      <a:r>
                        <a:rPr lang="en-US" sz="900" spc="-20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4460" algn="just">
                        <a:lnSpc>
                          <a:spcPct val="150000"/>
                        </a:lnSpc>
                        <a:spcBef>
                          <a:spcPts val="370"/>
                        </a:spcBef>
                        <a:spcAft>
                          <a:spcPts val="0"/>
                        </a:spcAft>
                      </a:pPr>
                      <a:r>
                        <a:rPr lang="en-US" sz="900" spc="-5" dirty="0">
                          <a:effectLst/>
                        </a:rPr>
                        <a:t>MAX. 19</a:t>
                      </a:r>
                      <a:r>
                        <a:rPr lang="en-US" sz="900" spc="5" dirty="0">
                          <a:effectLst/>
                        </a:rPr>
                        <a:t>,</a:t>
                      </a:r>
                      <a:r>
                        <a:rPr lang="en-US" sz="900" spc="-5" dirty="0">
                          <a:effectLst/>
                        </a:rPr>
                        <a:t>20</a:t>
                      </a:r>
                      <a:r>
                        <a:rPr lang="en-US" sz="900" dirty="0">
                          <a:effectLst/>
                        </a:rPr>
                        <a:t>0</a:t>
                      </a:r>
                      <a:r>
                        <a:rPr lang="en-US" sz="900" spc="5" dirty="0">
                          <a:effectLst/>
                        </a:rPr>
                        <a:t> </a:t>
                      </a:r>
                      <a:r>
                        <a:rPr lang="en-US" sz="900" spc="-10" dirty="0">
                          <a:effectLst/>
                        </a:rPr>
                        <a:t>B</a:t>
                      </a:r>
                      <a:r>
                        <a:rPr lang="en-US" sz="900" spc="5" dirty="0">
                          <a:effectLst/>
                        </a:rPr>
                        <a:t>P</a:t>
                      </a:r>
                      <a:r>
                        <a:rPr lang="en-US" sz="900" dirty="0">
                          <a:effectLst/>
                        </a:rPr>
                        <a:t>S 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7337" y="5808715"/>
            <a:ext cx="7489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*Delivers easy and correct information on destinations to passengers by using multi-color LED and 3-colors LED.</a:t>
            </a:r>
            <a:r>
              <a:rPr lang="ko-KR" altLang="en-US" sz="1400" dirty="0" smtClean="0"/>
              <a:t>  </a:t>
            </a:r>
            <a:endParaRPr lang="ko-KR" altLang="en-US" sz="1400" dirty="0"/>
          </a:p>
        </p:txBody>
      </p:sp>
      <p:pic>
        <p:nvPicPr>
          <p:cNvPr id="1026" name="Picture 2" descr="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64" b="5707"/>
          <a:stretch>
            <a:fillRect/>
          </a:stretch>
        </p:blipFill>
        <p:spPr bwMode="auto">
          <a:xfrm>
            <a:off x="2195736" y="1536777"/>
            <a:ext cx="4414837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smtClean="0">
                <a:latin typeface="Calibri" pitchFamily="34" charset="0"/>
              </a:rPr>
              <a:t>Side</a:t>
            </a:r>
            <a:r>
              <a:rPr lang="ko-KR" altLang="en-US" b="1" dirty="0" smtClean="0">
                <a:latin typeface="Calibri" pitchFamily="34" charset="0"/>
              </a:rPr>
              <a:t> </a:t>
            </a:r>
            <a:r>
              <a:rPr lang="en-US" altLang="ko-KR" b="1" dirty="0" smtClean="0">
                <a:latin typeface="Calibri" pitchFamily="34" charset="0"/>
              </a:rPr>
              <a:t>Destination Indicator (SDI)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7" name="직사각형 6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9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직사각형 9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478462"/>
              </p:ext>
            </p:extLst>
          </p:nvPr>
        </p:nvGraphicFramePr>
        <p:xfrm>
          <a:off x="1619672" y="2492896"/>
          <a:ext cx="5429250" cy="3202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8782"/>
                <a:gridCol w="2185234"/>
                <a:gridCol w="2185234"/>
              </a:tblGrid>
              <a:tr h="210820">
                <a:tc gridSpan="2">
                  <a:txBody>
                    <a:bodyPr/>
                    <a:lstStyle/>
                    <a:p>
                      <a:pPr marR="45720" algn="ctr">
                        <a:lnSpc>
                          <a:spcPct val="15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It</a:t>
                      </a:r>
                      <a:r>
                        <a:rPr lang="en-US" sz="1000" spc="5" dirty="0">
                          <a:effectLst/>
                        </a:rPr>
                        <a:t>e</a:t>
                      </a:r>
                      <a:r>
                        <a:rPr lang="en-US" sz="1000" dirty="0">
                          <a:effectLst/>
                        </a:rPr>
                        <a:t>m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Rat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>
                          <a:effectLst/>
                        </a:rPr>
                        <a:t>ng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&amp; S</a:t>
                      </a:r>
                      <a:r>
                        <a:rPr lang="en-US" sz="1000" spc="5">
                          <a:effectLst/>
                        </a:rPr>
                        <a:t>p</a:t>
                      </a:r>
                      <a:r>
                        <a:rPr lang="en-US" sz="1000" spc="-10">
                          <a:effectLst/>
                        </a:rPr>
                        <a:t>e</a:t>
                      </a:r>
                      <a:r>
                        <a:rPr lang="en-US" sz="1000" spc="5">
                          <a:effectLst/>
                        </a:rPr>
                        <a:t>c</a:t>
                      </a:r>
                      <a:r>
                        <a:rPr lang="en-US" sz="1000">
                          <a:effectLst/>
                        </a:rPr>
                        <a:t>if</a:t>
                      </a:r>
                      <a:r>
                        <a:rPr lang="en-US" sz="1000" spc="5">
                          <a:effectLst/>
                        </a:rPr>
                        <a:t>ica</a:t>
                      </a:r>
                      <a:r>
                        <a:rPr lang="en-US" sz="1000" spc="-10">
                          <a:effectLst/>
                        </a:rPr>
                        <a:t>t</a:t>
                      </a:r>
                      <a:r>
                        <a:rPr lang="en-US" sz="1000">
                          <a:effectLst/>
                        </a:rPr>
                        <a:t>i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n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6695">
                <a:tc gridSpan="2">
                  <a:txBody>
                    <a:bodyPr/>
                    <a:lstStyle/>
                    <a:p>
                      <a:pPr marL="861695" marR="850900" indent="254000">
                        <a:lnSpc>
                          <a:spcPct val="15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CPU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50000"/>
                        </a:lnSpc>
                        <a:spcBef>
                          <a:spcPts val="85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A</a:t>
                      </a:r>
                      <a:r>
                        <a:rPr lang="en-US" sz="900" spc="-5">
                          <a:effectLst/>
                        </a:rPr>
                        <a:t>R</a:t>
                      </a: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7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D</a:t>
                      </a: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>
                          <a:effectLst/>
                        </a:rPr>
                        <a:t>I </a:t>
                      </a:r>
                      <a:r>
                        <a:rPr lang="en-US" sz="900" spc="-5">
                          <a:effectLst/>
                        </a:rPr>
                        <a:t>3</a:t>
                      </a:r>
                      <a:r>
                        <a:rPr lang="en-US" sz="900" spc="5">
                          <a:effectLst/>
                        </a:rPr>
                        <a:t>2</a:t>
                      </a:r>
                      <a:r>
                        <a:rPr lang="en-US" sz="900" spc="-5">
                          <a:effectLst/>
                        </a:rPr>
                        <a:t>-b</a:t>
                      </a:r>
                      <a:r>
                        <a:rPr lang="en-US" sz="900">
                          <a:effectLst/>
                        </a:rPr>
                        <a:t>it </a:t>
                      </a:r>
                      <a:r>
                        <a:rPr lang="en-US" sz="900" spc="-5">
                          <a:effectLst/>
                        </a:rPr>
                        <a:t>RI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C </a:t>
                      </a:r>
                      <a:r>
                        <a:rPr lang="en-US" sz="900" spc="-5">
                          <a:effectLst/>
                        </a:rPr>
                        <a:t>C</a:t>
                      </a: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>
                          <a:effectLst/>
                        </a:rPr>
                        <a:t>U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3520">
                <a:tc gridSpan="2">
                  <a:txBody>
                    <a:bodyPr/>
                    <a:lstStyle/>
                    <a:p>
                      <a:pPr marL="762635" marR="749935" indent="256540">
                        <a:lnSpc>
                          <a:spcPct val="15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1000" spc="5">
                          <a:effectLst/>
                        </a:rPr>
                        <a:t>Mem</a:t>
                      </a:r>
                      <a:r>
                        <a:rPr lang="en-US" sz="1000">
                          <a:effectLst/>
                        </a:rPr>
                        <a:t>o</a:t>
                      </a:r>
                      <a:r>
                        <a:rPr lang="en-US" sz="1000" spc="10">
                          <a:effectLst/>
                        </a:rPr>
                        <a:t>r</a:t>
                      </a:r>
                      <a:r>
                        <a:rPr lang="en-US" sz="1000">
                          <a:effectLst/>
                        </a:rPr>
                        <a:t>y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50000"/>
                        </a:lnSpc>
                        <a:spcBef>
                          <a:spcPts val="8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</a:t>
                      </a:r>
                      <a:r>
                        <a:rPr lang="en-US" sz="1000" spc="5">
                          <a:effectLst/>
                        </a:rPr>
                        <a:t>L</a:t>
                      </a:r>
                      <a:r>
                        <a:rPr lang="en-US" sz="1000">
                          <a:effectLst/>
                        </a:rPr>
                        <a:t>ASH</a:t>
                      </a:r>
                      <a:r>
                        <a:rPr lang="en-US" sz="1000" spc="-10">
                          <a:effectLst/>
                        </a:rPr>
                        <a:t> T</a:t>
                      </a:r>
                      <a:r>
                        <a:rPr lang="en-US" sz="1000" spc="-15">
                          <a:effectLst/>
                        </a:rPr>
                        <a:t>Y</a:t>
                      </a:r>
                      <a:r>
                        <a:rPr lang="en-US" sz="1000">
                          <a:effectLst/>
                        </a:rPr>
                        <a:t>PE (</a:t>
                      </a:r>
                      <a:r>
                        <a:rPr lang="en-US" sz="1000" spc="5">
                          <a:effectLst/>
                        </a:rPr>
                        <a:t>p</a:t>
                      </a:r>
                      <a:r>
                        <a:rPr lang="en-US" sz="1000">
                          <a:effectLst/>
                        </a:rPr>
                        <a:t>r</a:t>
                      </a:r>
                      <a:r>
                        <a:rPr lang="en-US" sz="1000" spc="5">
                          <a:effectLst/>
                        </a:rPr>
                        <a:t>og</a:t>
                      </a:r>
                      <a:r>
                        <a:rPr lang="en-US" sz="1000">
                          <a:effectLst/>
                        </a:rPr>
                        <a:t>r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m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 spc="-5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ode</a:t>
                      </a:r>
                      <a:r>
                        <a:rPr lang="en-US" sz="1000">
                          <a:effectLst/>
                        </a:rPr>
                        <a:t>,</a:t>
                      </a:r>
                      <a:r>
                        <a:rPr lang="en-US" sz="1000" spc="-20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 spc="20">
                          <a:effectLst/>
                        </a:rPr>
                        <a:t>m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 spc="-10">
                          <a:effectLst/>
                        </a:rPr>
                        <a:t>g</a:t>
                      </a:r>
                      <a:r>
                        <a:rPr lang="en-US" sz="1000">
                          <a:effectLst/>
                        </a:rPr>
                        <a:t>e</a:t>
                      </a:r>
                      <a:r>
                        <a:rPr lang="en-US" sz="1000" spc="5">
                          <a:effectLst/>
                        </a:rPr>
                        <a:t> d</a:t>
                      </a:r>
                      <a:r>
                        <a:rPr lang="en-US" sz="1000" spc="-10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30505">
                <a:tc gridSpan="2">
                  <a:txBody>
                    <a:bodyPr/>
                    <a:lstStyle/>
                    <a:p>
                      <a:pPr marL="659130" marR="645795" indent="254000">
                        <a:lnSpc>
                          <a:spcPct val="150000"/>
                        </a:lnSpc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 spc="20">
                          <a:effectLst/>
                        </a:rPr>
                        <a:t>w</a:t>
                      </a:r>
                      <a:r>
                        <a:rPr lang="en-US" sz="1000" spc="5">
                          <a:effectLst/>
                        </a:rPr>
                        <a:t>e</a:t>
                      </a:r>
                      <a:r>
                        <a:rPr lang="en-US" sz="1000">
                          <a:effectLst/>
                        </a:rPr>
                        <a:t>r L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50000"/>
                        </a:lnSpc>
                        <a:spcBef>
                          <a:spcPts val="85"/>
                        </a:spcBef>
                        <a:spcAft>
                          <a:spcPts val="0"/>
                        </a:spcAft>
                      </a:pPr>
                      <a:r>
                        <a:rPr lang="en-US" sz="1000" spc="-20">
                          <a:effectLst/>
                        </a:rPr>
                        <a:t>M</a:t>
                      </a:r>
                      <a:r>
                        <a:rPr lang="en-US" sz="1000" spc="15">
                          <a:effectLst/>
                        </a:rPr>
                        <a:t>a</a:t>
                      </a:r>
                      <a:r>
                        <a:rPr lang="en-US" sz="1000" spc="-5">
                          <a:effectLst/>
                        </a:rPr>
                        <a:t>x</a:t>
                      </a:r>
                      <a:r>
                        <a:rPr lang="en-US" sz="1000">
                          <a:effectLst/>
                        </a:rPr>
                        <a:t>.</a:t>
                      </a:r>
                      <a:r>
                        <a:rPr lang="en-US" sz="1000" spc="5">
                          <a:effectLst/>
                        </a:rPr>
                        <a:t> 230</a:t>
                      </a:r>
                      <a:r>
                        <a:rPr lang="en-US" sz="1000">
                          <a:effectLst/>
                        </a:rPr>
                        <a:t>W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2250">
                <a:tc gridSpan="2">
                  <a:txBody>
                    <a:bodyPr/>
                    <a:lstStyle/>
                    <a:p>
                      <a:pPr marL="647065" indent="254000">
                        <a:lnSpc>
                          <a:spcPct val="15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</a:t>
                      </a:r>
                      <a:r>
                        <a:rPr lang="en-US" sz="1000" spc="5">
                          <a:effectLst/>
                        </a:rPr>
                        <a:t>n</a:t>
                      </a:r>
                      <a:r>
                        <a:rPr lang="en-US" sz="1000">
                          <a:effectLst/>
                        </a:rPr>
                        <a:t>p</a:t>
                      </a:r>
                      <a:r>
                        <a:rPr lang="en-US" sz="1000" spc="5">
                          <a:effectLst/>
                        </a:rPr>
                        <a:t>u</a:t>
                      </a:r>
                      <a:r>
                        <a:rPr lang="en-US" sz="1000">
                          <a:effectLst/>
                        </a:rPr>
                        <a:t>t </a:t>
                      </a:r>
                      <a:r>
                        <a:rPr lang="en-US" sz="1000" spc="-70">
                          <a:effectLst/>
                        </a:rPr>
                        <a:t>V</a:t>
                      </a:r>
                      <a:r>
                        <a:rPr lang="en-US" sz="1000">
                          <a:effectLst/>
                        </a:rPr>
                        <a:t>o</a:t>
                      </a:r>
                      <a:r>
                        <a:rPr lang="en-US" sz="1000" spc="5">
                          <a:effectLst/>
                        </a:rPr>
                        <a:t>l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 spc="-10">
                          <a:effectLst/>
                        </a:rPr>
                        <a:t>g</a:t>
                      </a:r>
                      <a:r>
                        <a:rPr lang="en-US" sz="1000">
                          <a:effectLst/>
                        </a:rPr>
                        <a:t>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AC2</a:t>
                      </a:r>
                      <a:r>
                        <a:rPr lang="en-US" sz="1000" spc="5" dirty="0">
                          <a:effectLst/>
                        </a:rPr>
                        <a:t>30</a:t>
                      </a:r>
                      <a:r>
                        <a:rPr lang="en-US" sz="1000" dirty="0">
                          <a:effectLst/>
                        </a:rPr>
                        <a:t>V (AC </a:t>
                      </a:r>
                      <a:r>
                        <a:rPr lang="en-US" sz="1000" spc="5" dirty="0">
                          <a:effectLst/>
                        </a:rPr>
                        <a:t>1</a:t>
                      </a:r>
                      <a:r>
                        <a:rPr lang="en-US" sz="1000" spc="-10" dirty="0">
                          <a:effectLst/>
                        </a:rPr>
                        <a:t>8</a:t>
                      </a:r>
                      <a:r>
                        <a:rPr lang="en-US" sz="1000" spc="5" dirty="0">
                          <a:effectLst/>
                        </a:rPr>
                        <a:t>0</a:t>
                      </a:r>
                      <a:r>
                        <a:rPr lang="en-US" sz="1000" dirty="0">
                          <a:effectLst/>
                        </a:rPr>
                        <a:t>V~</a:t>
                      </a:r>
                      <a:r>
                        <a:rPr lang="en-US" sz="1000" spc="5" dirty="0">
                          <a:effectLst/>
                        </a:rPr>
                        <a:t>2</a:t>
                      </a:r>
                      <a:r>
                        <a:rPr lang="en-US" sz="1000" spc="-10" dirty="0">
                          <a:effectLst/>
                        </a:rPr>
                        <a:t>6</a:t>
                      </a:r>
                      <a:r>
                        <a:rPr lang="en-US" sz="1000" spc="5" dirty="0">
                          <a:effectLst/>
                        </a:rPr>
                        <a:t>0</a:t>
                      </a:r>
                      <a:r>
                        <a:rPr lang="en-US" sz="1000" dirty="0">
                          <a:effectLst/>
                        </a:rPr>
                        <a:t>V)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2250">
                <a:tc gridSpan="2">
                  <a:txBody>
                    <a:bodyPr/>
                    <a:lstStyle/>
                    <a:p>
                      <a:pPr indent="709930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000" spc="-70">
                          <a:effectLst/>
                        </a:rPr>
                        <a:t>Operating T</a:t>
                      </a:r>
                      <a:r>
                        <a:rPr lang="en-US" sz="1000" spc="5">
                          <a:effectLst/>
                        </a:rPr>
                        <a:t>em</a:t>
                      </a:r>
                      <a:r>
                        <a:rPr lang="en-US" sz="1000">
                          <a:effectLst/>
                        </a:rPr>
                        <a:t>p</a:t>
                      </a:r>
                      <a:r>
                        <a:rPr lang="en-US" sz="1000" spc="5">
                          <a:effectLst/>
                        </a:rPr>
                        <a:t>e</a:t>
                      </a:r>
                      <a:r>
                        <a:rPr lang="en-US" sz="1000">
                          <a:effectLst/>
                        </a:rPr>
                        <a:t>rat</a:t>
                      </a:r>
                      <a:r>
                        <a:rPr lang="en-US" sz="1000" spc="5">
                          <a:effectLst/>
                        </a:rPr>
                        <a:t>u</a:t>
                      </a:r>
                      <a:r>
                        <a:rPr lang="en-US" sz="1000">
                          <a:effectLst/>
                        </a:rPr>
                        <a:t>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446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2250">
                <a:tc gridSpan="2">
                  <a:txBody>
                    <a:bodyPr/>
                    <a:lstStyle/>
                    <a:p>
                      <a:pPr indent="762000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Storage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-35°C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2250">
                <a:tc gridSpan="2">
                  <a:txBody>
                    <a:bodyPr/>
                    <a:lstStyle/>
                    <a:p>
                      <a:pPr marL="738505" marR="723900" indent="254000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Hu</a:t>
                      </a:r>
                      <a:r>
                        <a:rPr lang="en-US" sz="1000" spc="5">
                          <a:effectLst/>
                        </a:rPr>
                        <a:t>m</a:t>
                      </a:r>
                      <a:r>
                        <a:rPr lang="en-US" sz="1000">
                          <a:effectLst/>
                        </a:rPr>
                        <a:t>i</a:t>
                      </a:r>
                      <a:r>
                        <a:rPr lang="en-US" sz="1000" spc="5">
                          <a:effectLst/>
                        </a:rPr>
                        <a:t>d</a:t>
                      </a:r>
                      <a:r>
                        <a:rPr lang="en-US" sz="1000">
                          <a:effectLst/>
                        </a:rPr>
                        <a:t>i</a:t>
                      </a:r>
                      <a:r>
                        <a:rPr lang="en-US" sz="1000" spc="15">
                          <a:effectLst/>
                        </a:rPr>
                        <a:t>t</a:t>
                      </a:r>
                      <a:r>
                        <a:rPr lang="en-US" sz="1000">
                          <a:effectLst/>
                        </a:rPr>
                        <a:t>y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5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</a:pPr>
                      <a:r>
                        <a:rPr lang="en-US" sz="1000" spc="5">
                          <a:effectLst/>
                        </a:rPr>
                        <a:t>30</a:t>
                      </a:r>
                      <a:r>
                        <a:rPr lang="en-US" sz="1000">
                          <a:effectLst/>
                        </a:rPr>
                        <a:t>~</a:t>
                      </a:r>
                      <a:r>
                        <a:rPr lang="en-US" sz="1000" spc="5">
                          <a:effectLst/>
                        </a:rPr>
                        <a:t> 9</a:t>
                      </a:r>
                      <a:r>
                        <a:rPr lang="en-US" sz="1000" spc="-10">
                          <a:effectLst/>
                        </a:rPr>
                        <a:t>0</a:t>
                      </a:r>
                      <a:r>
                        <a:rPr lang="en-US" sz="1000">
                          <a:effectLst/>
                        </a:rPr>
                        <a:t>%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(Non Condensing)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377190">
                <a:tc rowSpan="2">
                  <a:txBody>
                    <a:bodyPr/>
                    <a:lstStyle/>
                    <a:p>
                      <a:pPr marL="4191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</a:t>
                      </a:r>
                      <a:r>
                        <a:rPr lang="en-US" sz="1000" spc="5">
                          <a:effectLst/>
                        </a:rPr>
                        <a:t>n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e</a:t>
                      </a:r>
                      <a:r>
                        <a:rPr lang="en-US" sz="1000">
                          <a:effectLst/>
                        </a:rPr>
                        <a:t>rfa</a:t>
                      </a:r>
                      <a:r>
                        <a:rPr lang="en-US" sz="1000" spc="5">
                          <a:effectLst/>
                        </a:rPr>
                        <a:t>c</a:t>
                      </a:r>
                      <a:r>
                        <a:rPr lang="en-US" sz="1000">
                          <a:effectLst/>
                        </a:rPr>
                        <a:t>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2230" marR="52070" algn="ctr">
                        <a:lnSpc>
                          <a:spcPct val="15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Data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 spc="-45">
                          <a:effectLst/>
                        </a:rPr>
                        <a:t>T</a:t>
                      </a:r>
                      <a:r>
                        <a:rPr lang="en-US" sz="1000">
                          <a:effectLst/>
                        </a:rPr>
                        <a:t>ra</a:t>
                      </a:r>
                      <a:r>
                        <a:rPr lang="en-US" sz="1000" spc="5">
                          <a:effectLst/>
                        </a:rPr>
                        <a:t>n</a:t>
                      </a:r>
                      <a:r>
                        <a:rPr lang="en-US" sz="1000" spc="-10">
                          <a:effectLst/>
                        </a:rPr>
                        <a:t>s</a:t>
                      </a:r>
                      <a:r>
                        <a:rPr lang="en-US" sz="1000" spc="5">
                          <a:effectLst/>
                        </a:rPr>
                        <a:t>m</a:t>
                      </a:r>
                      <a:r>
                        <a:rPr lang="en-US" sz="1000">
                          <a:effectLst/>
                        </a:rPr>
                        <a:t>i</a:t>
                      </a:r>
                      <a:r>
                        <a:rPr lang="en-US" sz="1000" spc="-5">
                          <a:effectLst/>
                        </a:rPr>
                        <a:t>s</a:t>
                      </a:r>
                      <a:r>
                        <a:rPr lang="en-US" sz="1000" spc="5">
                          <a:effectLst/>
                        </a:rPr>
                        <a:t>s</a:t>
                      </a:r>
                      <a:r>
                        <a:rPr lang="en-US" sz="1000">
                          <a:effectLst/>
                        </a:rPr>
                        <a:t>i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n</a:t>
                      </a:r>
                      <a:endParaRPr lang="ko-KR" sz="1000">
                        <a:effectLst/>
                      </a:endParaRPr>
                    </a:p>
                    <a:p>
                      <a:pPr marL="366395" marR="35306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spc="5">
                          <a:effectLst/>
                        </a:rPr>
                        <a:t>Me</a:t>
                      </a:r>
                      <a:r>
                        <a:rPr lang="en-US" sz="1000">
                          <a:effectLst/>
                        </a:rPr>
                        <a:t>th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239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RS-</a:t>
                      </a:r>
                      <a:r>
                        <a:rPr lang="en-US" sz="1000" spc="5">
                          <a:effectLst/>
                        </a:rPr>
                        <a:t>48</a:t>
                      </a:r>
                      <a:r>
                        <a:rPr lang="en-US" sz="1000">
                          <a:effectLst/>
                        </a:rPr>
                        <a:t>5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 spc="-20">
                          <a:effectLst/>
                        </a:rPr>
                        <a:t>2</a:t>
                      </a:r>
                      <a:r>
                        <a:rPr lang="en-US" sz="1000" spc="40">
                          <a:effectLst/>
                        </a:rPr>
                        <a:t>W</a:t>
                      </a:r>
                      <a:r>
                        <a:rPr lang="en-US" sz="1000" spc="-10">
                          <a:effectLst/>
                        </a:rPr>
                        <a:t>I</a:t>
                      </a:r>
                      <a:r>
                        <a:rPr lang="en-US" sz="1000">
                          <a:effectLst/>
                        </a:rPr>
                        <a:t>RE </a:t>
                      </a:r>
                      <a:r>
                        <a:rPr lang="en-US" sz="1000" spc="-20">
                          <a:effectLst/>
                        </a:rPr>
                        <a:t>M</a:t>
                      </a:r>
                      <a:r>
                        <a:rPr lang="en-US" sz="1000">
                          <a:effectLst/>
                        </a:rPr>
                        <a:t>U</a:t>
                      </a:r>
                      <a:r>
                        <a:rPr lang="en-US" sz="1000" spc="-70">
                          <a:effectLst/>
                        </a:rPr>
                        <a:t>L</a:t>
                      </a:r>
                      <a:r>
                        <a:rPr lang="en-US" sz="1000" spc="-1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>
                          <a:effectLst/>
                        </a:rPr>
                        <a:t>-D</a:t>
                      </a:r>
                      <a:r>
                        <a:rPr lang="en-US" sz="1000" spc="5">
                          <a:effectLst/>
                        </a:rPr>
                        <a:t>R</a:t>
                      </a:r>
                      <a:r>
                        <a:rPr lang="en-US" sz="1000" spc="-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P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4546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2230" marR="52070" algn="ctr">
                        <a:lnSpc>
                          <a:spcPct val="15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Transmission Speed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2230" marR="52070" algn="just">
                        <a:lnSpc>
                          <a:spcPct val="15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Max. 19,200 BPS (Modification can be done for performance improvement)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7337" y="5805264"/>
            <a:ext cx="74893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**Delivers easy and correct information on destinations to passengers by using multi-color LED and 3-colors LED.</a:t>
            </a:r>
            <a:r>
              <a:rPr lang="ko-KR" altLang="en-US" sz="1400" dirty="0" smtClean="0"/>
              <a:t>  </a:t>
            </a:r>
          </a:p>
          <a:p>
            <a:pPr algn="ctr"/>
            <a:endParaRPr lang="ko-KR" altLang="en-US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333052"/>
            <a:ext cx="5927725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smtClean="0">
                <a:latin typeface="Calibri" pitchFamily="34" charset="0"/>
              </a:rPr>
              <a:t>Passenger Information Indicator (PII)</a:t>
            </a:r>
            <a:endParaRPr lang="ko-KR" altLang="en-US" b="1" dirty="0">
              <a:latin typeface="Calibri" pitchFamily="34" charset="0"/>
            </a:endParaRPr>
          </a:p>
        </p:txBody>
      </p:sp>
      <p:pic>
        <p:nvPicPr>
          <p:cNvPr id="5" name="내용 개체 틀 4" descr="PII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71600" y="1268760"/>
            <a:ext cx="7200800" cy="880422"/>
          </a:xfrm>
        </p:spPr>
      </p:pic>
      <p:grpSp>
        <p:nvGrpSpPr>
          <p:cNvPr id="6" name="그룹 5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7" name="직사각형 6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9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직사각형 9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729574"/>
              </p:ext>
            </p:extLst>
          </p:nvPr>
        </p:nvGraphicFramePr>
        <p:xfrm>
          <a:off x="1714500" y="2852936"/>
          <a:ext cx="5881835" cy="2611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6607"/>
                <a:gridCol w="2434636"/>
                <a:gridCol w="2670592"/>
              </a:tblGrid>
              <a:tr h="220980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ITEM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RATING AND SPECIFICAITON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2250">
                <a:tc gridSpan="2">
                  <a:txBody>
                    <a:bodyPr/>
                    <a:lstStyle/>
                    <a:p>
                      <a:pPr marL="861695" marR="850900" algn="ctr">
                        <a:lnSpc>
                          <a:spcPct val="15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CPU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7315">
                        <a:lnSpc>
                          <a:spcPct val="15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A</a:t>
                      </a:r>
                      <a:r>
                        <a:rPr lang="en-US" sz="900" spc="-5">
                          <a:effectLst/>
                        </a:rPr>
                        <a:t>R</a:t>
                      </a: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7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D</a:t>
                      </a: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>
                          <a:effectLst/>
                        </a:rPr>
                        <a:t>I </a:t>
                      </a:r>
                      <a:r>
                        <a:rPr lang="en-US" sz="900" spc="-5">
                          <a:effectLst/>
                        </a:rPr>
                        <a:t>3</a:t>
                      </a:r>
                      <a:r>
                        <a:rPr lang="en-US" sz="900" spc="5">
                          <a:effectLst/>
                        </a:rPr>
                        <a:t>2</a:t>
                      </a:r>
                      <a:r>
                        <a:rPr lang="en-US" sz="900" spc="-5">
                          <a:effectLst/>
                        </a:rPr>
                        <a:t>-b</a:t>
                      </a:r>
                      <a:r>
                        <a:rPr lang="en-US" sz="900">
                          <a:effectLst/>
                        </a:rPr>
                        <a:t>it </a:t>
                      </a:r>
                      <a:r>
                        <a:rPr lang="en-US" sz="900" spc="-5">
                          <a:effectLst/>
                        </a:rPr>
                        <a:t>RI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C </a:t>
                      </a:r>
                      <a:r>
                        <a:rPr lang="en-US" sz="900" spc="-5">
                          <a:effectLst/>
                        </a:rPr>
                        <a:t>C</a:t>
                      </a: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>
                          <a:effectLst/>
                        </a:rPr>
                        <a:t>U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2250">
                <a:tc gridSpan="2">
                  <a:txBody>
                    <a:bodyPr/>
                    <a:lstStyle/>
                    <a:p>
                      <a:pPr marL="762635" marR="749935" algn="ctr">
                        <a:lnSpc>
                          <a:spcPct val="15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Mem</a:t>
                      </a:r>
                      <a:r>
                        <a:rPr lang="en-US" sz="900">
                          <a:effectLst/>
                        </a:rPr>
                        <a:t>o</a:t>
                      </a:r>
                      <a:r>
                        <a:rPr lang="en-US" sz="900" spc="10">
                          <a:effectLst/>
                        </a:rPr>
                        <a:t>r</a:t>
                      </a:r>
                      <a:r>
                        <a:rPr lang="en-US" sz="900">
                          <a:effectLst/>
                        </a:rPr>
                        <a:t>y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7315">
                        <a:lnSpc>
                          <a:spcPct val="15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FLA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H</a:t>
                      </a:r>
                      <a:r>
                        <a:rPr lang="en-US" sz="900" spc="-10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Y</a:t>
                      </a: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>
                          <a:effectLst/>
                        </a:rPr>
                        <a:t>E </a:t>
                      </a:r>
                      <a:r>
                        <a:rPr lang="en-US" sz="900" spc="-5">
                          <a:effectLst/>
                        </a:rPr>
                        <a:t>(progra</a:t>
                      </a:r>
                      <a:r>
                        <a:rPr lang="en-US" sz="900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c</a:t>
                      </a:r>
                      <a:r>
                        <a:rPr lang="en-US" sz="900" spc="-5">
                          <a:effectLst/>
                        </a:rPr>
                        <a:t>ode</a:t>
                      </a:r>
                      <a:r>
                        <a:rPr lang="en-US" sz="900">
                          <a:effectLst/>
                        </a:rPr>
                        <a:t>, </a:t>
                      </a:r>
                      <a:r>
                        <a:rPr lang="en-US" sz="900" spc="-10">
                          <a:effectLst/>
                        </a:rPr>
                        <a:t>i</a:t>
                      </a:r>
                      <a:r>
                        <a:rPr lang="en-US" sz="900" spc="15">
                          <a:effectLst/>
                        </a:rPr>
                        <a:t>m</a:t>
                      </a:r>
                      <a:r>
                        <a:rPr lang="en-US" sz="900" spc="-15">
                          <a:effectLst/>
                        </a:rPr>
                        <a:t>a</a:t>
                      </a:r>
                      <a:r>
                        <a:rPr lang="en-US" sz="900" spc="-5">
                          <a:effectLst/>
                        </a:rPr>
                        <a:t>g</a:t>
                      </a:r>
                      <a:r>
                        <a:rPr lang="en-US" sz="900">
                          <a:effectLst/>
                        </a:rPr>
                        <a:t>e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da</a:t>
                      </a:r>
                      <a:r>
                        <a:rPr lang="en-US" sz="900" spc="5">
                          <a:effectLst/>
                        </a:rPr>
                        <a:t>t</a:t>
                      </a:r>
                      <a:r>
                        <a:rPr lang="en-US" sz="900" spc="-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2250">
                <a:tc gridSpan="2">
                  <a:txBody>
                    <a:bodyPr/>
                    <a:lstStyle/>
                    <a:p>
                      <a:pPr marL="659130" marR="645795" algn="ctr">
                        <a:lnSpc>
                          <a:spcPct val="15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20">
                          <a:effectLst/>
                        </a:rPr>
                        <a:t>w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 L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0490">
                        <a:lnSpc>
                          <a:spcPct val="15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 spc="10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x</a:t>
                      </a:r>
                      <a:r>
                        <a:rPr lang="en-US" sz="900" spc="-10">
                          <a:effectLst/>
                        </a:rPr>
                        <a:t> 50</a:t>
                      </a:r>
                      <a:r>
                        <a:rPr lang="en-US" sz="900">
                          <a:effectLst/>
                        </a:rPr>
                        <a:t>W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2250">
                <a:tc gridSpan="2">
                  <a:txBody>
                    <a:bodyPr/>
                    <a:lstStyle/>
                    <a:p>
                      <a:pPr marL="655955" marR="642620" algn="ctr">
                        <a:lnSpc>
                          <a:spcPct val="15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</a:t>
                      </a:r>
                      <a:r>
                        <a:rPr lang="en-US" sz="900" spc="5">
                          <a:effectLst/>
                        </a:rPr>
                        <a:t>n</a:t>
                      </a:r>
                      <a:r>
                        <a:rPr lang="en-US" sz="900">
                          <a:effectLst/>
                        </a:rPr>
                        <a:t>p</a:t>
                      </a:r>
                      <a:r>
                        <a:rPr lang="en-US" sz="900" spc="5">
                          <a:effectLst/>
                        </a:rPr>
                        <a:t>u</a:t>
                      </a:r>
                      <a:r>
                        <a:rPr lang="en-US" sz="900">
                          <a:effectLst/>
                        </a:rPr>
                        <a:t>t P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5">
                          <a:effectLst/>
                        </a:rPr>
                        <a:t>we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7315">
                        <a:lnSpc>
                          <a:spcPct val="15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DC37</a:t>
                      </a:r>
                      <a:r>
                        <a:rPr lang="en-US" sz="900" spc="5">
                          <a:effectLst/>
                        </a:rPr>
                        <a:t>.</a:t>
                      </a:r>
                      <a:r>
                        <a:rPr lang="en-US" sz="900" spc="-5">
                          <a:effectLst/>
                        </a:rPr>
                        <a:t>5</a:t>
                      </a:r>
                      <a:r>
                        <a:rPr lang="en-US" sz="900" spc="5">
                          <a:effectLst/>
                        </a:rPr>
                        <a:t>V</a:t>
                      </a:r>
                      <a:r>
                        <a:rPr lang="en-US" sz="900" spc="-5">
                          <a:effectLst/>
                        </a:rPr>
                        <a:t>(D</a:t>
                      </a:r>
                      <a:r>
                        <a:rPr lang="en-US" sz="900">
                          <a:effectLst/>
                        </a:rPr>
                        <a:t>C </a:t>
                      </a:r>
                      <a:r>
                        <a:rPr lang="en-US" sz="900" spc="-5">
                          <a:effectLst/>
                        </a:rPr>
                        <a:t>24</a:t>
                      </a:r>
                      <a:r>
                        <a:rPr lang="en-US" sz="900" spc="5">
                          <a:effectLst/>
                        </a:rPr>
                        <a:t>V</a:t>
                      </a:r>
                      <a:r>
                        <a:rPr lang="en-US" sz="900">
                          <a:effectLst/>
                        </a:rPr>
                        <a:t>~</a:t>
                      </a:r>
                      <a:r>
                        <a:rPr lang="en-US" sz="900" spc="-5">
                          <a:effectLst/>
                        </a:rPr>
                        <a:t>48</a:t>
                      </a:r>
                      <a:r>
                        <a:rPr lang="en-US" sz="900" spc="5">
                          <a:effectLst/>
                        </a:rPr>
                        <a:t>V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2885">
                <a:tc gridSpan="2">
                  <a:txBody>
                    <a:bodyPr/>
                    <a:lstStyle/>
                    <a:p>
                      <a:pPr marL="662305">
                        <a:lnSpc>
                          <a:spcPct val="15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900" spc="-70">
                          <a:effectLst/>
                        </a:rPr>
                        <a:t>Operating T</a:t>
                      </a:r>
                      <a:r>
                        <a:rPr lang="en-US" sz="900" spc="5">
                          <a:effectLst/>
                        </a:rPr>
                        <a:t>em</a:t>
                      </a:r>
                      <a:r>
                        <a:rPr lang="en-US" sz="900">
                          <a:effectLst/>
                        </a:rPr>
                        <a:t>p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rat</a:t>
                      </a:r>
                      <a:r>
                        <a:rPr lang="en-US" sz="900" spc="5">
                          <a:effectLst/>
                        </a:rPr>
                        <a:t>u</a:t>
                      </a:r>
                      <a:r>
                        <a:rPr lang="en-US" sz="900">
                          <a:effectLst/>
                        </a:rPr>
                        <a:t>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0490" algn="just">
                        <a:lnSpc>
                          <a:spcPct val="15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2885">
                <a:tc gridSpan="2">
                  <a:txBody>
                    <a:bodyPr/>
                    <a:lstStyle/>
                    <a:p>
                      <a:pPr marL="662305">
                        <a:lnSpc>
                          <a:spcPct val="15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Storage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0490">
                        <a:lnSpc>
                          <a:spcPct val="150000"/>
                        </a:lnSpc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-35°C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20980">
                <a:tc gridSpan="2">
                  <a:txBody>
                    <a:bodyPr/>
                    <a:lstStyle/>
                    <a:p>
                      <a:pPr marL="738505" marR="723900"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Hu</a:t>
                      </a:r>
                      <a:r>
                        <a:rPr lang="en-US" sz="900" spc="5">
                          <a:effectLst/>
                        </a:rPr>
                        <a:t>m</a:t>
                      </a:r>
                      <a:r>
                        <a:rPr lang="en-US" sz="900">
                          <a:effectLst/>
                        </a:rPr>
                        <a:t>i</a:t>
                      </a:r>
                      <a:r>
                        <a:rPr lang="en-US" sz="900" spc="5">
                          <a:effectLst/>
                        </a:rPr>
                        <a:t>d</a:t>
                      </a:r>
                      <a:r>
                        <a:rPr lang="en-US" sz="900">
                          <a:effectLst/>
                        </a:rPr>
                        <a:t>i</a:t>
                      </a:r>
                      <a:r>
                        <a:rPr lang="en-US" sz="900" spc="15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y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0490">
                        <a:lnSpc>
                          <a:spcPct val="150000"/>
                        </a:lnSpc>
                        <a:spcBef>
                          <a:spcPts val="370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30</a:t>
                      </a:r>
                      <a:r>
                        <a:rPr lang="en-US" sz="900">
                          <a:effectLst/>
                        </a:rPr>
                        <a:t>~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5">
                          <a:effectLst/>
                        </a:rPr>
                        <a:t>90</a:t>
                      </a:r>
                      <a:r>
                        <a:rPr lang="en-US" sz="900">
                          <a:effectLst/>
                        </a:rPr>
                        <a:t>%</a:t>
                      </a:r>
                      <a:r>
                        <a:rPr lang="en-US" sz="900" spc="10">
                          <a:effectLst/>
                        </a:rPr>
                        <a:t> </a:t>
                      </a:r>
                      <a:r>
                        <a:rPr lang="en-US" sz="900" spc="-25">
                          <a:effectLst/>
                        </a:rPr>
                        <a:t>(Non Condensing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331470">
                <a:tc rowSpan="2">
                  <a:txBody>
                    <a:bodyPr/>
                    <a:lstStyle/>
                    <a:p>
                      <a:pPr marL="168275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</a:t>
                      </a:r>
                      <a:r>
                        <a:rPr lang="en-US" sz="900" spc="5">
                          <a:effectLst/>
                        </a:rPr>
                        <a:t>n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rfa</a:t>
                      </a:r>
                      <a:r>
                        <a:rPr lang="en-US" sz="900" spc="5">
                          <a:effectLst/>
                        </a:rPr>
                        <a:t>c</a:t>
                      </a:r>
                      <a:r>
                        <a:rPr lang="en-US" sz="900">
                          <a:effectLst/>
                        </a:rPr>
                        <a:t>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3500" marR="5334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Data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45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ra</a:t>
                      </a:r>
                      <a:r>
                        <a:rPr lang="en-US" sz="900" spc="5">
                          <a:effectLst/>
                        </a:rPr>
                        <a:t>n</a:t>
                      </a:r>
                      <a:r>
                        <a:rPr lang="en-US" sz="900" spc="-10">
                          <a:effectLst/>
                        </a:rPr>
                        <a:t>s</a:t>
                      </a:r>
                      <a:r>
                        <a:rPr lang="en-US" sz="900" spc="5">
                          <a:effectLst/>
                        </a:rPr>
                        <a:t>m</a:t>
                      </a:r>
                      <a:r>
                        <a:rPr lang="en-US" sz="900">
                          <a:effectLst/>
                        </a:rPr>
                        <a:t>i</a:t>
                      </a:r>
                      <a:r>
                        <a:rPr lang="en-US" sz="900" spc="-5">
                          <a:effectLst/>
                        </a:rPr>
                        <a:t>s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i</a:t>
                      </a:r>
                      <a:r>
                        <a:rPr lang="en-US" sz="900" spc="5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n</a:t>
                      </a:r>
                      <a:endParaRPr lang="ko-KR" sz="1000">
                        <a:effectLst/>
                      </a:endParaRPr>
                    </a:p>
                    <a:p>
                      <a:pPr marL="366395" marR="353060" algn="ctr">
                        <a:lnSpc>
                          <a:spcPct val="15000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Me</a:t>
                      </a:r>
                      <a:r>
                        <a:rPr lang="en-US" sz="900">
                          <a:effectLst/>
                        </a:rPr>
                        <a:t>th</a:t>
                      </a:r>
                      <a:r>
                        <a:rPr lang="en-US" sz="900" spc="5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R</a:t>
                      </a:r>
                      <a:r>
                        <a:rPr lang="en-US" sz="900" spc="5">
                          <a:effectLst/>
                        </a:rPr>
                        <a:t>S</a:t>
                      </a:r>
                      <a:r>
                        <a:rPr lang="en-US" sz="900" spc="-5">
                          <a:effectLst/>
                        </a:rPr>
                        <a:t>-48</a:t>
                      </a:r>
                      <a:r>
                        <a:rPr lang="en-US" sz="900">
                          <a:effectLst/>
                        </a:rPr>
                        <a:t>5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 spc="-15">
                          <a:effectLst/>
                        </a:rPr>
                        <a:t>2</a:t>
                      </a:r>
                      <a:r>
                        <a:rPr lang="en-US" sz="900" spc="20">
                          <a:effectLst/>
                        </a:rPr>
                        <a:t>W</a:t>
                      </a:r>
                      <a:r>
                        <a:rPr lang="en-US" sz="900" spc="-5">
                          <a:effectLst/>
                        </a:rPr>
                        <a:t>IR</a:t>
                      </a:r>
                      <a:r>
                        <a:rPr lang="en-US" sz="900">
                          <a:effectLst/>
                        </a:rPr>
                        <a:t>E </a:t>
                      </a:r>
                      <a:r>
                        <a:rPr lang="en-US" sz="900" spc="-10">
                          <a:effectLst/>
                        </a:rPr>
                        <a:t>M</a:t>
                      </a:r>
                      <a:r>
                        <a:rPr lang="en-US" sz="900" spc="-5">
                          <a:effectLst/>
                        </a:rPr>
                        <a:t>U</a:t>
                      </a:r>
                      <a:r>
                        <a:rPr lang="en-US" sz="900" spc="-65">
                          <a:effectLst/>
                        </a:rPr>
                        <a:t>L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10">
                          <a:effectLst/>
                        </a:rPr>
                        <a:t>I</a:t>
                      </a:r>
                      <a:r>
                        <a:rPr lang="en-US" sz="900" spc="-5">
                          <a:effectLst/>
                        </a:rPr>
                        <a:t>-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r>
                        <a:rPr lang="en-US" sz="900" spc="-5">
                          <a:effectLst/>
                        </a:rPr>
                        <a:t>R</a:t>
                      </a:r>
                      <a:r>
                        <a:rPr lang="en-US" sz="900">
                          <a:effectLst/>
                        </a:rPr>
                        <a:t>OP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22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50000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</a:pPr>
                      <a:r>
                        <a:rPr lang="en-US" sz="900" spc="-45" dirty="0">
                          <a:effectLst/>
                        </a:rPr>
                        <a:t>T</a:t>
                      </a:r>
                      <a:r>
                        <a:rPr lang="en-US" sz="900" dirty="0">
                          <a:effectLst/>
                        </a:rPr>
                        <a:t>ra</a:t>
                      </a:r>
                      <a:r>
                        <a:rPr lang="en-US" sz="900" spc="5" dirty="0">
                          <a:effectLst/>
                        </a:rPr>
                        <a:t>nsm</a:t>
                      </a:r>
                      <a:r>
                        <a:rPr lang="en-US" sz="900" spc="-10" dirty="0">
                          <a:effectLst/>
                        </a:rPr>
                        <a:t>i</a:t>
                      </a:r>
                      <a:r>
                        <a:rPr lang="en-US" sz="900" spc="5" dirty="0">
                          <a:effectLst/>
                        </a:rPr>
                        <a:t>ss</a:t>
                      </a:r>
                      <a:r>
                        <a:rPr lang="en-US" sz="900" dirty="0">
                          <a:effectLst/>
                        </a:rPr>
                        <a:t>i</a:t>
                      </a:r>
                      <a:r>
                        <a:rPr lang="en-US" sz="900" spc="5" dirty="0">
                          <a:effectLst/>
                        </a:rPr>
                        <a:t>o</a:t>
                      </a:r>
                      <a:r>
                        <a:rPr lang="en-US" sz="900" dirty="0">
                          <a:effectLst/>
                        </a:rPr>
                        <a:t>n</a:t>
                      </a:r>
                      <a:r>
                        <a:rPr lang="en-US" sz="900" spc="-10" dirty="0">
                          <a:effectLst/>
                        </a:rPr>
                        <a:t> </a:t>
                      </a:r>
                      <a:r>
                        <a:rPr lang="en-US" sz="900" dirty="0">
                          <a:effectLst/>
                        </a:rPr>
                        <a:t>S</a:t>
                      </a:r>
                      <a:r>
                        <a:rPr lang="en-US" sz="900" spc="5" dirty="0">
                          <a:effectLst/>
                        </a:rPr>
                        <a:t>pe</a:t>
                      </a:r>
                      <a:r>
                        <a:rPr lang="en-US" sz="900" spc="-10" dirty="0">
                          <a:effectLst/>
                        </a:rPr>
                        <a:t>e</a:t>
                      </a:r>
                      <a:r>
                        <a:rPr lang="en-US" sz="900" dirty="0">
                          <a:effectLst/>
                        </a:rPr>
                        <a:t>d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0490">
                        <a:lnSpc>
                          <a:spcPct val="15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en-US" sz="900" spc="-5" dirty="0">
                          <a:effectLst/>
                        </a:rPr>
                        <a:t>Max. 19</a:t>
                      </a:r>
                      <a:r>
                        <a:rPr lang="en-US" sz="900" spc="5" dirty="0">
                          <a:effectLst/>
                        </a:rPr>
                        <a:t>,</a:t>
                      </a:r>
                      <a:r>
                        <a:rPr lang="en-US" sz="900" spc="-5" dirty="0">
                          <a:effectLst/>
                        </a:rPr>
                        <a:t>20</a:t>
                      </a:r>
                      <a:r>
                        <a:rPr lang="en-US" sz="900" dirty="0">
                          <a:effectLst/>
                        </a:rPr>
                        <a:t>0</a:t>
                      </a:r>
                      <a:r>
                        <a:rPr lang="en-US" sz="900" spc="5" dirty="0">
                          <a:effectLst/>
                        </a:rPr>
                        <a:t> </a:t>
                      </a:r>
                      <a:r>
                        <a:rPr lang="en-US" sz="900" spc="-10" dirty="0">
                          <a:effectLst/>
                        </a:rPr>
                        <a:t>B</a:t>
                      </a:r>
                      <a:r>
                        <a:rPr lang="en-US" sz="900" spc="5" dirty="0">
                          <a:effectLst/>
                        </a:rPr>
                        <a:t>P</a:t>
                      </a:r>
                      <a:r>
                        <a:rPr lang="en-US" sz="900" dirty="0">
                          <a:effectLst/>
                        </a:rPr>
                        <a:t>S </a:t>
                      </a:r>
                      <a:r>
                        <a:rPr lang="en-US" sz="900" spc="-5" dirty="0">
                          <a:effectLst/>
                        </a:rPr>
                        <a:t>(</a:t>
                      </a:r>
                      <a:r>
                        <a:rPr lang="en-US" sz="900" spc="-10" dirty="0">
                          <a:effectLst/>
                        </a:rPr>
                        <a:t>M</a:t>
                      </a:r>
                      <a:r>
                        <a:rPr lang="en-US" sz="900" spc="-5" dirty="0">
                          <a:effectLst/>
                        </a:rPr>
                        <a:t>od</a:t>
                      </a:r>
                      <a:r>
                        <a:rPr lang="en-US" sz="900" dirty="0">
                          <a:effectLst/>
                        </a:rPr>
                        <a:t>i</a:t>
                      </a:r>
                      <a:r>
                        <a:rPr lang="en-US" sz="900" spc="5" dirty="0">
                          <a:effectLst/>
                        </a:rPr>
                        <a:t>f</a:t>
                      </a:r>
                      <a:r>
                        <a:rPr lang="en-US" sz="900" dirty="0">
                          <a:effectLst/>
                        </a:rPr>
                        <a:t>i</a:t>
                      </a:r>
                      <a:r>
                        <a:rPr lang="en-US" sz="900" spc="5" dirty="0">
                          <a:effectLst/>
                        </a:rPr>
                        <a:t>c</a:t>
                      </a:r>
                      <a:r>
                        <a:rPr lang="en-US" sz="900" spc="-15" dirty="0">
                          <a:effectLst/>
                        </a:rPr>
                        <a:t>a</a:t>
                      </a:r>
                      <a:r>
                        <a:rPr lang="en-US" sz="900" spc="5" dirty="0">
                          <a:effectLst/>
                        </a:rPr>
                        <a:t>t</a:t>
                      </a:r>
                      <a:r>
                        <a:rPr lang="en-US" sz="900" dirty="0">
                          <a:effectLst/>
                        </a:rPr>
                        <a:t>ion</a:t>
                      </a:r>
                      <a:r>
                        <a:rPr lang="en-US" sz="900" spc="-10" dirty="0">
                          <a:effectLst/>
                        </a:rPr>
                        <a:t> </a:t>
                      </a:r>
                      <a:r>
                        <a:rPr lang="en-US" sz="900" spc="5" dirty="0">
                          <a:effectLst/>
                        </a:rPr>
                        <a:t>c</a:t>
                      </a:r>
                      <a:r>
                        <a:rPr lang="en-US" sz="900" spc="-5" dirty="0">
                          <a:effectLst/>
                        </a:rPr>
                        <a:t>a</a:t>
                      </a:r>
                      <a:r>
                        <a:rPr lang="en-US" sz="900" dirty="0">
                          <a:effectLst/>
                        </a:rPr>
                        <a:t>n</a:t>
                      </a:r>
                      <a:r>
                        <a:rPr lang="en-US" sz="900" spc="5" dirty="0">
                          <a:effectLst/>
                        </a:rPr>
                        <a:t> </a:t>
                      </a:r>
                      <a:r>
                        <a:rPr lang="en-US" sz="900" spc="-5" dirty="0">
                          <a:effectLst/>
                        </a:rPr>
                        <a:t>b</a:t>
                      </a:r>
                      <a:r>
                        <a:rPr lang="en-US" sz="900" dirty="0">
                          <a:effectLst/>
                        </a:rPr>
                        <a:t>e</a:t>
                      </a:r>
                      <a:r>
                        <a:rPr lang="en-US" sz="900" spc="-10" dirty="0">
                          <a:effectLst/>
                        </a:rPr>
                        <a:t> </a:t>
                      </a:r>
                      <a:r>
                        <a:rPr lang="en-US" sz="900" spc="-5" dirty="0">
                          <a:effectLst/>
                        </a:rPr>
                        <a:t>don</a:t>
                      </a:r>
                      <a:r>
                        <a:rPr lang="en-US" sz="900" dirty="0">
                          <a:effectLst/>
                        </a:rPr>
                        <a:t>e</a:t>
                      </a:r>
                      <a:r>
                        <a:rPr lang="en-US" sz="900" spc="5" dirty="0">
                          <a:effectLst/>
                        </a:rPr>
                        <a:t> f</a:t>
                      </a:r>
                      <a:r>
                        <a:rPr lang="en-US" sz="900" spc="-5" dirty="0">
                          <a:effectLst/>
                        </a:rPr>
                        <a:t>o</a:t>
                      </a:r>
                      <a:r>
                        <a:rPr lang="en-US" sz="900" dirty="0">
                          <a:effectLst/>
                        </a:rPr>
                        <a:t>r </a:t>
                      </a:r>
                      <a:r>
                        <a:rPr lang="en-US" sz="900" spc="-5" dirty="0">
                          <a:effectLst/>
                        </a:rPr>
                        <a:t>per</a:t>
                      </a:r>
                      <a:r>
                        <a:rPr lang="en-US" sz="900" spc="5" dirty="0">
                          <a:effectLst/>
                        </a:rPr>
                        <a:t>f</a:t>
                      </a:r>
                      <a:r>
                        <a:rPr lang="en-US" sz="900" spc="-5" dirty="0">
                          <a:effectLst/>
                        </a:rPr>
                        <a:t>o</a:t>
                      </a:r>
                      <a:r>
                        <a:rPr lang="en-US" sz="900" spc="-15" dirty="0">
                          <a:effectLst/>
                        </a:rPr>
                        <a:t>r</a:t>
                      </a:r>
                      <a:r>
                        <a:rPr lang="en-US" sz="900" spc="15" dirty="0">
                          <a:effectLst/>
                        </a:rPr>
                        <a:t>m</a:t>
                      </a:r>
                      <a:r>
                        <a:rPr lang="en-US" sz="900" spc="-5" dirty="0">
                          <a:effectLst/>
                        </a:rPr>
                        <a:t>a</a:t>
                      </a:r>
                      <a:r>
                        <a:rPr lang="en-US" sz="900" spc="-15" dirty="0">
                          <a:effectLst/>
                        </a:rPr>
                        <a:t>n</a:t>
                      </a:r>
                      <a:r>
                        <a:rPr lang="en-US" sz="900" spc="5" dirty="0">
                          <a:effectLst/>
                        </a:rPr>
                        <a:t>c</a:t>
                      </a:r>
                      <a:r>
                        <a:rPr lang="en-US" sz="900" dirty="0">
                          <a:effectLst/>
                        </a:rPr>
                        <a:t>e</a:t>
                      </a:r>
                      <a:r>
                        <a:rPr lang="en-US" sz="900" spc="5" dirty="0">
                          <a:effectLst/>
                        </a:rPr>
                        <a:t> </a:t>
                      </a:r>
                      <a:r>
                        <a:rPr lang="en-US" sz="900" spc="-10" dirty="0">
                          <a:effectLst/>
                        </a:rPr>
                        <a:t>i</a:t>
                      </a:r>
                      <a:r>
                        <a:rPr lang="en-US" sz="900" dirty="0">
                          <a:effectLst/>
                        </a:rPr>
                        <a:t>mp</a:t>
                      </a:r>
                      <a:r>
                        <a:rPr lang="en-US" sz="900" spc="-5" dirty="0">
                          <a:effectLst/>
                        </a:rPr>
                        <a:t>rove</a:t>
                      </a:r>
                      <a:r>
                        <a:rPr lang="en-US" sz="900" spc="15" dirty="0">
                          <a:effectLst/>
                        </a:rPr>
                        <a:t>m</a:t>
                      </a:r>
                      <a:r>
                        <a:rPr lang="en-US" sz="900" spc="-5" dirty="0">
                          <a:effectLst/>
                        </a:rPr>
                        <a:t>e</a:t>
                      </a:r>
                      <a:r>
                        <a:rPr lang="en-US" sz="900" spc="-15" dirty="0">
                          <a:effectLst/>
                        </a:rPr>
                        <a:t>n</a:t>
                      </a:r>
                      <a:r>
                        <a:rPr lang="en-US" sz="900" spc="5" dirty="0">
                          <a:effectLst/>
                        </a:rPr>
                        <a:t>t</a:t>
                      </a:r>
                      <a:r>
                        <a:rPr lang="en-US" sz="900" dirty="0">
                          <a:effectLst/>
                        </a:rPr>
                        <a:t>)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7337" y="5808715"/>
            <a:ext cx="7489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*Delivers fast and correct train service information to passengers by using 3-colors LED.</a:t>
            </a:r>
            <a:r>
              <a:rPr lang="ko-KR" altLang="en-US" sz="1400" dirty="0" smtClean="0"/>
              <a:t>  </a:t>
            </a:r>
            <a:endParaRPr lang="ko-KR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616658" y="260648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latin typeface="Calibri" pitchFamily="34" charset="0"/>
              </a:rPr>
              <a:t>Driver PA Operation Box (DPO)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7" name="직사각형 6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9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직사각형 9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615232"/>
              </p:ext>
            </p:extLst>
          </p:nvPr>
        </p:nvGraphicFramePr>
        <p:xfrm>
          <a:off x="1579054" y="2780928"/>
          <a:ext cx="5981700" cy="2948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3295"/>
                <a:gridCol w="3948405"/>
              </a:tblGrid>
              <a:tr h="251460">
                <a:tc>
                  <a:txBody>
                    <a:bodyPr/>
                    <a:lstStyle/>
                    <a:p>
                      <a:pPr marR="63500" algn="ctr">
                        <a:lnSpc>
                          <a:spcPct val="150000"/>
                        </a:lnSpc>
                        <a:spcBef>
                          <a:spcPts val="44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It</a:t>
                      </a:r>
                      <a:r>
                        <a:rPr lang="en-US" sz="1000" spc="5" dirty="0">
                          <a:effectLst/>
                        </a:rPr>
                        <a:t>e</a:t>
                      </a:r>
                      <a:r>
                        <a:rPr lang="en-US" sz="1000" dirty="0">
                          <a:effectLst/>
                        </a:rPr>
                        <a:t>m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0960" marR="63500" algn="ctr">
                        <a:lnSpc>
                          <a:spcPct val="150000"/>
                        </a:lnSpc>
                        <a:spcBef>
                          <a:spcPts val="44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Sp</a:t>
                      </a:r>
                      <a:r>
                        <a:rPr lang="en-US" sz="1000" spc="5">
                          <a:effectLst/>
                        </a:rPr>
                        <a:t>ec</a:t>
                      </a:r>
                      <a:r>
                        <a:rPr lang="en-US" sz="1000">
                          <a:effectLst/>
                        </a:rPr>
                        <a:t>if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 spc="-10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ti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n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91770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 spc="20">
                          <a:effectLst/>
                        </a:rPr>
                        <a:t>w</a:t>
                      </a:r>
                      <a:r>
                        <a:rPr lang="en-US" sz="1000" spc="5">
                          <a:effectLst/>
                        </a:rPr>
                        <a:t>e</a:t>
                      </a:r>
                      <a:r>
                        <a:rPr lang="en-US" sz="1000">
                          <a:effectLst/>
                        </a:rPr>
                        <a:t>r L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spc="-20" dirty="0">
                          <a:effectLst/>
                        </a:rPr>
                        <a:t>M</a:t>
                      </a:r>
                      <a:r>
                        <a:rPr lang="en-US" sz="1000" spc="15" dirty="0">
                          <a:effectLst/>
                        </a:rPr>
                        <a:t>a</a:t>
                      </a:r>
                      <a:r>
                        <a:rPr lang="en-US" sz="1000" spc="-5" dirty="0">
                          <a:effectLst/>
                        </a:rPr>
                        <a:t>x</a:t>
                      </a:r>
                      <a:r>
                        <a:rPr lang="en-US" sz="1000" dirty="0">
                          <a:effectLst/>
                        </a:rPr>
                        <a:t>.</a:t>
                      </a:r>
                      <a:r>
                        <a:rPr lang="en-US" sz="1000" spc="5" dirty="0">
                          <a:effectLst/>
                        </a:rPr>
                        <a:t> 75</a:t>
                      </a:r>
                      <a:r>
                        <a:rPr lang="en-US" sz="1000" dirty="0">
                          <a:effectLst/>
                        </a:rPr>
                        <a:t>W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73990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Input Power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</a:t>
                      </a:r>
                      <a:r>
                        <a:rPr lang="en-US" sz="1000" spc="-5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37</a:t>
                      </a:r>
                      <a:r>
                        <a:rPr lang="en-US" sz="1000">
                          <a:effectLst/>
                        </a:rPr>
                        <a:t>.</a:t>
                      </a:r>
                      <a:r>
                        <a:rPr lang="en-US" sz="1000" spc="5">
                          <a:effectLst/>
                        </a:rPr>
                        <a:t>5</a:t>
                      </a:r>
                      <a:r>
                        <a:rPr lang="en-US" sz="1000">
                          <a:effectLst/>
                        </a:rPr>
                        <a:t>V(DC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24</a:t>
                      </a:r>
                      <a:r>
                        <a:rPr lang="en-US" sz="1000">
                          <a:effectLst/>
                        </a:rPr>
                        <a:t>V</a:t>
                      </a:r>
                      <a:r>
                        <a:rPr lang="en-US" sz="1000" spc="-10">
                          <a:effectLst/>
                        </a:rPr>
                        <a:t>~</a:t>
                      </a:r>
                      <a:r>
                        <a:rPr lang="en-US" sz="1000" spc="5">
                          <a:effectLst/>
                        </a:rPr>
                        <a:t>48</a:t>
                      </a:r>
                      <a:r>
                        <a:rPr lang="en-US" sz="1000">
                          <a:effectLst/>
                        </a:rPr>
                        <a:t>V)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434340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Input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0015" marR="275590">
                        <a:lnSpc>
                          <a:spcPct val="15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ISP,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ESP </a:t>
                      </a:r>
                      <a:r>
                        <a:rPr lang="en-US" sz="1000" spc="5">
                          <a:effectLst/>
                        </a:rPr>
                        <a:t>an</a:t>
                      </a:r>
                      <a:r>
                        <a:rPr lang="en-US" sz="1000">
                          <a:effectLst/>
                        </a:rPr>
                        <a:t>d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B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h</a:t>
                      </a:r>
                      <a:r>
                        <a:rPr lang="en-US" sz="1000">
                          <a:effectLst/>
                        </a:rPr>
                        <a:t>.</a:t>
                      </a:r>
                      <a:r>
                        <a:rPr lang="en-US" sz="1000" spc="-10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on</a:t>
                      </a:r>
                      <a:r>
                        <a:rPr lang="en-US" sz="1000" spc="-10">
                          <a:effectLst/>
                        </a:rPr>
                        <a:t>d</a:t>
                      </a:r>
                      <a:r>
                        <a:rPr lang="en-US" sz="1000" spc="5">
                          <a:effectLst/>
                        </a:rPr>
                        <a:t>uc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r</a:t>
                      </a:r>
                      <a:r>
                        <a:rPr lang="en-US" sz="1000" spc="-10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me</a:t>
                      </a:r>
                      <a:r>
                        <a:rPr lang="en-US" sz="1000" spc="-5">
                          <a:effectLst/>
                        </a:rPr>
                        <a:t>m</a:t>
                      </a:r>
                      <a:r>
                        <a:rPr lang="en-US" sz="1000" spc="5">
                          <a:effectLst/>
                        </a:rPr>
                        <a:t>be</a:t>
                      </a:r>
                      <a:r>
                        <a:rPr lang="en-US" sz="1000">
                          <a:effectLst/>
                        </a:rPr>
                        <a:t>r</a:t>
                      </a:r>
                      <a:r>
                        <a:rPr lang="en-US" sz="1000" spc="-10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ca</a:t>
                      </a:r>
                      <a:r>
                        <a:rPr lang="en-US" sz="1000" spc="-10">
                          <a:effectLst/>
                        </a:rPr>
                        <a:t>l</a:t>
                      </a:r>
                      <a:r>
                        <a:rPr lang="en-US" sz="1000">
                          <a:effectLst/>
                        </a:rPr>
                        <a:t>l</a:t>
                      </a:r>
                      <a:r>
                        <a:rPr lang="en-US" sz="1000" spc="5">
                          <a:effectLst/>
                        </a:rPr>
                        <a:t> a</a:t>
                      </a:r>
                      <a:r>
                        <a:rPr lang="en-US" sz="1000" spc="-10">
                          <a:effectLst/>
                        </a:rPr>
                        <a:t>n</a:t>
                      </a:r>
                      <a:r>
                        <a:rPr lang="en-US" sz="1000">
                          <a:effectLst/>
                        </a:rPr>
                        <a:t>d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 spc="-5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 spc="-5">
                          <a:effectLst/>
                        </a:rPr>
                        <a:t>m</a:t>
                      </a:r>
                      <a:r>
                        <a:rPr lang="en-US" sz="1000" spc="5">
                          <a:effectLst/>
                        </a:rPr>
                        <a:t>mu</a:t>
                      </a:r>
                      <a:r>
                        <a:rPr lang="en-US" sz="1000" spc="-10">
                          <a:effectLst/>
                        </a:rPr>
                        <a:t>n</a:t>
                      </a:r>
                      <a:r>
                        <a:rPr lang="en-US" sz="1000" spc="5">
                          <a:effectLst/>
                        </a:rPr>
                        <a:t>ic</a:t>
                      </a:r>
                      <a:r>
                        <a:rPr lang="en-US" sz="1000" spc="-10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-5">
                          <a:effectLst/>
                        </a:rPr>
                        <a:t>i</a:t>
                      </a:r>
                      <a:r>
                        <a:rPr lang="en-US" sz="1000" spc="5">
                          <a:effectLst/>
                        </a:rPr>
                        <a:t>on</a:t>
                      </a:r>
                      <a:r>
                        <a:rPr lang="en-US" sz="1000">
                          <a:effectLst/>
                        </a:rPr>
                        <a:t>,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I</a:t>
                      </a:r>
                      <a:r>
                        <a:rPr lang="en-US" sz="1000" spc="5">
                          <a:effectLst/>
                        </a:rPr>
                        <a:t>n</a:t>
                      </a:r>
                      <a:r>
                        <a:rPr lang="en-US" sz="1000" spc="-1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e</a:t>
                      </a:r>
                      <a:r>
                        <a:rPr lang="en-US" sz="1000">
                          <a:effectLst/>
                        </a:rPr>
                        <a:t>r</a:t>
                      </a:r>
                      <a:r>
                        <a:rPr lang="en-US" sz="1000" spc="-5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m </a:t>
                      </a:r>
                      <a:r>
                        <a:rPr lang="en-US" sz="1000" spc="5">
                          <a:effectLst/>
                        </a:rPr>
                        <a:t>co</a:t>
                      </a:r>
                      <a:r>
                        <a:rPr lang="en-US" sz="1000" spc="-5">
                          <a:effectLst/>
                        </a:rPr>
                        <a:t>m</a:t>
                      </a:r>
                      <a:r>
                        <a:rPr lang="en-US" sz="1000" spc="5">
                          <a:effectLst/>
                        </a:rPr>
                        <a:t>mu</a:t>
                      </a:r>
                      <a:r>
                        <a:rPr lang="en-US" sz="1000" spc="-10">
                          <a:effectLst/>
                        </a:rPr>
                        <a:t>n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 spc="-5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 spc="10">
                          <a:effectLst/>
                        </a:rPr>
                        <a:t>n</a:t>
                      </a:r>
                      <a:r>
                        <a:rPr lang="en-US" sz="1000">
                          <a:effectLst/>
                        </a:rPr>
                        <a:t>,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C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 spc="5">
                          <a:effectLst/>
                        </a:rPr>
                        <a:t>mm</a:t>
                      </a:r>
                      <a:r>
                        <a:rPr lang="en-US" sz="1000" spc="-10">
                          <a:effectLst/>
                        </a:rPr>
                        <a:t>u</a:t>
                      </a:r>
                      <a:r>
                        <a:rPr lang="en-US" sz="1000" spc="5">
                          <a:effectLst/>
                        </a:rPr>
                        <a:t>ni</a:t>
                      </a:r>
                      <a:r>
                        <a:rPr lang="en-US" sz="1000" spc="-5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-5">
                          <a:effectLst/>
                        </a:rPr>
                        <a:t>i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n</a:t>
                      </a:r>
                      <a:r>
                        <a:rPr lang="en-US" sz="1000" spc="5">
                          <a:effectLst/>
                        </a:rPr>
                        <a:t> te</a:t>
                      </a:r>
                      <a:r>
                        <a:rPr lang="en-US" sz="1000" spc="-10">
                          <a:effectLst/>
                        </a:rPr>
                        <a:t>r</a:t>
                      </a:r>
                      <a:r>
                        <a:rPr lang="en-US" sz="1000" spc="5">
                          <a:effectLst/>
                        </a:rPr>
                        <a:t>mi</a:t>
                      </a:r>
                      <a:r>
                        <a:rPr lang="en-US" sz="1000" spc="-10">
                          <a:effectLst/>
                        </a:rPr>
                        <a:t>n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i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 spc="5">
                          <a:effectLst/>
                        </a:rPr>
                        <a:t>n</a:t>
                      </a:r>
                      <a:r>
                        <a:rPr lang="en-US" sz="1000">
                          <a:effectLst/>
                        </a:rPr>
                        <a:t>,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spe</a:t>
                      </a:r>
                      <a:r>
                        <a:rPr lang="en-US" sz="1000" spc="-10">
                          <a:effectLst/>
                        </a:rPr>
                        <a:t>a</a:t>
                      </a:r>
                      <a:r>
                        <a:rPr lang="en-US" sz="1000" spc="5">
                          <a:effectLst/>
                        </a:rPr>
                        <a:t>ke</a:t>
                      </a:r>
                      <a:r>
                        <a:rPr lang="en-US" sz="1000">
                          <a:effectLst/>
                        </a:rPr>
                        <a:t>r </a:t>
                      </a:r>
                      <a:r>
                        <a:rPr lang="en-US" sz="1000" spc="-5">
                          <a:effectLst/>
                        </a:rPr>
                        <a:t>v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 spc="-10">
                          <a:effectLst/>
                        </a:rPr>
                        <a:t>l</a:t>
                      </a:r>
                      <a:r>
                        <a:rPr lang="en-US" sz="1000" spc="5">
                          <a:effectLst/>
                        </a:rPr>
                        <a:t>u</a:t>
                      </a:r>
                      <a:r>
                        <a:rPr lang="en-US" sz="1000" spc="-5">
                          <a:effectLst/>
                        </a:rPr>
                        <a:t>m</a:t>
                      </a:r>
                      <a:r>
                        <a:rPr lang="en-US" sz="1000">
                          <a:effectLst/>
                        </a:rPr>
                        <a:t>e</a:t>
                      </a:r>
                      <a:r>
                        <a:rPr lang="en-US" sz="1000" spc="5">
                          <a:effectLst/>
                        </a:rPr>
                        <a:t> ad</a:t>
                      </a:r>
                      <a:r>
                        <a:rPr lang="en-US" sz="1000" spc="-10">
                          <a:effectLst/>
                        </a:rPr>
                        <a:t>j</a:t>
                      </a:r>
                      <a:r>
                        <a:rPr lang="en-US" sz="1000" spc="5">
                          <a:effectLst/>
                        </a:rPr>
                        <a:t>us</a:t>
                      </a:r>
                      <a:r>
                        <a:rPr lang="en-US" sz="1000" spc="-1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me</a:t>
                      </a:r>
                      <a:r>
                        <a:rPr lang="en-US" sz="1000" spc="-10">
                          <a:effectLst/>
                        </a:rPr>
                        <a:t>n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73990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Control Method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0"/>
                        </a:spcAft>
                      </a:pPr>
                      <a:r>
                        <a:rPr lang="en-US" sz="1000" spc="5">
                          <a:effectLst/>
                        </a:rPr>
                        <a:t>Log</a:t>
                      </a:r>
                      <a:r>
                        <a:rPr lang="en-US" sz="1000" spc="-10">
                          <a:effectLst/>
                        </a:rPr>
                        <a:t>i</a:t>
                      </a:r>
                      <a:r>
                        <a:rPr lang="en-US" sz="1000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on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-10">
                          <a:effectLst/>
                        </a:rPr>
                        <a:t>r</a:t>
                      </a:r>
                      <a:r>
                        <a:rPr lang="en-US" sz="1000" spc="5">
                          <a:effectLst/>
                        </a:rPr>
                        <a:t>o</a:t>
                      </a:r>
                      <a:r>
                        <a:rPr lang="en-US" sz="1000">
                          <a:effectLst/>
                        </a:rPr>
                        <a:t>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73990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Dimming Control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115"/>
                        </a:spcBef>
                        <a:spcAft>
                          <a:spcPts val="0"/>
                        </a:spcAft>
                      </a:pPr>
                      <a:r>
                        <a:rPr lang="en-US" sz="1000" spc="-25" dirty="0">
                          <a:effectLst/>
                        </a:rPr>
                        <a:t>P</a:t>
                      </a:r>
                      <a:r>
                        <a:rPr lang="en-US" sz="1000" spc="50" dirty="0">
                          <a:effectLst/>
                        </a:rPr>
                        <a:t>W</a:t>
                      </a:r>
                      <a:r>
                        <a:rPr lang="en-US" sz="1000" dirty="0">
                          <a:effectLst/>
                        </a:rPr>
                        <a:t>M</a:t>
                      </a:r>
                      <a:r>
                        <a:rPr lang="en-US" sz="1000" spc="-1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(Pr</a:t>
                      </a:r>
                      <a:r>
                        <a:rPr lang="en-US" sz="1000" spc="5" dirty="0">
                          <a:effectLst/>
                        </a:rPr>
                        <a:t>o</a:t>
                      </a:r>
                      <a:r>
                        <a:rPr lang="en-US" sz="1000" spc="-5" dirty="0">
                          <a:effectLst/>
                        </a:rPr>
                        <a:t>v</a:t>
                      </a:r>
                      <a:r>
                        <a:rPr lang="en-US" sz="1000" spc="5" dirty="0">
                          <a:effectLst/>
                        </a:rPr>
                        <a:t>i</a:t>
                      </a:r>
                      <a:r>
                        <a:rPr lang="en-US" sz="1000" spc="-10" dirty="0">
                          <a:effectLst/>
                        </a:rPr>
                        <a:t>d</a:t>
                      </a:r>
                      <a:r>
                        <a:rPr lang="en-US" sz="1000" spc="5" dirty="0">
                          <a:effectLst/>
                        </a:rPr>
                        <a:t>e</a:t>
                      </a:r>
                      <a:r>
                        <a:rPr lang="en-US" sz="1000" dirty="0">
                          <a:effectLst/>
                        </a:rPr>
                        <a:t>d</a:t>
                      </a:r>
                      <a:r>
                        <a:rPr lang="en-US" sz="1000" spc="5" dirty="0">
                          <a:effectLst/>
                        </a:rPr>
                        <a:t> b</a:t>
                      </a:r>
                      <a:r>
                        <a:rPr lang="en-US" sz="1000" dirty="0">
                          <a:effectLst/>
                        </a:rPr>
                        <a:t>y</a:t>
                      </a:r>
                      <a:r>
                        <a:rPr lang="en-US" sz="1000" spc="-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R</a:t>
                      </a:r>
                      <a:r>
                        <a:rPr lang="en-US" sz="1000" spc="5" dirty="0">
                          <a:effectLst/>
                        </a:rPr>
                        <a:t>o</a:t>
                      </a:r>
                      <a:r>
                        <a:rPr lang="en-US" sz="1000" spc="-10" dirty="0">
                          <a:effectLst/>
                        </a:rPr>
                        <a:t>t</a:t>
                      </a:r>
                      <a:r>
                        <a:rPr lang="en-US" sz="1000" spc="5" dirty="0">
                          <a:effectLst/>
                        </a:rPr>
                        <a:t>em</a:t>
                      </a:r>
                      <a:r>
                        <a:rPr lang="en-US" sz="1000" spc="10" dirty="0">
                          <a:effectLst/>
                        </a:rPr>
                        <a:t>)</a:t>
                      </a:r>
                      <a:r>
                        <a:rPr lang="en-US" sz="1000" dirty="0">
                          <a:effectLst/>
                        </a:rPr>
                        <a:t>,</a:t>
                      </a:r>
                      <a:r>
                        <a:rPr lang="en-US" sz="1000" spc="5" dirty="0">
                          <a:effectLst/>
                        </a:rPr>
                        <a:t> </a:t>
                      </a:r>
                      <a:r>
                        <a:rPr lang="en-US" sz="1000" spc="-10" dirty="0">
                          <a:effectLst/>
                        </a:rPr>
                        <a:t>(1</a:t>
                      </a:r>
                      <a:r>
                        <a:rPr lang="en-US" sz="1000" spc="5" dirty="0">
                          <a:effectLst/>
                        </a:rPr>
                        <a:t>0</a:t>
                      </a:r>
                      <a:r>
                        <a:rPr lang="en-US" sz="1000" dirty="0">
                          <a:effectLst/>
                        </a:rPr>
                        <a:t>-</a:t>
                      </a:r>
                      <a:r>
                        <a:rPr lang="en-US" sz="1000" spc="5" dirty="0">
                          <a:effectLst/>
                        </a:rPr>
                        <a:t>100</a:t>
                      </a:r>
                      <a:r>
                        <a:rPr lang="en-US" sz="1000" spc="-10" dirty="0">
                          <a:effectLst/>
                        </a:rPr>
                        <a:t>%</a:t>
                      </a:r>
                      <a:r>
                        <a:rPr lang="en-US" sz="1000" dirty="0">
                          <a:effectLst/>
                        </a:rPr>
                        <a:t>,</a:t>
                      </a:r>
                      <a:r>
                        <a:rPr lang="en-US" sz="1000" spc="5" dirty="0">
                          <a:effectLst/>
                        </a:rPr>
                        <a:t> 62</a:t>
                      </a:r>
                      <a:r>
                        <a:rPr lang="en-US" sz="1000" dirty="0">
                          <a:effectLst/>
                        </a:rPr>
                        <a:t>H</a:t>
                      </a:r>
                      <a:r>
                        <a:rPr lang="en-US" sz="1000" spc="-10" dirty="0">
                          <a:effectLst/>
                        </a:rPr>
                        <a:t>z</a:t>
                      </a:r>
                      <a:r>
                        <a:rPr lang="en-US" sz="1000" dirty="0">
                          <a:effectLst/>
                        </a:rPr>
                        <a:t>)</a:t>
                      </a:r>
                      <a:r>
                        <a:rPr lang="en-US" sz="1000" spc="5" dirty="0">
                          <a:effectLst/>
                        </a:rPr>
                        <a:t> 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73990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Speaker Output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0"/>
                        </a:spcAft>
                      </a:pPr>
                      <a:r>
                        <a:rPr lang="en-US" sz="1000" spc="-20">
                          <a:effectLst/>
                        </a:rPr>
                        <a:t>3W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63195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Material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AL6061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63195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Color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B</a:t>
                      </a:r>
                      <a:r>
                        <a:rPr lang="en-US" sz="1000" spc="5">
                          <a:effectLst/>
                        </a:rPr>
                        <a:t>la</a:t>
                      </a:r>
                      <a:r>
                        <a:rPr lang="en-US" sz="1000" spc="-5">
                          <a:effectLst/>
                        </a:rPr>
                        <a:t>c</a:t>
                      </a:r>
                      <a:r>
                        <a:rPr lang="en-US" sz="1000">
                          <a:effectLst/>
                        </a:rPr>
                        <a:t>k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(</a:t>
                      </a:r>
                      <a:r>
                        <a:rPr lang="en-US" sz="1000" spc="-10">
                          <a:effectLst/>
                        </a:rPr>
                        <a:t>T</a:t>
                      </a:r>
                      <a:r>
                        <a:rPr lang="en-US" sz="1000">
                          <a:effectLst/>
                        </a:rPr>
                        <a:t>o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 spc="-15">
                          <a:effectLst/>
                        </a:rPr>
                        <a:t>M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t</a:t>
                      </a:r>
                      <a:r>
                        <a:rPr lang="en-US" sz="1000" spc="5">
                          <a:effectLst/>
                        </a:rPr>
                        <a:t>c</a:t>
                      </a:r>
                      <a:r>
                        <a:rPr lang="en-US" sz="1000">
                          <a:effectLst/>
                        </a:rPr>
                        <a:t>h</a:t>
                      </a:r>
                      <a:r>
                        <a:rPr lang="en-US" sz="1000" spc="5">
                          <a:effectLst/>
                        </a:rPr>
                        <a:t> </a:t>
                      </a:r>
                      <a:r>
                        <a:rPr lang="en-US" sz="1000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ab</a:t>
                      </a:r>
                      <a:r>
                        <a:rPr lang="en-US" sz="10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63195">
                <a:tc>
                  <a:txBody>
                    <a:bodyPr/>
                    <a:lstStyle/>
                    <a:p>
                      <a:pPr indent="114300" algn="ctr">
                        <a:lnSpc>
                          <a:spcPct val="15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Operating T</a:t>
                      </a:r>
                      <a:r>
                        <a:rPr lang="en-US" sz="900" spc="5">
                          <a:effectLst/>
                        </a:rPr>
                        <a:t>em</a:t>
                      </a:r>
                      <a:r>
                        <a:rPr lang="en-US" sz="900">
                          <a:effectLst/>
                        </a:rPr>
                        <a:t>p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ra</a:t>
                      </a:r>
                      <a:r>
                        <a:rPr lang="en-US" sz="900" spc="-10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63195">
                <a:tc>
                  <a:txBody>
                    <a:bodyPr/>
                    <a:lstStyle/>
                    <a:p>
                      <a:pPr indent="114300" algn="ctr">
                        <a:lnSpc>
                          <a:spcPct val="15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Storage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-35°C ~ +45°C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27337" y="5808715"/>
            <a:ext cx="7489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itchFamily="34" charset="0"/>
              <a:buChar char="•"/>
            </a:pPr>
            <a:r>
              <a:rPr lang="en-US" altLang="ko-KR" sz="1400" dirty="0" smtClean="0"/>
              <a:t>Delivering correct voice signal without noise is available by using the Dual Tone.</a:t>
            </a:r>
          </a:p>
          <a:p>
            <a:pPr marL="285750" indent="-285750" algn="ctr">
              <a:buFont typeface="Arial" pitchFamily="34" charset="0"/>
              <a:buChar char="•"/>
            </a:pPr>
            <a:r>
              <a:rPr lang="en-US" altLang="ko-KR" sz="1400" dirty="0" smtClean="0"/>
              <a:t>Voice communication between DPO and PEI is available.</a:t>
            </a:r>
            <a:endParaRPr lang="ko-KR" altLang="en-US" sz="1400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126" y="1340768"/>
            <a:ext cx="2016224" cy="1371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latin typeface="Calibri" pitchFamily="34" charset="0"/>
              </a:rPr>
              <a:t>Driver PA Handset (DPH)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" name="Picture 2" descr="F:\1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75856" y="1340769"/>
            <a:ext cx="1584176" cy="1525066"/>
          </a:xfrm>
          <a:prstGeom prst="rect">
            <a:avLst/>
          </a:prstGeom>
          <a:noFill/>
          <a:ln w="28575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797698"/>
              </p:ext>
            </p:extLst>
          </p:nvPr>
        </p:nvGraphicFramePr>
        <p:xfrm>
          <a:off x="1619672" y="2996952"/>
          <a:ext cx="540060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5768"/>
                <a:gridCol w="3564832"/>
              </a:tblGrid>
              <a:tr h="202627">
                <a:tc>
                  <a:txBody>
                    <a:bodyPr/>
                    <a:lstStyle/>
                    <a:p>
                      <a:pPr marR="63500" algn="ctr">
                        <a:lnSpc>
                          <a:spcPct val="150000"/>
                        </a:lnSpc>
                        <a:spcBef>
                          <a:spcPts val="44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It</a:t>
                      </a:r>
                      <a:r>
                        <a:rPr lang="en-US" sz="1000" spc="5" dirty="0">
                          <a:effectLst/>
                        </a:rPr>
                        <a:t>e</a:t>
                      </a:r>
                      <a:r>
                        <a:rPr lang="en-US" sz="1000" dirty="0">
                          <a:effectLst/>
                        </a:rPr>
                        <a:t>m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0960" marR="63500" algn="ctr">
                        <a:lnSpc>
                          <a:spcPct val="150000"/>
                        </a:lnSpc>
                        <a:spcBef>
                          <a:spcPts val="44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Sp</a:t>
                      </a:r>
                      <a:r>
                        <a:rPr lang="en-US" sz="1000" spc="5" dirty="0">
                          <a:effectLst/>
                        </a:rPr>
                        <a:t>ec</a:t>
                      </a:r>
                      <a:r>
                        <a:rPr lang="en-US" sz="1000" dirty="0">
                          <a:effectLst/>
                        </a:rPr>
                        <a:t>if</a:t>
                      </a:r>
                      <a:r>
                        <a:rPr lang="en-US" sz="1000" spc="5" dirty="0">
                          <a:effectLst/>
                        </a:rPr>
                        <a:t>i</a:t>
                      </a:r>
                      <a:r>
                        <a:rPr lang="en-US" sz="1000" spc="-10" dirty="0">
                          <a:effectLst/>
                        </a:rPr>
                        <a:t>c</a:t>
                      </a:r>
                      <a:r>
                        <a:rPr lang="en-US" sz="1000" spc="5" dirty="0">
                          <a:effectLst/>
                        </a:rPr>
                        <a:t>a</a:t>
                      </a:r>
                      <a:r>
                        <a:rPr lang="en-US" sz="1000" dirty="0">
                          <a:effectLst/>
                        </a:rPr>
                        <a:t>ti</a:t>
                      </a:r>
                      <a:r>
                        <a:rPr lang="en-US" sz="1000" spc="5" dirty="0">
                          <a:effectLst/>
                        </a:rPr>
                        <a:t>o</a:t>
                      </a:r>
                      <a:r>
                        <a:rPr lang="en-US" sz="1000" dirty="0">
                          <a:effectLst/>
                        </a:rPr>
                        <a:t>n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84207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 spc="20">
                          <a:effectLst/>
                        </a:rPr>
                        <a:t>w</a:t>
                      </a:r>
                      <a:r>
                        <a:rPr lang="en-US" sz="1000" spc="5">
                          <a:effectLst/>
                        </a:rPr>
                        <a:t>e</a:t>
                      </a:r>
                      <a:r>
                        <a:rPr lang="en-US" sz="1000">
                          <a:effectLst/>
                        </a:rPr>
                        <a:t>r L</a:t>
                      </a:r>
                      <a:r>
                        <a:rPr lang="en-US" sz="1000" spc="-10">
                          <a:effectLst/>
                        </a:rPr>
                        <a:t>o</a:t>
                      </a:r>
                      <a:r>
                        <a:rPr lang="en-US" sz="1000" spc="5">
                          <a:effectLst/>
                        </a:rPr>
                        <a:t>a</a:t>
                      </a:r>
                      <a:r>
                        <a:rPr lang="en-US" sz="10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000" spc="-20">
                          <a:effectLst/>
                        </a:rPr>
                        <a:t>M</a:t>
                      </a:r>
                      <a:r>
                        <a:rPr lang="en-US" sz="1000" spc="15">
                          <a:effectLst/>
                        </a:rPr>
                        <a:t>a</a:t>
                      </a:r>
                      <a:r>
                        <a:rPr lang="en-US" sz="1000" spc="-5">
                          <a:effectLst/>
                        </a:rPr>
                        <a:t>x</a:t>
                      </a:r>
                      <a:r>
                        <a:rPr lang="en-US" sz="1000">
                          <a:effectLst/>
                        </a:rPr>
                        <a:t>.</a:t>
                      </a:r>
                      <a:r>
                        <a:rPr lang="en-US" sz="1000" spc="5">
                          <a:effectLst/>
                        </a:rPr>
                        <a:t> 75</a:t>
                      </a:r>
                      <a:r>
                        <a:rPr lang="en-US" sz="1000">
                          <a:effectLst/>
                        </a:rPr>
                        <a:t>W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4207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Input Power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</a:t>
                      </a:r>
                      <a:r>
                        <a:rPr lang="en-US" sz="1000" spc="-5">
                          <a:effectLst/>
                        </a:rPr>
                        <a:t>C</a:t>
                      </a:r>
                      <a:r>
                        <a:rPr lang="en-US" sz="1000" spc="5">
                          <a:effectLst/>
                        </a:rPr>
                        <a:t>37</a:t>
                      </a:r>
                      <a:r>
                        <a:rPr lang="en-US" sz="1000">
                          <a:effectLst/>
                        </a:rPr>
                        <a:t>.</a:t>
                      </a:r>
                      <a:r>
                        <a:rPr lang="en-US" sz="1000" spc="5">
                          <a:effectLst/>
                        </a:rPr>
                        <a:t>5</a:t>
                      </a:r>
                      <a:r>
                        <a:rPr lang="en-US" sz="1000">
                          <a:effectLst/>
                        </a:rPr>
                        <a:t>V(DC</a:t>
                      </a:r>
                      <a:r>
                        <a:rPr lang="en-US" sz="1000" spc="-5">
                          <a:effectLst/>
                        </a:rPr>
                        <a:t> </a:t>
                      </a:r>
                      <a:r>
                        <a:rPr lang="en-US" sz="1000" spc="5">
                          <a:effectLst/>
                        </a:rPr>
                        <a:t>24</a:t>
                      </a:r>
                      <a:r>
                        <a:rPr lang="en-US" sz="1000">
                          <a:effectLst/>
                        </a:rPr>
                        <a:t>V</a:t>
                      </a:r>
                      <a:r>
                        <a:rPr lang="en-US" sz="1000" spc="-10">
                          <a:effectLst/>
                        </a:rPr>
                        <a:t>~</a:t>
                      </a:r>
                      <a:r>
                        <a:rPr lang="en-US" sz="1000" spc="5">
                          <a:effectLst/>
                        </a:rPr>
                        <a:t>48</a:t>
                      </a:r>
                      <a:r>
                        <a:rPr lang="en-US" sz="1000">
                          <a:effectLst/>
                        </a:rPr>
                        <a:t>V)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552620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Input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0015" marR="275590">
                        <a:lnSpc>
                          <a:spcPct val="15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ISP,</a:t>
                      </a:r>
                      <a:r>
                        <a:rPr lang="en-US" sz="1000" spc="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ESP </a:t>
                      </a:r>
                      <a:r>
                        <a:rPr lang="en-US" sz="1000" spc="5" dirty="0">
                          <a:effectLst/>
                        </a:rPr>
                        <a:t>an</a:t>
                      </a:r>
                      <a:r>
                        <a:rPr lang="en-US" sz="1000" dirty="0">
                          <a:effectLst/>
                        </a:rPr>
                        <a:t>d</a:t>
                      </a:r>
                      <a:r>
                        <a:rPr lang="en-US" sz="1000" spc="-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B</a:t>
                      </a:r>
                      <a:r>
                        <a:rPr lang="en-US" sz="1000" spc="5" dirty="0">
                          <a:effectLst/>
                        </a:rPr>
                        <a:t>o</a:t>
                      </a:r>
                      <a:r>
                        <a:rPr lang="en-US" sz="1000" dirty="0">
                          <a:effectLst/>
                        </a:rPr>
                        <a:t>t</a:t>
                      </a:r>
                      <a:r>
                        <a:rPr lang="en-US" sz="1000" spc="5" dirty="0">
                          <a:effectLst/>
                        </a:rPr>
                        <a:t>h</a:t>
                      </a:r>
                      <a:r>
                        <a:rPr lang="en-US" sz="1000" dirty="0">
                          <a:effectLst/>
                        </a:rPr>
                        <a:t>.</a:t>
                      </a:r>
                      <a:r>
                        <a:rPr lang="en-US" sz="1000" spc="-10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C</a:t>
                      </a:r>
                      <a:r>
                        <a:rPr lang="en-US" sz="1000" spc="5" dirty="0">
                          <a:effectLst/>
                        </a:rPr>
                        <a:t>on</a:t>
                      </a:r>
                      <a:r>
                        <a:rPr lang="en-US" sz="1000" spc="-10" dirty="0">
                          <a:effectLst/>
                        </a:rPr>
                        <a:t>d</a:t>
                      </a:r>
                      <a:r>
                        <a:rPr lang="en-US" sz="1000" spc="5" dirty="0">
                          <a:effectLst/>
                        </a:rPr>
                        <a:t>uc</a:t>
                      </a:r>
                      <a:r>
                        <a:rPr lang="en-US" sz="1000" dirty="0">
                          <a:effectLst/>
                        </a:rPr>
                        <a:t>t</a:t>
                      </a:r>
                      <a:r>
                        <a:rPr lang="en-US" sz="1000" spc="5" dirty="0">
                          <a:effectLst/>
                        </a:rPr>
                        <a:t>o</a:t>
                      </a:r>
                      <a:r>
                        <a:rPr lang="en-US" sz="1000" dirty="0">
                          <a:effectLst/>
                        </a:rPr>
                        <a:t>r</a:t>
                      </a:r>
                      <a:r>
                        <a:rPr lang="en-US" sz="1000" spc="-10" dirty="0">
                          <a:effectLst/>
                        </a:rPr>
                        <a:t> </a:t>
                      </a:r>
                      <a:r>
                        <a:rPr lang="en-US" sz="1000" spc="5" dirty="0">
                          <a:effectLst/>
                        </a:rPr>
                        <a:t>me</a:t>
                      </a:r>
                      <a:r>
                        <a:rPr lang="en-US" sz="1000" spc="-5" dirty="0">
                          <a:effectLst/>
                        </a:rPr>
                        <a:t>m</a:t>
                      </a:r>
                      <a:r>
                        <a:rPr lang="en-US" sz="1000" spc="5" dirty="0">
                          <a:effectLst/>
                        </a:rPr>
                        <a:t>be</a:t>
                      </a:r>
                      <a:r>
                        <a:rPr lang="en-US" sz="1000" dirty="0">
                          <a:effectLst/>
                        </a:rPr>
                        <a:t>r</a:t>
                      </a:r>
                      <a:r>
                        <a:rPr lang="en-US" sz="1000" spc="-10" dirty="0">
                          <a:effectLst/>
                        </a:rPr>
                        <a:t> </a:t>
                      </a:r>
                      <a:r>
                        <a:rPr lang="en-US" sz="1000" spc="5" dirty="0">
                          <a:effectLst/>
                        </a:rPr>
                        <a:t>ca</a:t>
                      </a:r>
                      <a:r>
                        <a:rPr lang="en-US" sz="1000" spc="-10" dirty="0">
                          <a:effectLst/>
                        </a:rPr>
                        <a:t>l</a:t>
                      </a:r>
                      <a:r>
                        <a:rPr lang="en-US" sz="1000" dirty="0">
                          <a:effectLst/>
                        </a:rPr>
                        <a:t>l</a:t>
                      </a:r>
                      <a:r>
                        <a:rPr lang="en-US" sz="1000" spc="5" dirty="0">
                          <a:effectLst/>
                        </a:rPr>
                        <a:t> a</a:t>
                      </a:r>
                      <a:r>
                        <a:rPr lang="en-US" sz="1000" spc="-10" dirty="0">
                          <a:effectLst/>
                        </a:rPr>
                        <a:t>n</a:t>
                      </a:r>
                      <a:r>
                        <a:rPr lang="en-US" sz="1000" dirty="0">
                          <a:effectLst/>
                        </a:rPr>
                        <a:t>d</a:t>
                      </a:r>
                      <a:r>
                        <a:rPr lang="en-US" sz="1000" spc="5" dirty="0">
                          <a:effectLst/>
                        </a:rPr>
                        <a:t> </a:t>
                      </a:r>
                      <a:r>
                        <a:rPr lang="en-US" sz="1000" spc="-5" dirty="0">
                          <a:effectLst/>
                        </a:rPr>
                        <a:t>c</a:t>
                      </a:r>
                      <a:r>
                        <a:rPr lang="en-US" sz="1000" spc="5" dirty="0">
                          <a:effectLst/>
                        </a:rPr>
                        <a:t>o</a:t>
                      </a:r>
                      <a:r>
                        <a:rPr lang="en-US" sz="1000" spc="-5" dirty="0">
                          <a:effectLst/>
                        </a:rPr>
                        <a:t>m</a:t>
                      </a:r>
                      <a:r>
                        <a:rPr lang="en-US" sz="1000" spc="5" dirty="0">
                          <a:effectLst/>
                        </a:rPr>
                        <a:t>mu</a:t>
                      </a:r>
                      <a:r>
                        <a:rPr lang="en-US" sz="1000" spc="-10" dirty="0">
                          <a:effectLst/>
                        </a:rPr>
                        <a:t>n</a:t>
                      </a:r>
                      <a:r>
                        <a:rPr lang="en-US" sz="1000" spc="5" dirty="0">
                          <a:effectLst/>
                        </a:rPr>
                        <a:t>ic</a:t>
                      </a:r>
                      <a:r>
                        <a:rPr lang="en-US" sz="1000" spc="-10" dirty="0">
                          <a:effectLst/>
                        </a:rPr>
                        <a:t>a</a:t>
                      </a:r>
                      <a:r>
                        <a:rPr lang="en-US" sz="1000" dirty="0">
                          <a:effectLst/>
                        </a:rPr>
                        <a:t>t</a:t>
                      </a:r>
                      <a:r>
                        <a:rPr lang="en-US" sz="1000" spc="-5" dirty="0">
                          <a:effectLst/>
                        </a:rPr>
                        <a:t>i</a:t>
                      </a:r>
                      <a:r>
                        <a:rPr lang="en-US" sz="1000" spc="5" dirty="0">
                          <a:effectLst/>
                        </a:rPr>
                        <a:t>on</a:t>
                      </a:r>
                      <a:r>
                        <a:rPr lang="en-US" sz="1000" dirty="0">
                          <a:effectLst/>
                        </a:rPr>
                        <a:t>,</a:t>
                      </a:r>
                      <a:r>
                        <a:rPr lang="en-US" sz="1000" spc="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I</a:t>
                      </a:r>
                      <a:r>
                        <a:rPr lang="en-US" sz="1000" spc="5" dirty="0">
                          <a:effectLst/>
                        </a:rPr>
                        <a:t>n</a:t>
                      </a:r>
                      <a:r>
                        <a:rPr lang="en-US" sz="1000" spc="-10" dirty="0">
                          <a:effectLst/>
                        </a:rPr>
                        <a:t>t</a:t>
                      </a:r>
                      <a:r>
                        <a:rPr lang="en-US" sz="1000" spc="5" dirty="0">
                          <a:effectLst/>
                        </a:rPr>
                        <a:t>e</a:t>
                      </a:r>
                      <a:r>
                        <a:rPr lang="en-US" sz="1000" dirty="0">
                          <a:effectLst/>
                        </a:rPr>
                        <a:t>r</a:t>
                      </a:r>
                      <a:r>
                        <a:rPr lang="en-US" sz="1000" spc="-5" dirty="0">
                          <a:effectLst/>
                        </a:rPr>
                        <a:t>c</a:t>
                      </a:r>
                      <a:r>
                        <a:rPr lang="en-US" sz="1000" spc="5" dirty="0">
                          <a:effectLst/>
                        </a:rPr>
                        <a:t>o</a:t>
                      </a:r>
                      <a:r>
                        <a:rPr lang="en-US" sz="1000" dirty="0">
                          <a:effectLst/>
                        </a:rPr>
                        <a:t>m </a:t>
                      </a:r>
                      <a:r>
                        <a:rPr lang="en-US" sz="1000" spc="5" dirty="0">
                          <a:effectLst/>
                        </a:rPr>
                        <a:t>co</a:t>
                      </a:r>
                      <a:r>
                        <a:rPr lang="en-US" sz="1000" spc="-5" dirty="0">
                          <a:effectLst/>
                        </a:rPr>
                        <a:t>m</a:t>
                      </a:r>
                      <a:r>
                        <a:rPr lang="en-US" sz="1000" spc="5" dirty="0">
                          <a:effectLst/>
                        </a:rPr>
                        <a:t>mu</a:t>
                      </a:r>
                      <a:r>
                        <a:rPr lang="en-US" sz="1000" spc="-10" dirty="0">
                          <a:effectLst/>
                        </a:rPr>
                        <a:t>n</a:t>
                      </a:r>
                      <a:r>
                        <a:rPr lang="en-US" sz="1000" spc="5" dirty="0">
                          <a:effectLst/>
                        </a:rPr>
                        <a:t>i</a:t>
                      </a:r>
                      <a:r>
                        <a:rPr lang="en-US" sz="1000" spc="-5" dirty="0">
                          <a:effectLst/>
                        </a:rPr>
                        <a:t>c</a:t>
                      </a:r>
                      <a:r>
                        <a:rPr lang="en-US" sz="1000" spc="5" dirty="0">
                          <a:effectLst/>
                        </a:rPr>
                        <a:t>a</a:t>
                      </a:r>
                      <a:r>
                        <a:rPr lang="en-US" sz="1000" dirty="0">
                          <a:effectLst/>
                        </a:rPr>
                        <a:t>t</a:t>
                      </a:r>
                      <a:r>
                        <a:rPr lang="en-US" sz="1000" spc="5" dirty="0">
                          <a:effectLst/>
                        </a:rPr>
                        <a:t>i</a:t>
                      </a:r>
                      <a:r>
                        <a:rPr lang="en-US" sz="1000" spc="-10" dirty="0">
                          <a:effectLst/>
                        </a:rPr>
                        <a:t>o</a:t>
                      </a:r>
                      <a:r>
                        <a:rPr lang="en-US" sz="1000" spc="10" dirty="0">
                          <a:effectLst/>
                        </a:rPr>
                        <a:t>n</a:t>
                      </a:r>
                      <a:r>
                        <a:rPr lang="en-US" sz="1000" dirty="0">
                          <a:effectLst/>
                        </a:rPr>
                        <a:t>,</a:t>
                      </a:r>
                      <a:r>
                        <a:rPr lang="en-US" sz="1000" spc="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C</a:t>
                      </a:r>
                      <a:r>
                        <a:rPr lang="en-US" sz="1000" spc="-10" dirty="0">
                          <a:effectLst/>
                        </a:rPr>
                        <a:t>o</a:t>
                      </a:r>
                      <a:r>
                        <a:rPr lang="en-US" sz="1000" spc="5" dirty="0">
                          <a:effectLst/>
                        </a:rPr>
                        <a:t>mm</a:t>
                      </a:r>
                      <a:r>
                        <a:rPr lang="en-US" sz="1000" spc="-10" dirty="0">
                          <a:effectLst/>
                        </a:rPr>
                        <a:t>u</a:t>
                      </a:r>
                      <a:r>
                        <a:rPr lang="en-US" sz="1000" spc="5" dirty="0">
                          <a:effectLst/>
                        </a:rPr>
                        <a:t>ni</a:t>
                      </a:r>
                      <a:r>
                        <a:rPr lang="en-US" sz="1000" spc="-5" dirty="0">
                          <a:effectLst/>
                        </a:rPr>
                        <a:t>c</a:t>
                      </a:r>
                      <a:r>
                        <a:rPr lang="en-US" sz="1000" spc="5" dirty="0">
                          <a:effectLst/>
                        </a:rPr>
                        <a:t>a</a:t>
                      </a:r>
                      <a:r>
                        <a:rPr lang="en-US" sz="1000" dirty="0">
                          <a:effectLst/>
                        </a:rPr>
                        <a:t>t</a:t>
                      </a:r>
                      <a:r>
                        <a:rPr lang="en-US" sz="1000" spc="-5" dirty="0">
                          <a:effectLst/>
                        </a:rPr>
                        <a:t>i</a:t>
                      </a:r>
                      <a:r>
                        <a:rPr lang="en-US" sz="1000" spc="5" dirty="0">
                          <a:effectLst/>
                        </a:rPr>
                        <a:t>o</a:t>
                      </a:r>
                      <a:r>
                        <a:rPr lang="en-US" sz="1000" dirty="0">
                          <a:effectLst/>
                        </a:rPr>
                        <a:t>n</a:t>
                      </a:r>
                      <a:r>
                        <a:rPr lang="en-US" sz="1000" spc="5" dirty="0">
                          <a:effectLst/>
                        </a:rPr>
                        <a:t> te</a:t>
                      </a:r>
                      <a:r>
                        <a:rPr lang="en-US" sz="1000" spc="-10" dirty="0">
                          <a:effectLst/>
                        </a:rPr>
                        <a:t>r</a:t>
                      </a:r>
                      <a:r>
                        <a:rPr lang="en-US" sz="1000" spc="5" dirty="0">
                          <a:effectLst/>
                        </a:rPr>
                        <a:t>mi</a:t>
                      </a:r>
                      <a:r>
                        <a:rPr lang="en-US" sz="1000" spc="-10" dirty="0">
                          <a:effectLst/>
                        </a:rPr>
                        <a:t>n</a:t>
                      </a:r>
                      <a:r>
                        <a:rPr lang="en-US" sz="1000" spc="5" dirty="0">
                          <a:effectLst/>
                        </a:rPr>
                        <a:t>a</a:t>
                      </a:r>
                      <a:r>
                        <a:rPr lang="en-US" sz="1000" dirty="0">
                          <a:effectLst/>
                        </a:rPr>
                        <a:t>t</a:t>
                      </a:r>
                      <a:r>
                        <a:rPr lang="en-US" sz="1000" spc="5" dirty="0">
                          <a:effectLst/>
                        </a:rPr>
                        <a:t>i</a:t>
                      </a:r>
                      <a:r>
                        <a:rPr lang="en-US" sz="1000" spc="-10" dirty="0">
                          <a:effectLst/>
                        </a:rPr>
                        <a:t>o</a:t>
                      </a:r>
                      <a:r>
                        <a:rPr lang="en-US" sz="1000" spc="5" dirty="0">
                          <a:effectLst/>
                        </a:rPr>
                        <a:t>n</a:t>
                      </a:r>
                      <a:r>
                        <a:rPr lang="en-US" sz="1000" dirty="0">
                          <a:effectLst/>
                        </a:rPr>
                        <a:t>,</a:t>
                      </a:r>
                      <a:r>
                        <a:rPr lang="en-US" sz="1000" spc="-5" dirty="0">
                          <a:effectLst/>
                        </a:rPr>
                        <a:t> </a:t>
                      </a:r>
                      <a:r>
                        <a:rPr lang="en-US" sz="1000" spc="5" dirty="0">
                          <a:effectLst/>
                        </a:rPr>
                        <a:t>spe</a:t>
                      </a:r>
                      <a:r>
                        <a:rPr lang="en-US" sz="1000" spc="-10" dirty="0">
                          <a:effectLst/>
                        </a:rPr>
                        <a:t>a</a:t>
                      </a:r>
                      <a:r>
                        <a:rPr lang="en-US" sz="1000" spc="5" dirty="0">
                          <a:effectLst/>
                        </a:rPr>
                        <a:t>ke</a:t>
                      </a:r>
                      <a:r>
                        <a:rPr lang="en-US" sz="1000" dirty="0">
                          <a:effectLst/>
                        </a:rPr>
                        <a:t>r </a:t>
                      </a:r>
                      <a:r>
                        <a:rPr lang="en-US" sz="1000" spc="-5" dirty="0">
                          <a:effectLst/>
                        </a:rPr>
                        <a:t>v</a:t>
                      </a:r>
                      <a:r>
                        <a:rPr lang="en-US" sz="1000" spc="5" dirty="0">
                          <a:effectLst/>
                        </a:rPr>
                        <a:t>o</a:t>
                      </a:r>
                      <a:r>
                        <a:rPr lang="en-US" sz="1000" spc="-10" dirty="0">
                          <a:effectLst/>
                        </a:rPr>
                        <a:t>l</a:t>
                      </a:r>
                      <a:r>
                        <a:rPr lang="en-US" sz="1000" spc="5" dirty="0">
                          <a:effectLst/>
                        </a:rPr>
                        <a:t>u</a:t>
                      </a:r>
                      <a:r>
                        <a:rPr lang="en-US" sz="1000" spc="-5" dirty="0">
                          <a:effectLst/>
                        </a:rPr>
                        <a:t>m</a:t>
                      </a:r>
                      <a:r>
                        <a:rPr lang="en-US" sz="1000" dirty="0">
                          <a:effectLst/>
                        </a:rPr>
                        <a:t>e</a:t>
                      </a:r>
                      <a:r>
                        <a:rPr lang="en-US" sz="1000" spc="5" dirty="0">
                          <a:effectLst/>
                        </a:rPr>
                        <a:t> ad</a:t>
                      </a:r>
                      <a:r>
                        <a:rPr lang="en-US" sz="1000" spc="-10" dirty="0">
                          <a:effectLst/>
                        </a:rPr>
                        <a:t>j</a:t>
                      </a:r>
                      <a:r>
                        <a:rPr lang="en-US" sz="1000" spc="5" dirty="0">
                          <a:effectLst/>
                        </a:rPr>
                        <a:t>us</a:t>
                      </a:r>
                      <a:r>
                        <a:rPr lang="en-US" sz="1000" spc="-10" dirty="0">
                          <a:effectLst/>
                        </a:rPr>
                        <a:t>t</a:t>
                      </a:r>
                      <a:r>
                        <a:rPr lang="en-US" sz="1000" spc="5" dirty="0">
                          <a:effectLst/>
                        </a:rPr>
                        <a:t>me</a:t>
                      </a:r>
                      <a:r>
                        <a:rPr lang="en-US" sz="1000" spc="-10" dirty="0">
                          <a:effectLst/>
                        </a:rPr>
                        <a:t>n</a:t>
                      </a:r>
                      <a:r>
                        <a:rPr lang="en-US" sz="1000" dirty="0">
                          <a:effectLst/>
                        </a:rPr>
                        <a:t>t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4207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Control Method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0"/>
                        </a:spcAft>
                      </a:pPr>
                      <a:r>
                        <a:rPr lang="en-US" sz="1000" spc="5" dirty="0">
                          <a:effectLst/>
                        </a:rPr>
                        <a:t>Log</a:t>
                      </a:r>
                      <a:r>
                        <a:rPr lang="en-US" sz="1000" spc="-10" dirty="0">
                          <a:effectLst/>
                        </a:rPr>
                        <a:t>i</a:t>
                      </a:r>
                      <a:r>
                        <a:rPr lang="en-US" sz="1000" dirty="0">
                          <a:effectLst/>
                        </a:rPr>
                        <a:t>c</a:t>
                      </a:r>
                      <a:r>
                        <a:rPr lang="en-US" sz="1000" spc="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C</a:t>
                      </a:r>
                      <a:r>
                        <a:rPr lang="en-US" sz="1000" spc="5" dirty="0">
                          <a:effectLst/>
                        </a:rPr>
                        <a:t>on</a:t>
                      </a:r>
                      <a:r>
                        <a:rPr lang="en-US" sz="1000" dirty="0">
                          <a:effectLst/>
                        </a:rPr>
                        <a:t>t</a:t>
                      </a:r>
                      <a:r>
                        <a:rPr lang="en-US" sz="1000" spc="-10" dirty="0">
                          <a:effectLst/>
                        </a:rPr>
                        <a:t>r</a:t>
                      </a:r>
                      <a:r>
                        <a:rPr lang="en-US" sz="1000" spc="5" dirty="0">
                          <a:effectLst/>
                        </a:rPr>
                        <a:t>o</a:t>
                      </a:r>
                      <a:r>
                        <a:rPr lang="en-US" sz="1000" dirty="0">
                          <a:effectLst/>
                        </a:rPr>
                        <a:t>l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4207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Speaker Output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125"/>
                        </a:spcBef>
                        <a:spcAft>
                          <a:spcPts val="0"/>
                        </a:spcAft>
                      </a:pPr>
                      <a:r>
                        <a:rPr lang="en-US" sz="1000" spc="-20" dirty="0">
                          <a:effectLst/>
                        </a:rPr>
                        <a:t>3W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4207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Material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9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AL6061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4207">
                <a:tc>
                  <a:txBody>
                    <a:bodyPr/>
                    <a:lstStyle/>
                    <a:p>
                      <a:pPr marL="63500" algn="ctr">
                        <a:lnSpc>
                          <a:spcPct val="15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Color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5">
                        <a:lnSpc>
                          <a:spcPct val="150000"/>
                        </a:lnSpc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B</a:t>
                      </a:r>
                      <a:r>
                        <a:rPr lang="en-US" sz="1000" spc="5" dirty="0">
                          <a:effectLst/>
                        </a:rPr>
                        <a:t>la</a:t>
                      </a:r>
                      <a:r>
                        <a:rPr lang="en-US" sz="1000" spc="-5" dirty="0">
                          <a:effectLst/>
                        </a:rPr>
                        <a:t>c</a:t>
                      </a:r>
                      <a:r>
                        <a:rPr lang="en-US" sz="1000" dirty="0">
                          <a:effectLst/>
                        </a:rPr>
                        <a:t>k</a:t>
                      </a:r>
                      <a:r>
                        <a:rPr lang="en-US" sz="1000" spc="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(</a:t>
                      </a:r>
                      <a:r>
                        <a:rPr lang="en-US" sz="1000" spc="-10" dirty="0">
                          <a:effectLst/>
                        </a:rPr>
                        <a:t>T</a:t>
                      </a:r>
                      <a:r>
                        <a:rPr lang="en-US" sz="1000" dirty="0">
                          <a:effectLst/>
                        </a:rPr>
                        <a:t>o</a:t>
                      </a:r>
                      <a:r>
                        <a:rPr lang="en-US" sz="1000" spc="5" dirty="0">
                          <a:effectLst/>
                        </a:rPr>
                        <a:t> </a:t>
                      </a:r>
                      <a:r>
                        <a:rPr lang="en-US" sz="1000" spc="-15" dirty="0">
                          <a:effectLst/>
                        </a:rPr>
                        <a:t>M</a:t>
                      </a:r>
                      <a:r>
                        <a:rPr lang="en-US" sz="1000" spc="5" dirty="0">
                          <a:effectLst/>
                        </a:rPr>
                        <a:t>a</a:t>
                      </a:r>
                      <a:r>
                        <a:rPr lang="en-US" sz="1000" dirty="0">
                          <a:effectLst/>
                        </a:rPr>
                        <a:t>t</a:t>
                      </a:r>
                      <a:r>
                        <a:rPr lang="en-US" sz="1000" spc="5" dirty="0">
                          <a:effectLst/>
                        </a:rPr>
                        <a:t>c</a:t>
                      </a:r>
                      <a:r>
                        <a:rPr lang="en-US" sz="1000" dirty="0">
                          <a:effectLst/>
                        </a:rPr>
                        <a:t>h</a:t>
                      </a:r>
                      <a:r>
                        <a:rPr lang="en-US" sz="1000" spc="5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C</a:t>
                      </a:r>
                      <a:r>
                        <a:rPr lang="en-US" sz="1000" spc="5" dirty="0">
                          <a:effectLst/>
                        </a:rPr>
                        <a:t>ab</a:t>
                      </a:r>
                      <a:r>
                        <a:rPr lang="en-US" sz="1000" dirty="0">
                          <a:effectLst/>
                        </a:rPr>
                        <a:t>)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184207">
                <a:tc>
                  <a:txBody>
                    <a:bodyPr/>
                    <a:lstStyle/>
                    <a:p>
                      <a:pPr indent="114300" algn="ctr">
                        <a:lnSpc>
                          <a:spcPct val="15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Operating T</a:t>
                      </a:r>
                      <a:r>
                        <a:rPr lang="en-US" sz="900" spc="5">
                          <a:effectLst/>
                        </a:rPr>
                        <a:t>em</a:t>
                      </a:r>
                      <a:r>
                        <a:rPr lang="en-US" sz="900">
                          <a:effectLst/>
                        </a:rPr>
                        <a:t>p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ra</a:t>
                      </a:r>
                      <a:r>
                        <a:rPr lang="en-US" sz="900" spc="-10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0°C ~ +45°C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65786">
                <a:tc>
                  <a:txBody>
                    <a:bodyPr/>
                    <a:lstStyle/>
                    <a:p>
                      <a:pPr indent="114300" algn="ctr">
                        <a:lnSpc>
                          <a:spcPct val="15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Storage Temperature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-35°C ~ +45°C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165786">
                <a:tc>
                  <a:txBody>
                    <a:bodyPr/>
                    <a:lstStyle/>
                    <a:p>
                      <a:pPr indent="114300" algn="ctr">
                        <a:lnSpc>
                          <a:spcPct val="15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b="1" dirty="0" smtClean="0">
                <a:latin typeface="Calibri" pitchFamily="34" charset="0"/>
              </a:rPr>
              <a:t>Passenger Emergency Intercom (PEI)</a:t>
            </a:r>
            <a:endParaRPr lang="ko-KR" altLang="en-US" sz="4000" b="1" dirty="0">
              <a:latin typeface="Calibri" pitchFamily="34" charset="0"/>
            </a:endParaRPr>
          </a:p>
        </p:txBody>
      </p:sp>
      <p:pic>
        <p:nvPicPr>
          <p:cNvPr id="5" name="내용 개체 틀 4" descr="PEI.JPG"/>
          <p:cNvPicPr>
            <a:picLocks noGrp="1" noChangeAspect="1"/>
          </p:cNvPicPr>
          <p:nvPr>
            <p:ph idx="1"/>
          </p:nvPr>
        </p:nvPicPr>
        <p:blipFill>
          <a:blip r:embed="rId4" cstate="print"/>
          <a:stretch>
            <a:fillRect/>
          </a:stretch>
        </p:blipFill>
        <p:spPr>
          <a:xfrm>
            <a:off x="2877716" y="1340768"/>
            <a:ext cx="2918420" cy="1261227"/>
          </a:xfrm>
        </p:spPr>
      </p:pic>
      <p:grpSp>
        <p:nvGrpSpPr>
          <p:cNvPr id="6" name="그룹 5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7" name="직사각형 6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 descr="영문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9" name="그림 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직사각형 9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747797"/>
              </p:ext>
            </p:extLst>
          </p:nvPr>
        </p:nvGraphicFramePr>
        <p:xfrm>
          <a:off x="2267744" y="3212976"/>
          <a:ext cx="4810125" cy="23228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7817"/>
                <a:gridCol w="2562308"/>
              </a:tblGrid>
              <a:tr h="274320">
                <a:tc>
                  <a:txBody>
                    <a:bodyPr/>
                    <a:lstStyle/>
                    <a:p>
                      <a:pPr marL="830580" marR="814070" algn="ctr">
                        <a:lnSpc>
                          <a:spcPct val="150000"/>
                        </a:lnSpc>
                        <a:spcBef>
                          <a:spcPts val="44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It</a:t>
                      </a:r>
                      <a:r>
                        <a:rPr lang="en-US" sz="900" spc="5" dirty="0">
                          <a:effectLst/>
                        </a:rPr>
                        <a:t>e</a:t>
                      </a:r>
                      <a:r>
                        <a:rPr lang="en-US" sz="900" dirty="0">
                          <a:effectLst/>
                        </a:rPr>
                        <a:t>m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ct val="150000"/>
                        </a:lnSpc>
                        <a:spcBef>
                          <a:spcPts val="44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Sp</a:t>
                      </a:r>
                      <a:r>
                        <a:rPr lang="en-US" sz="900" spc="5" dirty="0">
                          <a:effectLst/>
                        </a:rPr>
                        <a:t>ec</a:t>
                      </a:r>
                      <a:r>
                        <a:rPr lang="en-US" sz="900" dirty="0">
                          <a:effectLst/>
                        </a:rPr>
                        <a:t>if</a:t>
                      </a:r>
                      <a:r>
                        <a:rPr lang="en-US" sz="900" spc="5" dirty="0">
                          <a:effectLst/>
                        </a:rPr>
                        <a:t>i</a:t>
                      </a:r>
                      <a:r>
                        <a:rPr lang="en-US" sz="900" spc="-10" dirty="0">
                          <a:effectLst/>
                        </a:rPr>
                        <a:t>c</a:t>
                      </a:r>
                      <a:r>
                        <a:rPr lang="en-US" sz="900" spc="5" dirty="0">
                          <a:effectLst/>
                        </a:rPr>
                        <a:t>a</a:t>
                      </a:r>
                      <a:r>
                        <a:rPr lang="en-US" sz="900" dirty="0">
                          <a:effectLst/>
                        </a:rPr>
                        <a:t>ti</a:t>
                      </a:r>
                      <a:r>
                        <a:rPr lang="en-US" sz="900" spc="5" dirty="0">
                          <a:effectLst/>
                        </a:rPr>
                        <a:t>o</a:t>
                      </a:r>
                      <a:r>
                        <a:rPr lang="en-US" sz="900" dirty="0">
                          <a:effectLst/>
                        </a:rPr>
                        <a:t>n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</a:tr>
              <a:tr h="214630">
                <a:tc>
                  <a:txBody>
                    <a:bodyPr/>
                    <a:lstStyle/>
                    <a:p>
                      <a:pPr marL="133985">
                        <a:lnSpc>
                          <a:spcPct val="15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20">
                          <a:effectLst/>
                        </a:rPr>
                        <a:t>w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 L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5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 algn="just">
                        <a:lnSpc>
                          <a:spcPct val="150000"/>
                        </a:lnSpc>
                        <a:spcBef>
                          <a:spcPts val="285"/>
                        </a:spcBef>
                        <a:spcAft>
                          <a:spcPts val="0"/>
                        </a:spcAft>
                      </a:pPr>
                      <a:r>
                        <a:rPr lang="en-US" sz="900" spc="-20">
                          <a:effectLst/>
                        </a:rPr>
                        <a:t>M</a:t>
                      </a:r>
                      <a:r>
                        <a:rPr lang="en-US" sz="900" spc="15">
                          <a:effectLst/>
                        </a:rPr>
                        <a:t>a</a:t>
                      </a:r>
                      <a:r>
                        <a:rPr lang="en-US" sz="900" spc="-5">
                          <a:effectLst/>
                        </a:rPr>
                        <a:t>x</a:t>
                      </a:r>
                      <a:r>
                        <a:rPr lang="en-US" sz="900">
                          <a:effectLst/>
                        </a:rPr>
                        <a:t>.</a:t>
                      </a:r>
                      <a:r>
                        <a:rPr lang="en-US" sz="900" spc="5">
                          <a:effectLst/>
                        </a:rPr>
                        <a:t> 75</a:t>
                      </a:r>
                      <a:r>
                        <a:rPr lang="en-US" sz="900">
                          <a:effectLst/>
                        </a:rPr>
                        <a:t>W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30505">
                <a:tc>
                  <a:txBody>
                    <a:bodyPr/>
                    <a:lstStyle/>
                    <a:p>
                      <a:pPr marL="133985">
                        <a:lnSpc>
                          <a:spcPct val="15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</a:t>
                      </a:r>
                      <a:r>
                        <a:rPr lang="en-US" sz="900" spc="5">
                          <a:effectLst/>
                        </a:rPr>
                        <a:t>n</a:t>
                      </a:r>
                      <a:r>
                        <a:rPr lang="en-US" sz="900">
                          <a:effectLst/>
                        </a:rPr>
                        <a:t>p</a:t>
                      </a:r>
                      <a:r>
                        <a:rPr lang="en-US" sz="900" spc="5">
                          <a:effectLst/>
                        </a:rPr>
                        <a:t>u</a:t>
                      </a:r>
                      <a:r>
                        <a:rPr lang="en-US" sz="900">
                          <a:effectLst/>
                        </a:rPr>
                        <a:t>t P</a:t>
                      </a:r>
                      <a:r>
                        <a:rPr lang="en-US" sz="900" spc="-10">
                          <a:effectLst/>
                        </a:rPr>
                        <a:t>o</a:t>
                      </a:r>
                      <a:r>
                        <a:rPr lang="en-US" sz="900" spc="5">
                          <a:effectLst/>
                        </a:rPr>
                        <a:t>we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 algn="just">
                        <a:lnSpc>
                          <a:spcPct val="150000"/>
                        </a:lnSpc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</a:t>
                      </a:r>
                      <a:r>
                        <a:rPr lang="en-US" sz="900" spc="-5">
                          <a:effectLst/>
                        </a:rPr>
                        <a:t>C</a:t>
                      </a:r>
                      <a:r>
                        <a:rPr lang="en-US" sz="900" spc="5">
                          <a:effectLst/>
                        </a:rPr>
                        <a:t>37</a:t>
                      </a:r>
                      <a:r>
                        <a:rPr lang="en-US" sz="900">
                          <a:effectLst/>
                        </a:rPr>
                        <a:t>.</a:t>
                      </a:r>
                      <a:r>
                        <a:rPr lang="en-US" sz="900" spc="5">
                          <a:effectLst/>
                        </a:rPr>
                        <a:t>5</a:t>
                      </a:r>
                      <a:r>
                        <a:rPr lang="en-US" sz="900">
                          <a:effectLst/>
                        </a:rPr>
                        <a:t>V(DC</a:t>
                      </a:r>
                      <a:r>
                        <a:rPr lang="en-US" sz="900" spc="-5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24</a:t>
                      </a:r>
                      <a:r>
                        <a:rPr lang="en-US" sz="900">
                          <a:effectLst/>
                        </a:rPr>
                        <a:t>V</a:t>
                      </a:r>
                      <a:r>
                        <a:rPr lang="en-US" sz="900" spc="-10">
                          <a:effectLst/>
                        </a:rPr>
                        <a:t>~</a:t>
                      </a:r>
                      <a:r>
                        <a:rPr lang="en-US" sz="900" spc="5">
                          <a:effectLst/>
                        </a:rPr>
                        <a:t>48</a:t>
                      </a:r>
                      <a:r>
                        <a:rPr lang="en-US" sz="900">
                          <a:effectLst/>
                        </a:rPr>
                        <a:t>V)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0980">
                <a:tc>
                  <a:txBody>
                    <a:bodyPr/>
                    <a:lstStyle/>
                    <a:p>
                      <a:pPr marL="133985">
                        <a:lnSpc>
                          <a:spcPct val="150000"/>
                        </a:lnSpc>
                        <a:spcBef>
                          <a:spcPts val="28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Input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 algn="just">
                        <a:lnSpc>
                          <a:spcPct val="150000"/>
                        </a:lnSpc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Crew</a:t>
                      </a:r>
                      <a:r>
                        <a:rPr lang="en-US" sz="900" spc="-10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membe</a:t>
                      </a:r>
                      <a:r>
                        <a:rPr lang="en-US" sz="900">
                          <a:effectLst/>
                        </a:rPr>
                        <a:t>r</a:t>
                      </a:r>
                      <a:r>
                        <a:rPr lang="en-US" sz="900" spc="-10">
                          <a:effectLst/>
                        </a:rPr>
                        <a:t> </a:t>
                      </a:r>
                      <a:r>
                        <a:rPr lang="en-US" sz="900" spc="5">
                          <a:effectLst/>
                        </a:rPr>
                        <a:t>ca</a:t>
                      </a:r>
                      <a:r>
                        <a:rPr lang="en-US" sz="900" spc="-10">
                          <a:effectLst/>
                        </a:rPr>
                        <a:t>l</a:t>
                      </a:r>
                      <a:r>
                        <a:rPr lang="en-US" sz="900">
                          <a:effectLst/>
                        </a:rPr>
                        <a:t>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9870">
                <a:tc>
                  <a:txBody>
                    <a:bodyPr/>
                    <a:lstStyle/>
                    <a:p>
                      <a:pPr marL="133985">
                        <a:lnSpc>
                          <a:spcPct val="15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</a:pPr>
                      <a:r>
                        <a:rPr lang="en-US" sz="900" spc="-5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ut</a:t>
                      </a: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>
                          <a:effectLst/>
                        </a:rPr>
                        <a:t>ut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 algn="just">
                        <a:lnSpc>
                          <a:spcPct val="150000"/>
                        </a:lnSpc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n-US" sz="900" spc="5" dirty="0">
                          <a:effectLst/>
                        </a:rPr>
                        <a:t>Lis</a:t>
                      </a:r>
                      <a:r>
                        <a:rPr lang="en-US" sz="900" spc="-10" dirty="0">
                          <a:effectLst/>
                        </a:rPr>
                        <a:t>t</a:t>
                      </a:r>
                      <a:r>
                        <a:rPr lang="en-US" sz="900" spc="5" dirty="0">
                          <a:effectLst/>
                        </a:rPr>
                        <a:t>eni</a:t>
                      </a:r>
                      <a:r>
                        <a:rPr lang="en-US" sz="900" spc="-10" dirty="0">
                          <a:effectLst/>
                        </a:rPr>
                        <a:t>n</a:t>
                      </a:r>
                      <a:r>
                        <a:rPr lang="en-US" sz="900" dirty="0">
                          <a:effectLst/>
                        </a:rPr>
                        <a:t>g</a:t>
                      </a:r>
                      <a:r>
                        <a:rPr lang="en-US" sz="900" spc="5" dirty="0">
                          <a:effectLst/>
                        </a:rPr>
                        <a:t> a</a:t>
                      </a:r>
                      <a:r>
                        <a:rPr lang="en-US" sz="900" spc="-10" dirty="0">
                          <a:effectLst/>
                        </a:rPr>
                        <a:t>n</a:t>
                      </a:r>
                      <a:r>
                        <a:rPr lang="en-US" sz="900" dirty="0">
                          <a:effectLst/>
                        </a:rPr>
                        <a:t>d</a:t>
                      </a:r>
                      <a:r>
                        <a:rPr lang="en-US" sz="900" spc="5" dirty="0">
                          <a:effectLst/>
                        </a:rPr>
                        <a:t> </a:t>
                      </a:r>
                      <a:r>
                        <a:rPr lang="en-US" sz="900" dirty="0">
                          <a:effectLst/>
                        </a:rPr>
                        <a:t>C</a:t>
                      </a:r>
                      <a:r>
                        <a:rPr lang="en-US" sz="900" spc="-10" dirty="0">
                          <a:effectLst/>
                        </a:rPr>
                        <a:t>o</a:t>
                      </a:r>
                      <a:r>
                        <a:rPr lang="en-US" sz="900" spc="5" dirty="0">
                          <a:effectLst/>
                        </a:rPr>
                        <a:t>mm</a:t>
                      </a:r>
                      <a:r>
                        <a:rPr lang="en-US" sz="900" spc="-10" dirty="0">
                          <a:effectLst/>
                        </a:rPr>
                        <a:t>u</a:t>
                      </a:r>
                      <a:r>
                        <a:rPr lang="en-US" sz="900" spc="5" dirty="0">
                          <a:effectLst/>
                        </a:rPr>
                        <a:t>ni</a:t>
                      </a:r>
                      <a:r>
                        <a:rPr lang="en-US" sz="900" spc="-5" dirty="0">
                          <a:effectLst/>
                        </a:rPr>
                        <a:t>c</a:t>
                      </a:r>
                      <a:r>
                        <a:rPr lang="en-US" sz="900" spc="5" dirty="0">
                          <a:effectLst/>
                        </a:rPr>
                        <a:t>a</a:t>
                      </a:r>
                      <a:r>
                        <a:rPr lang="en-US" sz="900" dirty="0">
                          <a:effectLst/>
                        </a:rPr>
                        <a:t>t</a:t>
                      </a:r>
                      <a:r>
                        <a:rPr lang="en-US" sz="900" spc="-5" dirty="0">
                          <a:effectLst/>
                        </a:rPr>
                        <a:t>i</a:t>
                      </a:r>
                      <a:r>
                        <a:rPr lang="en-US" sz="900" spc="5" dirty="0">
                          <a:effectLst/>
                        </a:rPr>
                        <a:t>o</a:t>
                      </a:r>
                      <a:r>
                        <a:rPr lang="en-US" sz="900" dirty="0">
                          <a:effectLst/>
                        </a:rPr>
                        <a:t>n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31775">
                <a:tc>
                  <a:txBody>
                    <a:bodyPr/>
                    <a:lstStyle/>
                    <a:p>
                      <a:pPr marL="133985">
                        <a:lnSpc>
                          <a:spcPct val="150000"/>
                        </a:lnSpc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Control</a:t>
                      </a:r>
                      <a:r>
                        <a:rPr lang="en-US" sz="900" spc="5">
                          <a:effectLst/>
                        </a:rPr>
                        <a:t> Me</a:t>
                      </a:r>
                      <a:r>
                        <a:rPr lang="en-US" sz="900" spc="-10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h</a:t>
                      </a:r>
                      <a:r>
                        <a:rPr lang="en-US" sz="900" spc="5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d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 algn="just">
                        <a:lnSpc>
                          <a:spcPct val="150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Log</a:t>
                      </a:r>
                      <a:r>
                        <a:rPr lang="en-US" sz="900" spc="-10">
                          <a:effectLst/>
                        </a:rPr>
                        <a:t>i</a:t>
                      </a:r>
                      <a:r>
                        <a:rPr lang="en-US" sz="900">
                          <a:effectLst/>
                        </a:rPr>
                        <a:t>c</a:t>
                      </a:r>
                      <a:r>
                        <a:rPr lang="en-US" sz="900" spc="5">
                          <a:effectLst/>
                        </a:rPr>
                        <a:t> </a:t>
                      </a:r>
                      <a:r>
                        <a:rPr lang="en-US" sz="900">
                          <a:effectLst/>
                        </a:rPr>
                        <a:t>C</a:t>
                      </a:r>
                      <a:r>
                        <a:rPr lang="en-US" sz="900" spc="5">
                          <a:effectLst/>
                        </a:rPr>
                        <a:t>on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-10">
                          <a:effectLst/>
                        </a:rPr>
                        <a:t>r</a:t>
                      </a:r>
                      <a:r>
                        <a:rPr lang="en-US" sz="900" spc="5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25425">
                <a:tc>
                  <a:txBody>
                    <a:bodyPr/>
                    <a:lstStyle/>
                    <a:p>
                      <a:pPr marL="133985">
                        <a:lnSpc>
                          <a:spcPct val="150000"/>
                        </a:lnSpc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Sp</a:t>
                      </a:r>
                      <a:r>
                        <a:rPr lang="en-US" sz="900" spc="5">
                          <a:effectLst/>
                        </a:rPr>
                        <a:t>eake</a:t>
                      </a:r>
                      <a:r>
                        <a:rPr lang="en-US" sz="900">
                          <a:effectLst/>
                        </a:rPr>
                        <a:t>r </a:t>
                      </a:r>
                      <a:r>
                        <a:rPr lang="en-US" sz="900" spc="-5">
                          <a:effectLst/>
                        </a:rPr>
                        <a:t>O</a:t>
                      </a:r>
                      <a:r>
                        <a:rPr lang="en-US" sz="900">
                          <a:effectLst/>
                        </a:rPr>
                        <a:t>ut</a:t>
                      </a:r>
                      <a:r>
                        <a:rPr lang="en-US" sz="900" spc="5">
                          <a:effectLst/>
                        </a:rPr>
                        <a:t>p</a:t>
                      </a:r>
                      <a:r>
                        <a:rPr lang="en-US" sz="900" spc="-10">
                          <a:effectLst/>
                        </a:rPr>
                        <a:t>u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 algn="just">
                        <a:lnSpc>
                          <a:spcPct val="150000"/>
                        </a:lnSpc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900" spc="-20">
                          <a:effectLst/>
                        </a:rPr>
                        <a:t>3W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31775">
                <a:tc>
                  <a:txBody>
                    <a:bodyPr/>
                    <a:lstStyle/>
                    <a:p>
                      <a:pPr marL="133985">
                        <a:lnSpc>
                          <a:spcPct val="150000"/>
                        </a:lnSpc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900" spc="5">
                          <a:effectLst/>
                        </a:rPr>
                        <a:t>Ma</a:t>
                      </a:r>
                      <a:r>
                        <a:rPr lang="en-US" sz="900">
                          <a:effectLst/>
                        </a:rPr>
                        <a:t>t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ri</a:t>
                      </a:r>
                      <a:r>
                        <a:rPr lang="en-US" sz="900" spc="-10">
                          <a:effectLst/>
                        </a:rPr>
                        <a:t>a</a:t>
                      </a:r>
                      <a:r>
                        <a:rPr lang="en-US" sz="900">
                          <a:effectLst/>
                        </a:rPr>
                        <a:t>l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 algn="just">
                        <a:lnSpc>
                          <a:spcPct val="150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</a:t>
                      </a:r>
                      <a:r>
                        <a:rPr lang="en-US" sz="900" spc="5">
                          <a:effectLst/>
                        </a:rPr>
                        <a:t>ain</a:t>
                      </a:r>
                      <a:r>
                        <a:rPr lang="en-US" sz="900" spc="-10">
                          <a:effectLst/>
                        </a:rPr>
                        <a:t>l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 spc="-5">
                          <a:effectLst/>
                        </a:rPr>
                        <a:t>s</a:t>
                      </a:r>
                      <a:r>
                        <a:rPr lang="en-US" sz="900">
                          <a:effectLst/>
                        </a:rPr>
                        <a:t>s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31775">
                <a:tc>
                  <a:txBody>
                    <a:bodyPr/>
                    <a:lstStyle/>
                    <a:p>
                      <a:pPr indent="114300">
                        <a:lnSpc>
                          <a:spcPct val="15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Operating T</a:t>
                      </a:r>
                      <a:r>
                        <a:rPr lang="en-US" sz="900" spc="5">
                          <a:effectLst/>
                        </a:rPr>
                        <a:t>em</a:t>
                      </a:r>
                      <a:r>
                        <a:rPr lang="en-US" sz="900">
                          <a:effectLst/>
                        </a:rPr>
                        <a:t>p</a:t>
                      </a:r>
                      <a:r>
                        <a:rPr lang="en-US" sz="900" spc="5">
                          <a:effectLst/>
                        </a:rPr>
                        <a:t>e</a:t>
                      </a:r>
                      <a:r>
                        <a:rPr lang="en-US" sz="900">
                          <a:effectLst/>
                        </a:rPr>
                        <a:t>ra</a:t>
                      </a:r>
                      <a:r>
                        <a:rPr lang="en-US" sz="900" spc="-10">
                          <a:effectLst/>
                        </a:rPr>
                        <a:t>t</a:t>
                      </a:r>
                      <a:r>
                        <a:rPr lang="en-US" sz="900">
                          <a:effectLst/>
                        </a:rPr>
                        <a:t>ure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0°C ~ +45°C</a:t>
                      </a:r>
                      <a:endParaRPr lang="ko-KR" sz="100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  <a:tr h="231775">
                <a:tc>
                  <a:txBody>
                    <a:bodyPr/>
                    <a:lstStyle/>
                    <a:p>
                      <a:pPr indent="114300">
                        <a:lnSpc>
                          <a:spcPct val="150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Storage Temperature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-35°C ~ +45°C</a:t>
                      </a:r>
                      <a:endParaRPr lang="ko-KR" sz="1000" dirty="0">
                        <a:effectLst/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pic>
        <p:nvPicPr>
          <p:cNvPr id="11" name="Picture 2" descr="C:\Users\jds\AppData\Local\Microsoft\Windows\Temporary Internet Files\Content.IE5\15EMJNO0\MC900343747[1].wmf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63269" flipH="1">
            <a:off x="9282328" y="1879110"/>
            <a:ext cx="772319" cy="926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Assistance_701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 cstate="print"/>
          <a:stretch>
            <a:fillRect/>
          </a:stretch>
        </p:blipFill>
        <p:spPr>
          <a:xfrm>
            <a:off x="-2471736" y="1202480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7337" y="5808715"/>
            <a:ext cx="7489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itchFamily="34" charset="0"/>
              <a:buChar char="•"/>
            </a:pPr>
            <a:r>
              <a:rPr lang="en-US" altLang="ko-KR" sz="1400" dirty="0" smtClean="0"/>
              <a:t>Delivering correct voice signal without noise is available by using the Dual Tone.</a:t>
            </a:r>
          </a:p>
          <a:p>
            <a:pPr algn="ctr"/>
            <a:r>
              <a:rPr lang="en-US" altLang="ko-KR" sz="1400" dirty="0" smtClean="0"/>
              <a:t>Rapid service is available by transmitting the location of passenger in emergency.</a:t>
            </a:r>
            <a:endParaRPr lang="ko-KR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722 0.00115 L -0.47847 -0.009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285" y="-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6292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4293096"/>
            <a:ext cx="4680520" cy="1978495"/>
          </a:xfrm>
        </p:spPr>
        <p:txBody>
          <a:bodyPr>
            <a:normAutofit/>
          </a:bodyPr>
          <a:lstStyle/>
          <a:p>
            <a:pPr marL="0" indent="0" latinLnBrk="0">
              <a:buNone/>
            </a:pPr>
            <a:r>
              <a:rPr lang="en-US" altLang="ko-KR" sz="1000" b="1" dirty="0" smtClean="0"/>
              <a:t>        2.9</a:t>
            </a:r>
            <a:endParaRPr lang="ko-KR" altLang="ko-KR" sz="1000" dirty="0"/>
          </a:p>
          <a:p>
            <a:pPr marL="358775" indent="-358775" latinLnBrk="0">
              <a:buNone/>
            </a:pPr>
            <a:r>
              <a:rPr lang="en-US" altLang="ko-KR" sz="1000" b="1" dirty="0" smtClean="0"/>
              <a:t>        HR </a:t>
            </a:r>
            <a:r>
              <a:rPr lang="en-US" altLang="ko-KR" sz="1000" b="1" dirty="0"/>
              <a:t>Document REDE113112, Appendix 5.1 – A focus of the PDR </a:t>
            </a:r>
            <a:r>
              <a:rPr lang="en-US" altLang="ko-KR" sz="1000" b="1" dirty="0" smtClean="0"/>
              <a:t>                                    meeting </a:t>
            </a:r>
            <a:r>
              <a:rPr lang="en-US" altLang="ko-KR" sz="1000" b="1" dirty="0"/>
              <a:t>will be the communications between passenger emergency intercom units and the OCC in the event that the operator does not respond to a call</a:t>
            </a:r>
            <a:r>
              <a:rPr lang="en-US" altLang="ko-KR" sz="1000" b="1" dirty="0" smtClean="0"/>
              <a:t>.</a:t>
            </a:r>
            <a:endParaRPr lang="ko-KR" altLang="ko-KR" sz="1000" b="1" dirty="0"/>
          </a:p>
          <a:p>
            <a:pPr marL="358775" indent="0" latinLnBrk="0">
              <a:buNone/>
            </a:pPr>
            <a:r>
              <a:rPr lang="en-US" altLang="ko-KR" sz="1000" b="1" dirty="0">
                <a:solidFill>
                  <a:srgbClr val="00B050"/>
                </a:solidFill>
              </a:rPr>
              <a:t> </a:t>
            </a:r>
            <a:r>
              <a:rPr lang="en-US" altLang="ko-KR" sz="1000" b="1" dirty="0" smtClean="0">
                <a:solidFill>
                  <a:srgbClr val="00B050"/>
                </a:solidFill>
              </a:rPr>
              <a:t>⇒</a:t>
            </a:r>
            <a:r>
              <a:rPr lang="en-US" altLang="ko-KR" sz="1000" b="1" dirty="0">
                <a:solidFill>
                  <a:srgbClr val="00B050"/>
                </a:solidFill>
              </a:rPr>
              <a:t>The time period can be set as customer requires. (e.g. 10 seconds, 20 seconds, 30 </a:t>
            </a:r>
            <a:r>
              <a:rPr lang="en-US" altLang="ko-KR" sz="1000" b="1" dirty="0" smtClean="0">
                <a:solidFill>
                  <a:srgbClr val="00B050"/>
                </a:solidFill>
              </a:rPr>
              <a:t>seconds </a:t>
            </a:r>
            <a:r>
              <a:rPr lang="en-US" altLang="ko-KR" sz="1000" b="1" dirty="0">
                <a:solidFill>
                  <a:srgbClr val="00B050"/>
                </a:solidFill>
              </a:rPr>
              <a:t>etc</a:t>
            </a:r>
            <a:r>
              <a:rPr lang="en-US" altLang="ko-KR" sz="1000" b="1" dirty="0" smtClean="0">
                <a:solidFill>
                  <a:srgbClr val="00B050"/>
                </a:solidFill>
              </a:rPr>
              <a:t>.)</a:t>
            </a:r>
          </a:p>
          <a:p>
            <a:pPr latinLnBrk="0"/>
            <a:endParaRPr lang="en-US" altLang="ko-KR" sz="1000" b="1" dirty="0"/>
          </a:p>
          <a:p>
            <a:pPr latinLnBrk="0"/>
            <a:endParaRPr lang="ko-KR" altLang="ko-KR" sz="1000" dirty="0"/>
          </a:p>
        </p:txBody>
      </p:sp>
      <p:pic>
        <p:nvPicPr>
          <p:cNvPr id="4" name="그림 3" descr="그림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4741" y="3068960"/>
            <a:ext cx="2448272" cy="316835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35342" y="3207752"/>
            <a:ext cx="538234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en-US" altLang="ko-KR" sz="1000" b="1" dirty="0" smtClean="0"/>
              <a:t>2.8</a:t>
            </a:r>
            <a:endParaRPr lang="ko-KR" altLang="ko-KR" sz="1000" dirty="0" smtClean="0"/>
          </a:p>
          <a:p>
            <a:pPr latinLnBrk="0"/>
            <a:r>
              <a:rPr lang="en-US" altLang="ko-KR" sz="1000" b="1" dirty="0" smtClean="0"/>
              <a:t>HR Document REDE113112, Section 3.12 – Can the LCD screens simultaneously display the same information as the LED signs?</a:t>
            </a:r>
            <a:endParaRPr lang="ko-KR" altLang="ko-KR" sz="1000" b="1" dirty="0" smtClean="0"/>
          </a:p>
          <a:p>
            <a:pPr latinLnBrk="0"/>
            <a:r>
              <a:rPr lang="en-US" altLang="ko-KR" sz="1000" b="1" dirty="0" smtClean="0">
                <a:solidFill>
                  <a:srgbClr val="00B050"/>
                </a:solidFill>
              </a:rPr>
              <a:t>⇒LCD screens are able to simultaneously display the same information as the LED signs within the same car.</a:t>
            </a:r>
            <a:endParaRPr lang="ko-KR" altLang="ko-KR" sz="1000" dirty="0" smtClean="0">
              <a:solidFill>
                <a:srgbClr val="00B050"/>
              </a:solidFill>
            </a:endParaRPr>
          </a:p>
          <a:p>
            <a:r>
              <a:rPr lang="en-US" altLang="ko-KR" sz="1000" dirty="0" smtClean="0"/>
              <a:t> </a:t>
            </a:r>
            <a:endParaRPr lang="ko-KR" altLang="ko-KR" sz="1000" dirty="0"/>
          </a:p>
        </p:txBody>
      </p:sp>
      <p:sp>
        <p:nvSpPr>
          <p:cNvPr id="2" name="TextBox 1"/>
          <p:cNvSpPr txBox="1"/>
          <p:nvPr/>
        </p:nvSpPr>
        <p:spPr>
          <a:xfrm>
            <a:off x="742188" y="1268760"/>
            <a:ext cx="80708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000" b="1" dirty="0"/>
              <a:t>1.3</a:t>
            </a:r>
            <a:endParaRPr lang="ko-KR" altLang="ko-KR" sz="1000" dirty="0"/>
          </a:p>
          <a:p>
            <a:pPr latinLnBrk="0"/>
            <a:r>
              <a:rPr lang="en-US" altLang="ko-KR" sz="1000" b="1" dirty="0"/>
              <a:t>HR Document REDE113112, Section 4 – The “N/A” in row 2 is incorrect. The operator shall still have the capability of making PA announcements and paging crew in other cabs from the cab communication station.</a:t>
            </a:r>
            <a:endParaRPr lang="ko-KR" altLang="ko-KR" sz="1000" b="1" dirty="0"/>
          </a:p>
          <a:p>
            <a:r>
              <a:rPr lang="en-US" altLang="ko-KR" sz="1000" b="1" dirty="0">
                <a:solidFill>
                  <a:srgbClr val="00B050"/>
                </a:solidFill>
              </a:rPr>
              <a:t>⇒The operator has the capability of making PA announcements and paging the other operator in other cab from the cab communication station.</a:t>
            </a:r>
            <a:endParaRPr lang="ko-KR" altLang="ko-KR" sz="1000" dirty="0">
              <a:solidFill>
                <a:srgbClr val="00B050"/>
              </a:solidFill>
            </a:endParaRPr>
          </a:p>
          <a:p>
            <a:r>
              <a:rPr lang="en-US" altLang="ko-KR" sz="1000" dirty="0"/>
              <a:t> </a:t>
            </a:r>
            <a:endParaRPr lang="ko-KR" altLang="ko-KR" sz="1000" dirty="0"/>
          </a:p>
          <a:p>
            <a:pPr latinLnBrk="0"/>
            <a:r>
              <a:rPr lang="en-US" altLang="ko-KR" sz="1000" b="1" dirty="0"/>
              <a:t>1.5</a:t>
            </a:r>
            <a:endParaRPr lang="ko-KR" altLang="ko-KR" sz="1000" dirty="0"/>
          </a:p>
          <a:p>
            <a:pPr latinLnBrk="0"/>
            <a:r>
              <a:rPr lang="en-US" altLang="ko-KR" sz="1000" b="1" dirty="0"/>
              <a:t>HR Document REDE113112, Section 4 – The “N/A” in row 6 is incorrect. The operator shall have the ability to have private two-way intercommunication between communication control panels located in any cab.</a:t>
            </a:r>
            <a:endParaRPr lang="ko-KR" altLang="ko-KR" sz="1000" b="1" dirty="0"/>
          </a:p>
          <a:p>
            <a:r>
              <a:rPr lang="en-US" altLang="ko-KR" sz="1000" b="1" dirty="0">
                <a:solidFill>
                  <a:srgbClr val="00B050"/>
                </a:solidFill>
              </a:rPr>
              <a:t>⇒The operator has the ability to have private two-way intercommunication with intercoms (DPO) located in any cab.</a:t>
            </a:r>
            <a:endParaRPr lang="ko-KR" altLang="ko-KR" sz="1000" dirty="0">
              <a:solidFill>
                <a:srgbClr val="00B050"/>
              </a:solidFill>
            </a:endParaRPr>
          </a:p>
          <a:p>
            <a:r>
              <a:rPr lang="en-US" altLang="ko-KR" sz="1000" dirty="0"/>
              <a:t> </a:t>
            </a:r>
            <a:endParaRPr lang="ko-KR" altLang="ko-KR" sz="1000" dirty="0"/>
          </a:p>
          <a:p>
            <a:endParaRPr lang="ko-KR" altLang="en-US" sz="1000" dirty="0"/>
          </a:p>
        </p:txBody>
      </p:sp>
      <p:sp>
        <p:nvSpPr>
          <p:cNvPr id="6" name="제목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fr-FR" altLang="ko-KR" sz="2800" dirty="0"/>
              <a:t>Communications &amp; CCTV PDR Design </a:t>
            </a:r>
            <a:r>
              <a:rPr lang="fr-FR" altLang="ko-KR" sz="2800" dirty="0" smtClean="0"/>
              <a:t>Package </a:t>
            </a:r>
            <a:r>
              <a:rPr lang="en-US" altLang="ko-KR" sz="3600" b="1" dirty="0"/>
              <a:t>REPLY SHEET</a:t>
            </a:r>
            <a:endParaRPr lang="ko-KR" altLang="en-US" sz="4000" b="1" dirty="0">
              <a:latin typeface="Calibri" pitchFamily="34" charset="0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8" name="직사각형 7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" name="그림 8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10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직사각형 10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9787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b="1" dirty="0">
                <a:latin typeface="Calibri" pitchFamily="34" charset="0"/>
              </a:rPr>
              <a:t>I</a:t>
            </a:r>
            <a:r>
              <a:rPr lang="en-US" altLang="ko-KR" sz="4000" b="1" dirty="0" smtClean="0">
                <a:latin typeface="Calibri" pitchFamily="34" charset="0"/>
              </a:rPr>
              <a:t>nterface Document</a:t>
            </a:r>
            <a:endParaRPr lang="ko-KR" altLang="en-US" sz="4000" b="1" dirty="0">
              <a:latin typeface="Calibri" pitchFamily="34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 smtClean="0">
                <a:latin typeface="Constantia" pitchFamily="18" charset="0"/>
              </a:rPr>
              <a:t>We would like to receive software interface document from the Wimax company. </a:t>
            </a:r>
          </a:p>
          <a:p>
            <a:pPr marL="0" indent="0">
              <a:buNone/>
            </a:pPr>
            <a:r>
              <a:rPr lang="en-US" altLang="ko-KR" sz="2000" b="1" dirty="0" smtClean="0">
                <a:latin typeface="Constantia" pitchFamily="18" charset="0"/>
              </a:rPr>
              <a:t>       (VOIP, GPS protocol, Ethernet connection method)</a:t>
            </a:r>
          </a:p>
          <a:p>
            <a:r>
              <a:rPr lang="en-US" altLang="ko-KR" b="1" dirty="0" err="1" smtClean="0">
                <a:latin typeface="Constantia" pitchFamily="18" charset="0"/>
              </a:rPr>
              <a:t>Wimx</a:t>
            </a:r>
            <a:r>
              <a:rPr lang="en-US" altLang="ko-KR" b="1" dirty="0" smtClean="0">
                <a:latin typeface="Constantia" pitchFamily="18" charset="0"/>
              </a:rPr>
              <a:t> </a:t>
            </a:r>
            <a:r>
              <a:rPr lang="ko-KR" altLang="en-US" b="1" dirty="0" smtClean="0">
                <a:latin typeface="Constantia" pitchFamily="18" charset="0"/>
              </a:rPr>
              <a:t>회사에서 사용 할 </a:t>
            </a:r>
            <a:r>
              <a:rPr lang="en-US" altLang="ko-KR" b="1" dirty="0" smtClean="0">
                <a:latin typeface="Constantia" pitchFamily="18" charset="0"/>
              </a:rPr>
              <a:t>VOIP </a:t>
            </a:r>
            <a:r>
              <a:rPr lang="ko-KR" altLang="en-US" b="1" dirty="0" smtClean="0">
                <a:latin typeface="Constantia" pitchFamily="18" charset="0"/>
              </a:rPr>
              <a:t>칩 종류</a:t>
            </a:r>
            <a:r>
              <a:rPr lang="en-US" altLang="ko-KR" b="1" dirty="0" smtClean="0">
                <a:latin typeface="Constantia" pitchFamily="18" charset="0"/>
              </a:rPr>
              <a:t> ?</a:t>
            </a:r>
            <a:endParaRPr lang="ko-KR" altLang="en-US" b="1" dirty="0">
              <a:latin typeface="Constantia" pitchFamily="18" charset="0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5" name="직사각형 4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7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직사각형 7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67544" y="1700808"/>
            <a:ext cx="8229600" cy="3816424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ko-KR" sz="8800" b="1" dirty="0" smtClean="0">
                <a:latin typeface="Constantia" pitchFamily="18" charset="0"/>
              </a:rPr>
              <a:t>THANK YOU !</a:t>
            </a:r>
          </a:p>
          <a:p>
            <a:pPr algn="ctr">
              <a:buNone/>
            </a:pPr>
            <a:r>
              <a:rPr lang="en-US" altLang="ko-KR" sz="9600" b="1" dirty="0" smtClean="0">
                <a:latin typeface="Constantia" pitchFamily="18" charset="0"/>
              </a:rPr>
              <a:t>Questions ?</a:t>
            </a:r>
            <a:endParaRPr lang="ko-KR" altLang="en-US" sz="9600" b="1" dirty="0">
              <a:latin typeface="Constantia" pitchFamily="18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Hunting</Template>
  <TotalTime>2280</TotalTime>
  <Words>1285</Words>
  <Application>Microsoft Office PowerPoint</Application>
  <PresentationFormat>화면 슬라이드 쇼(4:3)</PresentationFormat>
  <Paragraphs>314</Paragraphs>
  <Slides>18</Slides>
  <Notes>0</Notes>
  <HiddenSlides>0</HiddenSlides>
  <MMClips>1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Office 테마</vt:lpstr>
      <vt:lpstr>PowerPoint 프레젠테이션</vt:lpstr>
      <vt:lpstr>Contents</vt:lpstr>
      <vt:lpstr>System Overview(PA)</vt:lpstr>
      <vt:lpstr>System Overview(PIS)</vt:lpstr>
      <vt:lpstr>SEPTA / 덴버 장치 비교</vt:lpstr>
      <vt:lpstr>VOIP</vt:lpstr>
      <vt:lpstr>Communication Rack A (CRA)</vt:lpstr>
      <vt:lpstr>Communication Control Panel (CCP)</vt:lpstr>
      <vt:lpstr>Passenger Information Display (PID)</vt:lpstr>
      <vt:lpstr>Front Destination Indicator (FDI)</vt:lpstr>
      <vt:lpstr>Side Destination Indicator (SDI)</vt:lpstr>
      <vt:lpstr>Passenger Information Indicator (PII)</vt:lpstr>
      <vt:lpstr>Driver PA Operation Box (DPO)</vt:lpstr>
      <vt:lpstr>Driver PA Handset (DPH)</vt:lpstr>
      <vt:lpstr>Passenger Emergency Intercom (PEI)</vt:lpstr>
      <vt:lpstr>Communications &amp; CCTV PDR Design Package REPLY SHEET</vt:lpstr>
      <vt:lpstr>Interface Document</vt:lpstr>
      <vt:lpstr>PowerPoint 프레젠테이션</vt:lpstr>
    </vt:vector>
  </TitlesOfParts>
  <Company>(주)우진산전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진미화</dc:creator>
  <cp:lastModifiedBy>jds</cp:lastModifiedBy>
  <cp:revision>113</cp:revision>
  <dcterms:created xsi:type="dcterms:W3CDTF">2011-03-30T10:53:50Z</dcterms:created>
  <dcterms:modified xsi:type="dcterms:W3CDTF">2011-05-19T07:49:04Z</dcterms:modified>
</cp:coreProperties>
</file>