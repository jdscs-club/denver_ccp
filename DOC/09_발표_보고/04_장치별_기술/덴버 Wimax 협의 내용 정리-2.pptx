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1" r:id="rId3"/>
    <p:sldId id="279" r:id="rId4"/>
    <p:sldId id="281" r:id="rId5"/>
    <p:sldId id="280" r:id="rId6"/>
    <p:sldId id="282" r:id="rId7"/>
    <p:sldId id="275" r:id="rId8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ds" initials="j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3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622" autoAdjust="0"/>
    <p:restoredTop sz="94635" autoAdjust="0"/>
  </p:normalViewPr>
  <p:slideViewPr>
    <p:cSldViewPr>
      <p:cViewPr varScale="1">
        <p:scale>
          <a:sx n="97" d="100"/>
          <a:sy n="97" d="100"/>
        </p:scale>
        <p:origin x="-756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2011-07-22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2011-07-22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2011-07-22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2011-07-22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2011-07-22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2011-07-22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2011-07-22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2011-07-22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2011-07-22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2011-07-22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2011-07-22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alphaModFix amt="1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5B811B-9147-4F45-B4EC-AB69EFD27CA6}" type="datetimeFigureOut">
              <a:rPr lang="ko-KR" altLang="en-US" smtClean="0"/>
              <a:pPr/>
              <a:t>2011-07-22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5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wmf"/><Relationship Id="rId4" Type="http://schemas.openxmlformats.org/officeDocument/2006/relationships/image" Target="../media/image6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8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image" Target="../media/image4.jpeg"/><Relationship Id="rId7" Type="http://schemas.openxmlformats.org/officeDocument/2006/relationships/image" Target="../media/image7.wmf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3"/>
            <a:ext cx="8229600" cy="3917030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3" y="5517232"/>
            <a:ext cx="9144000" cy="13407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 descr="배경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" y="-1211"/>
            <a:ext cx="9144000" cy="5518444"/>
          </a:xfrm>
          <a:prstGeom prst="rect">
            <a:avLst/>
          </a:prstGeom>
        </p:spPr>
      </p:pic>
      <p:pic>
        <p:nvPicPr>
          <p:cNvPr id="7" name="그림 6" descr="영문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037765" y="6237312"/>
            <a:ext cx="2092869" cy="6167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-180528" y="4102584"/>
            <a:ext cx="910850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4400" b="1" dirty="0" err="1" smtClean="0">
                <a:latin typeface="Arial Black" pitchFamily="34" charset="0"/>
              </a:rPr>
              <a:t>Wimax</a:t>
            </a:r>
            <a:r>
              <a:rPr lang="en-US" altLang="ko-KR" sz="4400" b="1" dirty="0" smtClean="0">
                <a:latin typeface="Arial Black" pitchFamily="34" charset="0"/>
              </a:rPr>
              <a:t> </a:t>
            </a:r>
            <a:r>
              <a:rPr lang="ko-KR" altLang="en-US" sz="4400" b="1" dirty="0" smtClean="0">
                <a:latin typeface="Arial Black" pitchFamily="34" charset="0"/>
              </a:rPr>
              <a:t>기술 협의</a:t>
            </a:r>
            <a:endParaRPr lang="en-US" altLang="ko-KR" sz="4400" b="1" dirty="0" smtClean="0">
              <a:latin typeface="Arial Black" pitchFamily="34" charset="0"/>
            </a:endParaRPr>
          </a:p>
          <a:p>
            <a:pPr algn="r"/>
            <a:r>
              <a:rPr lang="en-US" altLang="ko-KR" sz="4400" b="1" dirty="0" smtClean="0">
                <a:latin typeface="Arial Black" pitchFamily="34" charset="0"/>
              </a:rPr>
              <a:t>2011. 7. 27</a:t>
            </a:r>
          </a:p>
        </p:txBody>
      </p:sp>
      <p:pic>
        <p:nvPicPr>
          <p:cNvPr id="9" name="그림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" y="6234656"/>
            <a:ext cx="1259629" cy="6181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111402" y="1124744"/>
            <a:ext cx="9144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latin typeface="Arial Black" pitchFamily="34" charset="0"/>
              </a:rPr>
              <a:t>DENVER RTD </a:t>
            </a:r>
            <a:endParaRPr lang="en-US" altLang="ko-KR" sz="4400" b="1" dirty="0" smtClean="0">
              <a:latin typeface="Arial Black" pitchFamily="34" charset="0"/>
            </a:endParaRPr>
          </a:p>
          <a:p>
            <a:pPr algn="ctr"/>
            <a:r>
              <a:rPr lang="en-US" altLang="ko-KR" sz="4400" b="1" dirty="0" smtClean="0">
                <a:latin typeface="Arial Black" pitchFamily="34" charset="0"/>
              </a:rPr>
              <a:t>Communication System</a:t>
            </a:r>
            <a:endParaRPr lang="ko-KR" altLang="en-US" sz="4400" b="1" dirty="0"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smtClean="0">
                <a:latin typeface="Calibri" pitchFamily="34" charset="0"/>
              </a:rPr>
              <a:t>Contents</a:t>
            </a:r>
            <a:endParaRPr lang="ko-KR" altLang="en-US" b="1" dirty="0">
              <a:latin typeface="Calibri" pitchFamily="34" charset="0"/>
            </a:endParaRPr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>
          <a:xfrm>
            <a:off x="457200" y="1268760"/>
            <a:ext cx="8291263" cy="4857403"/>
          </a:xfrm>
        </p:spPr>
        <p:txBody>
          <a:bodyPr>
            <a:normAutofit/>
          </a:bodyPr>
          <a:lstStyle/>
          <a:p>
            <a:r>
              <a:rPr lang="ko-KR" altLang="en-US" sz="3600" b="1" dirty="0">
                <a:latin typeface="Calibri" pitchFamily="34" charset="0"/>
              </a:rPr>
              <a:t>차량 데이터 관리</a:t>
            </a:r>
            <a:r>
              <a:rPr lang="en-US" altLang="ko-KR" sz="3400" b="1" dirty="0" smtClean="0">
                <a:latin typeface="Constantia" pitchFamily="18" charset="0"/>
              </a:rPr>
              <a:t>.</a:t>
            </a:r>
            <a:endParaRPr lang="en-US" altLang="ko-KR" sz="3400" b="1" dirty="0" smtClean="0">
              <a:latin typeface="Constantia" pitchFamily="18" charset="0"/>
            </a:endParaRPr>
          </a:p>
          <a:p>
            <a:r>
              <a:rPr lang="ko-KR" altLang="en-US" sz="3400" b="1" dirty="0" smtClean="0">
                <a:latin typeface="Constantia" pitchFamily="18" charset="0"/>
              </a:rPr>
              <a:t>실시간 문자 전송</a:t>
            </a:r>
            <a:r>
              <a:rPr lang="en-US" altLang="ko-KR" sz="3400" b="1" dirty="0" smtClean="0">
                <a:latin typeface="Constantia" pitchFamily="18" charset="0"/>
              </a:rPr>
              <a:t>.</a:t>
            </a:r>
          </a:p>
          <a:p>
            <a:r>
              <a:rPr lang="ko-KR" altLang="en-US" sz="3400" b="1" dirty="0" smtClean="0">
                <a:latin typeface="Constantia" pitchFamily="18" charset="0"/>
              </a:rPr>
              <a:t>긴급 </a:t>
            </a:r>
            <a:r>
              <a:rPr lang="ko-KR" altLang="en-US" sz="3400" b="1" dirty="0" smtClean="0">
                <a:latin typeface="Constantia" pitchFamily="18" charset="0"/>
              </a:rPr>
              <a:t>상황</a:t>
            </a:r>
            <a:r>
              <a:rPr lang="en-US" altLang="ko-KR" sz="3400" b="1" dirty="0" smtClean="0">
                <a:latin typeface="Constantia" pitchFamily="18" charset="0"/>
              </a:rPr>
              <a:t>.</a:t>
            </a:r>
            <a:endParaRPr lang="en-US" altLang="ko-KR" sz="3400" b="1" dirty="0" smtClean="0">
              <a:latin typeface="Constantia" pitchFamily="18" charset="0"/>
            </a:endParaRPr>
          </a:p>
          <a:p>
            <a:pPr>
              <a:buNone/>
            </a:pPr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ko-KR" altLang="en-US" dirty="0"/>
          </a:p>
        </p:txBody>
      </p:sp>
      <p:grpSp>
        <p:nvGrpSpPr>
          <p:cNvPr id="5" name="그룹 4"/>
          <p:cNvGrpSpPr/>
          <p:nvPr/>
        </p:nvGrpSpPr>
        <p:grpSpPr>
          <a:xfrm>
            <a:off x="0" y="6373930"/>
            <a:ext cx="9144000" cy="480130"/>
            <a:chOff x="0" y="6373930"/>
            <a:chExt cx="9144000" cy="480130"/>
          </a:xfrm>
        </p:grpSpPr>
        <p:sp>
          <p:nvSpPr>
            <p:cNvPr id="6" name="직사각형 5"/>
            <p:cNvSpPr/>
            <p:nvPr/>
          </p:nvSpPr>
          <p:spPr>
            <a:xfrm>
              <a:off x="0" y="6420849"/>
              <a:ext cx="9144000" cy="43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7" name="그림 6" descr="영문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80312" y="6422060"/>
              <a:ext cx="1465946" cy="432000"/>
            </a:xfrm>
            <a:prstGeom prst="rect">
              <a:avLst/>
            </a:prstGeom>
          </p:spPr>
        </p:pic>
        <p:pic>
          <p:nvPicPr>
            <p:cNvPr id="8" name="그림 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373" y="6420849"/>
              <a:ext cx="880243" cy="43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직사각형 8"/>
            <p:cNvSpPr/>
            <p:nvPr/>
          </p:nvSpPr>
          <p:spPr>
            <a:xfrm flipV="1">
              <a:off x="141412" y="6373930"/>
              <a:ext cx="8856984" cy="54006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smtClean="0">
                <a:latin typeface="Calibri" pitchFamily="34" charset="0"/>
              </a:rPr>
              <a:t>차량 데이터 관리</a:t>
            </a:r>
            <a:r>
              <a:rPr lang="en-US" altLang="ko-KR" b="1" dirty="0" smtClean="0">
                <a:latin typeface="Calibri" pitchFamily="34" charset="0"/>
              </a:rPr>
              <a:t>.</a:t>
            </a:r>
            <a:endParaRPr lang="ko-KR" altLang="en-US" b="1" dirty="0">
              <a:latin typeface="Calibri" pitchFamily="34" charset="0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0" y="6373930"/>
            <a:ext cx="9144000" cy="480130"/>
            <a:chOff x="0" y="6373930"/>
            <a:chExt cx="9144000" cy="480130"/>
          </a:xfrm>
        </p:grpSpPr>
        <p:sp>
          <p:nvSpPr>
            <p:cNvPr id="6" name="직사각형 5"/>
            <p:cNvSpPr/>
            <p:nvPr/>
          </p:nvSpPr>
          <p:spPr>
            <a:xfrm>
              <a:off x="0" y="6420849"/>
              <a:ext cx="9144000" cy="43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7" name="그림 6" descr="영문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80312" y="6422060"/>
              <a:ext cx="1465946" cy="432000"/>
            </a:xfrm>
            <a:prstGeom prst="rect">
              <a:avLst/>
            </a:prstGeom>
          </p:spPr>
        </p:pic>
        <p:pic>
          <p:nvPicPr>
            <p:cNvPr id="8" name="그림 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373" y="6420849"/>
              <a:ext cx="880243" cy="43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직사각형 8"/>
            <p:cNvSpPr/>
            <p:nvPr/>
          </p:nvSpPr>
          <p:spPr>
            <a:xfrm flipV="1">
              <a:off x="141412" y="6373930"/>
              <a:ext cx="8856984" cy="54006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027" name="Picture 3" descr="C:\Users\JDS_SSD\AppData\Local\Microsoft\Windows\Temporary Internet Files\Content.IE5\LAE5H5AU\MC900428971[1].wm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5986" y="1760659"/>
            <a:ext cx="1207922" cy="1765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laptop"/>
          <p:cNvSpPr>
            <a:spLocks noEditPoints="1" noChangeArrowheads="1"/>
          </p:cNvSpPr>
          <p:nvPr/>
        </p:nvSpPr>
        <p:spPr bwMode="auto">
          <a:xfrm>
            <a:off x="7236296" y="3917042"/>
            <a:ext cx="1440717" cy="848647"/>
          </a:xfrm>
          <a:custGeom>
            <a:avLst/>
            <a:gdLst>
              <a:gd name="T0" fmla="*/ 3362 w 21600"/>
              <a:gd name="T1" fmla="*/ 0 h 21600"/>
              <a:gd name="T2" fmla="*/ 3362 w 21600"/>
              <a:gd name="T3" fmla="*/ 7173 h 21600"/>
              <a:gd name="T4" fmla="*/ 18327 w 21600"/>
              <a:gd name="T5" fmla="*/ 0 h 21600"/>
              <a:gd name="T6" fmla="*/ 18327 w 21600"/>
              <a:gd name="T7" fmla="*/ 7173 h 21600"/>
              <a:gd name="T8" fmla="*/ 10800 w 21600"/>
              <a:gd name="T9" fmla="*/ 0 h 21600"/>
              <a:gd name="T10" fmla="*/ 10800 w 21600"/>
              <a:gd name="T11" fmla="*/ 21600 h 21600"/>
              <a:gd name="T12" fmla="*/ 0 w 21600"/>
              <a:gd name="T13" fmla="*/ 21600 h 21600"/>
              <a:gd name="T14" fmla="*/ 21600 w 21600"/>
              <a:gd name="T15" fmla="*/ 21600 h 21600"/>
              <a:gd name="T16" fmla="*/ 4445 w 21600"/>
              <a:gd name="T17" fmla="*/ 1858 h 21600"/>
              <a:gd name="T18" fmla="*/ 17311 w 21600"/>
              <a:gd name="T19" fmla="*/ 12323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 extrusionOk="0">
                <a:moveTo>
                  <a:pt x="3362" y="0"/>
                </a:moveTo>
                <a:lnTo>
                  <a:pt x="18327" y="0"/>
                </a:lnTo>
                <a:lnTo>
                  <a:pt x="18327" y="14347"/>
                </a:lnTo>
                <a:lnTo>
                  <a:pt x="3362" y="14347"/>
                </a:lnTo>
                <a:lnTo>
                  <a:pt x="3362" y="0"/>
                </a:lnTo>
                <a:close/>
              </a:path>
              <a:path w="21600" h="21600" extrusionOk="0">
                <a:moveTo>
                  <a:pt x="3340" y="15068"/>
                </a:moveTo>
                <a:lnTo>
                  <a:pt x="0" y="19877"/>
                </a:lnTo>
                <a:lnTo>
                  <a:pt x="21600" y="19877"/>
                </a:lnTo>
                <a:lnTo>
                  <a:pt x="18327" y="15068"/>
                </a:lnTo>
                <a:lnTo>
                  <a:pt x="3340" y="15068"/>
                </a:lnTo>
                <a:close/>
              </a:path>
              <a:path w="21600" h="21600" extrusionOk="0">
                <a:moveTo>
                  <a:pt x="0" y="19877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19877"/>
                </a:lnTo>
                <a:lnTo>
                  <a:pt x="0" y="19877"/>
                </a:lnTo>
                <a:close/>
              </a:path>
              <a:path w="21600" h="21600" extrusionOk="0">
                <a:moveTo>
                  <a:pt x="4186" y="1523"/>
                </a:moveTo>
                <a:lnTo>
                  <a:pt x="17547" y="1523"/>
                </a:lnTo>
                <a:lnTo>
                  <a:pt x="17547" y="12744"/>
                </a:lnTo>
                <a:lnTo>
                  <a:pt x="4186" y="12744"/>
                </a:lnTo>
                <a:lnTo>
                  <a:pt x="4186" y="1523"/>
                </a:lnTo>
                <a:close/>
              </a:path>
              <a:path w="21600" h="21600" extrusionOk="0">
                <a:moveTo>
                  <a:pt x="3318" y="15549"/>
                </a:moveTo>
                <a:lnTo>
                  <a:pt x="2917" y="16110"/>
                </a:lnTo>
                <a:lnTo>
                  <a:pt x="18727" y="16110"/>
                </a:lnTo>
                <a:lnTo>
                  <a:pt x="18327" y="15549"/>
                </a:lnTo>
                <a:lnTo>
                  <a:pt x="3318" y="15549"/>
                </a:lnTo>
                <a:close/>
              </a:path>
              <a:path w="21600" h="21600" extrusionOk="0">
                <a:moveTo>
                  <a:pt x="6213" y="18314"/>
                </a:moveTo>
                <a:lnTo>
                  <a:pt x="5946" y="18875"/>
                </a:lnTo>
                <a:lnTo>
                  <a:pt x="15766" y="18875"/>
                </a:lnTo>
                <a:lnTo>
                  <a:pt x="15499" y="18314"/>
                </a:lnTo>
                <a:lnTo>
                  <a:pt x="6213" y="18314"/>
                </a:lnTo>
                <a:close/>
              </a:path>
              <a:path w="21600" h="21600" extrusionOk="0">
                <a:moveTo>
                  <a:pt x="2828" y="16471"/>
                </a:moveTo>
                <a:lnTo>
                  <a:pt x="2405" y="17072"/>
                </a:lnTo>
                <a:lnTo>
                  <a:pt x="19284" y="17072"/>
                </a:lnTo>
                <a:lnTo>
                  <a:pt x="18839" y="16471"/>
                </a:lnTo>
                <a:lnTo>
                  <a:pt x="2828" y="16471"/>
                </a:lnTo>
                <a:close/>
              </a:path>
              <a:path w="21600" h="21600" extrusionOk="0">
                <a:moveTo>
                  <a:pt x="2316" y="17352"/>
                </a:moveTo>
                <a:lnTo>
                  <a:pt x="1871" y="17953"/>
                </a:lnTo>
                <a:lnTo>
                  <a:pt x="19863" y="17953"/>
                </a:lnTo>
                <a:lnTo>
                  <a:pt x="19395" y="17352"/>
                </a:lnTo>
                <a:lnTo>
                  <a:pt x="2316" y="17352"/>
                </a:lnTo>
                <a:close/>
              </a:path>
            </a:pathLst>
          </a:cu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4" name="Picture 2" descr="C:\Users\JDS_SSD\AppData\Local\Microsoft\Windows\Temporary Internet Files\Content.IE5\YX6H6F4E\MC900339344[1].wmf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516" y="3197450"/>
            <a:ext cx="904342" cy="905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:\Users\JDS_SSD\AppData\Local\Microsoft\Windows\Temporary Internet Files\Content.IE5\9B095FD2\MC900428967[1].wmf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976785">
            <a:off x="3314508" y="2964730"/>
            <a:ext cx="1789481" cy="294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0" name="자유형 1039"/>
          <p:cNvSpPr/>
          <p:nvPr/>
        </p:nvSpPr>
        <p:spPr>
          <a:xfrm>
            <a:off x="6339839" y="2924944"/>
            <a:ext cx="1455585" cy="874004"/>
          </a:xfrm>
          <a:custGeom>
            <a:avLst/>
            <a:gdLst>
              <a:gd name="connsiteX0" fmla="*/ 0 w 1685831"/>
              <a:gd name="connsiteY0" fmla="*/ 0 h 1748008"/>
              <a:gd name="connsiteX1" fmla="*/ 788275 w 1685831"/>
              <a:gd name="connsiteY1" fmla="*/ 420414 h 1748008"/>
              <a:gd name="connsiteX2" fmla="*/ 357351 w 1685831"/>
              <a:gd name="connsiteY2" fmla="*/ 872359 h 1748008"/>
              <a:gd name="connsiteX3" fmla="*/ 1566041 w 1685831"/>
              <a:gd name="connsiteY3" fmla="*/ 1671145 h 1748008"/>
              <a:gd name="connsiteX4" fmla="*/ 1576551 w 1685831"/>
              <a:gd name="connsiteY4" fmla="*/ 1671145 h 1748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85831" h="1748008">
                <a:moveTo>
                  <a:pt x="0" y="0"/>
                </a:moveTo>
                <a:cubicBezTo>
                  <a:pt x="364358" y="137510"/>
                  <a:pt x="728717" y="275021"/>
                  <a:pt x="788275" y="420414"/>
                </a:cubicBezTo>
                <a:cubicBezTo>
                  <a:pt x="847833" y="565807"/>
                  <a:pt x="227723" y="663904"/>
                  <a:pt x="357351" y="872359"/>
                </a:cubicBezTo>
                <a:cubicBezTo>
                  <a:pt x="486979" y="1080814"/>
                  <a:pt x="1362841" y="1538014"/>
                  <a:pt x="1566041" y="1671145"/>
                </a:cubicBezTo>
                <a:cubicBezTo>
                  <a:pt x="1769241" y="1804276"/>
                  <a:pt x="1672896" y="1737710"/>
                  <a:pt x="1576551" y="1671145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6000" b="1" dirty="0"/>
          </a:p>
        </p:txBody>
      </p:sp>
      <p:sp>
        <p:nvSpPr>
          <p:cNvPr id="50" name="TextBox 49"/>
          <p:cNvSpPr txBox="1"/>
          <p:nvPr/>
        </p:nvSpPr>
        <p:spPr>
          <a:xfrm>
            <a:off x="2300991" y="4233644"/>
            <a:ext cx="112046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 smtClean="0"/>
              <a:t>차량</a:t>
            </a:r>
            <a:endParaRPr lang="ko-KR" altLang="en-US" sz="800" dirty="0"/>
          </a:p>
        </p:txBody>
      </p:sp>
      <p:sp>
        <p:nvSpPr>
          <p:cNvPr id="54" name="TextBox 53"/>
          <p:cNvSpPr txBox="1"/>
          <p:nvPr/>
        </p:nvSpPr>
        <p:spPr>
          <a:xfrm>
            <a:off x="4548009" y="1437227"/>
            <a:ext cx="2088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 smtClean="0"/>
              <a:t>Server</a:t>
            </a:r>
            <a:endParaRPr lang="ko-KR" altLang="en-US" sz="10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710455" y="4756413"/>
            <a:ext cx="40587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ko-KR" altLang="en-US" sz="1000" dirty="0" smtClean="0"/>
              <a:t>서버 운용 방법 </a:t>
            </a:r>
            <a:r>
              <a:rPr lang="en-US" altLang="ko-KR" sz="1000" dirty="0" smtClean="0"/>
              <a:t>: FTP? HTTP</a:t>
            </a:r>
          </a:p>
          <a:p>
            <a:pPr marL="228600" indent="-228600">
              <a:buAutoNum type="arabicPeriod"/>
            </a:pPr>
            <a:r>
              <a:rPr lang="ko-KR" altLang="en-US" sz="1000" b="1" dirty="0" smtClean="0"/>
              <a:t>차량 및 </a:t>
            </a:r>
            <a:r>
              <a:rPr lang="en-US" altLang="ko-KR" sz="1000" b="1" dirty="0" smtClean="0"/>
              <a:t>Server</a:t>
            </a:r>
            <a:r>
              <a:rPr lang="ko-KR" altLang="en-US" sz="1000" b="1" dirty="0" smtClean="0"/>
              <a:t>간 데이터 통신 방법 </a:t>
            </a:r>
            <a:r>
              <a:rPr lang="en-US" altLang="ko-KR" sz="1000" b="1" dirty="0" smtClean="0"/>
              <a:t>: </a:t>
            </a:r>
            <a:r>
              <a:rPr lang="en-US" altLang="ko-KR" sz="1000" b="1" dirty="0" err="1" smtClean="0"/>
              <a:t>Wifi</a:t>
            </a:r>
            <a:r>
              <a:rPr lang="en-US" altLang="ko-KR" sz="1000" b="1" dirty="0" smtClean="0"/>
              <a:t> or </a:t>
            </a:r>
            <a:r>
              <a:rPr lang="en-US" altLang="ko-KR" sz="1000" b="1" dirty="0" err="1" smtClean="0"/>
              <a:t>WiMax</a:t>
            </a:r>
            <a:endParaRPr lang="en-US" altLang="ko-KR" sz="1000" b="1" dirty="0" smtClean="0"/>
          </a:p>
          <a:p>
            <a:pPr marL="228600" indent="-228600">
              <a:buAutoNum type="arabicPeriod"/>
            </a:pPr>
            <a:r>
              <a:rPr lang="en-US" altLang="ko-KR" sz="1000" b="1" dirty="0" smtClean="0"/>
              <a:t>VOIP </a:t>
            </a:r>
            <a:r>
              <a:rPr lang="ko-KR" altLang="en-US" sz="1000" b="1" dirty="0" smtClean="0"/>
              <a:t>음성 </a:t>
            </a:r>
            <a:r>
              <a:rPr lang="ko-KR" altLang="en-US" sz="1000" b="1" dirty="0" err="1" smtClean="0"/>
              <a:t>코덱</a:t>
            </a:r>
            <a:r>
              <a:rPr lang="ko-KR" altLang="en-US" sz="1000" b="1" dirty="0" smtClean="0"/>
              <a:t> 종류</a:t>
            </a:r>
            <a:r>
              <a:rPr lang="en-US" altLang="ko-KR" sz="1000" b="1" dirty="0" smtClean="0"/>
              <a:t>?(</a:t>
            </a:r>
            <a:r>
              <a:rPr lang="ko-KR" altLang="en-US" sz="1000" b="1" dirty="0" smtClean="0"/>
              <a:t>사용 </a:t>
            </a:r>
            <a:r>
              <a:rPr lang="ko-KR" altLang="en-US" sz="1000" b="1" dirty="0" err="1" smtClean="0"/>
              <a:t>칩셋</a:t>
            </a:r>
            <a:r>
              <a:rPr lang="ko-KR" altLang="en-US" sz="1000" b="1" dirty="0" smtClean="0"/>
              <a:t> 종류</a:t>
            </a:r>
            <a:r>
              <a:rPr lang="en-US" altLang="ko-KR" sz="1000" b="1" dirty="0" smtClean="0"/>
              <a:t>?)</a:t>
            </a:r>
          </a:p>
          <a:p>
            <a:pPr marL="228600" indent="-228600">
              <a:buAutoNum type="arabicPeriod"/>
            </a:pPr>
            <a:r>
              <a:rPr lang="ko-KR" altLang="en-US" sz="1000" b="1" dirty="0" smtClean="0"/>
              <a:t>차량에서 수집된 </a:t>
            </a:r>
            <a:r>
              <a:rPr lang="en-US" altLang="ko-KR" sz="1000" b="1" dirty="0" smtClean="0"/>
              <a:t>MDS </a:t>
            </a:r>
            <a:r>
              <a:rPr lang="ko-KR" altLang="en-US" sz="1000" b="1" dirty="0" smtClean="0"/>
              <a:t>파일의 이상유무를 판단하는 방법</a:t>
            </a:r>
            <a:r>
              <a:rPr lang="en-US" altLang="ko-KR" sz="1000" b="1" dirty="0" smtClean="0"/>
              <a:t>?</a:t>
            </a:r>
            <a:endParaRPr lang="ko-KR" altLang="en-US" sz="10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6948264" y="4864135"/>
            <a:ext cx="2088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smtClean="0"/>
              <a:t>데이터 편집 장치</a:t>
            </a:r>
            <a:endParaRPr lang="ko-KR" altLang="en-US" sz="1000" b="1" dirty="0"/>
          </a:p>
        </p:txBody>
      </p:sp>
      <p:pic>
        <p:nvPicPr>
          <p:cNvPr id="21" name="Picture 2" descr="C:\Users\JDS_SSD\AppData\Local\Microsoft\Windows\Temporary Internet Files\Content.IE5\YX6H6F4E\MC900339344[1].wmf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297" y="3268297"/>
            <a:ext cx="904342" cy="905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직선 화살표 연결선 3"/>
          <p:cNvCxnSpPr/>
          <p:nvPr/>
        </p:nvCxnSpPr>
        <p:spPr>
          <a:xfrm flipV="1">
            <a:off x="1369467" y="3650078"/>
            <a:ext cx="936104" cy="2172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17121" y="4231103"/>
            <a:ext cx="112046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 smtClean="0"/>
              <a:t>MDS</a:t>
            </a:r>
            <a:endParaRPr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919978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395536" y="299594"/>
            <a:ext cx="8229600" cy="1143000"/>
          </a:xfrm>
        </p:spPr>
        <p:txBody>
          <a:bodyPr/>
          <a:lstStyle/>
          <a:p>
            <a:r>
              <a:rPr lang="ko-KR" altLang="en-US" b="1" dirty="0" smtClean="0">
                <a:latin typeface="Calibri" pitchFamily="34" charset="0"/>
              </a:rPr>
              <a:t>실시간 문자 전송</a:t>
            </a:r>
            <a:r>
              <a:rPr lang="en-US" altLang="ko-KR" b="1" dirty="0" smtClean="0">
                <a:latin typeface="Calibri" pitchFamily="34" charset="0"/>
              </a:rPr>
              <a:t>.</a:t>
            </a:r>
            <a:endParaRPr lang="ko-KR" altLang="en-US" b="1" dirty="0">
              <a:latin typeface="Calibri" pitchFamily="34" charset="0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0" y="6373930"/>
            <a:ext cx="9144000" cy="480130"/>
            <a:chOff x="0" y="6373930"/>
            <a:chExt cx="9144000" cy="480130"/>
          </a:xfrm>
        </p:grpSpPr>
        <p:sp>
          <p:nvSpPr>
            <p:cNvPr id="6" name="직사각형 5"/>
            <p:cNvSpPr/>
            <p:nvPr/>
          </p:nvSpPr>
          <p:spPr>
            <a:xfrm>
              <a:off x="0" y="6420849"/>
              <a:ext cx="9144000" cy="43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7" name="그림 6" descr="영문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80312" y="6422060"/>
              <a:ext cx="1465946" cy="432000"/>
            </a:xfrm>
            <a:prstGeom prst="rect">
              <a:avLst/>
            </a:prstGeom>
          </p:spPr>
        </p:pic>
        <p:pic>
          <p:nvPicPr>
            <p:cNvPr id="8" name="그림 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373" y="6420849"/>
              <a:ext cx="880243" cy="43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직사각형 8"/>
            <p:cNvSpPr/>
            <p:nvPr/>
          </p:nvSpPr>
          <p:spPr>
            <a:xfrm flipV="1">
              <a:off x="141412" y="6373930"/>
              <a:ext cx="8856984" cy="54006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050" name="Picture 2" descr="C:\Users\JDS_SSD\AppData\Local\Microsoft\Windows\Temporary Internet Files\Content.IE5\YX6H6F4E\MC900339344[1].wm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8141" y="2226421"/>
            <a:ext cx="904342" cy="905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6" descr="C:\Users\JDS_SSD\AppData\Local\Microsoft\Windows\Temporary Internet Files\Content.IE5\9B095FD2\MC900428967[1].wmf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90605">
            <a:off x="4098034" y="2493253"/>
            <a:ext cx="1690564" cy="497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xtBox 27"/>
          <p:cNvSpPr txBox="1"/>
          <p:nvPr/>
        </p:nvSpPr>
        <p:spPr>
          <a:xfrm>
            <a:off x="235373" y="4005064"/>
            <a:ext cx="317620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en-US" altLang="ko-KR" sz="1000" dirty="0" smtClean="0"/>
              <a:t>SMRT 2</a:t>
            </a:r>
            <a:r>
              <a:rPr lang="ko-KR" altLang="en-US" sz="1000" dirty="0" smtClean="0"/>
              <a:t>호선 구축 방법을 설명</a:t>
            </a:r>
            <a:r>
              <a:rPr lang="en-US" altLang="ko-KR" sz="1000" dirty="0" smtClean="0"/>
              <a:t>.</a:t>
            </a:r>
          </a:p>
          <a:p>
            <a:pPr marL="685800" lvl="1" indent="-228600">
              <a:buAutoNum type="arabicPeriod"/>
            </a:pPr>
            <a:r>
              <a:rPr lang="ko-KR" altLang="en-US" sz="1000" dirty="0" smtClean="0"/>
              <a:t>차량 </a:t>
            </a:r>
            <a:r>
              <a:rPr lang="en-US" altLang="ko-KR" sz="1000" dirty="0" smtClean="0"/>
              <a:t>Event </a:t>
            </a:r>
            <a:r>
              <a:rPr lang="ko-KR" altLang="en-US" sz="1000" dirty="0" smtClean="0"/>
              <a:t>일어날 경우</a:t>
            </a:r>
            <a:r>
              <a:rPr lang="en-US" altLang="ko-KR" sz="1000" dirty="0" smtClean="0"/>
              <a:t>, </a:t>
            </a:r>
            <a:r>
              <a:rPr lang="ko-KR" altLang="en-US" sz="1000" dirty="0" smtClean="0"/>
              <a:t>사령 전송</a:t>
            </a:r>
            <a:r>
              <a:rPr lang="en-US" altLang="ko-KR" sz="1000" dirty="0" smtClean="0"/>
              <a:t>.</a:t>
            </a:r>
          </a:p>
          <a:p>
            <a:pPr marL="685800" lvl="1" indent="-228600">
              <a:buAutoNum type="arabicPeriod"/>
            </a:pPr>
            <a:r>
              <a:rPr lang="ko-KR" altLang="en-US" sz="1000" dirty="0" smtClean="0"/>
              <a:t>차량상태를 사령에서 호출</a:t>
            </a:r>
            <a:r>
              <a:rPr lang="en-US" altLang="ko-KR" sz="1000" dirty="0" smtClean="0"/>
              <a:t>. </a:t>
            </a:r>
          </a:p>
          <a:p>
            <a:pPr marL="685800" lvl="1" indent="-228600">
              <a:buAutoNum type="arabicPeriod"/>
            </a:pPr>
            <a:endParaRPr lang="en-US" altLang="ko-KR" sz="1000" dirty="0"/>
          </a:p>
          <a:p>
            <a:pPr marL="228600" indent="-228600">
              <a:buAutoNum type="arabicPeriod"/>
            </a:pPr>
            <a:r>
              <a:rPr lang="ko-KR" altLang="en-US" sz="1000" dirty="0" smtClean="0"/>
              <a:t>개발 영역</a:t>
            </a:r>
            <a:endParaRPr lang="en-US" altLang="ko-KR" sz="1000" dirty="0" smtClean="0"/>
          </a:p>
          <a:p>
            <a:pPr marL="685800" lvl="1" indent="-228600">
              <a:buAutoNum type="arabicPeriod"/>
            </a:pPr>
            <a:r>
              <a:rPr lang="ko-KR" altLang="en-US" sz="1000" dirty="0" err="1" smtClean="0"/>
              <a:t>차량쪽는</a:t>
            </a:r>
            <a:r>
              <a:rPr lang="ko-KR" altLang="en-US" sz="1000" dirty="0" smtClean="0"/>
              <a:t> 우리개발을 한다</a:t>
            </a:r>
            <a:r>
              <a:rPr lang="en-US" altLang="ko-KR" sz="1000" dirty="0" smtClean="0"/>
              <a:t>.</a:t>
            </a:r>
          </a:p>
          <a:p>
            <a:pPr marL="685800" lvl="1" indent="-228600">
              <a:buAutoNum type="arabicPeriod"/>
            </a:pPr>
            <a:r>
              <a:rPr lang="en-US" altLang="ko-KR" sz="1000" dirty="0" smtClean="0"/>
              <a:t>RRDCC</a:t>
            </a:r>
            <a:r>
              <a:rPr lang="ko-KR" altLang="en-US" sz="1000" dirty="0" smtClean="0"/>
              <a:t>쪽의 호출프로그램의 개발</a:t>
            </a:r>
            <a:r>
              <a:rPr lang="en-US" altLang="ko-KR" sz="1000" dirty="0" smtClean="0"/>
              <a:t>?</a:t>
            </a:r>
          </a:p>
          <a:p>
            <a:pPr marL="685800" lvl="1" indent="-228600">
              <a:buAutoNum type="arabicPeriod"/>
            </a:pPr>
            <a:endParaRPr lang="en-US" altLang="ko-KR" sz="1000" dirty="0"/>
          </a:p>
          <a:p>
            <a:pPr marL="228600" indent="-228600">
              <a:buAutoNum type="arabicPeriod"/>
            </a:pPr>
            <a:r>
              <a:rPr lang="ko-KR" altLang="en-US" sz="1000" dirty="0" smtClean="0"/>
              <a:t>문자전송종류</a:t>
            </a:r>
            <a:r>
              <a:rPr lang="en-US" altLang="ko-KR" sz="1000" dirty="0" smtClean="0"/>
              <a:t>(</a:t>
            </a:r>
            <a:r>
              <a:rPr lang="ko-KR" altLang="en-US" sz="1000" dirty="0" smtClean="0"/>
              <a:t>고객의 원하는 범위</a:t>
            </a:r>
            <a:r>
              <a:rPr lang="en-US" altLang="ko-KR" sz="1000" dirty="0" smtClean="0"/>
              <a:t>)</a:t>
            </a:r>
          </a:p>
          <a:p>
            <a:pPr marL="685800" lvl="1" indent="-228600">
              <a:buAutoNum type="arabicPeriod"/>
            </a:pPr>
            <a:r>
              <a:rPr lang="en-US" altLang="ko-KR" sz="1000" dirty="0" err="1" smtClean="0"/>
              <a:t>Conetnet</a:t>
            </a:r>
            <a:endParaRPr lang="en-US" altLang="ko-KR" sz="1000" dirty="0" smtClean="0"/>
          </a:p>
          <a:p>
            <a:pPr marL="685800" lvl="1" indent="-228600">
              <a:buAutoNum type="arabicPeriod"/>
            </a:pPr>
            <a:r>
              <a:rPr lang="ko-KR" altLang="en-US" sz="1000" dirty="0" smtClean="0"/>
              <a:t>비상 메시지냐</a:t>
            </a:r>
            <a:r>
              <a:rPr lang="en-US" altLang="ko-KR" sz="1000" dirty="0" smtClean="0"/>
              <a:t>??</a:t>
            </a:r>
          </a:p>
          <a:p>
            <a:pPr marL="685800" lvl="1" indent="-228600">
              <a:buAutoNum type="arabicPeriod"/>
            </a:pPr>
            <a:endParaRPr lang="en-US" altLang="ko-KR" sz="1000" dirty="0" smtClean="0"/>
          </a:p>
          <a:p>
            <a:pPr marL="228600" indent="-228600">
              <a:buAutoNum type="arabicPeriod"/>
            </a:pPr>
            <a:r>
              <a:rPr lang="en-US" altLang="ko-KR" sz="1000" dirty="0" err="1" smtClean="0"/>
              <a:t>WiMax</a:t>
            </a:r>
            <a:r>
              <a:rPr lang="en-US" altLang="ko-KR" sz="1000" dirty="0" smtClean="0"/>
              <a:t> or CDMA?</a:t>
            </a:r>
            <a:endParaRPr lang="ko-KR" altLang="ko-KR" sz="1000" dirty="0"/>
          </a:p>
          <a:p>
            <a:endParaRPr lang="ko-KR" altLang="en-US" sz="1000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1886583" y="1672787"/>
            <a:ext cx="14105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ko-KR" sz="1000" dirty="0" smtClean="0"/>
              <a:t>RRDCC</a:t>
            </a:r>
            <a:endParaRPr lang="ko-KR" altLang="ko-KR" sz="1000" dirty="0"/>
          </a:p>
          <a:p>
            <a:endParaRPr lang="ko-KR" altLang="en-US" sz="1000" b="1" dirty="0"/>
          </a:p>
        </p:txBody>
      </p:sp>
      <p:pic>
        <p:nvPicPr>
          <p:cNvPr id="31" name="Picture 3" descr="C:\Users\JDS_SSD\AppData\Local\Microsoft\Windows\Temporary Internet Files\Content.IE5\RUVW944P\MP900178474[1].jpg"/>
          <p:cNvPicPr>
            <a:picLocks noChangeAspect="1" noChangeArrowheads="1"/>
          </p:cNvPicPr>
          <p:nvPr/>
        </p:nvPicPr>
        <p:blipFill>
          <a:blip r:embed="rId6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2101263"/>
            <a:ext cx="1728192" cy="1146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304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smtClean="0">
                <a:latin typeface="Calibri" pitchFamily="34" charset="0"/>
              </a:rPr>
              <a:t>긴급 상황 </a:t>
            </a:r>
            <a:r>
              <a:rPr lang="en-US" altLang="ko-KR" b="1" dirty="0" smtClean="0">
                <a:latin typeface="Calibri" pitchFamily="34" charset="0"/>
              </a:rPr>
              <a:t>1.</a:t>
            </a:r>
            <a:endParaRPr lang="ko-KR" altLang="en-US" b="1" dirty="0">
              <a:latin typeface="Calibri" pitchFamily="34" charset="0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0" y="6373930"/>
            <a:ext cx="9144000" cy="480130"/>
            <a:chOff x="0" y="6373930"/>
            <a:chExt cx="9144000" cy="480130"/>
          </a:xfrm>
        </p:grpSpPr>
        <p:sp>
          <p:nvSpPr>
            <p:cNvPr id="6" name="직사각형 5"/>
            <p:cNvSpPr/>
            <p:nvPr/>
          </p:nvSpPr>
          <p:spPr>
            <a:xfrm>
              <a:off x="0" y="6420849"/>
              <a:ext cx="9144000" cy="43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7" name="그림 6" descr="영문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80312" y="6422060"/>
              <a:ext cx="1465946" cy="432000"/>
            </a:xfrm>
            <a:prstGeom prst="rect">
              <a:avLst/>
            </a:prstGeom>
          </p:spPr>
        </p:pic>
        <p:pic>
          <p:nvPicPr>
            <p:cNvPr id="8" name="그림 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373" y="6420849"/>
              <a:ext cx="880243" cy="43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직사각형 8"/>
            <p:cNvSpPr/>
            <p:nvPr/>
          </p:nvSpPr>
          <p:spPr>
            <a:xfrm flipV="1">
              <a:off x="141412" y="6373930"/>
              <a:ext cx="8856984" cy="54006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" name="그림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2097081"/>
            <a:ext cx="1589967" cy="1334079"/>
          </a:xfrm>
          <a:prstGeom prst="rect">
            <a:avLst/>
          </a:prstGeom>
        </p:spPr>
      </p:pic>
      <p:pic>
        <p:nvPicPr>
          <p:cNvPr id="34" name="Picture 2" descr="C:\Users\JDS_SSD\AppData\Local\Microsoft\Windows\Temporary Internet Files\Content.IE5\YX6H6F4E\MC900339344[1].wmf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0664" y="2311493"/>
            <a:ext cx="904342" cy="905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6" descr="C:\Users\JDS_SSD\AppData\Local\Microsoft\Windows\Temporary Internet Files\Content.IE5\9B095FD2\MC900428967[1].wmf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90605">
            <a:off x="2350467" y="2573048"/>
            <a:ext cx="1690564" cy="497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TextBox 36"/>
          <p:cNvSpPr txBox="1"/>
          <p:nvPr/>
        </p:nvSpPr>
        <p:spPr>
          <a:xfrm>
            <a:off x="1115729" y="1757185"/>
            <a:ext cx="14105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ko-KR" sz="1000" dirty="0" smtClean="0"/>
              <a:t>RRDCC</a:t>
            </a:r>
            <a:endParaRPr lang="ko-KR" altLang="ko-KR" sz="1000" dirty="0"/>
          </a:p>
          <a:p>
            <a:endParaRPr lang="ko-KR" altLang="en-US" sz="1000" b="1" dirty="0"/>
          </a:p>
        </p:txBody>
      </p:sp>
      <p:pic>
        <p:nvPicPr>
          <p:cNvPr id="38" name="Picture 3" descr="C:\Users\JDS_SSD\AppData\Local\Microsoft\Windows\Temporary Internet Files\Content.IE5\RUVW944P\MP900178474[1].jpg"/>
          <p:cNvPicPr>
            <a:picLocks noChangeAspect="1" noChangeArrowheads="1"/>
          </p:cNvPicPr>
          <p:nvPr/>
        </p:nvPicPr>
        <p:blipFill>
          <a:blip r:embed="rId7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786" y="2185661"/>
            <a:ext cx="1728192" cy="1146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TextBox 38"/>
          <p:cNvSpPr txBox="1"/>
          <p:nvPr/>
        </p:nvSpPr>
        <p:spPr>
          <a:xfrm>
            <a:off x="560786" y="4293096"/>
            <a:ext cx="307943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PEI On</a:t>
            </a:r>
            <a:r>
              <a:rPr lang="ko-KR" altLang="en-US" sz="1000" dirty="0" smtClean="0"/>
              <a:t>을 하고자 할 경우</a:t>
            </a:r>
            <a:r>
              <a:rPr lang="en-US" altLang="ko-KR" sz="1000" dirty="0" smtClean="0"/>
              <a:t>, RRDCC</a:t>
            </a:r>
            <a:r>
              <a:rPr lang="ko-KR" altLang="en-US" sz="1000" dirty="0" smtClean="0"/>
              <a:t>에서 차량의 호출을 통하여 제어가 가능하도록 함</a:t>
            </a:r>
            <a:r>
              <a:rPr lang="en-US" altLang="ko-KR" sz="1000" dirty="0" smtClean="0"/>
              <a:t>.</a:t>
            </a:r>
            <a:endParaRPr lang="en-US" altLang="ko-KR" sz="1000" dirty="0"/>
          </a:p>
          <a:p>
            <a:endParaRPr lang="en-US" altLang="ko-KR" sz="1000" dirty="0" smtClean="0"/>
          </a:p>
          <a:p>
            <a:pPr marL="228600" indent="-228600">
              <a:buAutoNum type="arabicPeriod"/>
            </a:pPr>
            <a:r>
              <a:rPr lang="ko-KR" altLang="en-US" sz="1000" dirty="0"/>
              <a:t>개발 영역</a:t>
            </a:r>
            <a:endParaRPr lang="en-US" altLang="ko-KR" sz="1000" dirty="0"/>
          </a:p>
          <a:p>
            <a:pPr marL="685800" lvl="1" indent="-228600">
              <a:buAutoNum type="arabicPeriod"/>
            </a:pPr>
            <a:r>
              <a:rPr lang="ko-KR" altLang="en-US" sz="1000" dirty="0" err="1"/>
              <a:t>차량쪽는</a:t>
            </a:r>
            <a:r>
              <a:rPr lang="ko-KR" altLang="en-US" sz="1000" dirty="0"/>
              <a:t> 우리개발을 한다</a:t>
            </a:r>
            <a:r>
              <a:rPr lang="en-US" altLang="ko-KR" sz="1000" dirty="0"/>
              <a:t>.</a:t>
            </a:r>
          </a:p>
          <a:p>
            <a:pPr marL="685800" lvl="1" indent="-228600">
              <a:buAutoNum type="arabicPeriod"/>
            </a:pPr>
            <a:r>
              <a:rPr lang="en-US" altLang="ko-KR" sz="1000" dirty="0" smtClean="0"/>
              <a:t>OCC</a:t>
            </a:r>
            <a:r>
              <a:rPr lang="ko-KR" altLang="en-US" sz="1000" dirty="0" smtClean="0"/>
              <a:t>쪽의 </a:t>
            </a:r>
            <a:r>
              <a:rPr lang="ko-KR" altLang="en-US" sz="1000" dirty="0"/>
              <a:t>호출프로그램의 개발</a:t>
            </a:r>
            <a:r>
              <a:rPr lang="en-US" altLang="ko-KR" sz="1000" dirty="0"/>
              <a:t>?</a:t>
            </a:r>
          </a:p>
          <a:p>
            <a:endParaRPr lang="ko-KR" altLang="en-US" sz="1000" dirty="0"/>
          </a:p>
        </p:txBody>
      </p:sp>
      <p:sp>
        <p:nvSpPr>
          <p:cNvPr id="4" name="왼쪽/오른쪽 화살표 3"/>
          <p:cNvSpPr/>
          <p:nvPr/>
        </p:nvSpPr>
        <p:spPr>
          <a:xfrm>
            <a:off x="5436096" y="2579522"/>
            <a:ext cx="1216152" cy="242316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구름 15"/>
          <p:cNvSpPr/>
          <p:nvPr/>
        </p:nvSpPr>
        <p:spPr>
          <a:xfrm>
            <a:off x="3848598" y="1412776"/>
            <a:ext cx="4755850" cy="3024336"/>
          </a:xfrm>
          <a:prstGeom prst="clou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6458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smtClean="0">
                <a:latin typeface="Calibri" pitchFamily="34" charset="0"/>
              </a:rPr>
              <a:t>긴급 상황 </a:t>
            </a:r>
            <a:r>
              <a:rPr lang="en-US" altLang="ko-KR" b="1" dirty="0">
                <a:latin typeface="Calibri" pitchFamily="34" charset="0"/>
              </a:rPr>
              <a:t>2</a:t>
            </a:r>
            <a:r>
              <a:rPr lang="en-US" altLang="ko-KR" b="1" dirty="0" smtClean="0">
                <a:latin typeface="Calibri" pitchFamily="34" charset="0"/>
              </a:rPr>
              <a:t>.</a:t>
            </a:r>
            <a:endParaRPr lang="ko-KR" altLang="en-US" b="1" dirty="0">
              <a:latin typeface="Calibri" pitchFamily="34" charset="0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0" y="6373930"/>
            <a:ext cx="9144000" cy="480130"/>
            <a:chOff x="0" y="6373930"/>
            <a:chExt cx="9144000" cy="480130"/>
          </a:xfrm>
        </p:grpSpPr>
        <p:sp>
          <p:nvSpPr>
            <p:cNvPr id="6" name="직사각형 5"/>
            <p:cNvSpPr/>
            <p:nvPr/>
          </p:nvSpPr>
          <p:spPr>
            <a:xfrm>
              <a:off x="0" y="6420849"/>
              <a:ext cx="9144000" cy="43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7" name="그림 6" descr="영문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80312" y="6422060"/>
              <a:ext cx="1465946" cy="432000"/>
            </a:xfrm>
            <a:prstGeom prst="rect">
              <a:avLst/>
            </a:prstGeom>
          </p:spPr>
        </p:pic>
        <p:pic>
          <p:nvPicPr>
            <p:cNvPr id="8" name="그림 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373" y="6420849"/>
              <a:ext cx="880243" cy="43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직사각형 8"/>
            <p:cNvSpPr/>
            <p:nvPr/>
          </p:nvSpPr>
          <p:spPr>
            <a:xfrm flipV="1">
              <a:off x="141412" y="6373930"/>
              <a:ext cx="8856984" cy="54006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3075" name="Picture 3" descr="C:\Users\JDS_SSD\AppData\Local\Microsoft\Windows\Temporary Internet Files\Content.IE5\RUVW944P\MP900178474[1].jpg"/>
          <p:cNvPicPr>
            <a:picLocks noChangeAspect="1" noChangeArrowheads="1"/>
          </p:cNvPicPr>
          <p:nvPr/>
        </p:nvPicPr>
        <p:blipFill>
          <a:blip r:embed="rId4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628800"/>
            <a:ext cx="1728192" cy="1146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8301" y="3535730"/>
            <a:ext cx="1589967" cy="1334079"/>
          </a:xfrm>
          <a:prstGeom prst="rect">
            <a:avLst/>
          </a:prstGeom>
        </p:spPr>
      </p:pic>
      <p:pic>
        <p:nvPicPr>
          <p:cNvPr id="17" name="_x207736992" descr="EMB00000c7c4363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99" t="27728" r="23422" b="20822"/>
          <a:stretch>
            <a:fillRect/>
          </a:stretch>
        </p:blipFill>
        <p:spPr bwMode="auto">
          <a:xfrm>
            <a:off x="4752478" y="3535730"/>
            <a:ext cx="1547714" cy="1314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6" descr="C:\Users\JDS_SSD\AppData\Local\Microsoft\Windows\Temporary Internet Files\Content.IE5\9B095FD2\MC900428967[1].wmf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16858">
            <a:off x="3235971" y="1940644"/>
            <a:ext cx="1853319" cy="526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왼쪽/오른쪽 화살표 3"/>
          <p:cNvSpPr/>
          <p:nvPr/>
        </p:nvSpPr>
        <p:spPr>
          <a:xfrm>
            <a:off x="6300192" y="3950417"/>
            <a:ext cx="928120" cy="48463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249018" y="4071660"/>
            <a:ext cx="307943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DPO – PEI </a:t>
            </a:r>
            <a:r>
              <a:rPr lang="ko-KR" altLang="en-US" sz="1000" dirty="0" smtClean="0"/>
              <a:t>통신 </a:t>
            </a:r>
            <a:r>
              <a:rPr lang="en-US" altLang="ko-KR" sz="1000" dirty="0" smtClean="0"/>
              <a:t>Event</a:t>
            </a:r>
            <a:r>
              <a:rPr lang="ko-KR" altLang="en-US" sz="1000" dirty="0" smtClean="0"/>
              <a:t>가 발생할 경우</a:t>
            </a:r>
            <a:r>
              <a:rPr lang="en-US" altLang="ko-KR" sz="1000" dirty="0" smtClean="0"/>
              <a:t>.</a:t>
            </a:r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- Event </a:t>
            </a:r>
            <a:r>
              <a:rPr lang="ko-KR" altLang="en-US" sz="1000" dirty="0" smtClean="0"/>
              <a:t>정보를 </a:t>
            </a:r>
            <a:r>
              <a:rPr lang="en-US" altLang="ko-KR" sz="1000" dirty="0" smtClean="0"/>
              <a:t>OCC </a:t>
            </a:r>
            <a:r>
              <a:rPr lang="ko-KR" altLang="en-US" sz="1000" dirty="0" smtClean="0"/>
              <a:t>로 </a:t>
            </a:r>
            <a:r>
              <a:rPr lang="ko-KR" altLang="en-US" sz="1000" dirty="0" smtClean="0"/>
              <a:t>전송함</a:t>
            </a:r>
            <a:r>
              <a:rPr lang="en-US" altLang="ko-KR" sz="1000" dirty="0" smtClean="0"/>
              <a:t>.</a:t>
            </a:r>
          </a:p>
          <a:p>
            <a:endParaRPr lang="en-US" altLang="ko-KR" sz="1000" dirty="0"/>
          </a:p>
          <a:p>
            <a:pPr marL="228600" indent="-228600">
              <a:buAutoNum type="arabicPeriod"/>
            </a:pPr>
            <a:r>
              <a:rPr lang="ko-KR" altLang="en-US" sz="1000" dirty="0"/>
              <a:t>개발 영역</a:t>
            </a:r>
            <a:endParaRPr lang="en-US" altLang="ko-KR" sz="1000" dirty="0"/>
          </a:p>
          <a:p>
            <a:pPr marL="685800" lvl="1" indent="-228600">
              <a:buAutoNum type="arabicPeriod"/>
            </a:pPr>
            <a:r>
              <a:rPr lang="ko-KR" altLang="en-US" sz="1000" dirty="0" err="1"/>
              <a:t>차량쪽는</a:t>
            </a:r>
            <a:r>
              <a:rPr lang="ko-KR" altLang="en-US" sz="1000" dirty="0"/>
              <a:t> 우리개발을 한다</a:t>
            </a:r>
            <a:r>
              <a:rPr lang="en-US" altLang="ko-KR" sz="1000" dirty="0"/>
              <a:t>.</a:t>
            </a:r>
          </a:p>
          <a:p>
            <a:pPr marL="685800" lvl="1" indent="-228600">
              <a:buAutoNum type="arabicPeriod"/>
            </a:pPr>
            <a:r>
              <a:rPr lang="en-US" altLang="ko-KR" sz="1000" dirty="0"/>
              <a:t>OCC</a:t>
            </a:r>
            <a:r>
              <a:rPr lang="ko-KR" altLang="en-US" sz="1000" dirty="0"/>
              <a:t>쪽의 </a:t>
            </a:r>
            <a:r>
              <a:rPr lang="ko-KR" altLang="en-US" sz="1000" dirty="0" smtClean="0"/>
              <a:t>모니터링 프로그램의 </a:t>
            </a:r>
            <a:r>
              <a:rPr lang="ko-KR" altLang="en-US" sz="1000" dirty="0"/>
              <a:t>개발</a:t>
            </a:r>
            <a:r>
              <a:rPr lang="en-US" altLang="ko-KR" sz="1000" dirty="0"/>
              <a:t>?</a:t>
            </a:r>
          </a:p>
          <a:p>
            <a:endParaRPr lang="ko-KR" altLang="en-US" sz="1000" dirty="0"/>
          </a:p>
        </p:txBody>
      </p:sp>
      <p:pic>
        <p:nvPicPr>
          <p:cNvPr id="37" name="Picture 2" descr="C:\Users\JDS_SSD\AppData\Local\Microsoft\Windows\Temporary Internet Files\Content.IE5\YX6H6F4E\MC900339344[1].wmf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1682" y="1700808"/>
            <a:ext cx="904342" cy="905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구름 10"/>
          <p:cNvSpPr/>
          <p:nvPr/>
        </p:nvSpPr>
        <p:spPr>
          <a:xfrm>
            <a:off x="4388149" y="1052736"/>
            <a:ext cx="4755850" cy="4968551"/>
          </a:xfrm>
          <a:prstGeom prst="clou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0425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/>
          <p:cNvSpPr>
            <a:spLocks noGrp="1"/>
          </p:cNvSpPr>
          <p:nvPr>
            <p:ph idx="1"/>
          </p:nvPr>
        </p:nvSpPr>
        <p:spPr>
          <a:xfrm>
            <a:off x="467544" y="1700808"/>
            <a:ext cx="8229600" cy="3816424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altLang="ko-KR" sz="8800" b="1" dirty="0" smtClean="0">
                <a:latin typeface="Constantia" pitchFamily="18" charset="0"/>
              </a:rPr>
              <a:t>THANK YOU !</a:t>
            </a:r>
          </a:p>
          <a:p>
            <a:pPr algn="ctr">
              <a:buNone/>
            </a:pPr>
            <a:r>
              <a:rPr lang="en-US" altLang="ko-KR" sz="9600" b="1" dirty="0" smtClean="0">
                <a:latin typeface="Constantia" pitchFamily="18" charset="0"/>
              </a:rPr>
              <a:t>Questions ?</a:t>
            </a:r>
            <a:endParaRPr lang="ko-KR" altLang="en-US" sz="9600" b="1" dirty="0">
              <a:latin typeface="Constantia" pitchFamily="18" charset="0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0" y="6373930"/>
            <a:ext cx="9144000" cy="480130"/>
            <a:chOff x="0" y="6373930"/>
            <a:chExt cx="9144000" cy="480130"/>
          </a:xfrm>
        </p:grpSpPr>
        <p:sp>
          <p:nvSpPr>
            <p:cNvPr id="6" name="직사각형 5"/>
            <p:cNvSpPr/>
            <p:nvPr/>
          </p:nvSpPr>
          <p:spPr>
            <a:xfrm>
              <a:off x="0" y="6420849"/>
              <a:ext cx="9144000" cy="43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7" name="그림 6" descr="영문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80312" y="6422060"/>
              <a:ext cx="1465946" cy="432000"/>
            </a:xfrm>
            <a:prstGeom prst="rect">
              <a:avLst/>
            </a:prstGeom>
          </p:spPr>
        </p:pic>
        <p:pic>
          <p:nvPicPr>
            <p:cNvPr id="8" name="그림 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373" y="6420849"/>
              <a:ext cx="880243" cy="43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직사각형 8"/>
            <p:cNvSpPr/>
            <p:nvPr/>
          </p:nvSpPr>
          <p:spPr>
            <a:xfrm flipV="1">
              <a:off x="141412" y="6373930"/>
              <a:ext cx="8856984" cy="54006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Hunting</Template>
  <TotalTime>2423</TotalTime>
  <Words>188</Words>
  <Application>Microsoft Office PowerPoint</Application>
  <PresentationFormat>화면 슬라이드 쇼(4:3)</PresentationFormat>
  <Paragraphs>52</Paragraphs>
  <Slides>7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8" baseType="lpstr">
      <vt:lpstr>Office 테마</vt:lpstr>
      <vt:lpstr>PowerPoint 프레젠테이션</vt:lpstr>
      <vt:lpstr>Contents</vt:lpstr>
      <vt:lpstr>차량 데이터 관리.</vt:lpstr>
      <vt:lpstr>실시간 문자 전송.</vt:lpstr>
      <vt:lpstr>긴급 상황 1.</vt:lpstr>
      <vt:lpstr>긴급 상황 2.</vt:lpstr>
      <vt:lpstr>PowerPoint 프레젠테이션</vt:lpstr>
    </vt:vector>
  </TitlesOfParts>
  <Company>(주)우진산전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진미화</dc:creator>
  <cp:lastModifiedBy>JDS_SSD</cp:lastModifiedBy>
  <cp:revision>127</cp:revision>
  <dcterms:created xsi:type="dcterms:W3CDTF">2011-03-30T10:53:50Z</dcterms:created>
  <dcterms:modified xsi:type="dcterms:W3CDTF">2011-07-22T02:11:16Z</dcterms:modified>
</cp:coreProperties>
</file>