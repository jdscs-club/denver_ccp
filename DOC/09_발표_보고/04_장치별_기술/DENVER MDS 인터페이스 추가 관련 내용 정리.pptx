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733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87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97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48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25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45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9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08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05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96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00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22607-E936-4DD8-BBE0-A3293CBB1892}" type="datetimeFigureOut">
              <a:rPr lang="ko-KR" altLang="en-US" smtClean="0"/>
              <a:t>2011-10-10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04CAE-3B4E-4EED-938C-019DD0B7F1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951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sz="2800" dirty="0" smtClean="0"/>
              <a:t>DENVER MDS </a:t>
            </a:r>
            <a:r>
              <a:rPr lang="ko-KR" altLang="en-US" sz="2800" dirty="0" smtClean="0"/>
              <a:t>인터페이스 추가 관련 내용 정리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1640" y="2636912"/>
            <a:ext cx="6400800" cy="1752600"/>
          </a:xfrm>
        </p:spPr>
        <p:txBody>
          <a:bodyPr/>
          <a:lstStyle/>
          <a:p>
            <a:r>
              <a:rPr lang="en-US" altLang="ko-KR" dirty="0" smtClean="0"/>
              <a:t>PTC – CRA – MDS - CI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9514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47664" y="1700808"/>
            <a:ext cx="583264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CRA(MA) </a:t>
            </a:r>
            <a:r>
              <a:rPr lang="ko-KR" altLang="en-US" dirty="0" smtClean="0"/>
              <a:t>한곳에서만 </a:t>
            </a:r>
            <a:r>
              <a:rPr lang="en-US" altLang="ko-KR" dirty="0" err="1" smtClean="0"/>
              <a:t>Lonworks</a:t>
            </a:r>
            <a:r>
              <a:rPr lang="en-US" altLang="ko-KR" dirty="0" smtClean="0"/>
              <a:t> </a:t>
            </a:r>
            <a:r>
              <a:rPr lang="ko-KR" altLang="en-US" dirty="0" smtClean="0"/>
              <a:t>통신</a:t>
            </a:r>
            <a:endParaRPr lang="en-US" altLang="ko-KR" dirty="0" smtClean="0"/>
          </a:p>
          <a:p>
            <a:r>
              <a:rPr lang="en-US" altLang="ko-KR" dirty="0" smtClean="0"/>
              <a:t>    : </a:t>
            </a:r>
            <a:r>
              <a:rPr lang="en-US" altLang="ko-KR" sz="1000" dirty="0" smtClean="0"/>
              <a:t>SEPTA System </a:t>
            </a:r>
            <a:r>
              <a:rPr lang="ko-KR" altLang="en-US" sz="1000" dirty="0" smtClean="0"/>
              <a:t>으로</a:t>
            </a:r>
            <a:r>
              <a:rPr lang="en-US" altLang="ko-KR" sz="1000" dirty="0" smtClean="0"/>
              <a:t> </a:t>
            </a:r>
            <a:r>
              <a:rPr lang="ko-KR" altLang="en-US" sz="1000" dirty="0" err="1" smtClean="0"/>
              <a:t>구성시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MA-MB </a:t>
            </a:r>
            <a:r>
              <a:rPr lang="ko-KR" altLang="en-US" sz="1000" dirty="0" smtClean="0"/>
              <a:t>중 한곳 에서만 </a:t>
            </a:r>
            <a:r>
              <a:rPr lang="en-US" altLang="ko-KR" sz="1000" dirty="0" err="1" smtClean="0"/>
              <a:t>Lonworks</a:t>
            </a:r>
            <a:r>
              <a:rPr lang="ko-KR" altLang="en-US" sz="1000" dirty="0" smtClean="0"/>
              <a:t>이 활성화 됩니다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  </a:t>
            </a:r>
            <a:r>
              <a:rPr lang="ko-KR" altLang="en-US" sz="1000" dirty="0" smtClean="0"/>
              <a:t>이 부분에 대한 보안 방법 필요 합니다</a:t>
            </a:r>
            <a:r>
              <a:rPr lang="en-US" altLang="ko-KR" sz="1000" dirty="0" smtClean="0"/>
              <a:t>.</a:t>
            </a:r>
          </a:p>
        </p:txBody>
      </p:sp>
      <p:grpSp>
        <p:nvGrpSpPr>
          <p:cNvPr id="50" name="그룹 49"/>
          <p:cNvGrpSpPr/>
          <p:nvPr/>
        </p:nvGrpSpPr>
        <p:grpSpPr>
          <a:xfrm>
            <a:off x="2687316" y="2513798"/>
            <a:ext cx="3396852" cy="2664379"/>
            <a:chOff x="2230552" y="1577694"/>
            <a:chExt cx="3396852" cy="2664379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2230552" y="1897037"/>
              <a:ext cx="792088" cy="97688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MA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3059861" y="1897037"/>
              <a:ext cx="792088" cy="97688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MB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4006007" y="1897037"/>
              <a:ext cx="792088" cy="97688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MA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4835316" y="1897037"/>
              <a:ext cx="792088" cy="97688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MB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등호 8"/>
            <p:cNvSpPr/>
            <p:nvPr/>
          </p:nvSpPr>
          <p:spPr>
            <a:xfrm>
              <a:off x="3851949" y="2702224"/>
              <a:ext cx="154058" cy="45719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갈매기형 수장 9"/>
            <p:cNvSpPr/>
            <p:nvPr/>
          </p:nvSpPr>
          <p:spPr>
            <a:xfrm rot="5400000">
              <a:off x="2266556" y="1613698"/>
              <a:ext cx="216024" cy="144016"/>
            </a:xfrm>
            <a:prstGeom prst="chevr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0"/>
            <p:cNvSpPr/>
            <p:nvPr/>
          </p:nvSpPr>
          <p:spPr>
            <a:xfrm>
              <a:off x="2305787" y="2553908"/>
              <a:ext cx="641618" cy="2880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rgbClr val="FF0000"/>
                  </a:solidFill>
                </a:rPr>
                <a:t>CRA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2" name="타원 11"/>
            <p:cNvSpPr/>
            <p:nvPr/>
          </p:nvSpPr>
          <p:spPr>
            <a:xfrm>
              <a:off x="3135096" y="2553908"/>
              <a:ext cx="641618" cy="2880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CRA</a:t>
              </a:r>
              <a:endParaRPr lang="ko-KR" altLang="en-US" sz="1000" dirty="0"/>
            </a:p>
          </p:txBody>
        </p:sp>
        <p:sp>
          <p:nvSpPr>
            <p:cNvPr id="13" name="타원 12"/>
            <p:cNvSpPr/>
            <p:nvPr/>
          </p:nvSpPr>
          <p:spPr>
            <a:xfrm>
              <a:off x="4081242" y="2554288"/>
              <a:ext cx="641618" cy="2880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rgbClr val="FF0000"/>
                  </a:solidFill>
                </a:rPr>
                <a:t>CRA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4903737" y="2554288"/>
              <a:ext cx="641618" cy="2880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CRA</a:t>
              </a:r>
              <a:endParaRPr lang="ko-KR" altLang="en-US" sz="1000" dirty="0"/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2338564" y="3367969"/>
              <a:ext cx="576064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MDS</a:t>
              </a:r>
              <a:endParaRPr lang="ko-KR" altLang="en-US" sz="1000" dirty="0"/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3167873" y="3367969"/>
              <a:ext cx="576064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MDS</a:t>
              </a:r>
              <a:endParaRPr lang="ko-KR" altLang="en-US" sz="1000" dirty="0"/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4114019" y="3367969"/>
              <a:ext cx="576064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MDS</a:t>
              </a:r>
              <a:endParaRPr lang="ko-KR" altLang="en-US" sz="1000" dirty="0"/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4936514" y="3367969"/>
              <a:ext cx="576064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MDS</a:t>
              </a:r>
              <a:endParaRPr lang="ko-KR" altLang="en-US" sz="1000" dirty="0"/>
            </a:p>
          </p:txBody>
        </p:sp>
        <p:cxnSp>
          <p:nvCxnSpPr>
            <p:cNvPr id="20" name="직선 화살표 연결선 19"/>
            <p:cNvCxnSpPr>
              <a:stCxn id="5" idx="2"/>
              <a:endCxn id="15" idx="0"/>
            </p:cNvCxnSpPr>
            <p:nvPr/>
          </p:nvCxnSpPr>
          <p:spPr>
            <a:xfrm>
              <a:off x="2626596" y="2873921"/>
              <a:ext cx="0" cy="494048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stCxn id="7" idx="2"/>
              <a:endCxn id="17" idx="0"/>
            </p:cNvCxnSpPr>
            <p:nvPr/>
          </p:nvCxnSpPr>
          <p:spPr>
            <a:xfrm>
              <a:off x="4402051" y="2873921"/>
              <a:ext cx="0" cy="494048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곱셈 기호 22"/>
            <p:cNvSpPr/>
            <p:nvPr/>
          </p:nvSpPr>
          <p:spPr>
            <a:xfrm>
              <a:off x="3304447" y="2836306"/>
              <a:ext cx="302915" cy="5760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곱셈 기호 23"/>
            <p:cNvSpPr/>
            <p:nvPr/>
          </p:nvSpPr>
          <p:spPr>
            <a:xfrm>
              <a:off x="5079902" y="2832913"/>
              <a:ext cx="302915" cy="576064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2337376" y="4026049"/>
              <a:ext cx="576064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CI</a:t>
              </a:r>
              <a:endParaRPr lang="ko-KR" altLang="en-US" sz="1000" dirty="0"/>
            </a:p>
          </p:txBody>
        </p:sp>
        <p:sp>
          <p:nvSpPr>
            <p:cNvPr id="26" name="모서리가 둥근 직사각형 25"/>
            <p:cNvSpPr/>
            <p:nvPr/>
          </p:nvSpPr>
          <p:spPr>
            <a:xfrm>
              <a:off x="3166685" y="4026049"/>
              <a:ext cx="576064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CI</a:t>
              </a:r>
              <a:endParaRPr lang="ko-KR" altLang="en-US" sz="1000" dirty="0"/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4112831" y="4026049"/>
              <a:ext cx="576064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CI</a:t>
              </a:r>
              <a:endParaRPr lang="ko-KR" altLang="en-US" sz="1000" dirty="0"/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4935326" y="4026049"/>
              <a:ext cx="576064" cy="21602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CI</a:t>
              </a:r>
              <a:endParaRPr lang="ko-KR" altLang="en-US" sz="1000" dirty="0"/>
            </a:p>
          </p:txBody>
        </p:sp>
        <p:cxnSp>
          <p:nvCxnSpPr>
            <p:cNvPr id="29" name="직선 화살표 연결선 28"/>
            <p:cNvCxnSpPr>
              <a:stCxn id="15" idx="2"/>
              <a:endCxn id="25" idx="0"/>
            </p:cNvCxnSpPr>
            <p:nvPr/>
          </p:nvCxnSpPr>
          <p:spPr>
            <a:xfrm flipH="1">
              <a:off x="2625408" y="3583993"/>
              <a:ext cx="1188" cy="442056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/>
            <p:cNvCxnSpPr>
              <a:stCxn id="17" idx="2"/>
              <a:endCxn id="27" idx="0"/>
            </p:cNvCxnSpPr>
            <p:nvPr/>
          </p:nvCxnSpPr>
          <p:spPr>
            <a:xfrm flipH="1">
              <a:off x="4400863" y="3583993"/>
              <a:ext cx="1188" cy="442056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타원 35"/>
            <p:cNvSpPr/>
            <p:nvPr/>
          </p:nvSpPr>
          <p:spPr>
            <a:xfrm>
              <a:off x="2314294" y="1897037"/>
              <a:ext cx="641618" cy="2880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PTC</a:t>
              </a:r>
              <a:endParaRPr lang="ko-KR" altLang="en-US" sz="1000" dirty="0"/>
            </a:p>
          </p:txBody>
        </p:sp>
        <p:sp>
          <p:nvSpPr>
            <p:cNvPr id="37" name="타원 36"/>
            <p:cNvSpPr/>
            <p:nvPr/>
          </p:nvSpPr>
          <p:spPr>
            <a:xfrm>
              <a:off x="3133908" y="1924820"/>
              <a:ext cx="641618" cy="2880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PTC</a:t>
              </a:r>
              <a:endParaRPr lang="ko-KR" altLang="en-US" sz="1000" dirty="0"/>
            </a:p>
          </p:txBody>
        </p:sp>
        <p:sp>
          <p:nvSpPr>
            <p:cNvPr id="38" name="타원 37"/>
            <p:cNvSpPr/>
            <p:nvPr/>
          </p:nvSpPr>
          <p:spPr>
            <a:xfrm>
              <a:off x="4080054" y="1897037"/>
              <a:ext cx="641618" cy="2880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PTC</a:t>
              </a:r>
              <a:endParaRPr lang="ko-KR" altLang="en-US" sz="1000" dirty="0"/>
            </a:p>
          </p:txBody>
        </p:sp>
        <p:sp>
          <p:nvSpPr>
            <p:cNvPr id="39" name="타원 38"/>
            <p:cNvSpPr/>
            <p:nvPr/>
          </p:nvSpPr>
          <p:spPr>
            <a:xfrm>
              <a:off x="4902549" y="1924820"/>
              <a:ext cx="641618" cy="2880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/>
                <a:t>PTC</a:t>
              </a:r>
              <a:endParaRPr lang="ko-KR" altLang="en-US" sz="1000" dirty="0"/>
            </a:p>
          </p:txBody>
        </p:sp>
        <p:cxnSp>
          <p:nvCxnSpPr>
            <p:cNvPr id="43" name="구부러진 연결선 42"/>
            <p:cNvCxnSpPr>
              <a:stCxn id="36" idx="5"/>
              <a:endCxn id="11" idx="1"/>
            </p:cNvCxnSpPr>
            <p:nvPr/>
          </p:nvCxnSpPr>
          <p:spPr>
            <a:xfrm rot="5400000">
              <a:off x="2404250" y="2138389"/>
              <a:ext cx="453201" cy="462199"/>
            </a:xfrm>
            <a:prstGeom prst="curvedConnector3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구부러진 연결선 44"/>
            <p:cNvCxnSpPr>
              <a:stCxn id="37" idx="5"/>
              <a:endCxn id="12" idx="1"/>
            </p:cNvCxnSpPr>
            <p:nvPr/>
          </p:nvCxnSpPr>
          <p:spPr>
            <a:xfrm rot="5400000">
              <a:off x="3242602" y="2157128"/>
              <a:ext cx="425418" cy="452504"/>
            </a:xfrm>
            <a:prstGeom prst="curvedConnector3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구부러진 연결선 46"/>
            <p:cNvCxnSpPr>
              <a:stCxn id="38" idx="5"/>
              <a:endCxn id="13" idx="1"/>
            </p:cNvCxnSpPr>
            <p:nvPr/>
          </p:nvCxnSpPr>
          <p:spPr>
            <a:xfrm rot="5400000">
              <a:off x="4174667" y="2143426"/>
              <a:ext cx="453581" cy="452504"/>
            </a:xfrm>
            <a:prstGeom prst="curvedConnector3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구부러진 연결선 48"/>
            <p:cNvCxnSpPr>
              <a:stCxn id="39" idx="5"/>
              <a:endCxn id="14" idx="1"/>
            </p:cNvCxnSpPr>
            <p:nvPr/>
          </p:nvCxnSpPr>
          <p:spPr>
            <a:xfrm rot="5400000">
              <a:off x="5011053" y="2157318"/>
              <a:ext cx="425798" cy="452504"/>
            </a:xfrm>
            <a:prstGeom prst="curvedConnector3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제목 1"/>
          <p:cNvSpPr txBox="1">
            <a:spLocks/>
          </p:cNvSpPr>
          <p:nvPr/>
        </p:nvSpPr>
        <p:spPr>
          <a:xfrm>
            <a:off x="611560" y="1487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/>
              <a:t>DENVER MDS </a:t>
            </a:r>
            <a:r>
              <a:rPr lang="ko-KR" altLang="en-US" sz="2800" dirty="0" smtClean="0"/>
              <a:t>인터페이스 보완 내용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5690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47664" y="1556792"/>
            <a:ext cx="58326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CRA BACKUP 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: </a:t>
            </a:r>
            <a:r>
              <a:rPr lang="en-US" altLang="ko-KR" sz="1000" dirty="0" smtClean="0"/>
              <a:t>MA-MB </a:t>
            </a:r>
            <a:r>
              <a:rPr lang="ko-KR" altLang="en-US" sz="1000" dirty="0" smtClean="0"/>
              <a:t>중</a:t>
            </a:r>
            <a:r>
              <a:rPr lang="en-US" altLang="ko-KR" sz="1000" dirty="0"/>
              <a:t> </a:t>
            </a:r>
            <a:r>
              <a:rPr lang="en-US" altLang="ko-KR" sz="1000" dirty="0" smtClean="0"/>
              <a:t>CRA </a:t>
            </a:r>
            <a:r>
              <a:rPr lang="ko-KR" altLang="en-US" sz="1000" dirty="0" smtClean="0"/>
              <a:t>장치 하나가 이상 </a:t>
            </a:r>
            <a:r>
              <a:rPr lang="ko-KR" altLang="en-US" sz="1000" dirty="0" err="1" smtClean="0"/>
              <a:t>동작시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BACKUP </a:t>
            </a:r>
            <a:r>
              <a:rPr lang="ko-KR" altLang="en-US" sz="1000" dirty="0" smtClean="0"/>
              <a:t>동작이 가능 하다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   </a:t>
            </a:r>
            <a:r>
              <a:rPr lang="ko-KR" altLang="en-US" sz="1000" dirty="0" smtClean="0"/>
              <a:t>하지만</a:t>
            </a:r>
            <a:r>
              <a:rPr lang="en-US" altLang="ko-KR" sz="1000" dirty="0" smtClean="0"/>
              <a:t> BACKUP </a:t>
            </a:r>
            <a:r>
              <a:rPr lang="ko-KR" altLang="en-US" sz="1000" dirty="0" err="1" smtClean="0"/>
              <a:t>동작시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MDS – CI </a:t>
            </a:r>
            <a:r>
              <a:rPr lang="ko-KR" altLang="en-US" sz="1000" dirty="0" smtClean="0"/>
              <a:t>동작에 영향을 줄 수 있다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   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 * </a:t>
            </a:r>
            <a:r>
              <a:rPr lang="ko-KR" altLang="en-US" sz="1000" dirty="0" smtClean="0"/>
              <a:t>방송</a:t>
            </a:r>
            <a:r>
              <a:rPr lang="en-US" altLang="ko-KR" sz="1000" dirty="0" smtClean="0"/>
              <a:t>/ </a:t>
            </a:r>
            <a:r>
              <a:rPr lang="ko-KR" altLang="en-US" sz="1000" dirty="0" smtClean="0"/>
              <a:t>표시기 </a:t>
            </a:r>
            <a:r>
              <a:rPr lang="en-US" altLang="ko-KR" sz="1000" dirty="0" smtClean="0"/>
              <a:t>BACKUP </a:t>
            </a:r>
            <a:r>
              <a:rPr lang="ko-KR" altLang="en-US" sz="1000" dirty="0" smtClean="0"/>
              <a:t>동작 </a:t>
            </a:r>
            <a:r>
              <a:rPr lang="en-US" altLang="ko-KR" sz="1000" dirty="0" smtClean="0"/>
              <a:t>SYSTEM</a:t>
            </a:r>
            <a:r>
              <a:rPr lang="ko-KR" altLang="en-US" sz="1000" dirty="0" smtClean="0"/>
              <a:t>에 대한 하부 장치 보완 필요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합니다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2590592" y="3532236"/>
            <a:ext cx="792088" cy="9768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419901" y="3532236"/>
            <a:ext cx="792088" cy="9768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366047" y="3532236"/>
            <a:ext cx="792088" cy="9768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5195356" y="3532236"/>
            <a:ext cx="792088" cy="9768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등호 9"/>
          <p:cNvSpPr/>
          <p:nvPr/>
        </p:nvSpPr>
        <p:spPr>
          <a:xfrm>
            <a:off x="4211989" y="4337423"/>
            <a:ext cx="154058" cy="4571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갈매기형 수장 10"/>
          <p:cNvSpPr/>
          <p:nvPr/>
        </p:nvSpPr>
        <p:spPr>
          <a:xfrm rot="5400000">
            <a:off x="2626596" y="3248897"/>
            <a:ext cx="216024" cy="144016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2665827" y="4189107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rgbClr val="FF0000"/>
                </a:solidFill>
              </a:rPr>
              <a:t>CRA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495136" y="4189107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CRA</a:t>
            </a:r>
            <a:endParaRPr lang="ko-KR" altLang="en-US" sz="1000" dirty="0"/>
          </a:p>
        </p:txBody>
      </p:sp>
      <p:sp>
        <p:nvSpPr>
          <p:cNvPr id="14" name="타원 13"/>
          <p:cNvSpPr/>
          <p:nvPr/>
        </p:nvSpPr>
        <p:spPr>
          <a:xfrm>
            <a:off x="4441282" y="4189487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rgbClr val="FF0000"/>
                </a:solidFill>
              </a:rPr>
              <a:t>CRA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263777" y="4189487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rgbClr val="FFFF00"/>
                </a:solidFill>
              </a:rPr>
              <a:t>CRA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2698604" y="500316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MDS</a:t>
            </a:r>
            <a:endParaRPr lang="ko-KR" altLang="en-US" sz="10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527913" y="500316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MDS</a:t>
            </a:r>
            <a:endParaRPr lang="ko-KR" altLang="en-US" sz="1000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4474059" y="500316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MDS</a:t>
            </a:r>
            <a:endParaRPr lang="ko-KR" altLang="en-US" sz="10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296554" y="500316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MDS</a:t>
            </a:r>
            <a:endParaRPr lang="ko-KR" altLang="en-US" sz="1000" dirty="0"/>
          </a:p>
        </p:txBody>
      </p:sp>
      <p:cxnSp>
        <p:nvCxnSpPr>
          <p:cNvPr id="20" name="직선 화살표 연결선 19"/>
          <p:cNvCxnSpPr>
            <a:stCxn id="6" idx="2"/>
            <a:endCxn id="16" idx="0"/>
          </p:cNvCxnSpPr>
          <p:nvPr/>
        </p:nvCxnSpPr>
        <p:spPr>
          <a:xfrm>
            <a:off x="2986636" y="4509120"/>
            <a:ext cx="0" cy="494048"/>
          </a:xfrm>
          <a:prstGeom prst="straightConnector1">
            <a:avLst/>
          </a:prstGeom>
          <a:ln w="381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8" idx="2"/>
            <a:endCxn id="18" idx="0"/>
          </p:cNvCxnSpPr>
          <p:nvPr/>
        </p:nvCxnSpPr>
        <p:spPr>
          <a:xfrm>
            <a:off x="4762091" y="4509120"/>
            <a:ext cx="0" cy="494048"/>
          </a:xfrm>
          <a:prstGeom prst="straightConnector1">
            <a:avLst/>
          </a:prstGeom>
          <a:ln w="381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곱셈 기호 21"/>
          <p:cNvSpPr/>
          <p:nvPr/>
        </p:nvSpPr>
        <p:spPr>
          <a:xfrm>
            <a:off x="3664487" y="4471505"/>
            <a:ext cx="302915" cy="57606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곱셈 기호 22"/>
          <p:cNvSpPr/>
          <p:nvPr/>
        </p:nvSpPr>
        <p:spPr>
          <a:xfrm>
            <a:off x="5439942" y="4468112"/>
            <a:ext cx="302915" cy="57606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2697416" y="566124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CI</a:t>
            </a:r>
            <a:endParaRPr lang="ko-KR" altLang="en-US" sz="1000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3526725" y="566124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CI</a:t>
            </a:r>
            <a:endParaRPr lang="ko-KR" altLang="en-US" sz="1000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4472871" y="566124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CI</a:t>
            </a:r>
            <a:endParaRPr lang="ko-KR" altLang="en-US" sz="1000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5295366" y="566124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CI</a:t>
            </a:r>
            <a:endParaRPr lang="ko-KR" altLang="en-US" sz="1000" dirty="0"/>
          </a:p>
        </p:txBody>
      </p:sp>
      <p:cxnSp>
        <p:nvCxnSpPr>
          <p:cNvPr id="28" name="직선 화살표 연결선 27"/>
          <p:cNvCxnSpPr>
            <a:stCxn id="16" idx="2"/>
            <a:endCxn id="24" idx="0"/>
          </p:cNvCxnSpPr>
          <p:nvPr/>
        </p:nvCxnSpPr>
        <p:spPr>
          <a:xfrm flipH="1">
            <a:off x="2985448" y="5219192"/>
            <a:ext cx="1188" cy="442056"/>
          </a:xfrm>
          <a:prstGeom prst="straightConnector1">
            <a:avLst/>
          </a:prstGeom>
          <a:ln w="381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18" idx="2"/>
            <a:endCxn id="26" idx="0"/>
          </p:cNvCxnSpPr>
          <p:nvPr/>
        </p:nvCxnSpPr>
        <p:spPr>
          <a:xfrm flipH="1">
            <a:off x="4760903" y="5219192"/>
            <a:ext cx="1188" cy="442056"/>
          </a:xfrm>
          <a:prstGeom prst="straightConnector1">
            <a:avLst/>
          </a:prstGeom>
          <a:ln w="381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/>
          <p:cNvSpPr/>
          <p:nvPr/>
        </p:nvSpPr>
        <p:spPr>
          <a:xfrm>
            <a:off x="2674334" y="3532236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PTC</a:t>
            </a:r>
            <a:endParaRPr lang="ko-KR" altLang="en-US" sz="1000" dirty="0"/>
          </a:p>
        </p:txBody>
      </p:sp>
      <p:sp>
        <p:nvSpPr>
          <p:cNvPr id="31" name="타원 30"/>
          <p:cNvSpPr/>
          <p:nvPr/>
        </p:nvSpPr>
        <p:spPr>
          <a:xfrm>
            <a:off x="3493948" y="3560019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PTC</a:t>
            </a:r>
            <a:endParaRPr lang="ko-KR" altLang="en-US" sz="1000" dirty="0"/>
          </a:p>
        </p:txBody>
      </p:sp>
      <p:sp>
        <p:nvSpPr>
          <p:cNvPr id="32" name="타원 31"/>
          <p:cNvSpPr/>
          <p:nvPr/>
        </p:nvSpPr>
        <p:spPr>
          <a:xfrm>
            <a:off x="4440094" y="3532236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PTC</a:t>
            </a:r>
            <a:endParaRPr lang="ko-KR" altLang="en-US" sz="1000" dirty="0"/>
          </a:p>
        </p:txBody>
      </p:sp>
      <p:sp>
        <p:nvSpPr>
          <p:cNvPr id="33" name="타원 32"/>
          <p:cNvSpPr/>
          <p:nvPr/>
        </p:nvSpPr>
        <p:spPr>
          <a:xfrm>
            <a:off x="5262589" y="3560019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PTC</a:t>
            </a:r>
            <a:endParaRPr lang="ko-KR" altLang="en-US" sz="1000" dirty="0"/>
          </a:p>
        </p:txBody>
      </p:sp>
      <p:cxnSp>
        <p:nvCxnSpPr>
          <p:cNvPr id="34" name="구부러진 연결선 33"/>
          <p:cNvCxnSpPr>
            <a:stCxn id="30" idx="5"/>
            <a:endCxn id="12" idx="1"/>
          </p:cNvCxnSpPr>
          <p:nvPr/>
        </p:nvCxnSpPr>
        <p:spPr>
          <a:xfrm rot="5400000">
            <a:off x="2764290" y="3773588"/>
            <a:ext cx="453201" cy="462199"/>
          </a:xfrm>
          <a:prstGeom prst="curvedConnector3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구부러진 연결선 34"/>
          <p:cNvCxnSpPr>
            <a:stCxn id="31" idx="5"/>
            <a:endCxn id="13" idx="1"/>
          </p:cNvCxnSpPr>
          <p:nvPr/>
        </p:nvCxnSpPr>
        <p:spPr>
          <a:xfrm rot="5400000">
            <a:off x="3602642" y="3792327"/>
            <a:ext cx="425418" cy="452504"/>
          </a:xfrm>
          <a:prstGeom prst="curvedConnector3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구부러진 연결선 35"/>
          <p:cNvCxnSpPr>
            <a:stCxn id="32" idx="5"/>
            <a:endCxn id="14" idx="1"/>
          </p:cNvCxnSpPr>
          <p:nvPr/>
        </p:nvCxnSpPr>
        <p:spPr>
          <a:xfrm rot="5400000">
            <a:off x="4534707" y="3778625"/>
            <a:ext cx="453581" cy="452504"/>
          </a:xfrm>
          <a:prstGeom prst="curvedConnector3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구부러진 연결선 36"/>
          <p:cNvCxnSpPr>
            <a:stCxn id="33" idx="5"/>
            <a:endCxn id="15" idx="1"/>
          </p:cNvCxnSpPr>
          <p:nvPr/>
        </p:nvCxnSpPr>
        <p:spPr>
          <a:xfrm rot="5400000">
            <a:off x="5371093" y="3792517"/>
            <a:ext cx="425798" cy="452504"/>
          </a:xfrm>
          <a:prstGeom prst="curvedConnector3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곱셈 기호 38"/>
          <p:cNvSpPr/>
          <p:nvPr/>
        </p:nvSpPr>
        <p:spPr>
          <a:xfrm>
            <a:off x="4609445" y="4045471"/>
            <a:ext cx="302915" cy="57606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 설명선 40"/>
          <p:cNvSpPr/>
          <p:nvPr/>
        </p:nvSpPr>
        <p:spPr>
          <a:xfrm>
            <a:off x="6372200" y="3560019"/>
            <a:ext cx="914400" cy="612648"/>
          </a:xfrm>
          <a:prstGeom prst="wedgeRectCallout">
            <a:avLst>
              <a:gd name="adj1" fmla="val -105891"/>
              <a:gd name="adj2" fmla="val 625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방송</a:t>
            </a:r>
            <a:r>
              <a:rPr lang="en-US" altLang="ko-KR" sz="1000" dirty="0" smtClean="0">
                <a:solidFill>
                  <a:schemeClr val="tx1"/>
                </a:solidFill>
              </a:rPr>
              <a:t>/ </a:t>
            </a:r>
            <a:r>
              <a:rPr lang="ko-KR" altLang="en-US" sz="1000" dirty="0" smtClean="0">
                <a:solidFill>
                  <a:schemeClr val="tx1"/>
                </a:solidFill>
              </a:rPr>
              <a:t>표시기 시스템 완전 </a:t>
            </a:r>
            <a:r>
              <a:rPr lang="en-US" altLang="ko-KR" sz="1000" dirty="0" smtClean="0">
                <a:solidFill>
                  <a:schemeClr val="tx1"/>
                </a:solidFill>
              </a:rPr>
              <a:t>BACKUP 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동작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3" name="제목 1"/>
          <p:cNvSpPr txBox="1">
            <a:spLocks/>
          </p:cNvSpPr>
          <p:nvPr/>
        </p:nvSpPr>
        <p:spPr>
          <a:xfrm>
            <a:off x="611560" y="1487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/>
              <a:t>DENVER MDS </a:t>
            </a:r>
            <a:r>
              <a:rPr lang="ko-KR" altLang="en-US" sz="2800" dirty="0" smtClean="0"/>
              <a:t>인터페이스 보완 내용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7751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47664" y="1340768"/>
            <a:ext cx="5832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각 장치간 통신 확인 방법 보완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</a:t>
            </a:r>
            <a:r>
              <a:rPr lang="en-US" altLang="ko-KR" sz="1000" dirty="0" smtClean="0"/>
              <a:t>: PTC – CRA – MDS – CI </a:t>
            </a:r>
            <a:r>
              <a:rPr lang="ko-KR" altLang="en-US" sz="1000" dirty="0" smtClean="0"/>
              <a:t>각 장치간 통신 이상에 대한 확인 방법 보안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필요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 </a:t>
            </a:r>
            <a:r>
              <a:rPr lang="ko-KR" altLang="en-US" sz="1000" dirty="0" smtClean="0"/>
              <a:t>장치간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서로 보완적 상태 체크 방법이 간구 되어야 할 것 같습니다</a:t>
            </a:r>
            <a:r>
              <a:rPr lang="en-US" altLang="ko-KR" sz="1000" dirty="0" smtClean="0"/>
              <a:t>.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 SEPTA</a:t>
            </a:r>
            <a:r>
              <a:rPr lang="ko-KR" altLang="en-US" sz="1000" dirty="0" smtClean="0"/>
              <a:t>의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경우 명확한 확인 방법이 없어 문제 해결에 오랜 시간과 경비가 소비 되었습니다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2590592" y="2812156"/>
            <a:ext cx="792088" cy="9768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419901" y="2812156"/>
            <a:ext cx="792088" cy="9768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366047" y="2812156"/>
            <a:ext cx="792088" cy="9768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5195356" y="2812156"/>
            <a:ext cx="792088" cy="97688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등호 9"/>
          <p:cNvSpPr/>
          <p:nvPr/>
        </p:nvSpPr>
        <p:spPr>
          <a:xfrm>
            <a:off x="4211989" y="3617343"/>
            <a:ext cx="154058" cy="4571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갈매기형 수장 10"/>
          <p:cNvSpPr/>
          <p:nvPr/>
        </p:nvSpPr>
        <p:spPr>
          <a:xfrm rot="5400000">
            <a:off x="2626596" y="2528817"/>
            <a:ext cx="216024" cy="144016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2665827" y="3469027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rgbClr val="FF0000"/>
                </a:solidFill>
              </a:rPr>
              <a:t>CRA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495136" y="3469027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CRA</a:t>
            </a:r>
            <a:endParaRPr lang="ko-KR" altLang="en-US" sz="1000" dirty="0"/>
          </a:p>
        </p:txBody>
      </p:sp>
      <p:sp>
        <p:nvSpPr>
          <p:cNvPr id="14" name="타원 13"/>
          <p:cNvSpPr/>
          <p:nvPr/>
        </p:nvSpPr>
        <p:spPr>
          <a:xfrm>
            <a:off x="4441282" y="3469407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rgbClr val="FF0000"/>
                </a:solidFill>
              </a:rPr>
              <a:t>CRA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263777" y="3469407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CRA</a:t>
            </a:r>
            <a:endParaRPr lang="ko-KR" altLang="en-US" sz="1000" dirty="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2698604" y="428308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MDS</a:t>
            </a:r>
            <a:endParaRPr lang="ko-KR" altLang="en-US" sz="10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527913" y="428308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MDS</a:t>
            </a:r>
            <a:endParaRPr lang="ko-KR" altLang="en-US" sz="1000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4474059" y="428308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MDS</a:t>
            </a:r>
            <a:endParaRPr lang="ko-KR" altLang="en-US" sz="10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296554" y="428308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MDS</a:t>
            </a:r>
            <a:endParaRPr lang="ko-KR" altLang="en-US" sz="1000" dirty="0"/>
          </a:p>
        </p:txBody>
      </p:sp>
      <p:cxnSp>
        <p:nvCxnSpPr>
          <p:cNvPr id="20" name="직선 화살표 연결선 19"/>
          <p:cNvCxnSpPr>
            <a:stCxn id="6" idx="2"/>
            <a:endCxn id="16" idx="0"/>
          </p:cNvCxnSpPr>
          <p:nvPr/>
        </p:nvCxnSpPr>
        <p:spPr>
          <a:xfrm>
            <a:off x="2986636" y="3789040"/>
            <a:ext cx="0" cy="494048"/>
          </a:xfrm>
          <a:prstGeom prst="straightConnector1">
            <a:avLst/>
          </a:prstGeom>
          <a:ln w="381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8" idx="2"/>
            <a:endCxn id="18" idx="0"/>
          </p:cNvCxnSpPr>
          <p:nvPr/>
        </p:nvCxnSpPr>
        <p:spPr>
          <a:xfrm>
            <a:off x="4762091" y="3789040"/>
            <a:ext cx="0" cy="494048"/>
          </a:xfrm>
          <a:prstGeom prst="straightConnector1">
            <a:avLst/>
          </a:prstGeom>
          <a:ln w="381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곱셈 기호 21"/>
          <p:cNvSpPr/>
          <p:nvPr/>
        </p:nvSpPr>
        <p:spPr>
          <a:xfrm>
            <a:off x="3664487" y="3751425"/>
            <a:ext cx="302915" cy="57606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곱셈 기호 22"/>
          <p:cNvSpPr/>
          <p:nvPr/>
        </p:nvSpPr>
        <p:spPr>
          <a:xfrm>
            <a:off x="5439942" y="3748032"/>
            <a:ext cx="302915" cy="576064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2697416" y="494116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CI</a:t>
            </a:r>
            <a:endParaRPr lang="ko-KR" altLang="en-US" sz="1000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3526725" y="494116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CI</a:t>
            </a:r>
            <a:endParaRPr lang="ko-KR" altLang="en-US" sz="1000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4472871" y="494116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CI</a:t>
            </a:r>
            <a:endParaRPr lang="ko-KR" altLang="en-US" sz="1000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5295366" y="4941168"/>
            <a:ext cx="576064" cy="2160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CI</a:t>
            </a:r>
            <a:endParaRPr lang="ko-KR" altLang="en-US" sz="1000" dirty="0"/>
          </a:p>
        </p:txBody>
      </p:sp>
      <p:cxnSp>
        <p:nvCxnSpPr>
          <p:cNvPr id="28" name="직선 화살표 연결선 27"/>
          <p:cNvCxnSpPr>
            <a:stCxn id="16" idx="2"/>
            <a:endCxn id="24" idx="0"/>
          </p:cNvCxnSpPr>
          <p:nvPr/>
        </p:nvCxnSpPr>
        <p:spPr>
          <a:xfrm flipH="1">
            <a:off x="2985448" y="4499112"/>
            <a:ext cx="1188" cy="442056"/>
          </a:xfrm>
          <a:prstGeom prst="straightConnector1">
            <a:avLst/>
          </a:prstGeom>
          <a:ln w="381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18" idx="2"/>
            <a:endCxn id="26" idx="0"/>
          </p:cNvCxnSpPr>
          <p:nvPr/>
        </p:nvCxnSpPr>
        <p:spPr>
          <a:xfrm flipH="1">
            <a:off x="4760903" y="4499112"/>
            <a:ext cx="1188" cy="442056"/>
          </a:xfrm>
          <a:prstGeom prst="straightConnector1">
            <a:avLst/>
          </a:prstGeom>
          <a:ln w="38100">
            <a:solidFill>
              <a:srgbClr val="00B05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/>
          <p:cNvSpPr/>
          <p:nvPr/>
        </p:nvSpPr>
        <p:spPr>
          <a:xfrm>
            <a:off x="2674334" y="2812156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PTC</a:t>
            </a:r>
            <a:endParaRPr lang="ko-KR" altLang="en-US" sz="1000" dirty="0"/>
          </a:p>
        </p:txBody>
      </p:sp>
      <p:sp>
        <p:nvSpPr>
          <p:cNvPr id="31" name="타원 30"/>
          <p:cNvSpPr/>
          <p:nvPr/>
        </p:nvSpPr>
        <p:spPr>
          <a:xfrm>
            <a:off x="3493948" y="2839939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PTC</a:t>
            </a:r>
            <a:endParaRPr lang="ko-KR" altLang="en-US" sz="1000" dirty="0"/>
          </a:p>
        </p:txBody>
      </p:sp>
      <p:sp>
        <p:nvSpPr>
          <p:cNvPr id="32" name="타원 31"/>
          <p:cNvSpPr/>
          <p:nvPr/>
        </p:nvSpPr>
        <p:spPr>
          <a:xfrm>
            <a:off x="4440094" y="2812156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PTC</a:t>
            </a:r>
            <a:endParaRPr lang="ko-KR" altLang="en-US" sz="1000" dirty="0"/>
          </a:p>
        </p:txBody>
      </p:sp>
      <p:sp>
        <p:nvSpPr>
          <p:cNvPr id="33" name="타원 32"/>
          <p:cNvSpPr/>
          <p:nvPr/>
        </p:nvSpPr>
        <p:spPr>
          <a:xfrm>
            <a:off x="5262589" y="2839939"/>
            <a:ext cx="641618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PTC</a:t>
            </a:r>
            <a:endParaRPr lang="ko-KR" altLang="en-US" sz="1000" dirty="0"/>
          </a:p>
        </p:txBody>
      </p:sp>
      <p:cxnSp>
        <p:nvCxnSpPr>
          <p:cNvPr id="34" name="구부러진 연결선 33"/>
          <p:cNvCxnSpPr>
            <a:stCxn id="30" idx="5"/>
            <a:endCxn id="12" idx="1"/>
          </p:cNvCxnSpPr>
          <p:nvPr/>
        </p:nvCxnSpPr>
        <p:spPr>
          <a:xfrm rot="5400000">
            <a:off x="2764290" y="3053508"/>
            <a:ext cx="453201" cy="462199"/>
          </a:xfrm>
          <a:prstGeom prst="curvedConnector3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구부러진 연결선 34"/>
          <p:cNvCxnSpPr>
            <a:stCxn id="31" idx="5"/>
            <a:endCxn id="13" idx="1"/>
          </p:cNvCxnSpPr>
          <p:nvPr/>
        </p:nvCxnSpPr>
        <p:spPr>
          <a:xfrm rot="5400000">
            <a:off x="3602642" y="3072247"/>
            <a:ext cx="425418" cy="452504"/>
          </a:xfrm>
          <a:prstGeom prst="curvedConnector3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구부러진 연결선 35"/>
          <p:cNvCxnSpPr>
            <a:stCxn id="32" idx="5"/>
            <a:endCxn id="14" idx="1"/>
          </p:cNvCxnSpPr>
          <p:nvPr/>
        </p:nvCxnSpPr>
        <p:spPr>
          <a:xfrm rot="5400000">
            <a:off x="4534707" y="3058545"/>
            <a:ext cx="453581" cy="452504"/>
          </a:xfrm>
          <a:prstGeom prst="curvedConnector3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구부러진 연결선 36"/>
          <p:cNvCxnSpPr>
            <a:stCxn id="33" idx="5"/>
            <a:endCxn id="15" idx="1"/>
          </p:cNvCxnSpPr>
          <p:nvPr/>
        </p:nvCxnSpPr>
        <p:spPr>
          <a:xfrm rot="5400000">
            <a:off x="5371093" y="3072437"/>
            <a:ext cx="425798" cy="452504"/>
          </a:xfrm>
          <a:prstGeom prst="curvedConnector3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곱셈 기호 37"/>
          <p:cNvSpPr/>
          <p:nvPr/>
        </p:nvSpPr>
        <p:spPr>
          <a:xfrm>
            <a:off x="2919414" y="3057901"/>
            <a:ext cx="151457" cy="45330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곱셈 기호 39"/>
          <p:cNvSpPr/>
          <p:nvPr/>
        </p:nvSpPr>
        <p:spPr>
          <a:xfrm>
            <a:off x="2909719" y="3801627"/>
            <a:ext cx="151457" cy="45330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곱셈 기호 40"/>
          <p:cNvSpPr/>
          <p:nvPr/>
        </p:nvSpPr>
        <p:spPr>
          <a:xfrm>
            <a:off x="4686362" y="4499112"/>
            <a:ext cx="151457" cy="45330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 설명선 41"/>
          <p:cNvSpPr/>
          <p:nvPr/>
        </p:nvSpPr>
        <p:spPr>
          <a:xfrm>
            <a:off x="971600" y="2649847"/>
            <a:ext cx="1130424" cy="819179"/>
          </a:xfrm>
          <a:prstGeom prst="wedgeRectCallout">
            <a:avLst>
              <a:gd name="adj1" fmla="val 123387"/>
              <a:gd name="adj2" fmla="val 287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PTC – CRA </a:t>
            </a:r>
            <a:r>
              <a:rPr lang="ko-KR" altLang="en-US" sz="1000" dirty="0" smtClean="0">
                <a:solidFill>
                  <a:schemeClr val="tx1"/>
                </a:solidFill>
              </a:rPr>
              <a:t>통신 이상에 대한 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확인 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</a:rPr>
              <a:t>방법 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보완 필요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3" name="사각형 설명선 42"/>
          <p:cNvSpPr/>
          <p:nvPr/>
        </p:nvSpPr>
        <p:spPr>
          <a:xfrm>
            <a:off x="971600" y="3688433"/>
            <a:ext cx="1130424" cy="819179"/>
          </a:xfrm>
          <a:prstGeom prst="wedgeRectCallout">
            <a:avLst>
              <a:gd name="adj1" fmla="val 126176"/>
              <a:gd name="adj2" fmla="val -848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CRA –MDS </a:t>
            </a:r>
            <a:r>
              <a:rPr lang="ko-KR" altLang="en-US" sz="1000" dirty="0" smtClean="0">
                <a:solidFill>
                  <a:schemeClr val="tx1"/>
                </a:solidFill>
              </a:rPr>
              <a:t>통신 이상에 대한 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확인 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</a:rPr>
              <a:t>방법 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보완 필요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사각형 설명선 43"/>
          <p:cNvSpPr/>
          <p:nvPr/>
        </p:nvSpPr>
        <p:spPr>
          <a:xfrm>
            <a:off x="6249888" y="3914506"/>
            <a:ext cx="1130424" cy="819179"/>
          </a:xfrm>
          <a:prstGeom prst="wedgeRectCallout">
            <a:avLst>
              <a:gd name="adj1" fmla="val -179718"/>
              <a:gd name="adj2" fmla="val 4668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MDS-CI  </a:t>
            </a:r>
            <a:r>
              <a:rPr lang="ko-KR" altLang="en-US" sz="1000" dirty="0" smtClean="0">
                <a:solidFill>
                  <a:schemeClr val="tx1"/>
                </a:solidFill>
              </a:rPr>
              <a:t>통신 이상에 대한 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확인 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</a:rPr>
              <a:t>방법 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보완 필요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제목 1"/>
          <p:cNvSpPr txBox="1">
            <a:spLocks/>
          </p:cNvSpPr>
          <p:nvPr/>
        </p:nvSpPr>
        <p:spPr>
          <a:xfrm>
            <a:off x="611560" y="1487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/>
              <a:t>DENVER MDS </a:t>
            </a:r>
            <a:r>
              <a:rPr lang="ko-KR" altLang="en-US" sz="2800" dirty="0" smtClean="0"/>
              <a:t>인터페이스 보완 내용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6376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560" y="14872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smtClean="0"/>
              <a:t>DENVER MDS </a:t>
            </a:r>
            <a:r>
              <a:rPr lang="ko-KR" altLang="en-US" sz="2800" dirty="0" smtClean="0"/>
              <a:t>인터페이스 애로 사항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547664" y="1340768"/>
            <a:ext cx="58326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추가 인터페이스에 따른 개발 기간 필요</a:t>
            </a:r>
            <a:endParaRPr lang="en-US" altLang="ko-KR" dirty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-&gt; </a:t>
            </a:r>
            <a:r>
              <a:rPr lang="en-US" altLang="ko-KR" sz="1400" dirty="0" smtClean="0"/>
              <a:t>3</a:t>
            </a:r>
            <a:r>
              <a:rPr lang="ko-KR" altLang="en-US" sz="1400" dirty="0" smtClean="0"/>
              <a:t>개월 이상에 </a:t>
            </a:r>
            <a:r>
              <a:rPr lang="ko-KR" altLang="en-US" sz="1400" dirty="0" smtClean="0"/>
              <a:t>추가 개발 기간이 필요 합니다</a:t>
            </a:r>
            <a:r>
              <a:rPr lang="en-US" altLang="ko-KR" sz="1400" dirty="0" smtClean="0"/>
              <a:t>.</a:t>
            </a:r>
          </a:p>
          <a:p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상세 인터페이스 자료 필요</a:t>
            </a:r>
            <a:r>
              <a:rPr lang="en-US" altLang="ko-KR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-&gt; PTC</a:t>
            </a:r>
            <a:r>
              <a:rPr lang="ko-KR" altLang="en-US" sz="1400" dirty="0"/>
              <a:t> </a:t>
            </a:r>
            <a:r>
              <a:rPr lang="en-US" altLang="ko-KR" sz="1400" dirty="0" smtClean="0"/>
              <a:t>– CRA </a:t>
            </a:r>
            <a:r>
              <a:rPr lang="ko-KR" altLang="en-US" sz="1400" dirty="0" smtClean="0"/>
              <a:t>상세 인터페이스 자료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-&gt; </a:t>
            </a:r>
            <a:r>
              <a:rPr lang="en-US" altLang="ko-KR" sz="1400" dirty="0" smtClean="0"/>
              <a:t>CRA – MDS  </a:t>
            </a:r>
            <a:r>
              <a:rPr lang="ko-KR" altLang="en-US" sz="1400" dirty="0" smtClean="0"/>
              <a:t>상세 인터페이스 자료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smtClean="0"/>
              <a:t>추가 경비 방생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sz="1400" dirty="0" smtClean="0"/>
              <a:t>-&gt; </a:t>
            </a:r>
            <a:r>
              <a:rPr lang="ko-KR" altLang="en-US" sz="1400" dirty="0" smtClean="0"/>
              <a:t>인터페이스 시험 및 개발 기간 연장에 따른 추가 경비 발생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-&gt; </a:t>
            </a:r>
            <a:r>
              <a:rPr lang="ko-KR" altLang="en-US" sz="1400" dirty="0" smtClean="0"/>
              <a:t>고장 발생 건수 추가에 대한 대응 인건비 추가 발생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</a:t>
            </a:r>
            <a:r>
              <a:rPr lang="en-US" altLang="ko-KR" sz="1400" dirty="0" smtClean="0"/>
              <a:t>-&gt; </a:t>
            </a:r>
            <a:r>
              <a:rPr lang="ko-KR" altLang="en-US" sz="1400" dirty="0" smtClean="0"/>
              <a:t>출장 및 인건비 포함 </a:t>
            </a:r>
            <a:r>
              <a:rPr lang="en-US" altLang="ko-KR" sz="1400" dirty="0" smtClean="0"/>
              <a:t>300,000,000</a:t>
            </a:r>
            <a:r>
              <a:rPr lang="ko-KR" altLang="en-US" sz="1400" dirty="0" smtClean="0"/>
              <a:t>원에 추가 경비 발생</a:t>
            </a:r>
            <a:r>
              <a:rPr lang="en-US" altLang="ko-KR" sz="1400" dirty="0" smtClean="0"/>
              <a:t>.</a:t>
            </a:r>
          </a:p>
          <a:p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# </a:t>
            </a:r>
            <a:r>
              <a:rPr lang="ko-KR" altLang="en-US" sz="1400" dirty="0" smtClean="0"/>
              <a:t>최대한 빠른 대응이 가능 하도록 노력 하겠습니다</a:t>
            </a:r>
            <a:r>
              <a:rPr lang="en-US" altLang="ko-KR" sz="1400" dirty="0" smtClean="0"/>
              <a:t>.</a:t>
            </a:r>
            <a:endParaRPr lang="en-US" altLang="ko-KR" sz="1400" dirty="0" smtClean="0"/>
          </a:p>
          <a:p>
            <a:r>
              <a:rPr lang="en-US" altLang="ko-KR" dirty="0" smtClean="0"/>
              <a:t>    </a:t>
            </a:r>
            <a:endParaRPr lang="en-US" altLang="ko-KR" sz="1000" dirty="0" smtClean="0"/>
          </a:p>
        </p:txBody>
      </p:sp>
    </p:spTree>
    <p:extLst>
      <p:ext uri="{BB962C8B-B14F-4D97-AF65-F5344CB8AC3E}">
        <p14:creationId xmlns:p14="http://schemas.microsoft.com/office/powerpoint/2010/main" val="93988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371</Words>
  <Application>Microsoft Office PowerPoint</Application>
  <PresentationFormat>화면 슬라이드 쇼(4:3)</PresentationFormat>
  <Paragraphs>104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DENVER MDS 인터페이스 추가 관련 내용 정리.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DENVER MDS 인터페이스 추가 관련 내용 정리.</dc:title>
  <dc:creator>JDS_SSD</dc:creator>
  <cp:lastModifiedBy>JDS_SSD</cp:lastModifiedBy>
  <cp:revision>7</cp:revision>
  <dcterms:created xsi:type="dcterms:W3CDTF">2011-10-10T12:19:12Z</dcterms:created>
  <dcterms:modified xsi:type="dcterms:W3CDTF">2011-10-10T13:24:28Z</dcterms:modified>
</cp:coreProperties>
</file>