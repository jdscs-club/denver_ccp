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5" r:id="rId3"/>
    <p:sldId id="260" r:id="rId4"/>
    <p:sldId id="261" r:id="rId5"/>
    <p:sldId id="262" r:id="rId6"/>
    <p:sldId id="264" r:id="rId7"/>
    <p:sldId id="263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4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3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2011-12-20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jpeg"/><Relationship Id="rId7" Type="http://schemas.openxmlformats.org/officeDocument/2006/relationships/image" Target="../media/image10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0" y="-1"/>
            <a:ext cx="9144000" cy="6858001"/>
            <a:chOff x="0" y="-1"/>
            <a:chExt cx="9144000" cy="6858001"/>
          </a:xfrm>
        </p:grpSpPr>
        <p:sp>
          <p:nvSpPr>
            <p:cNvPr id="5" name="직사각형 4"/>
            <p:cNvSpPr/>
            <p:nvPr/>
          </p:nvSpPr>
          <p:spPr>
            <a:xfrm>
              <a:off x="0" y="6165304"/>
              <a:ext cx="9144000" cy="692696"/>
            </a:xfrm>
            <a:prstGeom prst="rect">
              <a:avLst/>
            </a:prstGeom>
            <a:solidFill>
              <a:srgbClr val="2251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" name="그림 5" descr="배경2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9144000" cy="6669361"/>
            </a:xfrm>
            <a:prstGeom prst="rect">
              <a:avLst/>
            </a:prstGeom>
          </p:spPr>
        </p:pic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512" y="188640"/>
              <a:ext cx="1932072" cy="56936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483768" y="44624"/>
              <a:ext cx="66247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000" b="1" dirty="0" smtClean="0">
                  <a:solidFill>
                    <a:schemeClr val="bg1"/>
                  </a:solidFill>
                  <a:latin typeface="Calibri" pitchFamily="34" charset="0"/>
                </a:rPr>
                <a:t>표시기 개발 계획</a:t>
              </a:r>
              <a:endParaRPr lang="ko-KR" altLang="en-US" sz="4000" b="1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683568" y="2488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개발 동기</a:t>
            </a:r>
            <a:endParaRPr lang="ko-KR" altLang="en-US" dirty="0"/>
          </a:p>
        </p:txBody>
      </p:sp>
      <p:sp>
        <p:nvSpPr>
          <p:cNvPr id="274" name="TextBox 273"/>
          <p:cNvSpPr txBox="1"/>
          <p:nvPr/>
        </p:nvSpPr>
        <p:spPr>
          <a:xfrm>
            <a:off x="1345598" y="1556792"/>
            <a:ext cx="71103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-  </a:t>
            </a:r>
            <a:r>
              <a:rPr lang="ko-KR" altLang="en-US" b="1" dirty="0" smtClean="0">
                <a:solidFill>
                  <a:srgbClr val="FF0000"/>
                </a:solidFill>
              </a:rPr>
              <a:t>세계 시장에서 차량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장치간 호환성에 대한 필요성 증가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dirty="0" smtClean="0"/>
              <a:t>차량 장치간 통신 및 인터페이스 방식에 호환성 향상을 통해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</a:t>
            </a:r>
            <a:r>
              <a:rPr lang="ko-KR" altLang="en-US" dirty="0" smtClean="0"/>
              <a:t>원가 절감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</a:t>
            </a:r>
            <a:r>
              <a:rPr lang="ko-KR" altLang="en-US" dirty="0" smtClean="0"/>
              <a:t>사후 관리 및 개발 시간 단축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</a:t>
            </a:r>
            <a:r>
              <a:rPr lang="ko-KR" altLang="en-US" dirty="0" smtClean="0"/>
              <a:t>작업의 단순함을 통해 효율성을 극대화 할 수 있다</a:t>
            </a:r>
            <a:r>
              <a:rPr lang="en-US" altLang="ko-KR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b="1" dirty="0" smtClean="0">
                <a:solidFill>
                  <a:srgbClr val="FF0000"/>
                </a:solidFill>
              </a:rPr>
              <a:t>호환 방식으로 </a:t>
            </a:r>
            <a:r>
              <a:rPr lang="en-US" altLang="ko-KR" b="1" dirty="0" smtClean="0">
                <a:solidFill>
                  <a:srgbClr val="FF0000"/>
                </a:solidFill>
              </a:rPr>
              <a:t>E-Net </a:t>
            </a:r>
            <a:r>
              <a:rPr lang="ko-KR" altLang="en-US" b="1" dirty="0" smtClean="0">
                <a:solidFill>
                  <a:srgbClr val="FF0000"/>
                </a:solidFill>
              </a:rPr>
              <a:t>방식을 사용한다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dirty="0" smtClean="0"/>
              <a:t>    -&gt;E-Net </a:t>
            </a:r>
            <a:r>
              <a:rPr lang="ko-KR" altLang="en-US" dirty="0" smtClean="0"/>
              <a:t>방식을 사용하여 언제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어디서든 스마트 장치를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활용하여 장치 점검 및 사후 관리가 가능 하다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</a:t>
            </a:r>
            <a:r>
              <a:rPr lang="ko-KR" altLang="en-US" dirty="0" smtClean="0"/>
              <a:t>많은 정보를 정확하게 주고 받을 수 있어 기존 </a:t>
            </a:r>
            <a:r>
              <a:rPr lang="en-US" altLang="ko-KR" dirty="0" smtClean="0"/>
              <a:t>LED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LCD 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 </a:t>
            </a:r>
            <a:r>
              <a:rPr lang="ko-KR" altLang="en-US" dirty="0" smtClean="0"/>
              <a:t>표시기에 다양한 정보 표출 및 활용이 가능 하다</a:t>
            </a:r>
            <a:r>
              <a:rPr lang="en-US" altLang="ko-KR" dirty="0" smtClean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b="1" dirty="0" smtClean="0">
                <a:solidFill>
                  <a:srgbClr val="FF0000"/>
                </a:solidFill>
              </a:rPr>
              <a:t>장치간 기능을 통합 할 수 있다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dirty="0" smtClean="0"/>
              <a:t>    -&gt; </a:t>
            </a:r>
            <a:r>
              <a:rPr lang="ko-KR" altLang="en-US" dirty="0" smtClean="0"/>
              <a:t>기능 통합을 통해 원가 절감을 할 수 있다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기존</a:t>
            </a:r>
            <a:r>
              <a:rPr lang="en-US" altLang="ko-KR" dirty="0" smtClean="0"/>
              <a:t> LCD / CCTV System</a:t>
            </a:r>
            <a:r>
              <a:rPr lang="ko-KR" altLang="en-US" dirty="0" smtClean="0"/>
              <a:t>을</a:t>
            </a:r>
            <a:r>
              <a:rPr lang="en-US" altLang="ko-KR" dirty="0"/>
              <a:t> </a:t>
            </a:r>
            <a:r>
              <a:rPr lang="en-US" altLang="ko-KR" dirty="0" smtClean="0"/>
              <a:t>LCD </a:t>
            </a:r>
            <a:r>
              <a:rPr lang="ko-KR" altLang="en-US" dirty="0" smtClean="0"/>
              <a:t>모니터에 카메라를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</a:t>
            </a:r>
            <a:r>
              <a:rPr lang="ko-KR" altLang="en-US" dirty="0" smtClean="0"/>
              <a:t>설치하여 </a:t>
            </a:r>
            <a:r>
              <a:rPr lang="en-US" altLang="ko-KR" dirty="0" smtClean="0"/>
              <a:t>LCD/CCTV </a:t>
            </a:r>
            <a:r>
              <a:rPr lang="ko-KR" altLang="en-US" dirty="0" smtClean="0"/>
              <a:t>기능을 </a:t>
            </a:r>
            <a:r>
              <a:rPr lang="en-US" altLang="ko-KR" dirty="0" smtClean="0"/>
              <a:t>LCD System</a:t>
            </a:r>
            <a:r>
              <a:rPr lang="ko-KR" altLang="en-US" dirty="0" smtClean="0"/>
              <a:t>으로</a:t>
            </a:r>
            <a:r>
              <a:rPr lang="en-US" altLang="ko-KR" dirty="0"/>
              <a:t> </a:t>
            </a:r>
            <a:r>
              <a:rPr lang="ko-KR" altLang="en-US" dirty="0" smtClean="0"/>
              <a:t>통합 할 수 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44425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452083" y="1696170"/>
            <a:ext cx="3600000" cy="3600000"/>
            <a:chOff x="467544" y="620688"/>
            <a:chExt cx="7986885" cy="4042735"/>
          </a:xfrm>
        </p:grpSpPr>
        <p:sp>
          <p:nvSpPr>
            <p:cNvPr id="26" name="Line 46"/>
            <p:cNvSpPr>
              <a:spLocks noChangeShapeType="1"/>
            </p:cNvSpPr>
            <p:nvPr/>
          </p:nvSpPr>
          <p:spPr bwMode="auto">
            <a:xfrm flipV="1">
              <a:off x="1721213" y="2796269"/>
              <a:ext cx="6607493" cy="1552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2" name="Line 46"/>
            <p:cNvSpPr>
              <a:spLocks noChangeShapeType="1"/>
            </p:cNvSpPr>
            <p:nvPr/>
          </p:nvSpPr>
          <p:spPr bwMode="auto">
            <a:xfrm>
              <a:off x="1709967" y="2902857"/>
              <a:ext cx="6622425" cy="226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1801212" y="1462422"/>
              <a:ext cx="564249" cy="126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 flipV="1">
              <a:off x="1615281" y="1558020"/>
              <a:ext cx="6735538" cy="1286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5" name="Rectangle 72"/>
            <p:cNvSpPr>
              <a:spLocks noChangeArrowheads="1"/>
            </p:cNvSpPr>
            <p:nvPr/>
          </p:nvSpPr>
          <p:spPr bwMode="auto">
            <a:xfrm>
              <a:off x="1801212" y="1570881"/>
              <a:ext cx="564249" cy="12514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36" name="Line 73"/>
            <p:cNvSpPr>
              <a:spLocks noChangeShapeType="1"/>
            </p:cNvSpPr>
            <p:nvPr/>
          </p:nvSpPr>
          <p:spPr bwMode="auto">
            <a:xfrm>
              <a:off x="1615280" y="1679341"/>
              <a:ext cx="1046539" cy="17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med"/>
              <a:tailEnd type="none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7" name="Rectangle 74"/>
            <p:cNvSpPr>
              <a:spLocks noChangeArrowheads="1"/>
            </p:cNvSpPr>
            <p:nvPr/>
          </p:nvSpPr>
          <p:spPr bwMode="auto">
            <a:xfrm>
              <a:off x="1625178" y="2708921"/>
              <a:ext cx="565542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8" name="Rectangle 74"/>
            <p:cNvSpPr>
              <a:spLocks noChangeArrowheads="1"/>
            </p:cNvSpPr>
            <p:nvPr/>
          </p:nvSpPr>
          <p:spPr bwMode="auto">
            <a:xfrm>
              <a:off x="1642029" y="2817778"/>
              <a:ext cx="565542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9" name="Rectangle 396"/>
            <p:cNvSpPr>
              <a:spLocks noChangeArrowheads="1"/>
            </p:cNvSpPr>
            <p:nvPr/>
          </p:nvSpPr>
          <p:spPr bwMode="auto">
            <a:xfrm flipV="1">
              <a:off x="2724182" y="960155"/>
              <a:ext cx="835715" cy="381397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0" name="Rectangle 402" descr="좁은 눈금"/>
            <p:cNvSpPr>
              <a:spLocks noChangeArrowheads="1"/>
            </p:cNvSpPr>
            <p:nvPr/>
          </p:nvSpPr>
          <p:spPr bwMode="auto">
            <a:xfrm flipV="1">
              <a:off x="2755563" y="1014982"/>
              <a:ext cx="774316" cy="278896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FDI</a:t>
              </a:r>
              <a:endParaRPr lang="ko-KR" altLang="ko-KR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1" name="Rectangle 370"/>
            <p:cNvSpPr>
              <a:spLocks noChangeArrowheads="1"/>
            </p:cNvSpPr>
            <p:nvPr/>
          </p:nvSpPr>
          <p:spPr bwMode="auto">
            <a:xfrm flipV="1">
              <a:off x="7070380" y="3789041"/>
              <a:ext cx="1253571" cy="164479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2" name="Rectangle 383" descr="좁은 눈금"/>
            <p:cNvSpPr>
              <a:spLocks noChangeArrowheads="1"/>
            </p:cNvSpPr>
            <p:nvPr/>
          </p:nvSpPr>
          <p:spPr bwMode="auto">
            <a:xfrm flipV="1">
              <a:off x="7126031" y="3817646"/>
              <a:ext cx="1155475" cy="107268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9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PII</a:t>
              </a:r>
              <a:endParaRPr lang="ko-KR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3" name="Rectangle 384"/>
            <p:cNvSpPr>
              <a:spLocks noChangeArrowheads="1"/>
            </p:cNvSpPr>
            <p:nvPr/>
          </p:nvSpPr>
          <p:spPr bwMode="auto">
            <a:xfrm flipV="1">
              <a:off x="5844654" y="1114459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4" name="Rectangle 391" descr="좁은 눈금"/>
            <p:cNvSpPr>
              <a:spLocks noChangeArrowheads="1"/>
            </p:cNvSpPr>
            <p:nvPr/>
          </p:nvSpPr>
          <p:spPr bwMode="auto">
            <a:xfrm flipV="1">
              <a:off x="5886494" y="1154983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5" name="Rectangle 370"/>
            <p:cNvSpPr>
              <a:spLocks noChangeArrowheads="1"/>
            </p:cNvSpPr>
            <p:nvPr/>
          </p:nvSpPr>
          <p:spPr bwMode="auto">
            <a:xfrm flipV="1">
              <a:off x="4117195" y="1165892"/>
              <a:ext cx="1253571" cy="164479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6" name="Rectangle 383" descr="좁은 눈금"/>
            <p:cNvSpPr>
              <a:spLocks noChangeArrowheads="1"/>
            </p:cNvSpPr>
            <p:nvPr/>
          </p:nvSpPr>
          <p:spPr bwMode="auto">
            <a:xfrm flipV="1">
              <a:off x="4172845" y="1194498"/>
              <a:ext cx="1155475" cy="107268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9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PII</a:t>
              </a:r>
              <a:endParaRPr lang="ko-KR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7" name="Rectangle 384"/>
            <p:cNvSpPr>
              <a:spLocks noChangeArrowheads="1"/>
            </p:cNvSpPr>
            <p:nvPr/>
          </p:nvSpPr>
          <p:spPr bwMode="auto">
            <a:xfrm flipV="1">
              <a:off x="7293263" y="1114459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8" name="Rectangle 391" descr="좁은 눈금"/>
            <p:cNvSpPr>
              <a:spLocks noChangeArrowheads="1"/>
            </p:cNvSpPr>
            <p:nvPr/>
          </p:nvSpPr>
          <p:spPr bwMode="auto">
            <a:xfrm flipV="1">
              <a:off x="7335102" y="1154983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9" name="Rectangle 384"/>
            <p:cNvSpPr>
              <a:spLocks noChangeArrowheads="1"/>
            </p:cNvSpPr>
            <p:nvPr/>
          </p:nvSpPr>
          <p:spPr bwMode="auto">
            <a:xfrm flipV="1">
              <a:off x="3950034" y="4149082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50" name="Rectangle 391" descr="좁은 눈금"/>
            <p:cNvSpPr>
              <a:spLocks noChangeArrowheads="1"/>
            </p:cNvSpPr>
            <p:nvPr/>
          </p:nvSpPr>
          <p:spPr bwMode="auto">
            <a:xfrm flipV="1">
              <a:off x="3991874" y="4189605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51" name="Rectangle 384"/>
            <p:cNvSpPr>
              <a:spLocks noChangeArrowheads="1"/>
            </p:cNvSpPr>
            <p:nvPr/>
          </p:nvSpPr>
          <p:spPr bwMode="auto">
            <a:xfrm flipV="1">
              <a:off x="5677369" y="4149082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52" name="Rectangle 391" descr="좁은 눈금"/>
            <p:cNvSpPr>
              <a:spLocks noChangeArrowheads="1"/>
            </p:cNvSpPr>
            <p:nvPr/>
          </p:nvSpPr>
          <p:spPr bwMode="auto">
            <a:xfrm flipV="1">
              <a:off x="5719210" y="4189605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cxnSp>
          <p:nvCxnSpPr>
            <p:cNvPr id="53" name="직선 연결선 52"/>
            <p:cNvCxnSpPr>
              <a:stCxn id="36" idx="1"/>
            </p:cNvCxnSpPr>
            <p:nvPr/>
          </p:nvCxnSpPr>
          <p:spPr>
            <a:xfrm rot="16200000" flipH="1">
              <a:off x="2176151" y="2165176"/>
              <a:ext cx="977976" cy="6644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/>
            <p:cNvCxnSpPr/>
            <p:nvPr/>
          </p:nvCxnSpPr>
          <p:spPr>
            <a:xfrm flipV="1">
              <a:off x="2668462" y="2653393"/>
              <a:ext cx="611428" cy="4094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Line 420"/>
            <p:cNvSpPr>
              <a:spLocks noChangeShapeType="1"/>
            </p:cNvSpPr>
            <p:nvPr/>
          </p:nvSpPr>
          <p:spPr bwMode="auto">
            <a:xfrm flipH="1">
              <a:off x="3281387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6" name="Line 421"/>
            <p:cNvSpPr>
              <a:spLocks noChangeShapeType="1"/>
            </p:cNvSpPr>
            <p:nvPr/>
          </p:nvSpPr>
          <p:spPr bwMode="auto">
            <a:xfrm flipH="1">
              <a:off x="3281387" y="2656796"/>
              <a:ext cx="2188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7" name="Line 422"/>
            <p:cNvSpPr>
              <a:spLocks noChangeShapeType="1"/>
            </p:cNvSpPr>
            <p:nvPr/>
          </p:nvSpPr>
          <p:spPr bwMode="auto">
            <a:xfrm flipH="1">
              <a:off x="3398886" y="2656796"/>
              <a:ext cx="2617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8" name="Line 420"/>
            <p:cNvSpPr>
              <a:spLocks noChangeShapeType="1"/>
            </p:cNvSpPr>
            <p:nvPr/>
          </p:nvSpPr>
          <p:spPr bwMode="auto">
            <a:xfrm rot="10800000" flipH="1">
              <a:off x="3838592" y="2372696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9" name="Line 421"/>
            <p:cNvSpPr>
              <a:spLocks noChangeShapeType="1"/>
            </p:cNvSpPr>
            <p:nvPr/>
          </p:nvSpPr>
          <p:spPr bwMode="auto">
            <a:xfrm rot="10800000" flipH="1">
              <a:off x="3950607" y="2372695"/>
              <a:ext cx="5482" cy="29090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60" name="Line 422"/>
            <p:cNvSpPr>
              <a:spLocks noChangeShapeType="1"/>
            </p:cNvSpPr>
            <p:nvPr/>
          </p:nvSpPr>
          <p:spPr bwMode="auto">
            <a:xfrm rot="10800000">
              <a:off x="3838591" y="2372694"/>
              <a:ext cx="5144" cy="29770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61" name="Line 420"/>
            <p:cNvSpPr>
              <a:spLocks noChangeShapeType="1"/>
            </p:cNvSpPr>
            <p:nvPr/>
          </p:nvSpPr>
          <p:spPr bwMode="auto">
            <a:xfrm flipH="1">
              <a:off x="4785841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62" name="Line 421"/>
            <p:cNvSpPr>
              <a:spLocks noChangeShapeType="1"/>
            </p:cNvSpPr>
            <p:nvPr/>
          </p:nvSpPr>
          <p:spPr bwMode="auto">
            <a:xfrm flipH="1">
              <a:off x="4785840" y="2656796"/>
              <a:ext cx="12380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63" name="Line 422"/>
            <p:cNvSpPr>
              <a:spLocks noChangeShapeType="1"/>
            </p:cNvSpPr>
            <p:nvPr/>
          </p:nvSpPr>
          <p:spPr bwMode="auto">
            <a:xfrm flipH="1">
              <a:off x="4903337" y="2653394"/>
              <a:ext cx="16496" cy="4989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64" name="Line 420"/>
            <p:cNvSpPr>
              <a:spLocks noChangeShapeType="1"/>
            </p:cNvSpPr>
            <p:nvPr/>
          </p:nvSpPr>
          <p:spPr bwMode="auto">
            <a:xfrm rot="10800000" flipH="1">
              <a:off x="5361624" y="2372180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65" name="Line 421"/>
            <p:cNvSpPr>
              <a:spLocks noChangeShapeType="1"/>
            </p:cNvSpPr>
            <p:nvPr/>
          </p:nvSpPr>
          <p:spPr bwMode="auto">
            <a:xfrm rot="10800000" flipH="1">
              <a:off x="5476309" y="2372180"/>
              <a:ext cx="2814" cy="27781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66" name="Line 422"/>
            <p:cNvSpPr>
              <a:spLocks noChangeShapeType="1"/>
            </p:cNvSpPr>
            <p:nvPr/>
          </p:nvSpPr>
          <p:spPr bwMode="auto">
            <a:xfrm rot="10800000" flipH="1">
              <a:off x="5358381" y="2372178"/>
              <a:ext cx="3244" cy="28461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67" name="Line 420"/>
            <p:cNvSpPr>
              <a:spLocks noChangeShapeType="1"/>
            </p:cNvSpPr>
            <p:nvPr/>
          </p:nvSpPr>
          <p:spPr bwMode="auto">
            <a:xfrm flipH="1">
              <a:off x="6295466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68" name="Line 421"/>
            <p:cNvSpPr>
              <a:spLocks noChangeShapeType="1"/>
            </p:cNvSpPr>
            <p:nvPr/>
          </p:nvSpPr>
          <p:spPr bwMode="auto">
            <a:xfrm>
              <a:off x="6290753" y="2656796"/>
              <a:ext cx="4713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69" name="Line 422"/>
            <p:cNvSpPr>
              <a:spLocks noChangeShapeType="1"/>
            </p:cNvSpPr>
            <p:nvPr/>
          </p:nvSpPr>
          <p:spPr bwMode="auto">
            <a:xfrm flipH="1">
              <a:off x="6412964" y="2653394"/>
              <a:ext cx="3088" cy="4989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cxnSp>
          <p:nvCxnSpPr>
            <p:cNvPr id="70" name="직선 연결선 69"/>
            <p:cNvCxnSpPr/>
            <p:nvPr/>
          </p:nvCxnSpPr>
          <p:spPr>
            <a:xfrm>
              <a:off x="3392828" y="2661582"/>
              <a:ext cx="447223" cy="2019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 flipV="1">
              <a:off x="3942951" y="2657928"/>
              <a:ext cx="870011" cy="2149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/>
            <p:nvPr/>
          </p:nvCxnSpPr>
          <p:spPr>
            <a:xfrm>
              <a:off x="4923519" y="2653393"/>
              <a:ext cx="442231" cy="3402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/>
            <p:cNvCxnSpPr/>
            <p:nvPr/>
          </p:nvCxnSpPr>
          <p:spPr>
            <a:xfrm>
              <a:off x="5465253" y="2648365"/>
              <a:ext cx="825500" cy="8430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6412964" y="2662466"/>
              <a:ext cx="1907145" cy="0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 rot="5400000" flipH="1" flipV="1">
              <a:off x="2171285" y="2066963"/>
              <a:ext cx="1431018" cy="4914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 rot="5400000" flipH="1" flipV="1">
              <a:off x="7297667" y="2073873"/>
              <a:ext cx="1448806" cy="8888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 rot="16200000" flipV="1">
              <a:off x="5954248" y="2077373"/>
              <a:ext cx="1449551" cy="2629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/>
            <p:cNvCxnSpPr/>
            <p:nvPr/>
          </p:nvCxnSpPr>
          <p:spPr>
            <a:xfrm rot="5400000" flipH="1" flipV="1">
              <a:off x="4451455" y="2073430"/>
              <a:ext cx="1449551" cy="10518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/>
            <p:cNvCxnSpPr/>
            <p:nvPr/>
          </p:nvCxnSpPr>
          <p:spPr>
            <a:xfrm rot="5400000">
              <a:off x="3946460" y="3526877"/>
              <a:ext cx="1228718" cy="4281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 rot="5400000">
              <a:off x="5451584" y="3527548"/>
              <a:ext cx="1228718" cy="2937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/>
            <p:cNvCxnSpPr/>
            <p:nvPr/>
          </p:nvCxnSpPr>
          <p:spPr>
            <a:xfrm rot="5400000">
              <a:off x="7078400" y="3351846"/>
              <a:ext cx="874932" cy="558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그룹 81"/>
            <p:cNvGrpSpPr/>
            <p:nvPr/>
          </p:nvGrpSpPr>
          <p:grpSpPr>
            <a:xfrm>
              <a:off x="3392830" y="718044"/>
              <a:ext cx="570704" cy="270619"/>
              <a:chOff x="4384576" y="1005260"/>
              <a:chExt cx="737527" cy="378866"/>
            </a:xfrm>
          </p:grpSpPr>
          <p:sp>
            <p:nvSpPr>
              <p:cNvPr id="162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163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164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83" name="그룹 82"/>
            <p:cNvGrpSpPr/>
            <p:nvPr/>
          </p:nvGrpSpPr>
          <p:grpSpPr>
            <a:xfrm>
              <a:off x="6234574" y="836954"/>
              <a:ext cx="570704" cy="270619"/>
              <a:chOff x="4384576" y="1005260"/>
              <a:chExt cx="737527" cy="378866"/>
            </a:xfrm>
          </p:grpSpPr>
          <p:sp>
            <p:nvSpPr>
              <p:cNvPr id="159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160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161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84" name="그룹 83"/>
            <p:cNvGrpSpPr/>
            <p:nvPr/>
          </p:nvGrpSpPr>
          <p:grpSpPr>
            <a:xfrm>
              <a:off x="7614086" y="843839"/>
              <a:ext cx="570704" cy="270619"/>
              <a:chOff x="4384576" y="1005260"/>
              <a:chExt cx="737527" cy="378866"/>
            </a:xfrm>
          </p:grpSpPr>
          <p:sp>
            <p:nvSpPr>
              <p:cNvPr id="15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15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15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85" name="그룹 84"/>
            <p:cNvGrpSpPr/>
            <p:nvPr/>
          </p:nvGrpSpPr>
          <p:grpSpPr>
            <a:xfrm>
              <a:off x="4340078" y="1563760"/>
              <a:ext cx="570704" cy="270619"/>
              <a:chOff x="4384576" y="1005260"/>
              <a:chExt cx="737527" cy="378866"/>
            </a:xfrm>
          </p:grpSpPr>
          <p:sp>
            <p:nvSpPr>
              <p:cNvPr id="153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15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15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86" name="그룹 85"/>
            <p:cNvGrpSpPr/>
            <p:nvPr/>
          </p:nvGrpSpPr>
          <p:grpSpPr>
            <a:xfrm>
              <a:off x="5008725" y="878021"/>
              <a:ext cx="570704" cy="270619"/>
              <a:chOff x="4384576" y="1005260"/>
              <a:chExt cx="737527" cy="378866"/>
            </a:xfrm>
          </p:grpSpPr>
          <p:sp>
            <p:nvSpPr>
              <p:cNvPr id="150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51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152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87" name="그룹 86"/>
            <p:cNvGrpSpPr/>
            <p:nvPr/>
          </p:nvGrpSpPr>
          <p:grpSpPr>
            <a:xfrm>
              <a:off x="7883725" y="3501170"/>
              <a:ext cx="570704" cy="270619"/>
              <a:chOff x="4384576" y="1005260"/>
              <a:chExt cx="737527" cy="378866"/>
            </a:xfrm>
          </p:grpSpPr>
          <p:sp>
            <p:nvSpPr>
              <p:cNvPr id="147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48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149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cxnSp>
          <p:nvCxnSpPr>
            <p:cNvPr id="88" name="직선 연결선 87"/>
            <p:cNvCxnSpPr/>
            <p:nvPr/>
          </p:nvCxnSpPr>
          <p:spPr>
            <a:xfrm rot="16200000" flipH="1">
              <a:off x="3821961" y="2987014"/>
              <a:ext cx="146951" cy="2243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/>
            <p:cNvCxnSpPr/>
            <p:nvPr/>
          </p:nvCxnSpPr>
          <p:spPr>
            <a:xfrm rot="16200000" flipH="1">
              <a:off x="5379889" y="2987014"/>
              <a:ext cx="146951" cy="2243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 rot="16200000" flipH="1">
              <a:off x="6886586" y="2987014"/>
              <a:ext cx="146951" cy="2243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/>
            <p:cNvCxnSpPr/>
            <p:nvPr/>
          </p:nvCxnSpPr>
          <p:spPr>
            <a:xfrm rot="5400000" flipH="1" flipV="1">
              <a:off x="4155908" y="2633823"/>
              <a:ext cx="351619" cy="4317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 rot="5400000" flipH="1" flipV="1">
              <a:off x="5670878" y="2632204"/>
              <a:ext cx="351619" cy="4317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그룹 92"/>
            <p:cNvGrpSpPr/>
            <p:nvPr/>
          </p:nvGrpSpPr>
          <p:grpSpPr>
            <a:xfrm>
              <a:off x="5886752" y="1563920"/>
              <a:ext cx="570704" cy="270619"/>
              <a:chOff x="4384576" y="1005260"/>
              <a:chExt cx="737527" cy="378866"/>
            </a:xfrm>
          </p:grpSpPr>
          <p:sp>
            <p:nvSpPr>
              <p:cNvPr id="144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145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146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94" name="그룹 93"/>
            <p:cNvGrpSpPr/>
            <p:nvPr/>
          </p:nvGrpSpPr>
          <p:grpSpPr>
            <a:xfrm>
              <a:off x="7348985" y="1563920"/>
              <a:ext cx="570704" cy="270619"/>
              <a:chOff x="4384576" y="1005260"/>
              <a:chExt cx="737527" cy="378866"/>
            </a:xfrm>
          </p:grpSpPr>
          <p:sp>
            <p:nvSpPr>
              <p:cNvPr id="141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14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14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95" name="그룹 94"/>
            <p:cNvGrpSpPr/>
            <p:nvPr/>
          </p:nvGrpSpPr>
          <p:grpSpPr>
            <a:xfrm>
              <a:off x="3147837" y="3686173"/>
              <a:ext cx="570704" cy="272794"/>
              <a:chOff x="4067969" y="5160640"/>
              <a:chExt cx="737527" cy="381912"/>
            </a:xfrm>
          </p:grpSpPr>
          <p:grpSp>
            <p:nvGrpSpPr>
              <p:cNvPr id="137" name="그룹 13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139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140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138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96" name="그룹 95"/>
            <p:cNvGrpSpPr/>
            <p:nvPr/>
          </p:nvGrpSpPr>
          <p:grpSpPr>
            <a:xfrm>
              <a:off x="4674402" y="3686173"/>
              <a:ext cx="570704" cy="272794"/>
              <a:chOff x="4067969" y="5160640"/>
              <a:chExt cx="737527" cy="381912"/>
            </a:xfrm>
          </p:grpSpPr>
          <p:grpSp>
            <p:nvGrpSpPr>
              <p:cNvPr id="133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135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136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134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97" name="그룹 96"/>
            <p:cNvGrpSpPr/>
            <p:nvPr/>
          </p:nvGrpSpPr>
          <p:grpSpPr>
            <a:xfrm>
              <a:off x="6178855" y="3686173"/>
              <a:ext cx="570704" cy="272794"/>
              <a:chOff x="4067969" y="5160640"/>
              <a:chExt cx="737527" cy="381912"/>
            </a:xfrm>
          </p:grpSpPr>
          <p:grpSp>
            <p:nvGrpSpPr>
              <p:cNvPr id="129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131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132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130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98" name="그룹 97"/>
            <p:cNvGrpSpPr/>
            <p:nvPr/>
          </p:nvGrpSpPr>
          <p:grpSpPr>
            <a:xfrm>
              <a:off x="3727154" y="4390629"/>
              <a:ext cx="570704" cy="272794"/>
              <a:chOff x="4067969" y="5160640"/>
              <a:chExt cx="737527" cy="381912"/>
            </a:xfrm>
          </p:grpSpPr>
          <p:grpSp>
            <p:nvGrpSpPr>
              <p:cNvPr id="125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127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128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12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99" name="그룹 98"/>
            <p:cNvGrpSpPr/>
            <p:nvPr/>
          </p:nvGrpSpPr>
          <p:grpSpPr>
            <a:xfrm>
              <a:off x="5385268" y="4390629"/>
              <a:ext cx="570704" cy="272794"/>
              <a:chOff x="4067969" y="5160640"/>
              <a:chExt cx="737527" cy="381912"/>
            </a:xfrm>
          </p:grpSpPr>
          <p:grpSp>
            <p:nvGrpSpPr>
              <p:cNvPr id="121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123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124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122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100" name="그룹 99"/>
            <p:cNvGrpSpPr/>
            <p:nvPr/>
          </p:nvGrpSpPr>
          <p:grpSpPr>
            <a:xfrm>
              <a:off x="3727150" y="1834539"/>
              <a:ext cx="1053610" cy="625361"/>
              <a:chOff x="5666768" y="1056184"/>
              <a:chExt cx="1361588" cy="875506"/>
            </a:xfrm>
          </p:grpSpPr>
          <p:sp>
            <p:nvSpPr>
              <p:cNvPr id="118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119" name="그림 118" descr="denver_mini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120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101" name="그룹 100"/>
            <p:cNvGrpSpPr/>
            <p:nvPr/>
          </p:nvGrpSpPr>
          <p:grpSpPr>
            <a:xfrm>
              <a:off x="5242399" y="1838290"/>
              <a:ext cx="1053610" cy="625361"/>
              <a:chOff x="5666768" y="1056184"/>
              <a:chExt cx="1361588" cy="875506"/>
            </a:xfrm>
          </p:grpSpPr>
          <p:sp>
            <p:nvSpPr>
              <p:cNvPr id="115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116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  <p:pic>
            <p:nvPicPr>
              <p:cNvPr id="117" name="그림 116" descr="denver_mini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</p:grpSp>
        <p:grpSp>
          <p:nvGrpSpPr>
            <p:cNvPr id="102" name="그룹 101"/>
            <p:cNvGrpSpPr/>
            <p:nvPr/>
          </p:nvGrpSpPr>
          <p:grpSpPr>
            <a:xfrm>
              <a:off x="3169944" y="3068962"/>
              <a:ext cx="1053610" cy="625361"/>
              <a:chOff x="5666768" y="1056184"/>
              <a:chExt cx="1361588" cy="875506"/>
            </a:xfrm>
          </p:grpSpPr>
          <p:sp>
            <p:nvSpPr>
              <p:cNvPr id="112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113" name="그림 112" descr="denver_mini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114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103" name="그룹 102"/>
            <p:cNvGrpSpPr/>
            <p:nvPr/>
          </p:nvGrpSpPr>
          <p:grpSpPr>
            <a:xfrm>
              <a:off x="4685194" y="3072713"/>
              <a:ext cx="1053610" cy="625361"/>
              <a:chOff x="5666768" y="1056184"/>
              <a:chExt cx="1361588" cy="875506"/>
            </a:xfrm>
          </p:grpSpPr>
          <p:sp>
            <p:nvSpPr>
              <p:cNvPr id="109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110" name="그림 109" descr="denver_mini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111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104" name="그룹 103"/>
            <p:cNvGrpSpPr/>
            <p:nvPr/>
          </p:nvGrpSpPr>
          <p:grpSpPr>
            <a:xfrm>
              <a:off x="6189646" y="3072713"/>
              <a:ext cx="1053610" cy="625361"/>
              <a:chOff x="5666768" y="1056184"/>
              <a:chExt cx="1361588" cy="875506"/>
            </a:xfrm>
          </p:grpSpPr>
          <p:sp>
            <p:nvSpPr>
              <p:cNvPr id="106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107" name="그림 106" descr="denver_mini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108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sp>
          <p:nvSpPr>
            <p:cNvPr id="105" name="직사각형 104"/>
            <p:cNvSpPr/>
            <p:nvPr/>
          </p:nvSpPr>
          <p:spPr>
            <a:xfrm>
              <a:off x="467544" y="620688"/>
              <a:ext cx="1147735" cy="30654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5" name="그룹 164"/>
          <p:cNvGrpSpPr/>
          <p:nvPr/>
        </p:nvGrpSpPr>
        <p:grpSpPr>
          <a:xfrm>
            <a:off x="4644008" y="1713558"/>
            <a:ext cx="3600000" cy="3600000"/>
            <a:chOff x="467544" y="620688"/>
            <a:chExt cx="7986885" cy="4042735"/>
          </a:xfrm>
        </p:grpSpPr>
        <p:sp>
          <p:nvSpPr>
            <p:cNvPr id="166" name="Rectangle 396"/>
            <p:cNvSpPr>
              <a:spLocks noChangeArrowheads="1"/>
            </p:cNvSpPr>
            <p:nvPr/>
          </p:nvSpPr>
          <p:spPr bwMode="auto">
            <a:xfrm flipV="1">
              <a:off x="2724182" y="960155"/>
              <a:ext cx="835715" cy="381397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167" name="Rectangle 402" descr="좁은 눈금"/>
            <p:cNvSpPr>
              <a:spLocks noChangeArrowheads="1"/>
            </p:cNvSpPr>
            <p:nvPr/>
          </p:nvSpPr>
          <p:spPr bwMode="auto">
            <a:xfrm flipV="1">
              <a:off x="2755563" y="1014982"/>
              <a:ext cx="774316" cy="278896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FDI</a:t>
              </a:r>
              <a:endParaRPr lang="ko-KR" altLang="ko-KR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68" name="Rectangle 370"/>
            <p:cNvSpPr>
              <a:spLocks noChangeArrowheads="1"/>
            </p:cNvSpPr>
            <p:nvPr/>
          </p:nvSpPr>
          <p:spPr bwMode="auto">
            <a:xfrm flipV="1">
              <a:off x="7070380" y="3789041"/>
              <a:ext cx="1253571" cy="164479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169" name="Rectangle 383" descr="좁은 눈금"/>
            <p:cNvSpPr>
              <a:spLocks noChangeArrowheads="1"/>
            </p:cNvSpPr>
            <p:nvPr/>
          </p:nvSpPr>
          <p:spPr bwMode="auto">
            <a:xfrm flipV="1">
              <a:off x="7126031" y="3817646"/>
              <a:ext cx="1155475" cy="107268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9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PII</a:t>
              </a:r>
              <a:endParaRPr lang="ko-KR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70" name="Rectangle 384"/>
            <p:cNvSpPr>
              <a:spLocks noChangeArrowheads="1"/>
            </p:cNvSpPr>
            <p:nvPr/>
          </p:nvSpPr>
          <p:spPr bwMode="auto">
            <a:xfrm flipV="1">
              <a:off x="5844654" y="1114459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171" name="Rectangle 391" descr="좁은 눈금"/>
            <p:cNvSpPr>
              <a:spLocks noChangeArrowheads="1"/>
            </p:cNvSpPr>
            <p:nvPr/>
          </p:nvSpPr>
          <p:spPr bwMode="auto">
            <a:xfrm flipV="1">
              <a:off x="5886494" y="1154983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72" name="Rectangle 370"/>
            <p:cNvSpPr>
              <a:spLocks noChangeArrowheads="1"/>
            </p:cNvSpPr>
            <p:nvPr/>
          </p:nvSpPr>
          <p:spPr bwMode="auto">
            <a:xfrm flipV="1">
              <a:off x="4117195" y="1165892"/>
              <a:ext cx="1253571" cy="164479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173" name="Rectangle 383" descr="좁은 눈금"/>
            <p:cNvSpPr>
              <a:spLocks noChangeArrowheads="1"/>
            </p:cNvSpPr>
            <p:nvPr/>
          </p:nvSpPr>
          <p:spPr bwMode="auto">
            <a:xfrm flipV="1">
              <a:off x="4172845" y="1194498"/>
              <a:ext cx="1155475" cy="107268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9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PII</a:t>
              </a:r>
              <a:endParaRPr lang="ko-KR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74" name="Rectangle 384"/>
            <p:cNvSpPr>
              <a:spLocks noChangeArrowheads="1"/>
            </p:cNvSpPr>
            <p:nvPr/>
          </p:nvSpPr>
          <p:spPr bwMode="auto">
            <a:xfrm flipV="1">
              <a:off x="7293263" y="1114459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175" name="Rectangle 391" descr="좁은 눈금"/>
            <p:cNvSpPr>
              <a:spLocks noChangeArrowheads="1"/>
            </p:cNvSpPr>
            <p:nvPr/>
          </p:nvSpPr>
          <p:spPr bwMode="auto">
            <a:xfrm flipV="1">
              <a:off x="7335102" y="1154983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76" name="Rectangle 384"/>
            <p:cNvSpPr>
              <a:spLocks noChangeArrowheads="1"/>
            </p:cNvSpPr>
            <p:nvPr/>
          </p:nvSpPr>
          <p:spPr bwMode="auto">
            <a:xfrm flipV="1">
              <a:off x="3950034" y="4149082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177" name="Rectangle 391" descr="좁은 눈금"/>
            <p:cNvSpPr>
              <a:spLocks noChangeArrowheads="1"/>
            </p:cNvSpPr>
            <p:nvPr/>
          </p:nvSpPr>
          <p:spPr bwMode="auto">
            <a:xfrm flipV="1">
              <a:off x="3991874" y="4189605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78" name="Rectangle 384"/>
            <p:cNvSpPr>
              <a:spLocks noChangeArrowheads="1"/>
            </p:cNvSpPr>
            <p:nvPr/>
          </p:nvSpPr>
          <p:spPr bwMode="auto">
            <a:xfrm flipV="1">
              <a:off x="5677369" y="4149082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179" name="Rectangle 391" descr="좁은 눈금"/>
            <p:cNvSpPr>
              <a:spLocks noChangeArrowheads="1"/>
            </p:cNvSpPr>
            <p:nvPr/>
          </p:nvSpPr>
          <p:spPr bwMode="auto">
            <a:xfrm flipV="1">
              <a:off x="5719210" y="4189605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180" name="Line 420"/>
            <p:cNvSpPr>
              <a:spLocks noChangeShapeType="1"/>
            </p:cNvSpPr>
            <p:nvPr/>
          </p:nvSpPr>
          <p:spPr bwMode="auto">
            <a:xfrm flipH="1">
              <a:off x="3281387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181" name="Line 420"/>
            <p:cNvSpPr>
              <a:spLocks noChangeShapeType="1"/>
            </p:cNvSpPr>
            <p:nvPr/>
          </p:nvSpPr>
          <p:spPr bwMode="auto">
            <a:xfrm rot="10800000" flipH="1">
              <a:off x="3838592" y="2372696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182" name="Line 420"/>
            <p:cNvSpPr>
              <a:spLocks noChangeShapeType="1"/>
            </p:cNvSpPr>
            <p:nvPr/>
          </p:nvSpPr>
          <p:spPr bwMode="auto">
            <a:xfrm flipH="1">
              <a:off x="4785841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183" name="Line 420"/>
            <p:cNvSpPr>
              <a:spLocks noChangeShapeType="1"/>
            </p:cNvSpPr>
            <p:nvPr/>
          </p:nvSpPr>
          <p:spPr bwMode="auto">
            <a:xfrm rot="10800000" flipH="1">
              <a:off x="5361624" y="2372180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184" name="Line 420"/>
            <p:cNvSpPr>
              <a:spLocks noChangeShapeType="1"/>
            </p:cNvSpPr>
            <p:nvPr/>
          </p:nvSpPr>
          <p:spPr bwMode="auto">
            <a:xfrm flipH="1">
              <a:off x="6295466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grpSp>
          <p:nvGrpSpPr>
            <p:cNvPr id="185" name="그룹 184"/>
            <p:cNvGrpSpPr/>
            <p:nvPr/>
          </p:nvGrpSpPr>
          <p:grpSpPr>
            <a:xfrm>
              <a:off x="3392830" y="718044"/>
              <a:ext cx="570704" cy="270619"/>
              <a:chOff x="4384576" y="1005260"/>
              <a:chExt cx="737527" cy="378866"/>
            </a:xfrm>
          </p:grpSpPr>
          <p:sp>
            <p:nvSpPr>
              <p:cNvPr id="269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270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271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186" name="그룹 185"/>
            <p:cNvGrpSpPr/>
            <p:nvPr/>
          </p:nvGrpSpPr>
          <p:grpSpPr>
            <a:xfrm>
              <a:off x="6234574" y="836954"/>
              <a:ext cx="570704" cy="270619"/>
              <a:chOff x="4384576" y="1005260"/>
              <a:chExt cx="737527" cy="378866"/>
            </a:xfrm>
          </p:grpSpPr>
          <p:sp>
            <p:nvSpPr>
              <p:cNvPr id="26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26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26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187" name="그룹 186"/>
            <p:cNvGrpSpPr/>
            <p:nvPr/>
          </p:nvGrpSpPr>
          <p:grpSpPr>
            <a:xfrm>
              <a:off x="7614086" y="843839"/>
              <a:ext cx="570704" cy="270619"/>
              <a:chOff x="4384576" y="1005260"/>
              <a:chExt cx="737527" cy="378866"/>
            </a:xfrm>
          </p:grpSpPr>
          <p:sp>
            <p:nvSpPr>
              <p:cNvPr id="263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26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26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188" name="그룹 187"/>
            <p:cNvGrpSpPr/>
            <p:nvPr/>
          </p:nvGrpSpPr>
          <p:grpSpPr>
            <a:xfrm>
              <a:off x="4139952" y="1563760"/>
              <a:ext cx="570704" cy="270619"/>
              <a:chOff x="4384576" y="1005260"/>
              <a:chExt cx="737527" cy="378866"/>
            </a:xfrm>
          </p:grpSpPr>
          <p:sp>
            <p:nvSpPr>
              <p:cNvPr id="260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261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262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189" name="그룹 188"/>
            <p:cNvGrpSpPr/>
            <p:nvPr/>
          </p:nvGrpSpPr>
          <p:grpSpPr>
            <a:xfrm>
              <a:off x="5008725" y="878021"/>
              <a:ext cx="570704" cy="270619"/>
              <a:chOff x="4384576" y="1005260"/>
              <a:chExt cx="737527" cy="378866"/>
            </a:xfrm>
          </p:grpSpPr>
          <p:sp>
            <p:nvSpPr>
              <p:cNvPr id="257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258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259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190" name="그룹 189"/>
            <p:cNvGrpSpPr/>
            <p:nvPr/>
          </p:nvGrpSpPr>
          <p:grpSpPr>
            <a:xfrm>
              <a:off x="7883725" y="3501170"/>
              <a:ext cx="570704" cy="270619"/>
              <a:chOff x="4384576" y="1005260"/>
              <a:chExt cx="737527" cy="378866"/>
            </a:xfrm>
          </p:grpSpPr>
          <p:sp>
            <p:nvSpPr>
              <p:cNvPr id="254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255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256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191" name="그룹 190"/>
            <p:cNvGrpSpPr/>
            <p:nvPr/>
          </p:nvGrpSpPr>
          <p:grpSpPr>
            <a:xfrm>
              <a:off x="5724128" y="1563920"/>
              <a:ext cx="570704" cy="270619"/>
              <a:chOff x="4384576" y="1005260"/>
              <a:chExt cx="737527" cy="378866"/>
            </a:xfrm>
          </p:grpSpPr>
          <p:sp>
            <p:nvSpPr>
              <p:cNvPr id="251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25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25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192" name="그룹 191"/>
            <p:cNvGrpSpPr/>
            <p:nvPr/>
          </p:nvGrpSpPr>
          <p:grpSpPr>
            <a:xfrm>
              <a:off x="3147837" y="3686173"/>
              <a:ext cx="570704" cy="272794"/>
              <a:chOff x="4067969" y="5160640"/>
              <a:chExt cx="737527" cy="381912"/>
            </a:xfrm>
          </p:grpSpPr>
          <p:grpSp>
            <p:nvGrpSpPr>
              <p:cNvPr id="247" name="그룹 24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249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250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248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193" name="그룹 192"/>
            <p:cNvGrpSpPr/>
            <p:nvPr/>
          </p:nvGrpSpPr>
          <p:grpSpPr>
            <a:xfrm>
              <a:off x="4674402" y="3686173"/>
              <a:ext cx="570704" cy="272794"/>
              <a:chOff x="4067969" y="5160640"/>
              <a:chExt cx="737527" cy="381912"/>
            </a:xfrm>
          </p:grpSpPr>
          <p:grpSp>
            <p:nvGrpSpPr>
              <p:cNvPr id="243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245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246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244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194" name="그룹 193"/>
            <p:cNvGrpSpPr/>
            <p:nvPr/>
          </p:nvGrpSpPr>
          <p:grpSpPr>
            <a:xfrm>
              <a:off x="6178855" y="3686173"/>
              <a:ext cx="570704" cy="272794"/>
              <a:chOff x="4067969" y="5160640"/>
              <a:chExt cx="737527" cy="381912"/>
            </a:xfrm>
          </p:grpSpPr>
          <p:grpSp>
            <p:nvGrpSpPr>
              <p:cNvPr id="239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241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242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240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195" name="그룹 194"/>
            <p:cNvGrpSpPr/>
            <p:nvPr/>
          </p:nvGrpSpPr>
          <p:grpSpPr>
            <a:xfrm>
              <a:off x="3727154" y="4390629"/>
              <a:ext cx="570704" cy="272794"/>
              <a:chOff x="4067969" y="5160640"/>
              <a:chExt cx="737527" cy="381912"/>
            </a:xfrm>
          </p:grpSpPr>
          <p:grpSp>
            <p:nvGrpSpPr>
              <p:cNvPr id="235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237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238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23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196" name="그룹 195"/>
            <p:cNvGrpSpPr/>
            <p:nvPr/>
          </p:nvGrpSpPr>
          <p:grpSpPr>
            <a:xfrm>
              <a:off x="5385268" y="4390629"/>
              <a:ext cx="570704" cy="272794"/>
              <a:chOff x="4067969" y="5160640"/>
              <a:chExt cx="737527" cy="381912"/>
            </a:xfrm>
          </p:grpSpPr>
          <p:grpSp>
            <p:nvGrpSpPr>
              <p:cNvPr id="231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233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234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232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197" name="그룹 196"/>
            <p:cNvGrpSpPr/>
            <p:nvPr/>
          </p:nvGrpSpPr>
          <p:grpSpPr>
            <a:xfrm>
              <a:off x="3727150" y="1834539"/>
              <a:ext cx="1053610" cy="625361"/>
              <a:chOff x="5666768" y="1056184"/>
              <a:chExt cx="1361588" cy="875506"/>
            </a:xfrm>
          </p:grpSpPr>
          <p:sp>
            <p:nvSpPr>
              <p:cNvPr id="228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229" name="그림 228" descr="denver_mini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230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198" name="그룹 197"/>
            <p:cNvGrpSpPr/>
            <p:nvPr/>
          </p:nvGrpSpPr>
          <p:grpSpPr>
            <a:xfrm>
              <a:off x="5242399" y="1838290"/>
              <a:ext cx="1053610" cy="625361"/>
              <a:chOff x="5666768" y="1056184"/>
              <a:chExt cx="1361588" cy="875506"/>
            </a:xfrm>
          </p:grpSpPr>
          <p:sp>
            <p:nvSpPr>
              <p:cNvPr id="225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226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  <p:pic>
            <p:nvPicPr>
              <p:cNvPr id="227" name="그림 226" descr="denver_mini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</p:grpSp>
        <p:grpSp>
          <p:nvGrpSpPr>
            <p:cNvPr id="199" name="그룹 198"/>
            <p:cNvGrpSpPr/>
            <p:nvPr/>
          </p:nvGrpSpPr>
          <p:grpSpPr>
            <a:xfrm>
              <a:off x="3169944" y="3068962"/>
              <a:ext cx="1053610" cy="625361"/>
              <a:chOff x="5666768" y="1056184"/>
              <a:chExt cx="1361588" cy="875506"/>
            </a:xfrm>
          </p:grpSpPr>
          <p:sp>
            <p:nvSpPr>
              <p:cNvPr id="222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223" name="그림 222" descr="denver_mini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224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200" name="그룹 199"/>
            <p:cNvGrpSpPr/>
            <p:nvPr/>
          </p:nvGrpSpPr>
          <p:grpSpPr>
            <a:xfrm>
              <a:off x="4685194" y="3072713"/>
              <a:ext cx="1053610" cy="625361"/>
              <a:chOff x="5666768" y="1056184"/>
              <a:chExt cx="1361588" cy="875506"/>
            </a:xfrm>
          </p:grpSpPr>
          <p:sp>
            <p:nvSpPr>
              <p:cNvPr id="219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220" name="그림 219" descr="denver_mini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221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201" name="그룹 200"/>
            <p:cNvGrpSpPr/>
            <p:nvPr/>
          </p:nvGrpSpPr>
          <p:grpSpPr>
            <a:xfrm>
              <a:off x="6189646" y="3072713"/>
              <a:ext cx="1053610" cy="625361"/>
              <a:chOff x="5666768" y="1056184"/>
              <a:chExt cx="1361588" cy="875506"/>
            </a:xfrm>
          </p:grpSpPr>
          <p:sp>
            <p:nvSpPr>
              <p:cNvPr id="216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217" name="그림 216" descr="denver_mini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218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sp>
          <p:nvSpPr>
            <p:cNvPr id="202" name="직사각형 201"/>
            <p:cNvSpPr/>
            <p:nvPr/>
          </p:nvSpPr>
          <p:spPr>
            <a:xfrm>
              <a:off x="467544" y="620688"/>
              <a:ext cx="1147735" cy="30654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3" name="직선 연결선 202"/>
            <p:cNvCxnSpPr/>
            <p:nvPr/>
          </p:nvCxnSpPr>
          <p:spPr>
            <a:xfrm>
              <a:off x="1615279" y="2708920"/>
              <a:ext cx="6839150" cy="0"/>
            </a:xfrm>
            <a:prstGeom prst="line">
              <a:avLst/>
            </a:prstGeom>
            <a:ln w="381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화살표 연결선 203"/>
            <p:cNvCxnSpPr/>
            <p:nvPr/>
          </p:nvCxnSpPr>
          <p:spPr>
            <a:xfrm flipV="1">
              <a:off x="3142039" y="1341552"/>
              <a:ext cx="5797" cy="1367368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화살표 연결선 204"/>
            <p:cNvCxnSpPr/>
            <p:nvPr/>
          </p:nvCxnSpPr>
          <p:spPr>
            <a:xfrm>
              <a:off x="3696749" y="2708920"/>
              <a:ext cx="0" cy="360042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화살표 연결선 205"/>
            <p:cNvCxnSpPr/>
            <p:nvPr/>
          </p:nvCxnSpPr>
          <p:spPr>
            <a:xfrm>
              <a:off x="5186049" y="2708918"/>
              <a:ext cx="0" cy="360042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화살표 연결선 206"/>
            <p:cNvCxnSpPr/>
            <p:nvPr/>
          </p:nvCxnSpPr>
          <p:spPr>
            <a:xfrm>
              <a:off x="6697410" y="2708920"/>
              <a:ext cx="0" cy="360042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직선 화살표 연결선 207"/>
            <p:cNvCxnSpPr/>
            <p:nvPr/>
          </p:nvCxnSpPr>
          <p:spPr>
            <a:xfrm>
              <a:off x="4488518" y="2708918"/>
              <a:ext cx="0" cy="1440164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화살표 연결선 208"/>
            <p:cNvCxnSpPr/>
            <p:nvPr/>
          </p:nvCxnSpPr>
          <p:spPr>
            <a:xfrm>
              <a:off x="6084168" y="2702950"/>
              <a:ext cx="0" cy="1440164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화살표 연결선 209"/>
            <p:cNvCxnSpPr/>
            <p:nvPr/>
          </p:nvCxnSpPr>
          <p:spPr>
            <a:xfrm>
              <a:off x="7635627" y="2712771"/>
              <a:ext cx="0" cy="1052715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화살표 연결선 210"/>
            <p:cNvCxnSpPr/>
            <p:nvPr/>
          </p:nvCxnSpPr>
          <p:spPr>
            <a:xfrm flipV="1">
              <a:off x="4253955" y="2463651"/>
              <a:ext cx="0" cy="239299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화살표 연결선 211"/>
            <p:cNvCxnSpPr/>
            <p:nvPr/>
          </p:nvCxnSpPr>
          <p:spPr>
            <a:xfrm flipV="1">
              <a:off x="4913303" y="1341552"/>
              <a:ext cx="0" cy="1357000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화살표 연결선 212"/>
            <p:cNvCxnSpPr/>
            <p:nvPr/>
          </p:nvCxnSpPr>
          <p:spPr>
            <a:xfrm flipV="1">
              <a:off x="6521216" y="1333762"/>
              <a:ext cx="0" cy="1357000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화살표 연결선 213"/>
            <p:cNvCxnSpPr/>
            <p:nvPr/>
          </p:nvCxnSpPr>
          <p:spPr>
            <a:xfrm flipV="1">
              <a:off x="8028384" y="1355771"/>
              <a:ext cx="0" cy="1357000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화살표 연결선 214"/>
            <p:cNvCxnSpPr/>
            <p:nvPr/>
          </p:nvCxnSpPr>
          <p:spPr>
            <a:xfrm flipV="1">
              <a:off x="5769204" y="2459252"/>
              <a:ext cx="0" cy="239299"/>
            </a:xfrm>
            <a:prstGeom prst="straightConnector1">
              <a:avLst/>
            </a:prstGeom>
            <a:ln w="28575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2" name="제목 1"/>
          <p:cNvSpPr txBox="1">
            <a:spLocks/>
          </p:cNvSpPr>
          <p:nvPr/>
        </p:nvSpPr>
        <p:spPr>
          <a:xfrm>
            <a:off x="683568" y="2488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기존 표시기와 비교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683568" y="2488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기존 표시기 장 단점</a:t>
            </a:r>
            <a:r>
              <a:rPr lang="en-US" altLang="ko-KR" dirty="0" smtClean="0"/>
              <a:t>(RS–485).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87624" y="198884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/>
              <a:t>장점</a:t>
            </a:r>
            <a:r>
              <a:rPr lang="en-US" altLang="ko-KR" sz="2400" b="1" dirty="0" smtClean="0"/>
              <a:t>.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331640" y="2510572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 축적된 </a:t>
            </a:r>
            <a:r>
              <a:rPr lang="en-US" altLang="ko-KR" dirty="0" smtClean="0"/>
              <a:t>RS- 485 </a:t>
            </a:r>
            <a:r>
              <a:rPr lang="ko-KR" altLang="en-US" dirty="0" smtClean="0"/>
              <a:t>통신에 대한 기술력</a:t>
            </a:r>
            <a:endParaRPr lang="en-US" altLang="ko-KR" dirty="0" smtClean="0"/>
          </a:p>
        </p:txBody>
      </p:sp>
      <p:sp>
        <p:nvSpPr>
          <p:cNvPr id="274" name="TextBox 273"/>
          <p:cNvSpPr txBox="1"/>
          <p:nvPr/>
        </p:nvSpPr>
        <p:spPr>
          <a:xfrm>
            <a:off x="1331640" y="2847638"/>
            <a:ext cx="6192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 저렴한 설계 비용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/>
              <a:t> </a:t>
            </a:r>
            <a:r>
              <a:rPr lang="ko-KR" altLang="en-US" dirty="0" smtClean="0"/>
              <a:t>기존 </a:t>
            </a:r>
            <a:r>
              <a:rPr lang="en-US" altLang="ko-KR" dirty="0" smtClean="0"/>
              <a:t>System</a:t>
            </a:r>
            <a:r>
              <a:rPr lang="ko-KR" altLang="en-US" dirty="0" smtClean="0"/>
              <a:t>과의 호환성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endParaRPr lang="en-US" altLang="ko-KR" dirty="0" smtClean="0"/>
          </a:p>
        </p:txBody>
      </p:sp>
      <p:sp>
        <p:nvSpPr>
          <p:cNvPr id="275" name="TextBox 274"/>
          <p:cNvSpPr txBox="1"/>
          <p:nvPr/>
        </p:nvSpPr>
        <p:spPr>
          <a:xfrm>
            <a:off x="1160984" y="371703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단</a:t>
            </a:r>
            <a:r>
              <a:rPr lang="ko-KR" altLang="en-US" sz="2400" b="1" dirty="0" smtClean="0"/>
              <a:t>점</a:t>
            </a:r>
            <a:r>
              <a:rPr lang="en-US" altLang="ko-KR" sz="2400" b="1" dirty="0" smtClean="0"/>
              <a:t>.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340024" y="4590420"/>
            <a:ext cx="66967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 어드레</a:t>
            </a:r>
            <a:r>
              <a:rPr lang="ko-KR" altLang="en-US" dirty="0"/>
              <a:t>스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설정 방식에 따른 불편함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  </a:t>
            </a:r>
            <a:r>
              <a:rPr lang="ko-KR" altLang="en-US" dirty="0" smtClean="0"/>
              <a:t>장치 상태 확인이 제한적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  </a:t>
            </a:r>
            <a:r>
              <a:rPr lang="ko-KR" altLang="en-US" dirty="0" smtClean="0"/>
              <a:t>전송 할 수 있는 데이터 형식이 제한적</a:t>
            </a:r>
            <a:r>
              <a:rPr lang="en-US" altLang="ko-KR" dirty="0" smtClean="0"/>
              <a:t>.(BIN </a:t>
            </a:r>
            <a:r>
              <a:rPr lang="ko-KR" altLang="en-US" dirty="0" smtClean="0"/>
              <a:t>파일 형식</a:t>
            </a:r>
            <a:r>
              <a:rPr lang="en-US" altLang="ko-KR" dirty="0" smtClean="0"/>
              <a:t>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  </a:t>
            </a:r>
            <a:r>
              <a:rPr lang="ko-KR" altLang="en-US" dirty="0" smtClean="0"/>
              <a:t>다른 </a:t>
            </a:r>
            <a:r>
              <a:rPr lang="en-US" altLang="ko-KR" dirty="0" smtClean="0"/>
              <a:t>System </a:t>
            </a:r>
            <a:r>
              <a:rPr lang="ko-KR" altLang="en-US" dirty="0" smtClean="0"/>
              <a:t>과의 호환성 부족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(</a:t>
            </a:r>
            <a:r>
              <a:rPr lang="ko-KR" altLang="en-US" dirty="0" smtClean="0"/>
              <a:t>약속된 </a:t>
            </a:r>
            <a:r>
              <a:rPr lang="en-US" altLang="ko-KR" dirty="0" smtClean="0"/>
              <a:t>485 </a:t>
            </a:r>
            <a:r>
              <a:rPr lang="ko-KR" altLang="en-US" dirty="0" smtClean="0"/>
              <a:t>통신 </a:t>
            </a:r>
            <a:r>
              <a:rPr lang="en-US" altLang="ko-KR" dirty="0" smtClean="0"/>
              <a:t>System</a:t>
            </a:r>
            <a:r>
              <a:rPr lang="ko-KR" altLang="en-US" dirty="0" smtClean="0"/>
              <a:t>에서 동작</a:t>
            </a:r>
            <a:r>
              <a:rPr lang="en-US" altLang="ko-KR" dirty="0" smtClean="0"/>
              <a:t>)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340024" y="4221088"/>
            <a:ext cx="6696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 제한적인 데이터 양</a:t>
            </a:r>
            <a:r>
              <a:rPr lang="en-US" altLang="ko-KR" dirty="0" smtClean="0"/>
              <a:t>.(</a:t>
            </a:r>
            <a:r>
              <a:rPr lang="ko-KR" altLang="en-US" dirty="0" smtClean="0"/>
              <a:t>많은 데이터 전송에 많은 시간 필요</a:t>
            </a:r>
            <a:r>
              <a:rPr lang="en-US" altLang="ko-KR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650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683568" y="2488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개</a:t>
            </a:r>
            <a:r>
              <a:rPr lang="ko-KR" altLang="en-US" dirty="0"/>
              <a:t>발</a:t>
            </a:r>
            <a:r>
              <a:rPr lang="ko-KR" altLang="en-US" dirty="0" smtClean="0"/>
              <a:t> 표시기 장 단점</a:t>
            </a:r>
            <a:r>
              <a:rPr lang="en-US" altLang="ko-KR" dirty="0" smtClean="0"/>
              <a:t>(E-Net).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87624" y="1988840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/>
              <a:t>장점</a:t>
            </a:r>
            <a:r>
              <a:rPr lang="en-US" altLang="ko-KR" sz="2400" b="1" dirty="0" smtClean="0"/>
              <a:t>.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331640" y="2510572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en-US" altLang="ko-KR" dirty="0" smtClean="0">
                <a:solidFill>
                  <a:srgbClr val="0070C0"/>
                </a:solidFill>
              </a:rPr>
              <a:t>-  </a:t>
            </a:r>
            <a:r>
              <a:rPr lang="ko-KR" altLang="en-US" b="1" dirty="0" smtClean="0">
                <a:solidFill>
                  <a:srgbClr val="0070C0"/>
                </a:solidFill>
              </a:rPr>
              <a:t>동영상 정보 및 일반 데이터를 한번에 전송 가능</a:t>
            </a:r>
            <a:r>
              <a:rPr lang="en-US" altLang="ko-KR" dirty="0" smtClean="0">
                <a:solidFill>
                  <a:srgbClr val="0070C0"/>
                </a:solidFill>
              </a:rPr>
              <a:t>. </a:t>
            </a:r>
            <a:r>
              <a:rPr lang="ko-KR" altLang="en-US" dirty="0" smtClean="0">
                <a:solidFill>
                  <a:srgbClr val="0070C0"/>
                </a:solidFill>
              </a:rPr>
              <a:t> </a:t>
            </a:r>
            <a:endParaRPr lang="en-US" altLang="ko-KR" dirty="0" smtClean="0">
              <a:solidFill>
                <a:srgbClr val="0070C0"/>
              </a:solidFill>
            </a:endParaRPr>
          </a:p>
        </p:txBody>
      </p:sp>
      <p:sp>
        <p:nvSpPr>
          <p:cNvPr id="274" name="TextBox 273"/>
          <p:cNvSpPr txBox="1"/>
          <p:nvPr/>
        </p:nvSpPr>
        <p:spPr>
          <a:xfrm>
            <a:off x="1331640" y="2847638"/>
            <a:ext cx="61926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 빠른 데이터 전송 속도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/>
              <a:t> </a:t>
            </a:r>
            <a:r>
              <a:rPr lang="ko-KR" altLang="en-US" dirty="0" smtClean="0"/>
              <a:t>전세계 표준</a:t>
            </a:r>
            <a:r>
              <a:rPr lang="en-US" altLang="ko-KR" dirty="0" smtClean="0"/>
              <a:t>(E-Net </a:t>
            </a:r>
            <a:r>
              <a:rPr lang="ko-KR" altLang="en-US" dirty="0" smtClean="0"/>
              <a:t>표준 </a:t>
            </a:r>
            <a:r>
              <a:rPr lang="en-US" altLang="ko-KR" dirty="0" smtClean="0"/>
              <a:t>System </a:t>
            </a:r>
            <a:r>
              <a:rPr lang="ko-KR" altLang="en-US" dirty="0" smtClean="0"/>
              <a:t>호환성</a:t>
            </a:r>
            <a:r>
              <a:rPr lang="en-US" altLang="ko-KR" dirty="0" smtClean="0"/>
              <a:t>).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  </a:t>
            </a:r>
            <a:r>
              <a:rPr lang="ko-KR" altLang="en-US" dirty="0" smtClean="0"/>
              <a:t>어드레스 설정 방식이 불필요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b="1" dirty="0" smtClean="0"/>
              <a:t>-  </a:t>
            </a:r>
            <a:r>
              <a:rPr lang="en-US" altLang="ko-KR" b="1" dirty="0" smtClean="0">
                <a:solidFill>
                  <a:srgbClr val="0070C0"/>
                </a:solidFill>
              </a:rPr>
              <a:t>LED </a:t>
            </a:r>
            <a:r>
              <a:rPr lang="ko-KR" altLang="en-US" b="1" dirty="0" smtClean="0">
                <a:solidFill>
                  <a:srgbClr val="0070C0"/>
                </a:solidFill>
              </a:rPr>
              <a:t>표시기에 다양한 정보 표출 가능</a:t>
            </a:r>
            <a:r>
              <a:rPr lang="en-US" altLang="ko-KR" b="1" dirty="0" smtClean="0">
                <a:solidFill>
                  <a:srgbClr val="0070C0"/>
                </a:solidFill>
              </a:rPr>
              <a:t>(</a:t>
            </a:r>
            <a:r>
              <a:rPr lang="ko-KR" altLang="en-US" b="1" dirty="0" smtClean="0">
                <a:solidFill>
                  <a:srgbClr val="0070C0"/>
                </a:solidFill>
              </a:rPr>
              <a:t>동영상 정보</a:t>
            </a:r>
            <a:r>
              <a:rPr lang="en-US" altLang="ko-KR" b="1" dirty="0" smtClean="0">
                <a:solidFill>
                  <a:srgbClr val="0070C0"/>
                </a:solidFill>
              </a:rPr>
              <a:t>) </a:t>
            </a:r>
          </a:p>
          <a:p>
            <a:r>
              <a:rPr lang="en-US" altLang="ko-KR" dirty="0"/>
              <a:t> </a:t>
            </a:r>
            <a:endParaRPr lang="en-US" altLang="ko-KR" dirty="0" smtClean="0"/>
          </a:p>
        </p:txBody>
      </p:sp>
      <p:sp>
        <p:nvSpPr>
          <p:cNvPr id="275" name="TextBox 274"/>
          <p:cNvSpPr txBox="1"/>
          <p:nvPr/>
        </p:nvSpPr>
        <p:spPr>
          <a:xfrm>
            <a:off x="1160984" y="40085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단</a:t>
            </a:r>
            <a:r>
              <a:rPr lang="ko-KR" altLang="en-US" sz="2400" b="1" dirty="0" smtClean="0"/>
              <a:t>점</a:t>
            </a:r>
            <a:r>
              <a:rPr lang="en-US" altLang="ko-KR" sz="2400" b="1" dirty="0" smtClean="0"/>
              <a:t>.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340024" y="4512602"/>
            <a:ext cx="6696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 부족한 노하우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현차</a:t>
            </a:r>
            <a:r>
              <a:rPr lang="ko-KR" altLang="en-US" dirty="0"/>
              <a:t> </a:t>
            </a:r>
            <a:r>
              <a:rPr lang="ko-KR" altLang="en-US" dirty="0" smtClean="0"/>
              <a:t>운영 경험이 없다</a:t>
            </a:r>
            <a:r>
              <a:rPr lang="en-US" altLang="ko-KR" dirty="0" smtClean="0"/>
              <a:t>.)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  </a:t>
            </a:r>
            <a:r>
              <a:rPr lang="ko-KR" altLang="en-US" dirty="0" smtClean="0"/>
              <a:t>기본 설계 비용이 증가</a:t>
            </a:r>
            <a:r>
              <a:rPr lang="en-US" altLang="ko-KR" dirty="0" smtClean="0"/>
              <a:t>.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-  </a:t>
            </a:r>
            <a:r>
              <a:rPr lang="ko-KR" altLang="en-US" dirty="0" smtClean="0"/>
              <a:t>기존 </a:t>
            </a:r>
            <a:r>
              <a:rPr lang="en-US" altLang="ko-KR" dirty="0" smtClean="0"/>
              <a:t>System</a:t>
            </a:r>
            <a:r>
              <a:rPr lang="ko-KR" altLang="en-US" dirty="0" err="1" smtClean="0"/>
              <a:t>과이</a:t>
            </a:r>
            <a:r>
              <a:rPr lang="ko-KR" altLang="en-US" dirty="0" smtClean="0"/>
              <a:t> 호환성 문제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68194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JDS_SSD\AppData\Local\Microsoft\Windows\Temporary Internet Files\Content.IE5\0ORSCBUO\MC900233945[1].wmf"/>
          <p:cNvPicPr>
            <a:picLocks noChangeAspect="1" noChangeArrowheads="1"/>
          </p:cNvPicPr>
          <p:nvPr/>
        </p:nvPicPr>
        <p:blipFill>
          <a:blip r:embed="rId2" cstate="print">
            <a:lum bright="52000" contrast="-6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931" y="1556792"/>
            <a:ext cx="5616624" cy="4571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그룹 17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683568" y="2488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E-Net System </a:t>
            </a:r>
            <a:r>
              <a:rPr lang="ko-KR" altLang="en-US" dirty="0" smtClean="0"/>
              <a:t>구성도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654" y="2842997"/>
            <a:ext cx="1676400" cy="1219200"/>
          </a:xfrm>
          <a:prstGeom prst="rect">
            <a:avLst/>
          </a:prstGeom>
        </p:spPr>
      </p:pic>
      <p:pic>
        <p:nvPicPr>
          <p:cNvPr id="21" name="Picture 6" descr="C:\Users\JDS_SSD\AppData\Local\Microsoft\Windows\Temporary Internet Files\Content.IE5\D7BG8QXH\MC900441735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71656">
            <a:off x="4992745" y="1676541"/>
            <a:ext cx="1825823" cy="182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/>
          <p:cNvGrpSpPr/>
          <p:nvPr/>
        </p:nvGrpSpPr>
        <p:grpSpPr>
          <a:xfrm>
            <a:off x="539552" y="1125925"/>
            <a:ext cx="2160240" cy="5089434"/>
            <a:chOff x="539552" y="1125925"/>
            <a:chExt cx="2160240" cy="5089434"/>
          </a:xfrm>
        </p:grpSpPr>
        <p:pic>
          <p:nvPicPr>
            <p:cNvPr id="1029" name="Picture 5" descr="C:\Users\JDS_SSD\AppData\Local\Microsoft\Windows\Temporary Internet Files\Content.IE5\2S36GX55\MC900429007[1].wm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63709" y="3981392"/>
              <a:ext cx="256560" cy="6717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C:\Users\JDS_SSD\AppData\Local\Microsoft\Windows\Temporary Internet Files\Content.IE5\DKQCKNNA\MC900339344[1].wmf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4529509"/>
              <a:ext cx="904875" cy="904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C:\Users\JDS_SSD\AppData\Local\Microsoft\Windows\Temporary Internet Files\Content.IE5\D7BG8QXH\MC900441735[1]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197812">
              <a:off x="914165" y="2741925"/>
              <a:ext cx="1060525" cy="1060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7" name="Picture 3" descr="C:\Users\JDS_SSD\AppData\Local\Microsoft\Windows\Temporary Internet Files\Content.IE5\QYOSPA1I\MP900178474[1]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672" y="1690717"/>
              <a:ext cx="1080120" cy="716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구름 4"/>
            <p:cNvSpPr/>
            <p:nvPr/>
          </p:nvSpPr>
          <p:spPr>
            <a:xfrm rot="951711">
              <a:off x="623534" y="1125925"/>
              <a:ext cx="1799067" cy="5089434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020273" y="4317264"/>
            <a:ext cx="21237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</a:t>
            </a:r>
            <a:r>
              <a:rPr lang="en-US" altLang="ko-KR" sz="1000" dirty="0" smtClean="0"/>
              <a:t>- </a:t>
            </a:r>
            <a:r>
              <a:rPr lang="ko-KR" altLang="en-US" sz="1000" dirty="0" smtClean="0"/>
              <a:t>전세계 프로젝트를 우진 본사          에서 모니터링 가능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/>
              <a:t>업데이트 및 사후 관리 가능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/>
              <a:t>사후 관리 인건비 절감</a:t>
            </a:r>
            <a:r>
              <a:rPr lang="en-US" altLang="ko-KR" sz="1000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ko-KR" altLang="en-US" sz="1000" dirty="0" smtClean="0"/>
              <a:t> 빠른 대응 가능</a:t>
            </a:r>
            <a:r>
              <a:rPr lang="en-US" altLang="ko-KR" sz="1000" dirty="0" smtClean="0"/>
              <a:t>.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759331" y="4906553"/>
            <a:ext cx="904875" cy="1452992"/>
            <a:chOff x="3347864" y="5444919"/>
            <a:chExt cx="904875" cy="1452992"/>
          </a:xfrm>
        </p:grpSpPr>
        <p:pic>
          <p:nvPicPr>
            <p:cNvPr id="26" name="Picture 5" descr="C:\Users\JDS_SSD\AppData\Local\Microsoft\Windows\Temporary Internet Files\Content.IE5\2S36GX55\MC900429007[1].wm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672021" y="5444919"/>
              <a:ext cx="256560" cy="6717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 descr="C:\Users\JDS_SSD\AppData\Local\Microsoft\Windows\Temporary Internet Files\Content.IE5\DKQCKNNA\MC900339344[1].wmf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7864" y="5993036"/>
              <a:ext cx="904875" cy="904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6" descr="C:\Users\JDS_SSD\AppData\Local\Microsoft\Windows\Temporary Internet Files\Content.IE5\D7BG8QXH\MC900441735[1]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34673">
            <a:off x="3902697" y="5233402"/>
            <a:ext cx="1060525" cy="106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3" descr="C:\Users\JDS_SSD\AppData\Local\Microsoft\Windows\Temporary Internet Files\Content.IE5\QYOSPA1I\MP900178474[1]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5622395"/>
            <a:ext cx="1080120" cy="71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구름 29"/>
          <p:cNvSpPr/>
          <p:nvPr/>
        </p:nvSpPr>
        <p:spPr>
          <a:xfrm rot="5400000">
            <a:off x="3775189" y="3640300"/>
            <a:ext cx="1377598" cy="4680520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2" name="Picture 6" descr="C:\Users\JDS_SSD\AppData\Local\Microsoft\Windows\Temporary Internet Files\Content.IE5\D7BG8QXH\MC900441735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32240">
            <a:off x="5104393" y="3580122"/>
            <a:ext cx="1825823" cy="182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207254" y="1321385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미주 프로젝</a:t>
            </a:r>
            <a:r>
              <a:rPr lang="ko-KR" altLang="en-US" b="1" dirty="0">
                <a:solidFill>
                  <a:srgbClr val="FF0000"/>
                </a:solidFill>
              </a:rPr>
              <a:t>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8281" y="5107095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동남</a:t>
            </a:r>
            <a:r>
              <a:rPr lang="ko-KR" altLang="en-US" b="1" dirty="0">
                <a:solidFill>
                  <a:srgbClr val="FF0000"/>
                </a:solidFill>
              </a:rPr>
              <a:t>아</a:t>
            </a:r>
            <a:r>
              <a:rPr lang="ko-KR" altLang="en-US" b="1" dirty="0" smtClean="0">
                <a:solidFill>
                  <a:srgbClr val="FF0000"/>
                </a:solidFill>
              </a:rPr>
              <a:t> 프로젝</a:t>
            </a:r>
            <a:r>
              <a:rPr lang="ko-KR" altLang="en-US" b="1" dirty="0">
                <a:solidFill>
                  <a:srgbClr val="FF0000"/>
                </a:solidFill>
              </a:rPr>
              <a:t>트</a:t>
            </a:r>
          </a:p>
        </p:txBody>
      </p:sp>
    </p:spTree>
    <p:extLst>
      <p:ext uri="{BB962C8B-B14F-4D97-AF65-F5344CB8AC3E}">
        <p14:creationId xmlns:p14="http://schemas.microsoft.com/office/powerpoint/2010/main" val="65485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5000"/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19" name="직사각형 18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sp>
          <p:nvSpPr>
            <p:cNvPr id="22" name="직사각형 21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2" name="제목 1"/>
          <p:cNvSpPr txBox="1">
            <a:spLocks/>
          </p:cNvSpPr>
          <p:nvPr/>
        </p:nvSpPr>
        <p:spPr>
          <a:xfrm>
            <a:off x="683568" y="24880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1</a:t>
            </a:r>
            <a:r>
              <a:rPr lang="ko-KR" altLang="en-US" dirty="0" smtClean="0"/>
              <a:t>차 개발 </a:t>
            </a:r>
            <a:r>
              <a:rPr lang="ko-KR" altLang="en-US" dirty="0" smtClean="0"/>
              <a:t>계획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92016" y="170948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2012/1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2168080" y="2078814"/>
            <a:ext cx="0" cy="35884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76192" y="1741401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2012/4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cxnSp>
        <p:nvCxnSpPr>
          <p:cNvPr id="17" name="직선 연결선 16"/>
          <p:cNvCxnSpPr/>
          <p:nvPr/>
        </p:nvCxnSpPr>
        <p:spPr>
          <a:xfrm>
            <a:off x="3752256" y="2110733"/>
            <a:ext cx="0" cy="35884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69557" y="170948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2012/7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5345621" y="2078814"/>
            <a:ext cx="0" cy="35884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53397" y="1741401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2012/10</a:t>
            </a:r>
            <a:r>
              <a:rPr lang="ko-KR" altLang="en-US" dirty="0" smtClean="0"/>
              <a:t>월</a:t>
            </a:r>
            <a:endParaRPr lang="ko-KR" altLang="en-US" dirty="0"/>
          </a:p>
        </p:txBody>
      </p:sp>
      <p:cxnSp>
        <p:nvCxnSpPr>
          <p:cNvPr id="25" name="직선 연결선 24"/>
          <p:cNvCxnSpPr/>
          <p:nvPr/>
        </p:nvCxnSpPr>
        <p:spPr>
          <a:xfrm>
            <a:off x="7029461" y="2110733"/>
            <a:ext cx="0" cy="35884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1520" y="234888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 </a:t>
            </a:r>
            <a:r>
              <a:rPr lang="en-US" altLang="ko-KR" dirty="0" smtClean="0"/>
              <a:t>System</a:t>
            </a:r>
            <a:r>
              <a:rPr lang="ko-KR" altLang="en-US" dirty="0" smtClean="0"/>
              <a:t>설계 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09364" y="3040497"/>
            <a:ext cx="119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PCB </a:t>
            </a:r>
            <a:r>
              <a:rPr lang="ko-KR" altLang="en-US" dirty="0" smtClean="0"/>
              <a:t>설계 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16701" y="3766465"/>
            <a:ext cx="13543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 smtClean="0"/>
              <a:t>단품</a:t>
            </a:r>
            <a:r>
              <a:rPr lang="ko-KR" altLang="en-US" sz="1200" b="1" dirty="0" smtClean="0"/>
              <a:t> 기능 </a:t>
            </a:r>
            <a:r>
              <a:rPr lang="en-US" altLang="ko-KR" sz="1200" b="1" dirty="0" smtClean="0"/>
              <a:t>TEST</a:t>
            </a:r>
            <a:r>
              <a:rPr lang="ko-KR" altLang="en-US" sz="1200" b="1" dirty="0" smtClean="0"/>
              <a:t> </a:t>
            </a:r>
            <a:endParaRPr lang="ko-KR" altLang="en-US" sz="12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330442" y="4437112"/>
            <a:ext cx="135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 기능 </a:t>
            </a:r>
            <a:r>
              <a:rPr lang="en-US" altLang="ko-KR" b="1" dirty="0" smtClean="0"/>
              <a:t>TEST</a:t>
            </a:r>
            <a:r>
              <a:rPr lang="ko-KR" altLang="en-US" b="1" dirty="0" smtClean="0"/>
              <a:t> </a:t>
            </a:r>
            <a:endParaRPr lang="ko-KR" altLang="en-US" b="1" dirty="0"/>
          </a:p>
        </p:txBody>
      </p:sp>
      <p:sp>
        <p:nvSpPr>
          <p:cNvPr id="8" name="직사각형 7"/>
          <p:cNvSpPr/>
          <p:nvPr/>
        </p:nvSpPr>
        <p:spPr>
          <a:xfrm>
            <a:off x="3347864" y="2348880"/>
            <a:ext cx="864096" cy="1846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211959" y="3132830"/>
            <a:ext cx="1133661" cy="1846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5345622" y="3781453"/>
            <a:ext cx="720080" cy="1846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6093357" y="4529445"/>
            <a:ext cx="936104" cy="1846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27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469</Words>
  <Application>Microsoft Office PowerPoint</Application>
  <PresentationFormat>화면 슬라이드 쇼(4:3)</PresentationFormat>
  <Paragraphs>113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JDS_SSD</cp:lastModifiedBy>
  <cp:revision>27</cp:revision>
  <dcterms:created xsi:type="dcterms:W3CDTF">2011-03-30T10:53:50Z</dcterms:created>
  <dcterms:modified xsi:type="dcterms:W3CDTF">2011-12-20T01:10:36Z</dcterms:modified>
</cp:coreProperties>
</file>