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7"/>
  </p:handout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4680" cy="356281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548" y="1"/>
            <a:ext cx="4434680" cy="356281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BBB31EA2-0F38-4B0F-8E5F-1773858B527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747782"/>
            <a:ext cx="4434680" cy="356281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548" y="6747782"/>
            <a:ext cx="4434680" cy="356281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97FDE23E-4D5C-4616-A1AE-528B633EC2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901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4530"/>
            <a:ext cx="84201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87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76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712423"/>
            <a:ext cx="84201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52635"/>
            <a:ext cx="84201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23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949" y="1828802"/>
            <a:ext cx="4153767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2" y="1828802"/>
            <a:ext cx="4148138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424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49" y="1681852"/>
            <a:ext cx="4133129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49" y="2507552"/>
            <a:ext cx="4133129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851"/>
            <a:ext cx="4148138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7552"/>
            <a:ext cx="4148138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8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32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2"/>
            <a:ext cx="3194685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399"/>
            <a:ext cx="3194685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91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0"/>
            <a:ext cx="3194685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400"/>
            <a:ext cx="3194685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0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1828802"/>
            <a:ext cx="8420101" cy="43513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46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0362"/>
            <a:ext cx="2074069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49" y="360364"/>
            <a:ext cx="6222207" cy="58118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65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0" y="365760"/>
            <a:ext cx="84201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1828802"/>
            <a:ext cx="84201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949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05171F-4103-4939-A359-FC6A69DDB0E6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176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854BB-F4E8-4773-916B-BAF9DEA0B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25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02000" y="469900"/>
            <a:ext cx="356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DENVER LIC </a:t>
            </a:r>
            <a:r>
              <a:rPr lang="ko-KR" altLang="en-US" sz="2400" dirty="0" smtClean="0"/>
              <a:t>구조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정리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900" y="1181100"/>
            <a:ext cx="6896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문서 번호 </a:t>
            </a:r>
            <a:r>
              <a:rPr lang="en-US" altLang="ko-KR" sz="1400" dirty="0" smtClean="0"/>
              <a:t>: DDN-0432-0091-R04_Communications_Car_Monitoring_Network_ICD.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      : DDN-0432-0080-R03_MDS_Car_Monitoring_Network_ICD.</a:t>
            </a:r>
          </a:p>
          <a:p>
            <a:endParaRPr lang="en-US" altLang="ko-KR" sz="1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96900" y="2128798"/>
            <a:ext cx="913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시간 전송</a:t>
            </a:r>
            <a:r>
              <a:rPr lang="en-US" altLang="ko-KR" dirty="0" smtClean="0"/>
              <a:t>       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04335"/>
              </p:ext>
            </p:extLst>
          </p:nvPr>
        </p:nvGraphicFramePr>
        <p:xfrm>
          <a:off x="1041400" y="2611966"/>
          <a:ext cx="7480300" cy="977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/>
                <a:gridCol w="3708400"/>
              </a:tblGrid>
              <a:tr h="3598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UNVT_CDT_command</a:t>
                      </a:r>
                      <a:r>
                        <a:rPr lang="en-US" altLang="ko-KR" sz="1200" dirty="0" smtClean="0"/>
                        <a:t> nvi00CDTCommand 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MDS -&gt; CRA </a:t>
                      </a:r>
                      <a:r>
                        <a:rPr lang="ko-KR" altLang="en-US" sz="1200" dirty="0" smtClean="0"/>
                        <a:t>시간 요청  </a:t>
                      </a:r>
                      <a:r>
                        <a:rPr lang="en-US" altLang="ko-KR" sz="1200" dirty="0" smtClean="0"/>
                        <a:t>3600</a:t>
                      </a:r>
                      <a:r>
                        <a:rPr lang="ko-KR" altLang="en-US" sz="1200" dirty="0" smtClean="0"/>
                        <a:t>초 마다 요청 한다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SNVT_time_stamp</a:t>
                      </a:r>
                      <a:r>
                        <a:rPr lang="en-US" altLang="ko-KR" sz="1200" dirty="0" smtClean="0"/>
                        <a:t> nvo00TimeStamp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CRA -&gt; MDS </a:t>
                      </a:r>
                      <a:r>
                        <a:rPr lang="ko-KR" altLang="en-US" sz="1200" dirty="0" smtClean="0"/>
                        <a:t>시간 전달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75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5300" y="668298"/>
            <a:ext cx="913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MDS -&gt; CRA </a:t>
            </a:r>
            <a:r>
              <a:rPr lang="ko-KR" altLang="en-US" dirty="0" smtClean="0"/>
              <a:t>상태 정보 요청</a:t>
            </a:r>
            <a:r>
              <a:rPr lang="en-US" altLang="ko-KR" dirty="0" smtClean="0"/>
              <a:t>.   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10340"/>
              </p:ext>
            </p:extLst>
          </p:nvPr>
        </p:nvGraphicFramePr>
        <p:xfrm>
          <a:off x="1200150" y="1270000"/>
          <a:ext cx="7480300" cy="702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/>
                <a:gridCol w="3708400"/>
              </a:tblGrid>
              <a:tr h="3598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UNVT_subscribe</a:t>
                      </a:r>
                      <a:r>
                        <a:rPr lang="en-US" altLang="ko-KR" sz="1200" dirty="0" smtClean="0"/>
                        <a:t> nvi01Subscribe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MDS -&gt;</a:t>
                      </a:r>
                      <a:r>
                        <a:rPr lang="en-US" altLang="ko-KR" sz="1200" baseline="0" dirty="0" smtClean="0"/>
                        <a:t> CRA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각 장치 상태 정보는 요청 한다</a:t>
                      </a:r>
                      <a:r>
                        <a:rPr lang="en-US" altLang="ko-KR" sz="1200" dirty="0" smtClean="0"/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15863"/>
              </p:ext>
            </p:extLst>
          </p:nvPr>
        </p:nvGraphicFramePr>
        <p:xfrm>
          <a:off x="1187450" y="2095500"/>
          <a:ext cx="3448050" cy="1607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0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 dirty="0" err="1" smtClean="0">
                          <a:solidFill>
                            <a:schemeClr val="tx1"/>
                          </a:solidFill>
                        </a:rPr>
                        <a:t>UNVT_subscribe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 nvi01Subscribe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19854">
                <a:tc>
                  <a:txBody>
                    <a:bodyPr/>
                    <a:lstStyle/>
                    <a:p>
                      <a:r>
                        <a:rPr lang="ko-KR" altLang="en-US" sz="1200" dirty="0" smtClean="0"/>
                        <a:t>typedef struct</a:t>
                      </a:r>
                    </a:p>
                    <a:p>
                      <a:r>
                        <a:rPr lang="ko-KR" altLang="en-US" sz="1200" dirty="0" smtClean="0"/>
                        <a:t>{</a:t>
                      </a:r>
                    </a:p>
                    <a:p>
                      <a:r>
                        <a:rPr lang="ko-KR" altLang="en-US" sz="1200" dirty="0" smtClean="0"/>
                        <a:t>    unsigned short	param_id;</a:t>
                      </a:r>
                    </a:p>
                    <a:p>
                      <a:r>
                        <a:rPr lang="ko-KR" altLang="en-US" sz="1200" dirty="0" smtClean="0"/>
                        <a:t>    unsigned long	update_rate;</a:t>
                      </a:r>
                    </a:p>
                    <a:p>
                      <a:r>
                        <a:rPr lang="ko-KR" altLang="en-US" sz="1200" dirty="0" smtClean="0"/>
                        <a:t>} UNVT_subscribe;</a:t>
                      </a:r>
                    </a:p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64366"/>
              </p:ext>
            </p:extLst>
          </p:nvPr>
        </p:nvGraphicFramePr>
        <p:xfrm>
          <a:off x="1187450" y="3848100"/>
          <a:ext cx="7480300" cy="223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950"/>
                <a:gridCol w="2413000"/>
                <a:gridCol w="2673350"/>
              </a:tblGrid>
              <a:tr h="18288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param_id 내용 정리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Default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시간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초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상태 </a:t>
                      </a:r>
                      <a:r>
                        <a:rPr lang="ko-KR" altLang="en-US" sz="1200" dirty="0" err="1" smtClean="0"/>
                        <a:t>데이타</a:t>
                      </a:r>
                      <a:r>
                        <a:rPr lang="ko-KR" altLang="en-US" sz="1200" dirty="0" smtClean="0"/>
                        <a:t> 요청</a:t>
                      </a:r>
                      <a:r>
                        <a:rPr lang="en-US" altLang="ko-KR" sz="1200" dirty="0" smtClean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1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차량 구성 요청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2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C/I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위치 요청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6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3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차량 번호 요청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53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4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C/I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고장 난 위치 요청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55700" y="6167398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응답 시간은 </a:t>
            </a:r>
            <a:r>
              <a:rPr lang="ko-KR" altLang="en-US" b="1" dirty="0" smtClean="0"/>
              <a:t>update_rate 변수 값에 따라 유동 적으로 변경 될 수 있다</a:t>
            </a:r>
            <a:r>
              <a:rPr lang="en-US" altLang="ko-KR" b="1" dirty="0" smtClean="0"/>
              <a:t>.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dirty="0" smtClean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35690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668298"/>
            <a:ext cx="913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CRA -&gt; MDS </a:t>
            </a:r>
            <a:r>
              <a:rPr lang="ko-KR" altLang="en-US" dirty="0" smtClean="0"/>
              <a:t>정보 전송</a:t>
            </a:r>
            <a:r>
              <a:rPr lang="en-US" altLang="ko-KR" dirty="0" smtClean="0"/>
              <a:t>.   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654809"/>
              </p:ext>
            </p:extLst>
          </p:nvPr>
        </p:nvGraphicFramePr>
        <p:xfrm>
          <a:off x="1200150" y="1270000"/>
          <a:ext cx="7480300" cy="702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/>
                <a:gridCol w="3708400"/>
              </a:tblGrid>
              <a:tr h="3598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UNVT_parameter</a:t>
                      </a:r>
                      <a:r>
                        <a:rPr lang="en-US" altLang="ko-KR" sz="1200" dirty="0" smtClean="0"/>
                        <a:t> nvo01Parameter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CRA -&gt;</a:t>
                      </a:r>
                      <a:r>
                        <a:rPr lang="en-US" altLang="ko-KR" sz="1200" baseline="0" dirty="0" smtClean="0"/>
                        <a:t> MDS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로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정보 전송</a:t>
                      </a:r>
                      <a:r>
                        <a:rPr lang="en-US" altLang="ko-KR" sz="1200" baseline="0" dirty="0" smtClean="0"/>
                        <a:t>.</a:t>
                      </a:r>
                      <a:r>
                        <a:rPr lang="ko-KR" altLang="en-US" sz="1200" baseline="0" dirty="0" smtClean="0"/>
                        <a:t> </a:t>
                      </a:r>
                      <a:endParaRPr lang="en-US" altLang="ko-KR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709764"/>
              </p:ext>
            </p:extLst>
          </p:nvPr>
        </p:nvGraphicFramePr>
        <p:xfrm>
          <a:off x="1187450" y="2095500"/>
          <a:ext cx="3625850" cy="142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5850"/>
              </a:tblGrid>
              <a:tr h="4191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u="sng" dirty="0" err="1" smtClean="0">
                          <a:solidFill>
                            <a:schemeClr val="tx1"/>
                          </a:solidFill>
                        </a:rPr>
                        <a:t>UNVT_parameter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</a:rPr>
                        <a:t> nvo01Parameter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19854">
                <a:tc>
                  <a:txBody>
                    <a:bodyPr/>
                    <a:lstStyle/>
                    <a:p>
                      <a:r>
                        <a:rPr lang="en-US" altLang="ko-KR" sz="1200" dirty="0" err="1" smtClean="0"/>
                        <a:t>typedef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en-US" altLang="ko-KR" sz="1200" dirty="0" err="1" smtClean="0"/>
                        <a:t>struct</a:t>
                      </a:r>
                      <a:endParaRPr lang="en-US" altLang="ko-KR" sz="1200" dirty="0" smtClean="0"/>
                    </a:p>
                    <a:p>
                      <a:r>
                        <a:rPr lang="en-US" altLang="ko-KR" sz="1200" dirty="0" smtClean="0"/>
                        <a:t>{</a:t>
                      </a:r>
                    </a:p>
                    <a:p>
                      <a:r>
                        <a:rPr lang="en-US" altLang="ko-KR" sz="1200" dirty="0" smtClean="0"/>
                        <a:t>    unsigned short	</a:t>
                      </a:r>
                      <a:r>
                        <a:rPr lang="en-US" altLang="ko-KR" sz="1200" dirty="0" err="1" smtClean="0"/>
                        <a:t>param_id</a:t>
                      </a:r>
                      <a:r>
                        <a:rPr lang="en-US" altLang="ko-KR" sz="1200" dirty="0" smtClean="0"/>
                        <a:t>;</a:t>
                      </a:r>
                    </a:p>
                    <a:p>
                      <a:r>
                        <a:rPr lang="en-US" altLang="ko-KR" sz="1200" dirty="0" smtClean="0"/>
                        <a:t>    signed long		</a:t>
                      </a:r>
                      <a:r>
                        <a:rPr lang="en-US" altLang="ko-KR" sz="1200" dirty="0" err="1" smtClean="0"/>
                        <a:t>param_value</a:t>
                      </a:r>
                      <a:r>
                        <a:rPr lang="en-US" altLang="ko-KR" sz="1200" dirty="0" smtClean="0"/>
                        <a:t>;</a:t>
                      </a:r>
                    </a:p>
                    <a:p>
                      <a:r>
                        <a:rPr lang="en-US" altLang="ko-KR" sz="1200" dirty="0" smtClean="0"/>
                        <a:t>} </a:t>
                      </a:r>
                      <a:r>
                        <a:rPr lang="en-US" altLang="ko-KR" sz="1200" dirty="0" err="1" smtClean="0"/>
                        <a:t>UNVT_parameter</a:t>
                      </a:r>
                      <a:r>
                        <a:rPr lang="en-US" altLang="ko-KR" sz="1200" dirty="0" smtClean="0"/>
                        <a:t>;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774175"/>
              </p:ext>
            </p:extLst>
          </p:nvPr>
        </p:nvGraphicFramePr>
        <p:xfrm>
          <a:off x="4912980" y="2091306"/>
          <a:ext cx="3880146" cy="195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314"/>
                <a:gridCol w="2392832"/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param_id 내용 정리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차량 구성 응답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88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2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C/I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위치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응답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3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차량 번호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</a:rPr>
                        <a:t> 응답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66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param_id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= 4</a:t>
                      </a:r>
                      <a:endParaRPr lang="ko-KR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C/I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고장 난 위치 응답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5700" y="6231196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아래 내용 참고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“QUESTER TANGENT DDD” 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문서</a:t>
            </a:r>
            <a:r>
              <a:rPr lang="en-US" altLang="ko-KR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참고</a:t>
            </a:r>
            <a:r>
              <a:rPr lang="en-US" altLang="ko-KR" b="1" dirty="0" smtClean="0"/>
              <a:t>.</a:t>
            </a:r>
            <a:r>
              <a:rPr lang="ko-KR" altLang="en-US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dirty="0" smtClean="0"/>
              <a:t>    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853122"/>
              </p:ext>
            </p:extLst>
          </p:nvPr>
        </p:nvGraphicFramePr>
        <p:xfrm>
          <a:off x="1155700" y="4136066"/>
          <a:ext cx="757363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5063"/>
                <a:gridCol w="5018567"/>
              </a:tblGrid>
              <a:tr h="339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</a:rPr>
                        <a:t>예제 소스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91891">
                <a:tc>
                  <a:txBody>
                    <a:bodyPr/>
                    <a:lstStyle/>
                    <a:p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typedef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struct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{ 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char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stx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unsigned short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Cmd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unsigned short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MagCode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unsigned short Length;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char Data[32]; 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}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InData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InData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InBuffer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nvo01Parameter.param_id=1;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nvo01Parameter.param_value=</a:t>
                      </a: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make_long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 smtClean="0">
                          <a:solidFill>
                            <a:srgbClr val="FF0000"/>
                          </a:solidFill>
                        </a:rPr>
                        <a:t>InBuffer.Data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[1],</a:t>
                      </a:r>
                      <a:r>
                        <a:rPr lang="en-US" altLang="ko-KR" sz="1200" dirty="0" err="1" smtClean="0">
                          <a:solidFill>
                            <a:srgbClr val="FF0000"/>
                          </a:solidFill>
                        </a:rPr>
                        <a:t>InBuffer.Data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[0]);</a:t>
                      </a:r>
                    </a:p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propagate(nvo01Parameter);</a:t>
                      </a:r>
                    </a:p>
                    <a:p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73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206461"/>
              </p:ext>
            </p:extLst>
          </p:nvPr>
        </p:nvGraphicFramePr>
        <p:xfrm>
          <a:off x="457200" y="1016000"/>
          <a:ext cx="9004300" cy="567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185"/>
                <a:gridCol w="863094"/>
                <a:gridCol w="920894"/>
                <a:gridCol w="582632"/>
                <a:gridCol w="509260"/>
                <a:gridCol w="718729"/>
                <a:gridCol w="2618368"/>
                <a:gridCol w="2452138"/>
              </a:tblGrid>
              <a:tr h="4053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ID #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Name (max 60 characters)  incl. Units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Available Update Rate (</a:t>
                      </a:r>
                      <a:r>
                        <a:rPr lang="en-US" sz="1000" dirty="0" err="1">
                          <a:effectLst/>
                        </a:rPr>
                        <a:t>msec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Scale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Offset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Decimal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Notes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Help General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7365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Train Configuration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2000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0: 2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1: 4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2: 6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3: 8 cars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0: 2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1: 4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2: 6 cars;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3: 8 cars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999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C/I Position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2000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 bits are required and corresponding bit for C/I</a:t>
                      </a:r>
                      <a:r>
                        <a:rPr lang="ko-KR" sz="1000" dirty="0">
                          <a:effectLst/>
                        </a:rPr>
                        <a:t>’</a:t>
                      </a:r>
                      <a:r>
                        <a:rPr lang="en-US" sz="1000" dirty="0">
                          <a:effectLst/>
                        </a:rPr>
                        <a:t>s position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and other bits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0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to indicate the position. The following table shows an example when the C/I is installed in No.2 car.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0: Car 1;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1: Car 2;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2: Car 3;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3: Car 4;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4: Car 5;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5: Car 6;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6: Car 7;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7: Car 8.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 bits are required and corresponding bit for C/I</a:t>
                      </a:r>
                      <a:r>
                        <a:rPr lang="ko-KR" sz="1000" dirty="0">
                          <a:effectLst/>
                        </a:rPr>
                        <a:t>’</a:t>
                      </a:r>
                      <a:r>
                        <a:rPr lang="en-US" sz="1000" dirty="0">
                          <a:effectLst/>
                        </a:rPr>
                        <a:t>s position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and other bits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0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to indicate the position. The following table shows an example when the C/I is installed in No.2 car.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0: Car 1;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1: Car 2;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2: Car 3;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3: Car 4;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4: Car 5;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5: Car 6;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6: Car 7;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7: Car 8.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Car Number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60000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Car number coming from the ATC-PTC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Car number coming from the ATC-PTC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Other C/I Fault Condition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2000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ko-KR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 bits are required and corresponding bit for faulty C/I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and bits for healthy C/I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0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. When the car is not connected to the train, the corresponding bit such as Bit5 in 2 cars train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0: Car 1;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1: Car 2;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2: Car 3;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3: Car 4;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4: Car 5;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5: Car 6;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6: Car 7;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7: Car 8.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 bits are required and corresponding bit for faulty C/I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 and bits for healthy C/I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0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. When the car is not connected to the train, the corresponding bit such as Bit5 in 2 cars train shall be </a:t>
                      </a:r>
                      <a:r>
                        <a:rPr lang="ko-KR" sz="1000" dirty="0">
                          <a:effectLst/>
                        </a:rPr>
                        <a:t>“</a:t>
                      </a:r>
                      <a:r>
                        <a:rPr lang="en-US" sz="1000" dirty="0">
                          <a:effectLst/>
                        </a:rPr>
                        <a:t>1</a:t>
                      </a:r>
                      <a:r>
                        <a:rPr lang="ko-KR" sz="1000" dirty="0">
                          <a:effectLst/>
                        </a:rPr>
                        <a:t>”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0: Car 1;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1: Car 2;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2: Car 3;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3: Car 4;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4: Car 5;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5: Car 6;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6: Car 7;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Bit 7: Car 8.</a:t>
                      </a:r>
                      <a:endParaRPr lang="ko-K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746" marR="6746" marT="67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38300" y="266700"/>
            <a:ext cx="631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QUESTER TANGENT </a:t>
            </a:r>
            <a:r>
              <a:rPr lang="en-US" altLang="ko-KR" sz="2000" b="1" dirty="0" smtClean="0"/>
              <a:t>DDD </a:t>
            </a:r>
            <a:r>
              <a:rPr lang="ko-KR" altLang="en-US" sz="2000" b="1" dirty="0" smtClean="0"/>
              <a:t>문서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내용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723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5300" y="668298"/>
            <a:ext cx="913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MDS -&gt; CRA </a:t>
            </a:r>
            <a:r>
              <a:rPr lang="ko-KR" altLang="en-US" dirty="0" smtClean="0"/>
              <a:t>상시 정보 전송</a:t>
            </a:r>
            <a:r>
              <a:rPr lang="en-US" altLang="ko-KR" dirty="0" smtClean="0"/>
              <a:t>.   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394079"/>
              </p:ext>
            </p:extLst>
          </p:nvPr>
        </p:nvGraphicFramePr>
        <p:xfrm>
          <a:off x="1200150" y="1270000"/>
          <a:ext cx="7480300" cy="702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/>
                <a:gridCol w="3708400"/>
              </a:tblGrid>
              <a:tr h="3598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변수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69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SNVT_state_64 nvi01CDTStBits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MDS</a:t>
                      </a:r>
                      <a:r>
                        <a:rPr lang="en-US" altLang="ko-KR" sz="1200" baseline="0" dirty="0" smtClean="0"/>
                        <a:t> -&gt; CRA </a:t>
                      </a:r>
                      <a:r>
                        <a:rPr lang="ko-KR" altLang="en-US" sz="1200" baseline="0" dirty="0" smtClean="0"/>
                        <a:t>상시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정보 전송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en-US" altLang="ko-KR" sz="1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06" y="2685844"/>
            <a:ext cx="6769987" cy="3511408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555306" y="2408845"/>
            <a:ext cx="5919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※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DDN-0432-0091-R04_Communications_Car_Monitoring_Network_ICD 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문서 참조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212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552</Words>
  <Application>Microsoft Office PowerPoint</Application>
  <PresentationFormat>A4 Paper (210x297 mm)</PresentationFormat>
  <Paragraphs>124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굴림</vt:lpstr>
      <vt:lpstr>맑은 고딕</vt:lpstr>
      <vt:lpstr>Calibri</vt:lpstr>
      <vt:lpstr>Calibri Light</vt:lpstr>
      <vt:lpstr>Times New Roman</vt:lpstr>
      <vt:lpstr>Traditional Arabic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장덕수</dc:creator>
  <cp:lastModifiedBy>장덕수</cp:lastModifiedBy>
  <cp:revision>11</cp:revision>
  <cp:lastPrinted>2012-09-24T13:04:10Z</cp:lastPrinted>
  <dcterms:created xsi:type="dcterms:W3CDTF">2012-09-24T11:46:50Z</dcterms:created>
  <dcterms:modified xsi:type="dcterms:W3CDTF">2013-01-15T06:24:36Z</dcterms:modified>
</cp:coreProperties>
</file>