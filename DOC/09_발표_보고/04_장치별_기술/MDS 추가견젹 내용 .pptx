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8" r:id="rId2"/>
    <p:sldId id="261" r:id="rId3"/>
    <p:sldId id="262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600" y="-108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03AE7A-C11E-47DF-B27A-A78F2B8DE606}" type="datetimeFigureOut">
              <a:rPr lang="ko-KR" altLang="en-US" smtClean="0"/>
              <a:t>2012-05-16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3C24A3-7517-4EA3-AD03-2B2716851A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7883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2363" y="796925"/>
            <a:ext cx="4616450" cy="3195638"/>
          </a:xfrm>
          <a:solidFill>
            <a:srgbClr val="FFFFFF"/>
          </a:solidFill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6648" y="4355704"/>
            <a:ext cx="5024704" cy="413586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5814" tIns="42907" rIns="85814" bIns="42907"/>
          <a:lstStyle/>
          <a:p>
            <a:pPr eaLnBrk="1" hangingPunct="1"/>
            <a:endParaRPr lang="ko-KR" altLang="ko-KR" smtClean="0">
              <a:latin typeface="굴림" charset="-127"/>
              <a:ea typeface="굴림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2363" y="796925"/>
            <a:ext cx="4616450" cy="3195638"/>
          </a:xfrm>
          <a:solidFill>
            <a:srgbClr val="FFFFFF"/>
          </a:solidFill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6648" y="4355704"/>
            <a:ext cx="5024704" cy="413586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5814" tIns="42907" rIns="85814" bIns="42907"/>
          <a:lstStyle/>
          <a:p>
            <a:pPr eaLnBrk="1" hangingPunct="1"/>
            <a:endParaRPr lang="ko-KR" altLang="ko-KR" smtClean="0">
              <a:latin typeface="굴림" charset="-127"/>
              <a:ea typeface="굴림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2363" y="796925"/>
            <a:ext cx="4616450" cy="3195638"/>
          </a:xfrm>
          <a:solidFill>
            <a:srgbClr val="FFFFFF"/>
          </a:solidFill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6648" y="4355704"/>
            <a:ext cx="5024704" cy="413586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5814" tIns="42907" rIns="85814" bIns="42907"/>
          <a:lstStyle/>
          <a:p>
            <a:pPr eaLnBrk="1" hangingPunct="1"/>
            <a:endParaRPr lang="ko-KR" altLang="ko-KR" smtClean="0">
              <a:latin typeface="굴림" charset="-127"/>
              <a:ea typeface="굴림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2012-05-16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2012-05-16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2012-05-16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2012-05-16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2012-05-16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2012-05-16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2012-05-16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2012-05-16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2012-05-16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2012-05-16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2012-05-16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alphaModFix amt="3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B811B-9147-4F45-B4EC-AB69EFD27CA6}" type="datetimeFigureOut">
              <a:rPr lang="ko-KR" altLang="en-US" smtClean="0"/>
              <a:pPr/>
              <a:t>2012-05-16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4" name="그룹 3"/>
          <p:cNvGrpSpPr/>
          <p:nvPr/>
        </p:nvGrpSpPr>
        <p:grpSpPr>
          <a:xfrm>
            <a:off x="0" y="-1"/>
            <a:ext cx="9906000" cy="6858001"/>
            <a:chOff x="0" y="-1"/>
            <a:chExt cx="9144000" cy="6858001"/>
          </a:xfrm>
        </p:grpSpPr>
        <p:sp>
          <p:nvSpPr>
            <p:cNvPr id="5" name="직사각형 4"/>
            <p:cNvSpPr/>
            <p:nvPr/>
          </p:nvSpPr>
          <p:spPr>
            <a:xfrm>
              <a:off x="0" y="6165304"/>
              <a:ext cx="9144000" cy="692696"/>
            </a:xfrm>
            <a:prstGeom prst="rect">
              <a:avLst/>
            </a:prstGeom>
            <a:solidFill>
              <a:srgbClr val="2251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" name="그림 5" descr="배경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9144000" cy="6669361"/>
            </a:xfrm>
            <a:prstGeom prst="rect">
              <a:avLst/>
            </a:prstGeom>
          </p:spPr>
        </p:pic>
        <p:pic>
          <p:nvPicPr>
            <p:cNvPr id="7" name="그림 6" descr="영문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9512" y="188640"/>
              <a:ext cx="1932072" cy="569363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2483768" y="44624"/>
              <a:ext cx="662473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4800" b="1" dirty="0" smtClean="0">
                  <a:solidFill>
                    <a:schemeClr val="bg1"/>
                  </a:solidFill>
                  <a:latin typeface="Calibri" pitchFamily="34" charset="0"/>
                </a:rPr>
                <a:t>MDS Interface </a:t>
              </a:r>
              <a:r>
                <a:rPr lang="ko-KR" altLang="en-US" sz="4800" b="1" dirty="0" smtClean="0">
                  <a:solidFill>
                    <a:schemeClr val="bg1"/>
                  </a:solidFill>
                  <a:latin typeface="Calibri" pitchFamily="34" charset="0"/>
                </a:rPr>
                <a:t>내용 정리</a:t>
              </a:r>
              <a:endParaRPr lang="ko-KR" altLang="en-US" sz="4800" b="1" dirty="0">
                <a:solidFill>
                  <a:schemeClr val="bg1"/>
                </a:solidFill>
                <a:latin typeface="Calibri" pitchFamily="34" charset="0"/>
              </a:endParaRPr>
            </a:p>
          </p:txBody>
        </p:sp>
      </p:grpSp>
      <p:sp>
        <p:nvSpPr>
          <p:cNvPr id="9" name="제목 1"/>
          <p:cNvSpPr txBox="1">
            <a:spLocks/>
          </p:cNvSpPr>
          <p:nvPr/>
        </p:nvSpPr>
        <p:spPr>
          <a:xfrm>
            <a:off x="2378714" y="4797153"/>
            <a:ext cx="7098789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dirty="0" smtClean="0"/>
              <a:t>2012. 01. </a:t>
            </a:r>
            <a:r>
              <a:rPr lang="en-US" altLang="ko-KR" smtClean="0"/>
              <a:t>30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35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0" y="6373930"/>
            <a:ext cx="9906000" cy="480130"/>
            <a:chOff x="0" y="6373930"/>
            <a:chExt cx="9144000" cy="480130"/>
          </a:xfrm>
        </p:grpSpPr>
        <p:sp>
          <p:nvSpPr>
            <p:cNvPr id="19" name="직사각형 18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0" name="그림 19" descr="영문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sp>
          <p:nvSpPr>
            <p:cNvPr id="22" name="직사각형 21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72" name="제목 1"/>
          <p:cNvSpPr txBox="1">
            <a:spLocks/>
          </p:cNvSpPr>
          <p:nvPr/>
        </p:nvSpPr>
        <p:spPr>
          <a:xfrm>
            <a:off x="740532" y="44625"/>
            <a:ext cx="84201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 smtClean="0"/>
              <a:t>MDS Interface.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302" y="1259470"/>
            <a:ext cx="6882606" cy="506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36508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35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0" y="6373930"/>
            <a:ext cx="9906000" cy="480130"/>
            <a:chOff x="0" y="6373930"/>
            <a:chExt cx="9144000" cy="480130"/>
          </a:xfrm>
        </p:grpSpPr>
        <p:sp>
          <p:nvSpPr>
            <p:cNvPr id="19" name="직사각형 18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0" name="그림 19" descr="영문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sp>
          <p:nvSpPr>
            <p:cNvPr id="22" name="직사각형 21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72" name="제목 1"/>
          <p:cNvSpPr txBox="1">
            <a:spLocks/>
          </p:cNvSpPr>
          <p:nvPr/>
        </p:nvSpPr>
        <p:spPr>
          <a:xfrm>
            <a:off x="740532" y="44625"/>
            <a:ext cx="84201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smtClean="0"/>
              <a:t>추가</a:t>
            </a:r>
            <a:r>
              <a:rPr lang="en-US" altLang="ko-KR" dirty="0"/>
              <a:t> </a:t>
            </a:r>
            <a:r>
              <a:rPr lang="ko-KR" altLang="en-US" dirty="0" smtClean="0"/>
              <a:t>견적</a:t>
            </a:r>
            <a:r>
              <a:rPr lang="en-US" altLang="ko-KR" dirty="0" smtClean="0"/>
              <a:t> </a:t>
            </a:r>
            <a:r>
              <a:rPr lang="ko-KR" altLang="en-US" dirty="0" smtClean="0"/>
              <a:t>내용 정리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130575" y="1916833"/>
            <a:ext cx="748883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 smtClean="0"/>
              <a:t>LIC </a:t>
            </a:r>
            <a:r>
              <a:rPr lang="ko-KR" altLang="en-US" dirty="0" smtClean="0"/>
              <a:t>기능</a:t>
            </a:r>
            <a:r>
              <a:rPr lang="en-US" altLang="ko-KR" dirty="0" smtClean="0"/>
              <a:t> </a:t>
            </a:r>
            <a:r>
              <a:rPr lang="ko-KR" altLang="en-US" dirty="0" smtClean="0"/>
              <a:t>추가</a:t>
            </a:r>
            <a:r>
              <a:rPr lang="en-US" altLang="ko-KR" dirty="0" smtClean="0"/>
              <a:t>.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-&gt; MDS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Interface </a:t>
            </a:r>
            <a:r>
              <a:rPr lang="ko-KR" altLang="en-US" dirty="0" smtClean="0"/>
              <a:t>추가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en-US" altLang="ko-KR" dirty="0" smtClean="0"/>
              <a:t>MDS </a:t>
            </a:r>
            <a:r>
              <a:rPr lang="ko-KR" altLang="en-US" dirty="0" smtClean="0"/>
              <a:t>위치 정보 전달 </a:t>
            </a:r>
            <a:r>
              <a:rPr lang="ko-KR" altLang="en-US" dirty="0" err="1" smtClean="0"/>
              <a:t>로직</a:t>
            </a:r>
            <a:r>
              <a:rPr lang="ko-KR" altLang="en-US" dirty="0" smtClean="0"/>
              <a:t> 추가</a:t>
            </a:r>
            <a:r>
              <a:rPr lang="en-US" altLang="ko-KR" dirty="0" smtClean="0"/>
              <a:t>.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-&gt; CRA – CRA</a:t>
            </a:r>
            <a:r>
              <a:rPr lang="ko-KR" altLang="en-US" dirty="0" smtClean="0"/>
              <a:t>간 차량 정보 전달 </a:t>
            </a:r>
            <a:r>
              <a:rPr lang="ko-KR" altLang="en-US" dirty="0" err="1" smtClean="0"/>
              <a:t>로직에</a:t>
            </a:r>
            <a:r>
              <a:rPr lang="ko-KR" altLang="en-US" dirty="0" smtClean="0"/>
              <a:t> </a:t>
            </a:r>
            <a:r>
              <a:rPr lang="en-US" altLang="ko-KR" dirty="0" smtClean="0"/>
              <a:t>CI </a:t>
            </a:r>
            <a:r>
              <a:rPr lang="ko-KR" altLang="en-US" dirty="0" smtClean="0"/>
              <a:t>고장 </a:t>
            </a:r>
            <a:r>
              <a:rPr lang="ko-KR" altLang="en-US" dirty="0" err="1" smtClean="0"/>
              <a:t>로직</a:t>
            </a:r>
            <a:r>
              <a:rPr lang="ko-KR" altLang="en-US" dirty="0" smtClean="0"/>
              <a:t> 추가</a:t>
            </a:r>
            <a:r>
              <a:rPr lang="en-US" altLang="ko-KR" dirty="0" smtClean="0"/>
              <a:t>.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-&gt; </a:t>
            </a:r>
            <a:r>
              <a:rPr lang="ko-KR" altLang="en-US" dirty="0" smtClean="0"/>
              <a:t>각 차량 위치 확인 및 고장 정보 전달 </a:t>
            </a:r>
            <a:r>
              <a:rPr lang="ko-KR" altLang="en-US" dirty="0" err="1" smtClean="0"/>
              <a:t>로직</a:t>
            </a:r>
            <a:r>
              <a:rPr lang="ko-KR" altLang="en-US" dirty="0" smtClean="0"/>
              <a:t> 추가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 smtClean="0"/>
              <a:t>CCP </a:t>
            </a:r>
            <a:r>
              <a:rPr lang="ko-KR" altLang="en-US" dirty="0" smtClean="0"/>
              <a:t>화면 구성 추가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    -&gt; </a:t>
            </a:r>
            <a:r>
              <a:rPr lang="ko-KR" altLang="en-US" dirty="0" smtClean="0"/>
              <a:t>차량 정보 전달 상태를 확인 할 수 있는 </a:t>
            </a:r>
            <a:r>
              <a:rPr lang="en-US" altLang="ko-KR" dirty="0" smtClean="0"/>
              <a:t>UI </a:t>
            </a:r>
            <a:r>
              <a:rPr lang="ko-KR" altLang="en-US" dirty="0" smtClean="0"/>
              <a:t>추가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81942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9"/>
          <p:cNvSpPr>
            <a:spLocks noChangeArrowheads="1"/>
          </p:cNvSpPr>
          <p:nvPr/>
        </p:nvSpPr>
        <p:spPr bwMode="auto">
          <a:xfrm>
            <a:off x="193675" y="256352"/>
            <a:ext cx="82518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457200" indent="-457200" algn="ctr" eaLnBrk="1" latinLnBrk="1" hangingPunct="1"/>
            <a:r>
              <a:rPr lang="en-US" altLang="ko-KR" sz="20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Denver Eagle EMU Project</a:t>
            </a:r>
          </a:p>
        </p:txBody>
      </p:sp>
      <p:sp>
        <p:nvSpPr>
          <p:cNvPr id="3076" name="Rectangle 11"/>
          <p:cNvSpPr>
            <a:spLocks noChangeArrowheads="1"/>
          </p:cNvSpPr>
          <p:nvPr/>
        </p:nvSpPr>
        <p:spPr bwMode="auto">
          <a:xfrm>
            <a:off x="122238" y="823913"/>
            <a:ext cx="6767512" cy="37306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376238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- CCP </a:t>
            </a:r>
            <a:r>
              <a:rPr lang="ko-KR" altLang="en-US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를</a:t>
            </a: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</a:t>
            </a:r>
            <a:r>
              <a:rPr lang="ko-KR" altLang="en-US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통한 데이터 입력 방식 및 피드백 방법 </a:t>
            </a: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– 1.</a:t>
            </a:r>
          </a:p>
        </p:txBody>
      </p:sp>
      <p:sp>
        <p:nvSpPr>
          <p:cNvPr id="3077" name="Rectangle 11"/>
          <p:cNvSpPr>
            <a:spLocks noChangeArrowheads="1"/>
          </p:cNvSpPr>
          <p:nvPr/>
        </p:nvSpPr>
        <p:spPr bwMode="auto">
          <a:xfrm>
            <a:off x="1489075" y="5084763"/>
            <a:ext cx="1766888" cy="2873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Lonworks    Network</a:t>
            </a:r>
          </a:p>
        </p:txBody>
      </p:sp>
      <p:sp>
        <p:nvSpPr>
          <p:cNvPr id="3078" name="Rectangle 11"/>
          <p:cNvSpPr>
            <a:spLocks noChangeArrowheads="1"/>
          </p:cNvSpPr>
          <p:nvPr/>
        </p:nvSpPr>
        <p:spPr bwMode="auto">
          <a:xfrm>
            <a:off x="1450975" y="3609975"/>
            <a:ext cx="1766888" cy="2873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Lonworks     Network</a:t>
            </a:r>
          </a:p>
        </p:txBody>
      </p:sp>
      <p:sp>
        <p:nvSpPr>
          <p:cNvPr id="3079" name="Rectangle 11"/>
          <p:cNvSpPr>
            <a:spLocks noChangeArrowheads="1"/>
          </p:cNvSpPr>
          <p:nvPr/>
        </p:nvSpPr>
        <p:spPr bwMode="auto">
          <a:xfrm>
            <a:off x="1955800" y="2298700"/>
            <a:ext cx="1143000" cy="28733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RS     485</a:t>
            </a:r>
          </a:p>
        </p:txBody>
      </p:sp>
      <p:sp>
        <p:nvSpPr>
          <p:cNvPr id="3080" name="Rectangle 11"/>
          <p:cNvSpPr>
            <a:spLocks noChangeArrowheads="1"/>
          </p:cNvSpPr>
          <p:nvPr/>
        </p:nvSpPr>
        <p:spPr bwMode="auto">
          <a:xfrm>
            <a:off x="1276350" y="1277938"/>
            <a:ext cx="2524125" cy="2873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CCP (Comm. Control Panel)</a:t>
            </a:r>
          </a:p>
        </p:txBody>
      </p:sp>
      <p:sp>
        <p:nvSpPr>
          <p:cNvPr id="3081" name="Rectangle 11"/>
          <p:cNvSpPr>
            <a:spLocks noChangeArrowheads="1"/>
          </p:cNvSpPr>
          <p:nvPr/>
        </p:nvSpPr>
        <p:spPr bwMode="auto">
          <a:xfrm>
            <a:off x="2006600" y="3986213"/>
            <a:ext cx="936625" cy="2873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MDS (CDT)</a:t>
            </a:r>
          </a:p>
        </p:txBody>
      </p:sp>
      <p:pic>
        <p:nvPicPr>
          <p:cNvPr id="3082" name="Picture 29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2775" y="4217988"/>
            <a:ext cx="1330325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83" name="Rectangle 11"/>
          <p:cNvSpPr>
            <a:spLocks noChangeArrowheads="1"/>
          </p:cNvSpPr>
          <p:nvPr/>
        </p:nvSpPr>
        <p:spPr bwMode="auto">
          <a:xfrm>
            <a:off x="1863725" y="5481638"/>
            <a:ext cx="1368425" cy="2873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Converter/Inverter</a:t>
            </a:r>
          </a:p>
        </p:txBody>
      </p:sp>
      <p:pic>
        <p:nvPicPr>
          <p:cNvPr id="3084" name="Picture 29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850" y="5697538"/>
            <a:ext cx="1584325" cy="755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085" name="Line 299"/>
          <p:cNvSpPr>
            <a:spLocks noChangeShapeType="1"/>
          </p:cNvSpPr>
          <p:nvPr/>
        </p:nvSpPr>
        <p:spPr bwMode="auto">
          <a:xfrm rot="5400000">
            <a:off x="2243138" y="2436813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3086" name="Line 300"/>
          <p:cNvSpPr>
            <a:spLocks noChangeShapeType="1"/>
          </p:cNvSpPr>
          <p:nvPr/>
        </p:nvSpPr>
        <p:spPr bwMode="auto">
          <a:xfrm rot="-5400000">
            <a:off x="2316163" y="2419350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3087" name="Line 301"/>
          <p:cNvSpPr>
            <a:spLocks noChangeShapeType="1"/>
          </p:cNvSpPr>
          <p:nvPr/>
        </p:nvSpPr>
        <p:spPr bwMode="auto">
          <a:xfrm rot="5400000">
            <a:off x="2238375" y="3743325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3088" name="Line 302"/>
          <p:cNvSpPr>
            <a:spLocks noChangeShapeType="1"/>
          </p:cNvSpPr>
          <p:nvPr/>
        </p:nvSpPr>
        <p:spPr bwMode="auto">
          <a:xfrm rot="-5400000">
            <a:off x="2311400" y="3725863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3089" name="Line 303"/>
          <p:cNvSpPr>
            <a:spLocks noChangeShapeType="1"/>
          </p:cNvSpPr>
          <p:nvPr/>
        </p:nvSpPr>
        <p:spPr bwMode="auto">
          <a:xfrm rot="5400000">
            <a:off x="2243138" y="5254625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3090" name="Line 304"/>
          <p:cNvSpPr>
            <a:spLocks noChangeShapeType="1"/>
          </p:cNvSpPr>
          <p:nvPr/>
        </p:nvSpPr>
        <p:spPr bwMode="auto">
          <a:xfrm rot="-5400000">
            <a:off x="2316163" y="5237163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3091" name="Line 328"/>
          <p:cNvSpPr>
            <a:spLocks noChangeShapeType="1"/>
          </p:cNvSpPr>
          <p:nvPr/>
        </p:nvSpPr>
        <p:spPr bwMode="auto">
          <a:xfrm rot="5400000">
            <a:off x="2170113" y="3744913"/>
            <a:ext cx="4508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3092" name="Line 329"/>
          <p:cNvSpPr>
            <a:spLocks noChangeShapeType="1"/>
          </p:cNvSpPr>
          <p:nvPr/>
        </p:nvSpPr>
        <p:spPr bwMode="auto">
          <a:xfrm rot="5400000">
            <a:off x="2170113" y="5253038"/>
            <a:ext cx="4508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3093" name="Line 330"/>
          <p:cNvSpPr>
            <a:spLocks noChangeShapeType="1"/>
          </p:cNvSpPr>
          <p:nvPr/>
        </p:nvSpPr>
        <p:spPr bwMode="auto">
          <a:xfrm rot="5400000">
            <a:off x="2166938" y="2439988"/>
            <a:ext cx="4508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pic>
        <p:nvPicPr>
          <p:cNvPr id="3094" name="Picture 33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5813" y="1519238"/>
            <a:ext cx="915987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95" name="Picture 341"/>
          <p:cNvPicPr preferRelativeResize="0"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2913" y="1531938"/>
            <a:ext cx="546100" cy="35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096" name="Rectangle 11"/>
          <p:cNvSpPr>
            <a:spLocks noChangeArrowheads="1"/>
          </p:cNvSpPr>
          <p:nvPr/>
        </p:nvSpPr>
        <p:spPr bwMode="auto">
          <a:xfrm>
            <a:off x="193675" y="1601788"/>
            <a:ext cx="1716088" cy="1042987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376238" lvl="3" indent="-376238"/>
            <a:r>
              <a:rPr lang="en-US" altLang="ko-KR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Information for car network</a:t>
            </a:r>
          </a:p>
          <a:p>
            <a:pPr marL="376238" lvl="3" indent="-376238"/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(1) Train configuration info.(2 bits)</a:t>
            </a:r>
          </a:p>
          <a:p>
            <a:pPr marL="376238" lvl="3" indent="-376238"/>
            <a:r>
              <a:rPr lang="en-US" altLang="ko-KR" sz="800" b="1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00 ; </a:t>
            </a:r>
            <a:r>
              <a:rPr lang="en-US" altLang="ko-KR" sz="800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2-cars</a:t>
            </a:r>
          </a:p>
          <a:p>
            <a:pPr marL="376238" lvl="3" indent="-376238"/>
            <a:r>
              <a:rPr lang="en-US" altLang="ko-KR" sz="800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01 ; </a:t>
            </a:r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4-cars</a:t>
            </a:r>
          </a:p>
          <a:p>
            <a:pPr marL="376238" lvl="3" indent="-376238"/>
            <a:r>
              <a:rPr lang="en-US" altLang="ko-KR" sz="800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10</a:t>
            </a:r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; 6-cars</a:t>
            </a:r>
          </a:p>
          <a:p>
            <a:pPr marL="376238" lvl="3" indent="-376238"/>
            <a:r>
              <a:rPr lang="en-US" altLang="ko-KR" sz="800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11</a:t>
            </a:r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; 8-cars</a:t>
            </a:r>
          </a:p>
          <a:p>
            <a:pPr marL="376238" lvl="3" indent="-376238"/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(2) C/I position (8 bits = bit 3-10)</a:t>
            </a:r>
          </a:p>
          <a:p>
            <a:pPr marL="376238" lvl="3" indent="-376238"/>
            <a:r>
              <a:rPr lang="en-US" altLang="ko-KR" sz="800" b="1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10000000</a:t>
            </a:r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</a:t>
            </a:r>
            <a:r>
              <a:rPr lang="en-US" altLang="ko-KR" sz="800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; no. 1 car</a:t>
            </a:r>
          </a:p>
        </p:txBody>
      </p:sp>
      <p:sp>
        <p:nvSpPr>
          <p:cNvPr id="3097" name="Rectangle 344"/>
          <p:cNvSpPr>
            <a:spLocks noChangeArrowheads="1"/>
          </p:cNvSpPr>
          <p:nvPr/>
        </p:nvSpPr>
        <p:spPr bwMode="auto">
          <a:xfrm>
            <a:off x="1857375" y="2779713"/>
            <a:ext cx="1277938" cy="515937"/>
          </a:xfrm>
          <a:prstGeom prst="rect">
            <a:avLst/>
          </a:prstGeom>
          <a:solidFill>
            <a:srgbClr val="CCFFFF"/>
          </a:solidFill>
          <a:ln w="22225" algn="ctr">
            <a:solidFill>
              <a:srgbClr val="99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538163" lvl="3" algn="r"/>
            <a:r>
              <a:rPr lang="en-US" altLang="ko-KR" sz="8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CRA</a:t>
            </a:r>
          </a:p>
          <a:p>
            <a:pPr marL="538163" lvl="3" algn="r"/>
            <a:r>
              <a:rPr lang="en-US" altLang="ko-KR" sz="8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(Comm. Rack A)</a:t>
            </a:r>
            <a:endParaRPr lang="ko-KR" altLang="en-US" sz="8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3098" name="직사각형 2061"/>
          <p:cNvSpPr>
            <a:spLocks noChangeArrowheads="1"/>
          </p:cNvSpPr>
          <p:nvPr/>
        </p:nvSpPr>
        <p:spPr bwMode="auto">
          <a:xfrm>
            <a:off x="3636963" y="3014663"/>
            <a:ext cx="568325" cy="246062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Ctr="1"/>
          <a:lstStyle/>
          <a:p>
            <a:pPr algn="ctr"/>
            <a:r>
              <a:rPr kumimoji="0"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CI-SDR</a:t>
            </a:r>
            <a:endParaRPr kumimoji="0" lang="ko-KR" altLang="en-US" sz="800" b="1">
              <a:solidFill>
                <a:schemeClr val="tx1"/>
              </a:solidFill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3099" name="직사각형 106"/>
          <p:cNvSpPr>
            <a:spLocks noChangeArrowheads="1"/>
          </p:cNvSpPr>
          <p:nvPr/>
        </p:nvSpPr>
        <p:spPr bwMode="auto">
          <a:xfrm>
            <a:off x="3636963" y="4494213"/>
            <a:ext cx="568325" cy="246062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Ctr="1"/>
          <a:lstStyle/>
          <a:p>
            <a:pPr algn="ctr"/>
            <a:r>
              <a:rPr kumimoji="0"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CI-SDR</a:t>
            </a:r>
            <a:endParaRPr kumimoji="0" lang="ko-KR" altLang="en-US" sz="800" b="1">
              <a:solidFill>
                <a:schemeClr val="tx1"/>
              </a:solidFill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3100" name="직사각형 107"/>
          <p:cNvSpPr>
            <a:spLocks noChangeArrowheads="1"/>
          </p:cNvSpPr>
          <p:nvPr/>
        </p:nvSpPr>
        <p:spPr bwMode="auto">
          <a:xfrm>
            <a:off x="3646488" y="5789613"/>
            <a:ext cx="568325" cy="246062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Ctr="1"/>
          <a:lstStyle/>
          <a:p>
            <a:pPr algn="ctr"/>
            <a:r>
              <a:rPr kumimoji="0"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CI-SDR</a:t>
            </a:r>
            <a:endParaRPr kumimoji="0" lang="ko-KR" altLang="en-US" sz="800" b="1">
              <a:solidFill>
                <a:schemeClr val="tx1"/>
              </a:solidFill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3101" name="직사각형 108"/>
          <p:cNvSpPr>
            <a:spLocks noChangeArrowheads="1"/>
          </p:cNvSpPr>
          <p:nvPr/>
        </p:nvSpPr>
        <p:spPr bwMode="auto">
          <a:xfrm>
            <a:off x="4802188" y="5767388"/>
            <a:ext cx="568325" cy="246062"/>
          </a:xfrm>
          <a:prstGeom prst="rect">
            <a:avLst/>
          </a:prstGeom>
          <a:solidFill>
            <a:srgbClr val="00B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Ctr="1"/>
          <a:lstStyle/>
          <a:p>
            <a:pPr algn="ctr"/>
            <a:r>
              <a:rPr kumimoji="0"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CRA-SD</a:t>
            </a:r>
            <a:endParaRPr kumimoji="0" lang="ko-KR" altLang="en-US" sz="800" b="1">
              <a:solidFill>
                <a:schemeClr val="tx1"/>
              </a:solidFill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3102" name="직사각형 109"/>
          <p:cNvSpPr>
            <a:spLocks noChangeArrowheads="1"/>
          </p:cNvSpPr>
          <p:nvPr/>
        </p:nvSpPr>
        <p:spPr bwMode="auto">
          <a:xfrm>
            <a:off x="4802188" y="4494213"/>
            <a:ext cx="568325" cy="246062"/>
          </a:xfrm>
          <a:prstGeom prst="rect">
            <a:avLst/>
          </a:prstGeom>
          <a:solidFill>
            <a:srgbClr val="00B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Ctr="1"/>
          <a:lstStyle/>
          <a:p>
            <a:pPr algn="ctr"/>
            <a:r>
              <a:rPr kumimoji="0"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CRA-SD</a:t>
            </a:r>
            <a:endParaRPr kumimoji="0" lang="ko-KR" altLang="en-US" sz="800" b="1">
              <a:solidFill>
                <a:schemeClr val="tx1"/>
              </a:solidFill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3103" name="직사각형 110"/>
          <p:cNvSpPr>
            <a:spLocks noChangeArrowheads="1"/>
          </p:cNvSpPr>
          <p:nvPr/>
        </p:nvSpPr>
        <p:spPr bwMode="auto">
          <a:xfrm>
            <a:off x="4737100" y="3001963"/>
            <a:ext cx="568325" cy="246062"/>
          </a:xfrm>
          <a:prstGeom prst="rect">
            <a:avLst/>
          </a:prstGeom>
          <a:solidFill>
            <a:srgbClr val="00B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Ctr="1"/>
          <a:lstStyle/>
          <a:p>
            <a:pPr algn="ctr"/>
            <a:r>
              <a:rPr kumimoji="0"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CRA-SD</a:t>
            </a:r>
            <a:endParaRPr kumimoji="0" lang="ko-KR" altLang="en-US" sz="800" b="1">
              <a:solidFill>
                <a:schemeClr val="tx1"/>
              </a:solidFill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3104" name="아래쪽 화살표 2062"/>
          <p:cNvSpPr>
            <a:spLocks noChangeArrowheads="1"/>
          </p:cNvSpPr>
          <p:nvPr/>
        </p:nvSpPr>
        <p:spPr bwMode="auto">
          <a:xfrm>
            <a:off x="3854450" y="3521075"/>
            <a:ext cx="215900" cy="628650"/>
          </a:xfrm>
          <a:prstGeom prst="downArrow">
            <a:avLst>
              <a:gd name="adj1" fmla="val 50000"/>
              <a:gd name="adj2" fmla="val 50053"/>
            </a:avLst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Ctr="1"/>
          <a:lstStyle/>
          <a:p>
            <a:pPr algn="ctr"/>
            <a:endParaRPr kumimoji="0" lang="ko-KR" altLang="en-US" sz="800" b="1">
              <a:solidFill>
                <a:schemeClr val="bg1"/>
              </a:solidFill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3105" name="아래쪽 화살표 2063"/>
          <p:cNvSpPr>
            <a:spLocks noChangeArrowheads="1"/>
          </p:cNvSpPr>
          <p:nvPr/>
        </p:nvSpPr>
        <p:spPr bwMode="auto">
          <a:xfrm>
            <a:off x="3854450" y="4889500"/>
            <a:ext cx="215900" cy="612775"/>
          </a:xfrm>
          <a:prstGeom prst="downArrow">
            <a:avLst>
              <a:gd name="adj1" fmla="val 50000"/>
              <a:gd name="adj2" fmla="val 50142"/>
            </a:avLst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Ctr="1"/>
          <a:lstStyle/>
          <a:p>
            <a:pPr algn="ctr"/>
            <a:endParaRPr kumimoji="0" lang="ko-KR" altLang="en-US" sz="800" b="1">
              <a:solidFill>
                <a:schemeClr val="bg1"/>
              </a:solidFill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3106" name="오른쪽 화살표 2064"/>
          <p:cNvSpPr>
            <a:spLocks noChangeArrowheads="1"/>
          </p:cNvSpPr>
          <p:nvPr/>
        </p:nvSpPr>
        <p:spPr bwMode="auto">
          <a:xfrm>
            <a:off x="4384675" y="5789613"/>
            <a:ext cx="352425" cy="246062"/>
          </a:xfrm>
          <a:prstGeom prst="rightArrow">
            <a:avLst>
              <a:gd name="adj1" fmla="val 50000"/>
              <a:gd name="adj2" fmla="val 50030"/>
            </a:avLst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Ctr="1"/>
          <a:lstStyle/>
          <a:p>
            <a:pPr algn="ctr"/>
            <a:endParaRPr kumimoji="0" lang="ko-KR" altLang="en-US" sz="800" b="1">
              <a:solidFill>
                <a:schemeClr val="bg1"/>
              </a:solidFill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3107" name="아래쪽 화살표 114"/>
          <p:cNvSpPr>
            <a:spLocks noChangeArrowheads="1"/>
          </p:cNvSpPr>
          <p:nvPr/>
        </p:nvSpPr>
        <p:spPr bwMode="auto">
          <a:xfrm flipV="1">
            <a:off x="4965700" y="4886325"/>
            <a:ext cx="215900" cy="612775"/>
          </a:xfrm>
          <a:prstGeom prst="downArrow">
            <a:avLst>
              <a:gd name="adj1" fmla="val 50000"/>
              <a:gd name="adj2" fmla="val 50142"/>
            </a:avLst>
          </a:prstGeom>
          <a:solidFill>
            <a:srgbClr val="00B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Ctr="1"/>
          <a:lstStyle/>
          <a:p>
            <a:pPr algn="ctr"/>
            <a:endParaRPr kumimoji="0" lang="ko-KR" altLang="en-US" sz="800" b="1">
              <a:solidFill>
                <a:schemeClr val="bg1"/>
              </a:solidFill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3108" name="아래쪽 화살표 115"/>
          <p:cNvSpPr>
            <a:spLocks noChangeArrowheads="1"/>
          </p:cNvSpPr>
          <p:nvPr/>
        </p:nvSpPr>
        <p:spPr bwMode="auto">
          <a:xfrm flipV="1">
            <a:off x="4945063" y="3521075"/>
            <a:ext cx="215900" cy="628650"/>
          </a:xfrm>
          <a:prstGeom prst="downArrow">
            <a:avLst>
              <a:gd name="adj1" fmla="val 50000"/>
              <a:gd name="adj2" fmla="val 50053"/>
            </a:avLst>
          </a:prstGeom>
          <a:solidFill>
            <a:srgbClr val="00B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Ctr="1"/>
          <a:lstStyle/>
          <a:p>
            <a:pPr algn="ctr"/>
            <a:endParaRPr kumimoji="0" lang="ko-KR" altLang="en-US" sz="800" b="1">
              <a:solidFill>
                <a:schemeClr val="bg1"/>
              </a:solidFill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3109" name="직사각형 2065"/>
          <p:cNvSpPr>
            <a:spLocks noChangeArrowheads="1"/>
          </p:cNvSpPr>
          <p:nvPr/>
        </p:nvSpPr>
        <p:spPr bwMode="auto">
          <a:xfrm>
            <a:off x="3636963" y="1830388"/>
            <a:ext cx="568325" cy="230187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Ctr="1"/>
          <a:lstStyle/>
          <a:p>
            <a:pPr algn="ctr"/>
            <a:r>
              <a:rPr kumimoji="0"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Input Data</a:t>
            </a:r>
            <a:endParaRPr kumimoji="0" lang="ko-KR" altLang="en-US" sz="800" b="1">
              <a:solidFill>
                <a:schemeClr val="tx1"/>
              </a:solidFill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3110" name="아래쪽 화살표 118"/>
          <p:cNvSpPr>
            <a:spLocks noChangeArrowheads="1"/>
          </p:cNvSpPr>
          <p:nvPr/>
        </p:nvSpPr>
        <p:spPr bwMode="auto">
          <a:xfrm>
            <a:off x="3800475" y="2193925"/>
            <a:ext cx="215900" cy="628650"/>
          </a:xfrm>
          <a:prstGeom prst="downArrow">
            <a:avLst>
              <a:gd name="adj1" fmla="val 50000"/>
              <a:gd name="adj2" fmla="val 50053"/>
            </a:avLst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Ctr="1"/>
          <a:lstStyle/>
          <a:p>
            <a:pPr algn="ctr"/>
            <a:endParaRPr kumimoji="0" lang="ko-KR" altLang="en-US" sz="800" b="1">
              <a:solidFill>
                <a:schemeClr val="bg1"/>
              </a:solidFill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3111" name="직사각형 119"/>
          <p:cNvSpPr>
            <a:spLocks noChangeArrowheads="1"/>
          </p:cNvSpPr>
          <p:nvPr/>
        </p:nvSpPr>
        <p:spPr bwMode="auto">
          <a:xfrm>
            <a:off x="4737100" y="1830388"/>
            <a:ext cx="568325" cy="230187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Ctr="1"/>
          <a:lstStyle/>
          <a:p>
            <a:pPr algn="ctr"/>
            <a:r>
              <a:rPr kumimoji="0" lang="ko-KR" altLang="en-US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피드백</a:t>
            </a:r>
            <a:r>
              <a:rPr kumimoji="0"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Data</a:t>
            </a:r>
            <a:endParaRPr kumimoji="0" lang="ko-KR" altLang="en-US" sz="800" b="1">
              <a:solidFill>
                <a:schemeClr val="tx1"/>
              </a:solidFill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3112" name="아래쪽 화살표 120"/>
          <p:cNvSpPr>
            <a:spLocks noChangeArrowheads="1"/>
          </p:cNvSpPr>
          <p:nvPr/>
        </p:nvSpPr>
        <p:spPr bwMode="auto">
          <a:xfrm flipV="1">
            <a:off x="4945063" y="2211388"/>
            <a:ext cx="215900" cy="630237"/>
          </a:xfrm>
          <a:prstGeom prst="downArrow">
            <a:avLst>
              <a:gd name="adj1" fmla="val 50000"/>
              <a:gd name="adj2" fmla="val 50179"/>
            </a:avLst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Ctr="1"/>
          <a:lstStyle/>
          <a:p>
            <a:pPr algn="ctr"/>
            <a:endParaRPr kumimoji="0" lang="ko-KR" altLang="en-US" sz="800" b="1">
              <a:solidFill>
                <a:schemeClr val="bg1"/>
              </a:solidFill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6775" y="1868488"/>
            <a:ext cx="3382963" cy="1815882"/>
          </a:xfrm>
          <a:prstGeom prst="rect">
            <a:avLst/>
          </a:prstGeom>
          <a:solidFill>
            <a:srgbClr val="FFFFCC"/>
          </a:solidFill>
        </p:spPr>
        <p:txBody>
          <a:bodyPr>
            <a:spAutoFit/>
          </a:bodyPr>
          <a:lstStyle/>
          <a:p>
            <a:pPr marL="228600" indent="-228600">
              <a:buFontTx/>
              <a:buAutoNum type="arabicPeriod"/>
              <a:defRPr/>
            </a:pPr>
            <a:r>
              <a:rPr lang="en-US" altLang="ko-KR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CCP</a:t>
            </a:r>
            <a:r>
              <a:rPr lang="ko-KR" altLang="en-US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에서 입력된 </a:t>
            </a:r>
            <a:r>
              <a:rPr lang="en-US" altLang="ko-KR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Data</a:t>
            </a:r>
            <a:r>
              <a:rPr lang="ko-KR" altLang="en-US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를</a:t>
            </a:r>
            <a:r>
              <a:rPr lang="en-US" altLang="ko-KR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CRA</a:t>
            </a:r>
            <a:r>
              <a:rPr lang="ko-KR" altLang="en-US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는 </a:t>
            </a:r>
            <a:r>
              <a:rPr lang="en-US" altLang="ko-KR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485</a:t>
            </a:r>
            <a:r>
              <a:rPr lang="ko-KR" altLang="en-US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통신 방식으로 입력을 확인 한다</a:t>
            </a:r>
            <a:r>
              <a:rPr lang="en-US" altLang="ko-KR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. </a:t>
            </a:r>
          </a:p>
          <a:p>
            <a:pPr marL="228600" indent="-228600">
              <a:buFontTx/>
              <a:buAutoNum type="arabicPeriod"/>
              <a:defRPr/>
            </a:pPr>
            <a:endParaRPr lang="en-US" altLang="ko-KR" sz="800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  <a:p>
            <a:pPr marL="228600" indent="-228600">
              <a:buFontTx/>
              <a:buAutoNum type="arabicPeriod" startAt="2"/>
              <a:defRPr/>
            </a:pPr>
            <a:r>
              <a:rPr lang="en-US" altLang="ko-KR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CRA</a:t>
            </a:r>
            <a:r>
              <a:rPr lang="ko-KR" altLang="en-US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는</a:t>
            </a:r>
            <a:r>
              <a:rPr lang="en-US" altLang="ko-KR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</a:t>
            </a:r>
            <a:r>
              <a:rPr lang="en-US" altLang="ko-KR" sz="800" dirty="0" err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Ci</a:t>
            </a:r>
            <a:r>
              <a:rPr lang="ko-KR" altLang="en-US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로 </a:t>
            </a:r>
            <a:r>
              <a:rPr lang="en-US" altLang="ko-KR" sz="800" dirty="0" err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Lonworks</a:t>
            </a:r>
            <a:r>
              <a:rPr lang="en-US" altLang="ko-KR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Net work</a:t>
            </a:r>
            <a:r>
              <a:rPr lang="ko-KR" altLang="en-US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를 이용하여 </a:t>
            </a:r>
            <a:r>
              <a:rPr lang="en-US" altLang="ko-KR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Data</a:t>
            </a:r>
            <a:r>
              <a:rPr lang="ko-KR" altLang="en-US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를 전달 한다</a:t>
            </a:r>
            <a:r>
              <a:rPr lang="en-US" altLang="ko-KR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.</a:t>
            </a:r>
          </a:p>
          <a:p>
            <a:pPr marL="228600" indent="-228600">
              <a:buFontTx/>
              <a:buAutoNum type="arabicPeriod" startAt="2"/>
              <a:defRPr/>
            </a:pPr>
            <a:endParaRPr lang="en-US" altLang="ko-KR" sz="800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  <a:p>
            <a:pPr marL="228600" indent="-228600">
              <a:buFontTx/>
              <a:buAutoNum type="arabicPeriod" startAt="3"/>
              <a:defRPr/>
            </a:pPr>
            <a:r>
              <a:rPr lang="en-US" altLang="ko-KR" sz="800" dirty="0" err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Ci</a:t>
            </a:r>
            <a:r>
              <a:rPr lang="ko-KR" altLang="en-US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는 수신한 데이터를 </a:t>
            </a:r>
            <a:r>
              <a:rPr lang="en-US" altLang="ko-KR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CRA</a:t>
            </a:r>
            <a:r>
              <a:rPr lang="ko-KR" altLang="en-US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로 </a:t>
            </a:r>
            <a:r>
              <a:rPr lang="en-US" altLang="ko-KR" sz="800" dirty="0" err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Lonworks</a:t>
            </a:r>
            <a:r>
              <a:rPr lang="en-US" altLang="ko-KR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Networks</a:t>
            </a:r>
            <a:r>
              <a:rPr lang="ko-KR" altLang="en-US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를</a:t>
            </a:r>
            <a:r>
              <a:rPr lang="en-US" altLang="ko-KR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</a:t>
            </a:r>
            <a:r>
              <a:rPr lang="ko-KR" altLang="en-US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이용하여 피드백 한다</a:t>
            </a:r>
            <a:r>
              <a:rPr lang="en-US" altLang="ko-KR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.</a:t>
            </a:r>
            <a:r>
              <a:rPr lang="ko-KR" altLang="en-US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</a:t>
            </a:r>
            <a:endParaRPr lang="en-US" altLang="ko-KR" sz="800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  <a:p>
            <a:pPr>
              <a:defRPr/>
            </a:pPr>
            <a:endParaRPr lang="en-US" altLang="ko-KR" sz="800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  <a:p>
            <a:pPr marL="228600" indent="-228600">
              <a:buFontTx/>
              <a:buAutoNum type="arabicPeriod" startAt="4"/>
              <a:defRPr/>
            </a:pPr>
            <a:r>
              <a:rPr lang="en-US" altLang="ko-KR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CRA</a:t>
            </a:r>
            <a:r>
              <a:rPr lang="ko-KR" altLang="en-US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는</a:t>
            </a:r>
            <a:r>
              <a:rPr lang="en-US" altLang="ko-KR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</a:t>
            </a:r>
            <a:r>
              <a:rPr lang="en-US" altLang="ko-KR" sz="800" dirty="0" err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Ci</a:t>
            </a:r>
            <a:r>
              <a:rPr lang="ko-KR" altLang="en-US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로 부터 받은 피드백 </a:t>
            </a:r>
            <a:r>
              <a:rPr lang="en-US" altLang="ko-KR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Data</a:t>
            </a:r>
            <a:r>
              <a:rPr lang="ko-KR" altLang="en-US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를 </a:t>
            </a:r>
            <a:r>
              <a:rPr lang="en-US" altLang="ko-KR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485 </a:t>
            </a:r>
            <a:r>
              <a:rPr lang="ko-KR" altLang="en-US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통신 방식으로 </a:t>
            </a:r>
            <a:r>
              <a:rPr lang="en-US" altLang="ko-KR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CCP</a:t>
            </a:r>
            <a:r>
              <a:rPr lang="ko-KR" altLang="en-US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로 전달 한다</a:t>
            </a:r>
            <a:r>
              <a:rPr lang="en-US" altLang="ko-KR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.</a:t>
            </a:r>
          </a:p>
          <a:p>
            <a:pPr>
              <a:defRPr/>
            </a:pPr>
            <a:endParaRPr lang="en-US" altLang="ko-KR" sz="800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  <a:p>
            <a:pPr>
              <a:defRPr/>
            </a:pPr>
            <a:endParaRPr lang="en-US" altLang="ko-KR" sz="800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  <a:p>
            <a:pPr>
              <a:defRPr/>
            </a:pPr>
            <a:r>
              <a:rPr lang="en-US" altLang="ko-KR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SDR : Send Data Request</a:t>
            </a:r>
          </a:p>
          <a:p>
            <a:pPr>
              <a:defRPr/>
            </a:pPr>
            <a:r>
              <a:rPr lang="en-US" altLang="ko-KR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    : Send Data</a:t>
            </a:r>
          </a:p>
        </p:txBody>
      </p:sp>
    </p:spTree>
    <p:extLst>
      <p:ext uri="{BB962C8B-B14F-4D97-AF65-F5344CB8AC3E}">
        <p14:creationId xmlns:p14="http://schemas.microsoft.com/office/powerpoint/2010/main" val="240562784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11"/>
          <p:cNvSpPr>
            <a:spLocks noChangeArrowheads="1"/>
          </p:cNvSpPr>
          <p:nvPr/>
        </p:nvSpPr>
        <p:spPr bwMode="auto">
          <a:xfrm>
            <a:off x="376238" y="5084763"/>
            <a:ext cx="1766887" cy="2873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Lonworks    Network</a:t>
            </a:r>
          </a:p>
        </p:txBody>
      </p:sp>
      <p:sp>
        <p:nvSpPr>
          <p:cNvPr id="4101" name="Rectangle 11"/>
          <p:cNvSpPr>
            <a:spLocks noChangeArrowheads="1"/>
          </p:cNvSpPr>
          <p:nvPr/>
        </p:nvSpPr>
        <p:spPr bwMode="auto">
          <a:xfrm>
            <a:off x="338138" y="3609975"/>
            <a:ext cx="1766887" cy="2873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Lonworks     Network</a:t>
            </a:r>
          </a:p>
        </p:txBody>
      </p:sp>
      <p:sp>
        <p:nvSpPr>
          <p:cNvPr id="4102" name="Rectangle 11"/>
          <p:cNvSpPr>
            <a:spLocks noChangeArrowheads="1"/>
          </p:cNvSpPr>
          <p:nvPr/>
        </p:nvSpPr>
        <p:spPr bwMode="auto">
          <a:xfrm>
            <a:off x="842963" y="2298700"/>
            <a:ext cx="1143000" cy="28733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RS     485</a:t>
            </a:r>
          </a:p>
        </p:txBody>
      </p:sp>
      <p:sp>
        <p:nvSpPr>
          <p:cNvPr id="4103" name="Rectangle 11"/>
          <p:cNvSpPr>
            <a:spLocks noChangeArrowheads="1"/>
          </p:cNvSpPr>
          <p:nvPr/>
        </p:nvSpPr>
        <p:spPr bwMode="auto">
          <a:xfrm>
            <a:off x="163513" y="1277938"/>
            <a:ext cx="2524125" cy="2873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CCP (Comm. Control Panel)</a:t>
            </a:r>
          </a:p>
        </p:txBody>
      </p:sp>
      <p:sp>
        <p:nvSpPr>
          <p:cNvPr id="4104" name="Rectangle 11"/>
          <p:cNvSpPr>
            <a:spLocks noChangeArrowheads="1"/>
          </p:cNvSpPr>
          <p:nvPr/>
        </p:nvSpPr>
        <p:spPr bwMode="auto">
          <a:xfrm>
            <a:off x="893763" y="3986213"/>
            <a:ext cx="936625" cy="2873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MDS (CDT)</a:t>
            </a:r>
          </a:p>
        </p:txBody>
      </p:sp>
      <p:pic>
        <p:nvPicPr>
          <p:cNvPr id="4105" name="Picture 29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38" y="4217988"/>
            <a:ext cx="1330325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6" name="Rectangle 11"/>
          <p:cNvSpPr>
            <a:spLocks noChangeArrowheads="1"/>
          </p:cNvSpPr>
          <p:nvPr/>
        </p:nvSpPr>
        <p:spPr bwMode="auto">
          <a:xfrm>
            <a:off x="750888" y="5481638"/>
            <a:ext cx="1368425" cy="2873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Converter/Inverter</a:t>
            </a:r>
          </a:p>
        </p:txBody>
      </p:sp>
      <p:pic>
        <p:nvPicPr>
          <p:cNvPr id="4107" name="Picture 29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13" y="5697538"/>
            <a:ext cx="1584325" cy="755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108" name="Line 299"/>
          <p:cNvSpPr>
            <a:spLocks noChangeShapeType="1"/>
          </p:cNvSpPr>
          <p:nvPr/>
        </p:nvSpPr>
        <p:spPr bwMode="auto">
          <a:xfrm rot="5400000">
            <a:off x="1130300" y="2436813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4109" name="Line 300"/>
          <p:cNvSpPr>
            <a:spLocks noChangeShapeType="1"/>
          </p:cNvSpPr>
          <p:nvPr/>
        </p:nvSpPr>
        <p:spPr bwMode="auto">
          <a:xfrm rot="-5400000">
            <a:off x="1203325" y="2419350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4110" name="Line 301"/>
          <p:cNvSpPr>
            <a:spLocks noChangeShapeType="1"/>
          </p:cNvSpPr>
          <p:nvPr/>
        </p:nvSpPr>
        <p:spPr bwMode="auto">
          <a:xfrm rot="5400000">
            <a:off x="1125538" y="3743325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4111" name="Line 302"/>
          <p:cNvSpPr>
            <a:spLocks noChangeShapeType="1"/>
          </p:cNvSpPr>
          <p:nvPr/>
        </p:nvSpPr>
        <p:spPr bwMode="auto">
          <a:xfrm rot="-5400000">
            <a:off x="1198563" y="3725863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4112" name="Line 303"/>
          <p:cNvSpPr>
            <a:spLocks noChangeShapeType="1"/>
          </p:cNvSpPr>
          <p:nvPr/>
        </p:nvSpPr>
        <p:spPr bwMode="auto">
          <a:xfrm rot="5400000">
            <a:off x="1130300" y="5254625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4113" name="Line 304"/>
          <p:cNvSpPr>
            <a:spLocks noChangeShapeType="1"/>
          </p:cNvSpPr>
          <p:nvPr/>
        </p:nvSpPr>
        <p:spPr bwMode="auto">
          <a:xfrm rot="-5400000">
            <a:off x="1203325" y="5237163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4114" name="Line 328"/>
          <p:cNvSpPr>
            <a:spLocks noChangeShapeType="1"/>
          </p:cNvSpPr>
          <p:nvPr/>
        </p:nvSpPr>
        <p:spPr bwMode="auto">
          <a:xfrm rot="5400000">
            <a:off x="1057275" y="3744913"/>
            <a:ext cx="4508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4115" name="Line 329"/>
          <p:cNvSpPr>
            <a:spLocks noChangeShapeType="1"/>
          </p:cNvSpPr>
          <p:nvPr/>
        </p:nvSpPr>
        <p:spPr bwMode="auto">
          <a:xfrm rot="5400000">
            <a:off x="1057275" y="5253038"/>
            <a:ext cx="4508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4116" name="Line 330"/>
          <p:cNvSpPr>
            <a:spLocks noChangeShapeType="1"/>
          </p:cNvSpPr>
          <p:nvPr/>
        </p:nvSpPr>
        <p:spPr bwMode="auto">
          <a:xfrm rot="5400000">
            <a:off x="1054100" y="2439988"/>
            <a:ext cx="4508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pic>
        <p:nvPicPr>
          <p:cNvPr id="4117" name="Picture 33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1519238"/>
            <a:ext cx="915988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18" name="Rectangle 344"/>
          <p:cNvSpPr>
            <a:spLocks noChangeArrowheads="1"/>
          </p:cNvSpPr>
          <p:nvPr/>
        </p:nvSpPr>
        <p:spPr bwMode="auto">
          <a:xfrm>
            <a:off x="744538" y="2779713"/>
            <a:ext cx="1277937" cy="515937"/>
          </a:xfrm>
          <a:prstGeom prst="rect">
            <a:avLst/>
          </a:prstGeom>
          <a:solidFill>
            <a:srgbClr val="CCFFFF"/>
          </a:solidFill>
          <a:ln w="22225" algn="ctr">
            <a:solidFill>
              <a:srgbClr val="99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538163" lvl="3" algn="r"/>
            <a:r>
              <a:rPr lang="en-US" altLang="ko-KR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CRA</a:t>
            </a:r>
          </a:p>
          <a:p>
            <a:pPr marL="538163" lvl="3" algn="r"/>
            <a:r>
              <a:rPr lang="en-US" altLang="ko-KR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(Comm. Rack A)</a:t>
            </a:r>
            <a:endParaRPr lang="ko-KR" altLang="en-US" sz="800" b="1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grpSp>
        <p:nvGrpSpPr>
          <p:cNvPr id="4119" name="그룹 1"/>
          <p:cNvGrpSpPr>
            <a:grpSpLocks/>
          </p:cNvGrpSpPr>
          <p:nvPr/>
        </p:nvGrpSpPr>
        <p:grpSpPr bwMode="auto">
          <a:xfrm>
            <a:off x="4875213" y="1862138"/>
            <a:ext cx="1733550" cy="4203700"/>
            <a:chOff x="3636963" y="1830388"/>
            <a:chExt cx="1733550" cy="4205287"/>
          </a:xfrm>
        </p:grpSpPr>
        <p:sp>
          <p:nvSpPr>
            <p:cNvPr id="4125" name="직사각형 2061"/>
            <p:cNvSpPr>
              <a:spLocks noChangeArrowheads="1"/>
            </p:cNvSpPr>
            <p:nvPr/>
          </p:nvSpPr>
          <p:spPr bwMode="auto">
            <a:xfrm>
              <a:off x="3636963" y="3014663"/>
              <a:ext cx="568325" cy="246062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Ctr="1"/>
            <a:lstStyle/>
            <a:p>
              <a:pPr algn="ctr"/>
              <a:r>
                <a:rPr kumimoji="0" lang="en-US" altLang="ko-KR" sz="800" b="1" dirty="0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CI-SDR</a:t>
              </a:r>
              <a:endParaRPr kumimoji="0" lang="ko-KR" altLang="en-US" sz="800" b="1" dirty="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4126" name="직사각형 106"/>
            <p:cNvSpPr>
              <a:spLocks noChangeArrowheads="1"/>
            </p:cNvSpPr>
            <p:nvPr/>
          </p:nvSpPr>
          <p:spPr bwMode="auto">
            <a:xfrm>
              <a:off x="3636963" y="4494213"/>
              <a:ext cx="568325" cy="246062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Ctr="1"/>
            <a:lstStyle/>
            <a:p>
              <a:pPr algn="ctr"/>
              <a:r>
                <a:rPr kumimoji="0" lang="en-US" altLang="ko-KR" sz="800" b="1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CI-SDR</a:t>
              </a:r>
              <a:endParaRPr kumimoji="0" lang="ko-KR" altLang="en-US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4127" name="직사각형 107"/>
            <p:cNvSpPr>
              <a:spLocks noChangeArrowheads="1"/>
            </p:cNvSpPr>
            <p:nvPr/>
          </p:nvSpPr>
          <p:spPr bwMode="auto">
            <a:xfrm>
              <a:off x="3646488" y="5789613"/>
              <a:ext cx="568325" cy="246062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Ctr="1"/>
            <a:lstStyle/>
            <a:p>
              <a:pPr algn="ctr"/>
              <a:r>
                <a:rPr kumimoji="0" lang="en-US" altLang="ko-KR" sz="800" b="1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CI-SDR</a:t>
              </a:r>
              <a:endParaRPr kumimoji="0" lang="ko-KR" altLang="en-US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4128" name="직사각형 108"/>
            <p:cNvSpPr>
              <a:spLocks noChangeArrowheads="1"/>
            </p:cNvSpPr>
            <p:nvPr/>
          </p:nvSpPr>
          <p:spPr bwMode="auto">
            <a:xfrm>
              <a:off x="4802188" y="5767388"/>
              <a:ext cx="568325" cy="246062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Ctr="1"/>
            <a:lstStyle/>
            <a:p>
              <a:pPr algn="ctr"/>
              <a:r>
                <a:rPr kumimoji="0" lang="en-US" altLang="ko-KR" sz="800" b="1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CRA-SD</a:t>
              </a:r>
              <a:endParaRPr kumimoji="0" lang="ko-KR" altLang="en-US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4129" name="직사각형 109"/>
            <p:cNvSpPr>
              <a:spLocks noChangeArrowheads="1"/>
            </p:cNvSpPr>
            <p:nvPr/>
          </p:nvSpPr>
          <p:spPr bwMode="auto">
            <a:xfrm>
              <a:off x="4802188" y="4494213"/>
              <a:ext cx="568325" cy="246062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Ctr="1"/>
            <a:lstStyle/>
            <a:p>
              <a:pPr algn="ctr"/>
              <a:r>
                <a:rPr kumimoji="0" lang="en-US" altLang="ko-KR" sz="800" b="1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CRA-SD</a:t>
              </a:r>
              <a:endParaRPr kumimoji="0" lang="ko-KR" altLang="en-US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4130" name="직사각형 110"/>
            <p:cNvSpPr>
              <a:spLocks noChangeArrowheads="1"/>
            </p:cNvSpPr>
            <p:nvPr/>
          </p:nvSpPr>
          <p:spPr bwMode="auto">
            <a:xfrm>
              <a:off x="4737100" y="3001963"/>
              <a:ext cx="568325" cy="246062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Ctr="1"/>
            <a:lstStyle/>
            <a:p>
              <a:pPr algn="ctr"/>
              <a:r>
                <a:rPr kumimoji="0" lang="en-US" altLang="ko-KR" sz="800" b="1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CRA-SD</a:t>
              </a:r>
              <a:endParaRPr kumimoji="0" lang="ko-KR" altLang="en-US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4131" name="아래쪽 화살표 2062"/>
            <p:cNvSpPr>
              <a:spLocks noChangeArrowheads="1"/>
            </p:cNvSpPr>
            <p:nvPr/>
          </p:nvSpPr>
          <p:spPr bwMode="auto">
            <a:xfrm>
              <a:off x="3854450" y="3521075"/>
              <a:ext cx="215900" cy="628650"/>
            </a:xfrm>
            <a:prstGeom prst="downArrow">
              <a:avLst>
                <a:gd name="adj1" fmla="val 50000"/>
                <a:gd name="adj2" fmla="val 50053"/>
              </a:avLst>
            </a:prstGeom>
            <a:solidFill>
              <a:srgbClr val="FF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Ctr="1"/>
            <a:lstStyle/>
            <a:p>
              <a:pPr algn="ctr"/>
              <a:endParaRPr kumimoji="0" lang="ko-KR" altLang="en-US" sz="800" b="1">
                <a:solidFill>
                  <a:schemeClr val="bg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4132" name="아래쪽 화살표 2063"/>
            <p:cNvSpPr>
              <a:spLocks noChangeArrowheads="1"/>
            </p:cNvSpPr>
            <p:nvPr/>
          </p:nvSpPr>
          <p:spPr bwMode="auto">
            <a:xfrm>
              <a:off x="3854450" y="4889500"/>
              <a:ext cx="215900" cy="612775"/>
            </a:xfrm>
            <a:prstGeom prst="downArrow">
              <a:avLst>
                <a:gd name="adj1" fmla="val 50000"/>
                <a:gd name="adj2" fmla="val 50142"/>
              </a:avLst>
            </a:prstGeom>
            <a:solidFill>
              <a:srgbClr val="FF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Ctr="1"/>
            <a:lstStyle/>
            <a:p>
              <a:pPr algn="ctr"/>
              <a:endParaRPr kumimoji="0" lang="ko-KR" altLang="en-US" sz="800" b="1">
                <a:solidFill>
                  <a:schemeClr val="bg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4133" name="오른쪽 화살표 2064"/>
            <p:cNvSpPr>
              <a:spLocks noChangeArrowheads="1"/>
            </p:cNvSpPr>
            <p:nvPr/>
          </p:nvSpPr>
          <p:spPr bwMode="auto">
            <a:xfrm>
              <a:off x="4384675" y="5789613"/>
              <a:ext cx="352425" cy="246062"/>
            </a:xfrm>
            <a:prstGeom prst="rightArrow">
              <a:avLst>
                <a:gd name="adj1" fmla="val 50000"/>
                <a:gd name="adj2" fmla="val 50030"/>
              </a:avLst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Ctr="1"/>
            <a:lstStyle/>
            <a:p>
              <a:pPr algn="ctr"/>
              <a:endParaRPr kumimoji="0" lang="ko-KR" altLang="en-US" sz="800" b="1">
                <a:solidFill>
                  <a:schemeClr val="bg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4134" name="아래쪽 화살표 114"/>
            <p:cNvSpPr>
              <a:spLocks noChangeArrowheads="1"/>
            </p:cNvSpPr>
            <p:nvPr/>
          </p:nvSpPr>
          <p:spPr bwMode="auto">
            <a:xfrm flipV="1">
              <a:off x="4965700" y="4886325"/>
              <a:ext cx="215900" cy="612775"/>
            </a:xfrm>
            <a:prstGeom prst="downArrow">
              <a:avLst>
                <a:gd name="adj1" fmla="val 50000"/>
                <a:gd name="adj2" fmla="val 50142"/>
              </a:avLst>
            </a:prstGeom>
            <a:solidFill>
              <a:srgbClr val="00B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Ctr="1"/>
            <a:lstStyle/>
            <a:p>
              <a:pPr algn="ctr"/>
              <a:endParaRPr kumimoji="0" lang="ko-KR" altLang="en-US" sz="800" b="1">
                <a:solidFill>
                  <a:schemeClr val="bg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4135" name="아래쪽 화살표 115"/>
            <p:cNvSpPr>
              <a:spLocks noChangeArrowheads="1"/>
            </p:cNvSpPr>
            <p:nvPr/>
          </p:nvSpPr>
          <p:spPr bwMode="auto">
            <a:xfrm flipV="1">
              <a:off x="4945063" y="3521075"/>
              <a:ext cx="215900" cy="628650"/>
            </a:xfrm>
            <a:prstGeom prst="downArrow">
              <a:avLst>
                <a:gd name="adj1" fmla="val 50000"/>
                <a:gd name="adj2" fmla="val 50053"/>
              </a:avLst>
            </a:prstGeom>
            <a:solidFill>
              <a:srgbClr val="00B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Ctr="1"/>
            <a:lstStyle/>
            <a:p>
              <a:pPr algn="ctr"/>
              <a:endParaRPr kumimoji="0" lang="ko-KR" altLang="en-US" sz="800" b="1">
                <a:solidFill>
                  <a:schemeClr val="bg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4136" name="직사각형 119"/>
            <p:cNvSpPr>
              <a:spLocks noChangeArrowheads="1"/>
            </p:cNvSpPr>
            <p:nvPr/>
          </p:nvSpPr>
          <p:spPr bwMode="auto">
            <a:xfrm>
              <a:off x="4737100" y="1830388"/>
              <a:ext cx="568325" cy="230187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Ctr="1"/>
            <a:lstStyle/>
            <a:p>
              <a:pPr algn="ctr"/>
              <a:r>
                <a:rPr kumimoji="0" lang="ko-KR" altLang="en-US" sz="800" b="1" dirty="0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피드백</a:t>
              </a:r>
              <a:r>
                <a:rPr kumimoji="0" lang="en-US" altLang="ko-KR" sz="800" b="1" dirty="0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 Data</a:t>
              </a:r>
              <a:endParaRPr kumimoji="0" lang="ko-KR" altLang="en-US" sz="800" b="1" dirty="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4137" name="아래쪽 화살표 120"/>
            <p:cNvSpPr>
              <a:spLocks noChangeArrowheads="1"/>
            </p:cNvSpPr>
            <p:nvPr/>
          </p:nvSpPr>
          <p:spPr bwMode="auto">
            <a:xfrm flipV="1">
              <a:off x="4945063" y="2211388"/>
              <a:ext cx="215900" cy="630237"/>
            </a:xfrm>
            <a:prstGeom prst="downArrow">
              <a:avLst>
                <a:gd name="adj1" fmla="val 50000"/>
                <a:gd name="adj2" fmla="val 50179"/>
              </a:avLst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Ctr="1"/>
            <a:lstStyle/>
            <a:p>
              <a:pPr algn="ctr"/>
              <a:endParaRPr kumimoji="0" lang="ko-KR" altLang="en-US" sz="800" b="1">
                <a:solidFill>
                  <a:schemeClr val="bg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6611938" y="1343025"/>
            <a:ext cx="3294062" cy="1938992"/>
          </a:xfrm>
          <a:prstGeom prst="rect">
            <a:avLst/>
          </a:prstGeom>
          <a:solidFill>
            <a:srgbClr val="FFFFCC"/>
          </a:solidFill>
        </p:spPr>
        <p:txBody>
          <a:bodyPr>
            <a:spAutoFit/>
          </a:bodyPr>
          <a:lstStyle/>
          <a:p>
            <a:pPr marL="228600" indent="-228600">
              <a:buFontTx/>
              <a:buAutoNum type="arabicPeriod"/>
              <a:defRPr/>
            </a:pPr>
            <a:r>
              <a:rPr lang="en-US" altLang="ko-KR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CRA</a:t>
            </a:r>
            <a:r>
              <a:rPr lang="ko-KR" altLang="en-US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는 각 차량에 구성 정보를 수집하고</a:t>
            </a:r>
            <a:r>
              <a:rPr lang="en-US" altLang="ko-KR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, </a:t>
            </a:r>
            <a:r>
              <a:rPr lang="ko-KR" altLang="en-US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각 차량의 열차 번호를 이용하여 차량 번호가 낮은 순서 부터 순차적으로 위치정보를 부여 한다</a:t>
            </a:r>
            <a:r>
              <a:rPr lang="en-US" altLang="ko-KR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. </a:t>
            </a:r>
          </a:p>
          <a:p>
            <a:pPr marL="228600" indent="-228600">
              <a:buFontTx/>
              <a:buAutoNum type="arabicPeriod"/>
              <a:defRPr/>
            </a:pPr>
            <a:endParaRPr lang="en-US" altLang="ko-KR" sz="800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  <a:p>
            <a:pPr marL="228600" indent="-228600">
              <a:buFontTx/>
              <a:buAutoNum type="arabicPeriod" startAt="2"/>
              <a:defRPr/>
            </a:pPr>
            <a:r>
              <a:rPr lang="en-US" altLang="ko-KR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CRA</a:t>
            </a:r>
            <a:r>
              <a:rPr lang="ko-KR" altLang="en-US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는</a:t>
            </a:r>
            <a:r>
              <a:rPr lang="en-US" altLang="ko-KR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</a:t>
            </a:r>
            <a:r>
              <a:rPr lang="en-US" altLang="ko-KR" sz="800" dirty="0" err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Ci</a:t>
            </a:r>
            <a:r>
              <a:rPr lang="ko-KR" altLang="en-US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로 </a:t>
            </a:r>
            <a:r>
              <a:rPr lang="en-US" altLang="ko-KR" sz="800" dirty="0" err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Lonworks</a:t>
            </a:r>
            <a:r>
              <a:rPr lang="en-US" altLang="ko-KR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Net work</a:t>
            </a:r>
            <a:r>
              <a:rPr lang="ko-KR" altLang="en-US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를 이용하여 </a:t>
            </a:r>
            <a:r>
              <a:rPr lang="en-US" altLang="ko-KR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Data</a:t>
            </a:r>
            <a:r>
              <a:rPr lang="ko-KR" altLang="en-US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를 전달 한다</a:t>
            </a:r>
            <a:r>
              <a:rPr lang="en-US" altLang="ko-KR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.</a:t>
            </a:r>
          </a:p>
          <a:p>
            <a:pPr marL="228600" indent="-228600">
              <a:buFontTx/>
              <a:buAutoNum type="arabicPeriod" startAt="2"/>
              <a:defRPr/>
            </a:pPr>
            <a:endParaRPr lang="en-US" altLang="ko-KR" sz="800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  <a:p>
            <a:pPr marL="228600" indent="-228600">
              <a:buFontTx/>
              <a:buAutoNum type="arabicPeriod" startAt="3"/>
              <a:defRPr/>
            </a:pPr>
            <a:r>
              <a:rPr lang="en-US" altLang="ko-KR" sz="800" dirty="0" err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Ci</a:t>
            </a:r>
            <a:r>
              <a:rPr lang="ko-KR" altLang="en-US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는 수신한 데이터를 </a:t>
            </a:r>
            <a:r>
              <a:rPr lang="en-US" altLang="ko-KR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CRA</a:t>
            </a:r>
            <a:r>
              <a:rPr lang="ko-KR" altLang="en-US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로 </a:t>
            </a:r>
            <a:r>
              <a:rPr lang="en-US" altLang="ko-KR" sz="800" dirty="0" err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Lonworks</a:t>
            </a:r>
            <a:r>
              <a:rPr lang="en-US" altLang="ko-KR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Networks</a:t>
            </a:r>
            <a:r>
              <a:rPr lang="ko-KR" altLang="en-US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를</a:t>
            </a:r>
            <a:r>
              <a:rPr lang="en-US" altLang="ko-KR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</a:t>
            </a:r>
            <a:r>
              <a:rPr lang="ko-KR" altLang="en-US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이용하여 피드백 한다</a:t>
            </a:r>
            <a:r>
              <a:rPr lang="en-US" altLang="ko-KR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.</a:t>
            </a:r>
            <a:r>
              <a:rPr lang="ko-KR" altLang="en-US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</a:t>
            </a:r>
            <a:endParaRPr lang="en-US" altLang="ko-KR" sz="800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  <a:p>
            <a:pPr>
              <a:defRPr/>
            </a:pPr>
            <a:endParaRPr lang="en-US" altLang="ko-KR" sz="800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  <a:p>
            <a:pPr marL="228600" indent="-228600">
              <a:buFontTx/>
              <a:buAutoNum type="arabicPeriod" startAt="4"/>
              <a:defRPr/>
            </a:pPr>
            <a:r>
              <a:rPr lang="en-US" altLang="ko-KR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CRA</a:t>
            </a:r>
            <a:r>
              <a:rPr lang="ko-KR" altLang="en-US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는</a:t>
            </a:r>
            <a:r>
              <a:rPr lang="en-US" altLang="ko-KR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</a:t>
            </a:r>
            <a:r>
              <a:rPr lang="en-US" altLang="ko-KR" sz="800" dirty="0" err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Ci</a:t>
            </a:r>
            <a:r>
              <a:rPr lang="ko-KR" altLang="en-US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로 부터 받은 피드백 </a:t>
            </a:r>
            <a:r>
              <a:rPr lang="en-US" altLang="ko-KR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Data</a:t>
            </a:r>
            <a:r>
              <a:rPr lang="ko-KR" altLang="en-US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를 </a:t>
            </a:r>
            <a:r>
              <a:rPr lang="en-US" altLang="ko-KR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485 </a:t>
            </a:r>
            <a:r>
              <a:rPr lang="ko-KR" altLang="en-US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통신 방식으로 </a:t>
            </a:r>
            <a:r>
              <a:rPr lang="en-US" altLang="ko-KR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CCP</a:t>
            </a:r>
            <a:r>
              <a:rPr lang="ko-KR" altLang="en-US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로 전달 한다</a:t>
            </a:r>
            <a:r>
              <a:rPr lang="en-US" altLang="ko-KR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.</a:t>
            </a:r>
          </a:p>
          <a:p>
            <a:pPr>
              <a:defRPr/>
            </a:pPr>
            <a:endParaRPr lang="en-US" altLang="ko-KR" sz="800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  <a:p>
            <a:pPr>
              <a:defRPr/>
            </a:pPr>
            <a:endParaRPr lang="en-US" altLang="ko-KR" sz="800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  <a:p>
            <a:pPr>
              <a:defRPr/>
            </a:pPr>
            <a:r>
              <a:rPr lang="en-US" altLang="ko-KR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SDR : Send Data Request</a:t>
            </a:r>
          </a:p>
          <a:p>
            <a:pPr>
              <a:defRPr/>
            </a:pPr>
            <a:r>
              <a:rPr lang="en-US" altLang="ko-KR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    : Send Data</a:t>
            </a:r>
          </a:p>
        </p:txBody>
      </p:sp>
      <p:sp>
        <p:nvSpPr>
          <p:cNvPr id="4121" name="Rectangle 11"/>
          <p:cNvSpPr>
            <a:spLocks noChangeArrowheads="1"/>
          </p:cNvSpPr>
          <p:nvPr/>
        </p:nvSpPr>
        <p:spPr bwMode="auto">
          <a:xfrm>
            <a:off x="122238" y="823913"/>
            <a:ext cx="6767512" cy="37306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376238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- CCP </a:t>
            </a:r>
            <a:r>
              <a:rPr lang="ko-KR" altLang="en-US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를</a:t>
            </a: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</a:t>
            </a:r>
            <a:r>
              <a:rPr lang="ko-KR" altLang="en-US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통한 데이터 입력 방식 및 피드백 방법 </a:t>
            </a: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– 2.</a:t>
            </a:r>
          </a:p>
        </p:txBody>
      </p:sp>
      <p:sp>
        <p:nvSpPr>
          <p:cNvPr id="4122" name="Rectangle 343"/>
          <p:cNvSpPr>
            <a:spLocks noChangeArrowheads="1"/>
          </p:cNvSpPr>
          <p:nvPr/>
        </p:nvSpPr>
        <p:spPr bwMode="auto">
          <a:xfrm>
            <a:off x="3479800" y="2779713"/>
            <a:ext cx="1277938" cy="515937"/>
          </a:xfrm>
          <a:prstGeom prst="rect">
            <a:avLst/>
          </a:prstGeom>
          <a:solidFill>
            <a:srgbClr val="CCFFFF"/>
          </a:solidFill>
          <a:ln w="22225" algn="ctr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538163" lvl="3" algn="r"/>
            <a:r>
              <a:rPr lang="en-US" altLang="ko-KR" sz="8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CRA</a:t>
            </a:r>
          </a:p>
          <a:p>
            <a:pPr marL="538163" lvl="3" algn="r"/>
            <a:r>
              <a:rPr lang="en-US" altLang="ko-KR" sz="8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(Comm. Rack A)</a:t>
            </a:r>
            <a:endParaRPr lang="ko-KR" altLang="en-US" sz="8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4123" name="물결 285"/>
          <p:cNvSpPr>
            <a:spLocks noChangeArrowheads="1"/>
          </p:cNvSpPr>
          <p:nvPr/>
        </p:nvSpPr>
        <p:spPr bwMode="auto">
          <a:xfrm>
            <a:off x="2119313" y="2892425"/>
            <a:ext cx="1281112" cy="330200"/>
          </a:xfrm>
          <a:prstGeom prst="wave">
            <a:avLst>
              <a:gd name="adj1" fmla="val 20000"/>
              <a:gd name="adj2" fmla="val 4597"/>
            </a:avLst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Ctr="1"/>
          <a:lstStyle/>
          <a:p>
            <a:pPr algn="ctr"/>
            <a:endParaRPr kumimoji="0" lang="ko-KR" altLang="en-US" sz="800" b="1">
              <a:solidFill>
                <a:schemeClr val="bg1"/>
              </a:solidFill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4124" name="AutoShape 128"/>
          <p:cNvSpPr>
            <a:spLocks/>
          </p:cNvSpPr>
          <p:nvPr/>
        </p:nvSpPr>
        <p:spPr bwMode="auto">
          <a:xfrm>
            <a:off x="2760663" y="3754438"/>
            <a:ext cx="1554162" cy="1468437"/>
          </a:xfrm>
          <a:prstGeom prst="borderCallout2">
            <a:avLst>
              <a:gd name="adj1" fmla="val 31250"/>
              <a:gd name="adj2" fmla="val 98611"/>
              <a:gd name="adj3" fmla="val 6611"/>
              <a:gd name="adj4" fmla="val 121481"/>
              <a:gd name="adj5" fmla="val -50912"/>
              <a:gd name="adj6" fmla="val 134731"/>
            </a:avLst>
          </a:prstGeom>
          <a:solidFill>
            <a:srgbClr val="CCFFFF"/>
          </a:solidFill>
          <a:ln w="9525" algn="ctr">
            <a:solidFill>
              <a:srgbClr val="0000FF"/>
            </a:solidFill>
            <a:miter lim="800000"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차량 구성 정보를 이용하여 </a:t>
            </a:r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CI </a:t>
            </a:r>
            <a:r>
              <a: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위상</a:t>
            </a:r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</a:t>
            </a:r>
            <a:r>
              <a: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제어 정보를 자동으로 전달 한다</a:t>
            </a:r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.</a:t>
            </a:r>
          </a:p>
          <a:p>
            <a:pPr algn="ctr"/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(</a:t>
            </a:r>
            <a:r>
              <a: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차량 번호를 이용하여 차량 번호가 낮은 순서대로 차례대로 순서를 설정 한다</a:t>
            </a:r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.)</a:t>
            </a:r>
          </a:p>
          <a:p>
            <a:pPr algn="ctr"/>
            <a:endParaRPr lang="en-US" altLang="ko-KR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46" name="Rectangle 9"/>
          <p:cNvSpPr>
            <a:spLocks noChangeArrowheads="1"/>
          </p:cNvSpPr>
          <p:nvPr/>
        </p:nvSpPr>
        <p:spPr bwMode="auto">
          <a:xfrm>
            <a:off x="193675" y="256352"/>
            <a:ext cx="82518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457200" indent="-457200" algn="ctr" eaLnBrk="1" latinLnBrk="1" hangingPunct="1"/>
            <a:r>
              <a:rPr lang="en-US" altLang="ko-KR" sz="20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Denver Eagle EMU Project</a:t>
            </a:r>
          </a:p>
        </p:txBody>
      </p:sp>
    </p:spTree>
    <p:extLst>
      <p:ext uri="{BB962C8B-B14F-4D97-AF65-F5344CB8AC3E}">
        <p14:creationId xmlns:p14="http://schemas.microsoft.com/office/powerpoint/2010/main" val="3404244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235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225" y="1808163"/>
            <a:ext cx="546100" cy="35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5125" name="그룹 2"/>
          <p:cNvGrpSpPr>
            <a:grpSpLocks/>
          </p:cNvGrpSpPr>
          <p:nvPr/>
        </p:nvGrpSpPr>
        <p:grpSpPr bwMode="auto">
          <a:xfrm>
            <a:off x="12700" y="1520825"/>
            <a:ext cx="1954213" cy="2027238"/>
            <a:chOff x="59648" y="1268413"/>
            <a:chExt cx="2524125" cy="2027237"/>
          </a:xfrm>
        </p:grpSpPr>
        <p:sp>
          <p:nvSpPr>
            <p:cNvPr id="5223" name="Rectangle 11"/>
            <p:cNvSpPr>
              <a:spLocks noChangeArrowheads="1"/>
            </p:cNvSpPr>
            <p:nvPr/>
          </p:nvSpPr>
          <p:spPr bwMode="auto">
            <a:xfrm>
              <a:off x="603952" y="2298700"/>
              <a:ext cx="1143001" cy="28733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555625" lvl="3" indent="-376238" eaLnBrk="1" latinLnBrk="1" hangingPunct="1">
                <a:buFont typeface="Wingdings" pitchFamily="2" charset="2"/>
                <a:buNone/>
              </a:pPr>
              <a:r>
                <a:rPr lang="en-US" altLang="ko-KR" sz="800" b="1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RS     485</a:t>
              </a:r>
            </a:p>
          </p:txBody>
        </p:sp>
        <p:sp>
          <p:nvSpPr>
            <p:cNvPr id="5224" name="Rectangle 11"/>
            <p:cNvSpPr>
              <a:spLocks noChangeArrowheads="1"/>
            </p:cNvSpPr>
            <p:nvPr/>
          </p:nvSpPr>
          <p:spPr bwMode="auto">
            <a:xfrm>
              <a:off x="59648" y="1268413"/>
              <a:ext cx="2524125" cy="28733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555625" lvl="3" indent="-376238" eaLnBrk="1" latinLnBrk="1" hangingPunct="1">
                <a:buFont typeface="Wingdings" pitchFamily="2" charset="2"/>
                <a:buNone/>
              </a:pPr>
              <a:r>
                <a:rPr lang="en-US" altLang="ko-KR" sz="800" b="1" dirty="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CCP (Comm. Control Panel)</a:t>
              </a:r>
            </a:p>
          </p:txBody>
        </p:sp>
        <p:sp>
          <p:nvSpPr>
            <p:cNvPr id="5225" name="Line 23"/>
            <p:cNvSpPr>
              <a:spLocks noChangeShapeType="1"/>
            </p:cNvSpPr>
            <p:nvPr/>
          </p:nvSpPr>
          <p:spPr bwMode="auto">
            <a:xfrm rot="5400000">
              <a:off x="1026436" y="2436813"/>
              <a:ext cx="4508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5226" name="Line 24"/>
            <p:cNvSpPr>
              <a:spLocks noChangeShapeType="1"/>
            </p:cNvSpPr>
            <p:nvPr/>
          </p:nvSpPr>
          <p:spPr bwMode="auto">
            <a:xfrm rot="-5400000">
              <a:off x="1099461" y="2419350"/>
              <a:ext cx="4508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5227" name="Line 70"/>
            <p:cNvSpPr>
              <a:spLocks noChangeShapeType="1"/>
            </p:cNvSpPr>
            <p:nvPr/>
          </p:nvSpPr>
          <p:spPr bwMode="auto">
            <a:xfrm rot="5400000">
              <a:off x="959761" y="2439988"/>
              <a:ext cx="45085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pic>
          <p:nvPicPr>
            <p:cNvPr id="5228" name="Picture 22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9111" y="1519238"/>
              <a:ext cx="915987" cy="622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229" name="Rectangle 238"/>
            <p:cNvSpPr>
              <a:spLocks noChangeArrowheads="1"/>
            </p:cNvSpPr>
            <p:nvPr/>
          </p:nvSpPr>
          <p:spPr bwMode="auto">
            <a:xfrm>
              <a:off x="651786" y="2779713"/>
              <a:ext cx="1277937" cy="515937"/>
            </a:xfrm>
            <a:prstGeom prst="rect">
              <a:avLst/>
            </a:prstGeom>
            <a:solidFill>
              <a:srgbClr val="CCFFFF"/>
            </a:solidFill>
            <a:ln w="22225" algn="ctr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538163" lvl="3" algn="r"/>
              <a:r>
                <a:rPr lang="en-US" altLang="ko-KR" sz="800" b="1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CRA</a:t>
              </a:r>
            </a:p>
            <a:p>
              <a:pPr marL="538163" lvl="3" algn="r"/>
              <a:r>
                <a:rPr lang="en-US" altLang="ko-KR" sz="800" b="1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(Comm. Rack A)</a:t>
              </a:r>
              <a:endParaRPr lang="ko-KR" altLang="en-US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grpSp>
        <p:nvGrpSpPr>
          <p:cNvPr id="5126" name="Group 53"/>
          <p:cNvGrpSpPr>
            <a:grpSpLocks/>
          </p:cNvGrpSpPr>
          <p:nvPr/>
        </p:nvGrpSpPr>
        <p:grpSpPr bwMode="auto">
          <a:xfrm>
            <a:off x="1430338" y="3249613"/>
            <a:ext cx="677862" cy="73025"/>
            <a:chOff x="1191" y="1434"/>
            <a:chExt cx="613" cy="46"/>
          </a:xfrm>
        </p:grpSpPr>
        <p:sp>
          <p:nvSpPr>
            <p:cNvPr id="5221" name="Line 54"/>
            <p:cNvSpPr>
              <a:spLocks noChangeShapeType="1"/>
            </p:cNvSpPr>
            <p:nvPr/>
          </p:nvSpPr>
          <p:spPr bwMode="auto">
            <a:xfrm>
              <a:off x="1214" y="1480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5222" name="Line 55"/>
            <p:cNvSpPr>
              <a:spLocks noChangeShapeType="1"/>
            </p:cNvSpPr>
            <p:nvPr/>
          </p:nvSpPr>
          <p:spPr bwMode="auto">
            <a:xfrm rot="10800000">
              <a:off x="1191" y="1434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sp>
        <p:nvSpPr>
          <p:cNvPr id="5127" name="Line 73"/>
          <p:cNvSpPr>
            <a:spLocks noChangeShapeType="1"/>
          </p:cNvSpPr>
          <p:nvPr/>
        </p:nvSpPr>
        <p:spPr bwMode="auto">
          <a:xfrm>
            <a:off x="1439863" y="3405188"/>
            <a:ext cx="6731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grpSp>
        <p:nvGrpSpPr>
          <p:cNvPr id="5128" name="그룹 181"/>
          <p:cNvGrpSpPr>
            <a:grpSpLocks/>
          </p:cNvGrpSpPr>
          <p:nvPr/>
        </p:nvGrpSpPr>
        <p:grpSpPr bwMode="auto">
          <a:xfrm>
            <a:off x="1687513" y="1520825"/>
            <a:ext cx="1955800" cy="2027238"/>
            <a:chOff x="59648" y="1268413"/>
            <a:chExt cx="2524125" cy="2027237"/>
          </a:xfrm>
        </p:grpSpPr>
        <p:sp>
          <p:nvSpPr>
            <p:cNvPr id="5214" name="Rectangle 11"/>
            <p:cNvSpPr>
              <a:spLocks noChangeArrowheads="1"/>
            </p:cNvSpPr>
            <p:nvPr/>
          </p:nvSpPr>
          <p:spPr bwMode="auto">
            <a:xfrm>
              <a:off x="603952" y="2298700"/>
              <a:ext cx="1143001" cy="28733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555625" lvl="3" indent="-376238" eaLnBrk="1" latinLnBrk="1" hangingPunct="1">
                <a:buFont typeface="Wingdings" pitchFamily="2" charset="2"/>
                <a:buNone/>
              </a:pPr>
              <a:r>
                <a:rPr lang="en-US" altLang="ko-KR" sz="800" b="1" dirty="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RS     485</a:t>
              </a:r>
            </a:p>
          </p:txBody>
        </p:sp>
        <p:sp>
          <p:nvSpPr>
            <p:cNvPr id="5215" name="Rectangle 11"/>
            <p:cNvSpPr>
              <a:spLocks noChangeArrowheads="1"/>
            </p:cNvSpPr>
            <p:nvPr/>
          </p:nvSpPr>
          <p:spPr bwMode="auto">
            <a:xfrm>
              <a:off x="59648" y="1268413"/>
              <a:ext cx="2524125" cy="28733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555625" lvl="3" indent="-376238" eaLnBrk="1" latinLnBrk="1" hangingPunct="1">
                <a:buFont typeface="Wingdings" pitchFamily="2" charset="2"/>
                <a:buNone/>
              </a:pPr>
              <a:r>
                <a:rPr lang="en-US" altLang="ko-KR" sz="800" b="1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CCP (Comm. Control Panel)</a:t>
              </a:r>
            </a:p>
          </p:txBody>
        </p:sp>
        <p:sp>
          <p:nvSpPr>
            <p:cNvPr id="5216" name="Line 23"/>
            <p:cNvSpPr>
              <a:spLocks noChangeShapeType="1"/>
            </p:cNvSpPr>
            <p:nvPr/>
          </p:nvSpPr>
          <p:spPr bwMode="auto">
            <a:xfrm rot="5400000">
              <a:off x="1026436" y="2436813"/>
              <a:ext cx="4508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5217" name="Line 24"/>
            <p:cNvSpPr>
              <a:spLocks noChangeShapeType="1"/>
            </p:cNvSpPr>
            <p:nvPr/>
          </p:nvSpPr>
          <p:spPr bwMode="auto">
            <a:xfrm rot="-5400000">
              <a:off x="1099461" y="2419350"/>
              <a:ext cx="4508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5218" name="Line 70"/>
            <p:cNvSpPr>
              <a:spLocks noChangeShapeType="1"/>
            </p:cNvSpPr>
            <p:nvPr/>
          </p:nvSpPr>
          <p:spPr bwMode="auto">
            <a:xfrm rot="5400000">
              <a:off x="959761" y="2439988"/>
              <a:ext cx="45085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pic>
          <p:nvPicPr>
            <p:cNvPr id="5219" name="Picture 22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9111" y="1519238"/>
              <a:ext cx="915987" cy="622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220" name="Rectangle 238"/>
            <p:cNvSpPr>
              <a:spLocks noChangeArrowheads="1"/>
            </p:cNvSpPr>
            <p:nvPr/>
          </p:nvSpPr>
          <p:spPr bwMode="auto">
            <a:xfrm>
              <a:off x="651786" y="2779713"/>
              <a:ext cx="1277937" cy="515937"/>
            </a:xfrm>
            <a:prstGeom prst="rect">
              <a:avLst/>
            </a:prstGeom>
            <a:solidFill>
              <a:srgbClr val="CCFFFF"/>
            </a:solidFill>
            <a:ln w="22225" algn="ctr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538163" lvl="3" algn="r"/>
              <a:r>
                <a:rPr lang="en-US" altLang="ko-KR" sz="800" b="1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CRA</a:t>
              </a:r>
            </a:p>
            <a:p>
              <a:pPr marL="538163" lvl="3" algn="r"/>
              <a:r>
                <a:rPr lang="en-US" altLang="ko-KR" sz="800" b="1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(Comm. Rack A)</a:t>
              </a:r>
              <a:endParaRPr lang="ko-KR" altLang="en-US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grpSp>
        <p:nvGrpSpPr>
          <p:cNvPr id="5129" name="그룹 204"/>
          <p:cNvGrpSpPr>
            <a:grpSpLocks/>
          </p:cNvGrpSpPr>
          <p:nvPr/>
        </p:nvGrpSpPr>
        <p:grpSpPr bwMode="auto">
          <a:xfrm>
            <a:off x="5930900" y="1493838"/>
            <a:ext cx="2212975" cy="2027237"/>
            <a:chOff x="1640540" y="1340710"/>
            <a:chExt cx="2212911" cy="2027237"/>
          </a:xfrm>
        </p:grpSpPr>
        <p:grpSp>
          <p:nvGrpSpPr>
            <p:cNvPr id="5202" name="Group 53"/>
            <p:cNvGrpSpPr>
              <a:grpSpLocks/>
            </p:cNvGrpSpPr>
            <p:nvPr/>
          </p:nvGrpSpPr>
          <p:grpSpPr bwMode="auto">
            <a:xfrm>
              <a:off x="1640540" y="3068950"/>
              <a:ext cx="677863" cy="73025"/>
              <a:chOff x="1191" y="1434"/>
              <a:chExt cx="613" cy="46"/>
            </a:xfrm>
          </p:grpSpPr>
          <p:sp>
            <p:nvSpPr>
              <p:cNvPr id="5212" name="Line 54"/>
              <p:cNvSpPr>
                <a:spLocks noChangeShapeType="1"/>
              </p:cNvSpPr>
              <p:nvPr/>
            </p:nvSpPr>
            <p:spPr bwMode="auto">
              <a:xfrm>
                <a:off x="1214" y="1480"/>
                <a:ext cx="59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80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endParaRPr>
              </a:p>
            </p:txBody>
          </p:sp>
          <p:sp>
            <p:nvSpPr>
              <p:cNvPr id="5213" name="Line 55"/>
              <p:cNvSpPr>
                <a:spLocks noChangeShapeType="1"/>
              </p:cNvSpPr>
              <p:nvPr/>
            </p:nvSpPr>
            <p:spPr bwMode="auto">
              <a:xfrm rot="10800000">
                <a:off x="1191" y="1434"/>
                <a:ext cx="59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80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endParaRPr>
              </a:p>
            </p:txBody>
          </p:sp>
        </p:grpSp>
        <p:sp>
          <p:nvSpPr>
            <p:cNvPr id="5203" name="Line 73"/>
            <p:cNvSpPr>
              <a:spLocks noChangeShapeType="1"/>
            </p:cNvSpPr>
            <p:nvPr/>
          </p:nvSpPr>
          <p:spPr bwMode="auto">
            <a:xfrm>
              <a:off x="1650065" y="3224525"/>
              <a:ext cx="67310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grpSp>
          <p:nvGrpSpPr>
            <p:cNvPr id="5204" name="그룹 207"/>
            <p:cNvGrpSpPr>
              <a:grpSpLocks/>
            </p:cNvGrpSpPr>
            <p:nvPr/>
          </p:nvGrpSpPr>
          <p:grpSpPr bwMode="auto">
            <a:xfrm>
              <a:off x="1898600" y="1340710"/>
              <a:ext cx="1954851" cy="2027237"/>
              <a:chOff x="59648" y="1268413"/>
              <a:chExt cx="2524125" cy="2027237"/>
            </a:xfrm>
          </p:grpSpPr>
          <p:sp>
            <p:nvSpPr>
              <p:cNvPr id="5205" name="Rectangle 11"/>
              <p:cNvSpPr>
                <a:spLocks noChangeArrowheads="1"/>
              </p:cNvSpPr>
              <p:nvPr/>
            </p:nvSpPr>
            <p:spPr bwMode="auto">
              <a:xfrm>
                <a:off x="603952" y="2298700"/>
                <a:ext cx="1143001" cy="287338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555625" lvl="3" indent="-376238" eaLnBrk="1" latinLnBrk="1" hangingPunct="1">
                  <a:buFont typeface="Wingdings" pitchFamily="2" charset="2"/>
                  <a:buNone/>
                </a:pPr>
                <a:r>
                  <a:rPr lang="en-US" altLang="ko-KR" sz="800" b="1">
                    <a:latin typeface="Arial Unicode MS" pitchFamily="50" charset="-127"/>
                    <a:ea typeface="Arial Unicode MS" pitchFamily="50" charset="-127"/>
                    <a:cs typeface="Arial Unicode MS" pitchFamily="50" charset="-127"/>
                  </a:rPr>
                  <a:t>RS     485</a:t>
                </a:r>
              </a:p>
            </p:txBody>
          </p:sp>
          <p:sp>
            <p:nvSpPr>
              <p:cNvPr id="5206" name="Rectangle 11"/>
              <p:cNvSpPr>
                <a:spLocks noChangeArrowheads="1"/>
              </p:cNvSpPr>
              <p:nvPr/>
            </p:nvSpPr>
            <p:spPr bwMode="auto">
              <a:xfrm>
                <a:off x="59648" y="1268413"/>
                <a:ext cx="2524125" cy="28733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555625" lvl="3" indent="-376238" eaLnBrk="1" latinLnBrk="1" hangingPunct="1">
                  <a:buFont typeface="Wingdings" pitchFamily="2" charset="2"/>
                  <a:buNone/>
                </a:pPr>
                <a:r>
                  <a:rPr lang="en-US" altLang="ko-KR" sz="800" b="1">
                    <a:latin typeface="Arial Unicode MS" pitchFamily="50" charset="-127"/>
                    <a:ea typeface="Arial Unicode MS" pitchFamily="50" charset="-127"/>
                    <a:cs typeface="Arial Unicode MS" pitchFamily="50" charset="-127"/>
                  </a:rPr>
                  <a:t>CCP (Comm. Control Panel)</a:t>
                </a:r>
              </a:p>
            </p:txBody>
          </p:sp>
          <p:sp>
            <p:nvSpPr>
              <p:cNvPr id="5207" name="Line 23"/>
              <p:cNvSpPr>
                <a:spLocks noChangeShapeType="1"/>
              </p:cNvSpPr>
              <p:nvPr/>
            </p:nvSpPr>
            <p:spPr bwMode="auto">
              <a:xfrm rot="5400000">
                <a:off x="1026436" y="2436813"/>
                <a:ext cx="45085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80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endParaRPr>
              </a:p>
            </p:txBody>
          </p:sp>
          <p:sp>
            <p:nvSpPr>
              <p:cNvPr id="5208" name="Line 24"/>
              <p:cNvSpPr>
                <a:spLocks noChangeShapeType="1"/>
              </p:cNvSpPr>
              <p:nvPr/>
            </p:nvSpPr>
            <p:spPr bwMode="auto">
              <a:xfrm rot="-5400000">
                <a:off x="1099461" y="2419350"/>
                <a:ext cx="45085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80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endParaRPr>
              </a:p>
            </p:txBody>
          </p:sp>
          <p:sp>
            <p:nvSpPr>
              <p:cNvPr id="5209" name="Line 70"/>
              <p:cNvSpPr>
                <a:spLocks noChangeShapeType="1"/>
              </p:cNvSpPr>
              <p:nvPr/>
            </p:nvSpPr>
            <p:spPr bwMode="auto">
              <a:xfrm rot="5400000">
                <a:off x="959761" y="2439988"/>
                <a:ext cx="450850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80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endParaRPr>
              </a:p>
            </p:txBody>
          </p:sp>
          <p:pic>
            <p:nvPicPr>
              <p:cNvPr id="5210" name="Picture 229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9111" y="1519238"/>
                <a:ext cx="915987" cy="622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211" name="Rectangle 238"/>
              <p:cNvSpPr>
                <a:spLocks noChangeArrowheads="1"/>
              </p:cNvSpPr>
              <p:nvPr/>
            </p:nvSpPr>
            <p:spPr bwMode="auto">
              <a:xfrm>
                <a:off x="651786" y="2779713"/>
                <a:ext cx="1277937" cy="515937"/>
              </a:xfrm>
              <a:prstGeom prst="rect">
                <a:avLst/>
              </a:prstGeom>
              <a:solidFill>
                <a:srgbClr val="CCFFFF"/>
              </a:solidFill>
              <a:ln w="22225" algn="ctr">
                <a:solidFill>
                  <a:srgbClr val="9933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538163" lvl="3" algn="r"/>
                <a:r>
                  <a:rPr lang="en-US" altLang="ko-KR" sz="800" b="1">
                    <a:latin typeface="Arial Unicode MS" pitchFamily="50" charset="-127"/>
                    <a:ea typeface="Arial Unicode MS" pitchFamily="50" charset="-127"/>
                    <a:cs typeface="Arial Unicode MS" pitchFamily="50" charset="-127"/>
                  </a:rPr>
                  <a:t>CRA</a:t>
                </a:r>
              </a:p>
              <a:p>
                <a:pPr marL="538163" lvl="3" algn="r"/>
                <a:r>
                  <a:rPr lang="en-US" altLang="ko-KR" sz="800" b="1">
                    <a:latin typeface="Arial Unicode MS" pitchFamily="50" charset="-127"/>
                    <a:ea typeface="Arial Unicode MS" pitchFamily="50" charset="-127"/>
                    <a:cs typeface="Arial Unicode MS" pitchFamily="50" charset="-127"/>
                  </a:rPr>
                  <a:t>(Comm. Rack A)</a:t>
                </a:r>
                <a:endParaRPr lang="ko-KR" altLang="en-US" sz="800" b="1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endParaRPr>
              </a:p>
            </p:txBody>
          </p:sp>
        </p:grpSp>
      </p:grpSp>
      <p:grpSp>
        <p:nvGrpSpPr>
          <p:cNvPr id="5130" name="그룹 217"/>
          <p:cNvGrpSpPr>
            <a:grpSpLocks/>
          </p:cNvGrpSpPr>
          <p:nvPr/>
        </p:nvGrpSpPr>
        <p:grpSpPr bwMode="auto">
          <a:xfrm>
            <a:off x="7654925" y="1493838"/>
            <a:ext cx="2211388" cy="2027237"/>
            <a:chOff x="1640540" y="1340710"/>
            <a:chExt cx="2212911" cy="2027237"/>
          </a:xfrm>
        </p:grpSpPr>
        <p:grpSp>
          <p:nvGrpSpPr>
            <p:cNvPr id="5190" name="Group 53"/>
            <p:cNvGrpSpPr>
              <a:grpSpLocks/>
            </p:cNvGrpSpPr>
            <p:nvPr/>
          </p:nvGrpSpPr>
          <p:grpSpPr bwMode="auto">
            <a:xfrm>
              <a:off x="1640540" y="3068950"/>
              <a:ext cx="677863" cy="73025"/>
              <a:chOff x="1191" y="1434"/>
              <a:chExt cx="613" cy="46"/>
            </a:xfrm>
          </p:grpSpPr>
          <p:sp>
            <p:nvSpPr>
              <p:cNvPr id="5200" name="Line 54"/>
              <p:cNvSpPr>
                <a:spLocks noChangeShapeType="1"/>
              </p:cNvSpPr>
              <p:nvPr/>
            </p:nvSpPr>
            <p:spPr bwMode="auto">
              <a:xfrm>
                <a:off x="1214" y="1480"/>
                <a:ext cx="59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80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endParaRPr>
              </a:p>
            </p:txBody>
          </p:sp>
          <p:sp>
            <p:nvSpPr>
              <p:cNvPr id="5201" name="Line 55"/>
              <p:cNvSpPr>
                <a:spLocks noChangeShapeType="1"/>
              </p:cNvSpPr>
              <p:nvPr/>
            </p:nvSpPr>
            <p:spPr bwMode="auto">
              <a:xfrm rot="10800000">
                <a:off x="1191" y="1434"/>
                <a:ext cx="59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80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endParaRPr>
              </a:p>
            </p:txBody>
          </p:sp>
        </p:grpSp>
        <p:sp>
          <p:nvSpPr>
            <p:cNvPr id="5191" name="Line 73"/>
            <p:cNvSpPr>
              <a:spLocks noChangeShapeType="1"/>
            </p:cNvSpPr>
            <p:nvPr/>
          </p:nvSpPr>
          <p:spPr bwMode="auto">
            <a:xfrm>
              <a:off x="1650065" y="3224525"/>
              <a:ext cx="67310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grpSp>
          <p:nvGrpSpPr>
            <p:cNvPr id="5192" name="그룹 220"/>
            <p:cNvGrpSpPr>
              <a:grpSpLocks/>
            </p:cNvGrpSpPr>
            <p:nvPr/>
          </p:nvGrpSpPr>
          <p:grpSpPr bwMode="auto">
            <a:xfrm>
              <a:off x="1898600" y="1340710"/>
              <a:ext cx="1954851" cy="2027237"/>
              <a:chOff x="59648" y="1268413"/>
              <a:chExt cx="2524125" cy="2027237"/>
            </a:xfrm>
          </p:grpSpPr>
          <p:sp>
            <p:nvSpPr>
              <p:cNvPr id="5193" name="Rectangle 11"/>
              <p:cNvSpPr>
                <a:spLocks noChangeArrowheads="1"/>
              </p:cNvSpPr>
              <p:nvPr/>
            </p:nvSpPr>
            <p:spPr bwMode="auto">
              <a:xfrm>
                <a:off x="603952" y="2298700"/>
                <a:ext cx="1143001" cy="287338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555625" lvl="3" indent="-376238" eaLnBrk="1" latinLnBrk="1" hangingPunct="1">
                  <a:buFont typeface="Wingdings" pitchFamily="2" charset="2"/>
                  <a:buNone/>
                </a:pPr>
                <a:r>
                  <a:rPr lang="en-US" altLang="ko-KR" sz="800" b="1">
                    <a:latin typeface="Arial Unicode MS" pitchFamily="50" charset="-127"/>
                    <a:ea typeface="Arial Unicode MS" pitchFamily="50" charset="-127"/>
                    <a:cs typeface="Arial Unicode MS" pitchFamily="50" charset="-127"/>
                  </a:rPr>
                  <a:t>RS     485</a:t>
                </a:r>
              </a:p>
            </p:txBody>
          </p:sp>
          <p:sp>
            <p:nvSpPr>
              <p:cNvPr id="5194" name="Rectangle 11"/>
              <p:cNvSpPr>
                <a:spLocks noChangeArrowheads="1"/>
              </p:cNvSpPr>
              <p:nvPr/>
            </p:nvSpPr>
            <p:spPr bwMode="auto">
              <a:xfrm>
                <a:off x="59648" y="1268413"/>
                <a:ext cx="2524125" cy="28733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555625" lvl="3" indent="-376238" eaLnBrk="1" latinLnBrk="1" hangingPunct="1">
                  <a:buFont typeface="Wingdings" pitchFamily="2" charset="2"/>
                  <a:buNone/>
                </a:pPr>
                <a:r>
                  <a:rPr lang="en-US" altLang="ko-KR" sz="800" b="1">
                    <a:latin typeface="Arial Unicode MS" pitchFamily="50" charset="-127"/>
                    <a:ea typeface="Arial Unicode MS" pitchFamily="50" charset="-127"/>
                    <a:cs typeface="Arial Unicode MS" pitchFamily="50" charset="-127"/>
                  </a:rPr>
                  <a:t>CCP (Comm. Control Panel)</a:t>
                </a:r>
              </a:p>
            </p:txBody>
          </p:sp>
          <p:sp>
            <p:nvSpPr>
              <p:cNvPr id="5195" name="Line 23"/>
              <p:cNvSpPr>
                <a:spLocks noChangeShapeType="1"/>
              </p:cNvSpPr>
              <p:nvPr/>
            </p:nvSpPr>
            <p:spPr bwMode="auto">
              <a:xfrm rot="5400000">
                <a:off x="1026436" y="2436813"/>
                <a:ext cx="45085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80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endParaRPr>
              </a:p>
            </p:txBody>
          </p:sp>
          <p:sp>
            <p:nvSpPr>
              <p:cNvPr id="5196" name="Line 24"/>
              <p:cNvSpPr>
                <a:spLocks noChangeShapeType="1"/>
              </p:cNvSpPr>
              <p:nvPr/>
            </p:nvSpPr>
            <p:spPr bwMode="auto">
              <a:xfrm rot="-5400000">
                <a:off x="1099461" y="2419350"/>
                <a:ext cx="45085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80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endParaRPr>
              </a:p>
            </p:txBody>
          </p:sp>
          <p:sp>
            <p:nvSpPr>
              <p:cNvPr id="5197" name="Line 70"/>
              <p:cNvSpPr>
                <a:spLocks noChangeShapeType="1"/>
              </p:cNvSpPr>
              <p:nvPr/>
            </p:nvSpPr>
            <p:spPr bwMode="auto">
              <a:xfrm rot="5400000">
                <a:off x="959761" y="2439988"/>
                <a:ext cx="450850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80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endParaRPr>
              </a:p>
            </p:txBody>
          </p:sp>
          <p:pic>
            <p:nvPicPr>
              <p:cNvPr id="5198" name="Picture 229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9111" y="1519238"/>
                <a:ext cx="915987" cy="622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199" name="Rectangle 238"/>
              <p:cNvSpPr>
                <a:spLocks noChangeArrowheads="1"/>
              </p:cNvSpPr>
              <p:nvPr/>
            </p:nvSpPr>
            <p:spPr bwMode="auto">
              <a:xfrm>
                <a:off x="651786" y="2779713"/>
                <a:ext cx="1277937" cy="515937"/>
              </a:xfrm>
              <a:prstGeom prst="rect">
                <a:avLst/>
              </a:prstGeom>
              <a:solidFill>
                <a:srgbClr val="CCFFFF"/>
              </a:solidFill>
              <a:ln w="22225" algn="ctr">
                <a:solidFill>
                  <a:srgbClr val="9933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538163" lvl="3" algn="r"/>
                <a:r>
                  <a:rPr lang="en-US" altLang="ko-KR" sz="800" b="1">
                    <a:latin typeface="Arial Unicode MS" pitchFamily="50" charset="-127"/>
                    <a:ea typeface="Arial Unicode MS" pitchFamily="50" charset="-127"/>
                    <a:cs typeface="Arial Unicode MS" pitchFamily="50" charset="-127"/>
                  </a:rPr>
                  <a:t>CRA</a:t>
                </a:r>
              </a:p>
              <a:p>
                <a:pPr marL="538163" lvl="3" algn="r"/>
                <a:r>
                  <a:rPr lang="en-US" altLang="ko-KR" sz="800" b="1">
                    <a:latin typeface="Arial Unicode MS" pitchFamily="50" charset="-127"/>
                    <a:ea typeface="Arial Unicode MS" pitchFamily="50" charset="-127"/>
                    <a:cs typeface="Arial Unicode MS" pitchFamily="50" charset="-127"/>
                  </a:rPr>
                  <a:t>(Comm. Rack A)</a:t>
                </a:r>
                <a:endParaRPr lang="ko-KR" altLang="en-US" sz="800" b="1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endParaRPr>
              </a:p>
            </p:txBody>
          </p:sp>
        </p:grpSp>
      </p:grpSp>
      <p:sp>
        <p:nvSpPr>
          <p:cNvPr id="5131" name="물결 4"/>
          <p:cNvSpPr>
            <a:spLocks noChangeArrowheads="1"/>
          </p:cNvSpPr>
          <p:nvPr/>
        </p:nvSpPr>
        <p:spPr bwMode="auto">
          <a:xfrm>
            <a:off x="4160838" y="2374900"/>
            <a:ext cx="1281112" cy="539750"/>
          </a:xfrm>
          <a:prstGeom prst="wave">
            <a:avLst>
              <a:gd name="adj1" fmla="val 20000"/>
              <a:gd name="adj2" fmla="val 4597"/>
            </a:avLst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Ctr="1"/>
          <a:lstStyle/>
          <a:p>
            <a:pPr algn="ctr"/>
            <a:endParaRPr kumimoji="0" lang="ko-KR" altLang="en-US" sz="800" b="1">
              <a:solidFill>
                <a:schemeClr val="bg1"/>
              </a:solidFill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grpSp>
        <p:nvGrpSpPr>
          <p:cNvPr id="5132" name="Group 53"/>
          <p:cNvGrpSpPr>
            <a:grpSpLocks/>
          </p:cNvGrpSpPr>
          <p:nvPr/>
        </p:nvGrpSpPr>
        <p:grpSpPr bwMode="auto">
          <a:xfrm>
            <a:off x="3176588" y="3265488"/>
            <a:ext cx="677862" cy="73025"/>
            <a:chOff x="1191" y="1434"/>
            <a:chExt cx="613" cy="46"/>
          </a:xfrm>
        </p:grpSpPr>
        <p:sp>
          <p:nvSpPr>
            <p:cNvPr id="5188" name="Line 54"/>
            <p:cNvSpPr>
              <a:spLocks noChangeShapeType="1"/>
            </p:cNvSpPr>
            <p:nvPr/>
          </p:nvSpPr>
          <p:spPr bwMode="auto">
            <a:xfrm>
              <a:off x="1214" y="1480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5189" name="Line 55"/>
            <p:cNvSpPr>
              <a:spLocks noChangeShapeType="1"/>
            </p:cNvSpPr>
            <p:nvPr/>
          </p:nvSpPr>
          <p:spPr bwMode="auto">
            <a:xfrm rot="10800000">
              <a:off x="1191" y="1434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sp>
        <p:nvSpPr>
          <p:cNvPr id="5133" name="Line 73"/>
          <p:cNvSpPr>
            <a:spLocks noChangeShapeType="1"/>
          </p:cNvSpPr>
          <p:nvPr/>
        </p:nvSpPr>
        <p:spPr bwMode="auto">
          <a:xfrm>
            <a:off x="3186113" y="3421063"/>
            <a:ext cx="6731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grpSp>
        <p:nvGrpSpPr>
          <p:cNvPr id="5134" name="Group 78"/>
          <p:cNvGrpSpPr>
            <a:grpSpLocks/>
          </p:cNvGrpSpPr>
          <p:nvPr/>
        </p:nvGrpSpPr>
        <p:grpSpPr bwMode="auto">
          <a:xfrm>
            <a:off x="3675063" y="6003925"/>
            <a:ext cx="2397125" cy="498475"/>
            <a:chOff x="2005" y="3706"/>
            <a:chExt cx="1510" cy="314"/>
          </a:xfrm>
        </p:grpSpPr>
        <p:sp>
          <p:nvSpPr>
            <p:cNvPr id="5168" name="Rectangle 11"/>
            <p:cNvSpPr>
              <a:spLocks noChangeArrowheads="1"/>
            </p:cNvSpPr>
            <p:nvPr/>
          </p:nvSpPr>
          <p:spPr bwMode="auto">
            <a:xfrm>
              <a:off x="2005" y="3706"/>
              <a:ext cx="938" cy="178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376238" lvl="3" indent="-376238" eaLnBrk="1" latinLnBrk="1" hangingPunct="1">
                <a:buFont typeface="Wingdings" pitchFamily="2" charset="2"/>
                <a:buNone/>
              </a:pPr>
              <a:r>
                <a:rPr lang="en-US" altLang="ko-KR" sz="800" b="1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Phase Shift </a:t>
              </a:r>
              <a:r>
                <a:rPr lang="en-US" altLang="ko-KR" sz="800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(degree)</a:t>
              </a:r>
            </a:p>
          </p:txBody>
        </p:sp>
        <p:sp>
          <p:nvSpPr>
            <p:cNvPr id="5169" name="Rectangle 80"/>
            <p:cNvSpPr>
              <a:spLocks noChangeArrowheads="1"/>
            </p:cNvSpPr>
            <p:nvPr/>
          </p:nvSpPr>
          <p:spPr bwMode="auto">
            <a:xfrm>
              <a:off x="3326" y="3857"/>
              <a:ext cx="189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135</a:t>
              </a:r>
            </a:p>
          </p:txBody>
        </p:sp>
        <p:sp>
          <p:nvSpPr>
            <p:cNvPr id="5170" name="Rectangle 81"/>
            <p:cNvSpPr>
              <a:spLocks noChangeArrowheads="1"/>
            </p:cNvSpPr>
            <p:nvPr/>
          </p:nvSpPr>
          <p:spPr bwMode="auto">
            <a:xfrm>
              <a:off x="3138" y="3857"/>
              <a:ext cx="188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45</a:t>
              </a:r>
            </a:p>
          </p:txBody>
        </p:sp>
        <p:sp>
          <p:nvSpPr>
            <p:cNvPr id="5171" name="Rectangle 82"/>
            <p:cNvSpPr>
              <a:spLocks noChangeArrowheads="1"/>
            </p:cNvSpPr>
            <p:nvPr/>
          </p:nvSpPr>
          <p:spPr bwMode="auto">
            <a:xfrm>
              <a:off x="2951" y="3857"/>
              <a:ext cx="187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90</a:t>
              </a:r>
            </a:p>
          </p:txBody>
        </p:sp>
        <p:sp>
          <p:nvSpPr>
            <p:cNvPr id="5172" name="Rectangle 83"/>
            <p:cNvSpPr>
              <a:spLocks noChangeArrowheads="1"/>
            </p:cNvSpPr>
            <p:nvPr/>
          </p:nvSpPr>
          <p:spPr bwMode="auto">
            <a:xfrm>
              <a:off x="2763" y="3857"/>
              <a:ext cx="188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0</a:t>
              </a:r>
            </a:p>
          </p:txBody>
        </p:sp>
        <p:sp>
          <p:nvSpPr>
            <p:cNvPr id="5173" name="Rectangle 84"/>
            <p:cNvSpPr>
              <a:spLocks noChangeArrowheads="1"/>
            </p:cNvSpPr>
            <p:nvPr/>
          </p:nvSpPr>
          <p:spPr bwMode="auto">
            <a:xfrm>
              <a:off x="2574" y="3857"/>
              <a:ext cx="189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 b="1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120</a:t>
              </a:r>
            </a:p>
          </p:txBody>
        </p:sp>
        <p:sp>
          <p:nvSpPr>
            <p:cNvPr id="5174" name="Rectangle 85"/>
            <p:cNvSpPr>
              <a:spLocks noChangeArrowheads="1"/>
            </p:cNvSpPr>
            <p:nvPr/>
          </p:nvSpPr>
          <p:spPr bwMode="auto">
            <a:xfrm>
              <a:off x="2387" y="3857"/>
              <a:ext cx="187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60</a:t>
              </a:r>
            </a:p>
          </p:txBody>
        </p:sp>
        <p:sp>
          <p:nvSpPr>
            <p:cNvPr id="5175" name="Rectangle 86"/>
            <p:cNvSpPr>
              <a:spLocks noChangeArrowheads="1"/>
            </p:cNvSpPr>
            <p:nvPr/>
          </p:nvSpPr>
          <p:spPr bwMode="auto">
            <a:xfrm>
              <a:off x="2199" y="3857"/>
              <a:ext cx="188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 b="1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X</a:t>
              </a:r>
            </a:p>
          </p:txBody>
        </p:sp>
        <p:sp>
          <p:nvSpPr>
            <p:cNvPr id="5176" name="Rectangle 87"/>
            <p:cNvSpPr>
              <a:spLocks noChangeArrowheads="1"/>
            </p:cNvSpPr>
            <p:nvPr/>
          </p:nvSpPr>
          <p:spPr bwMode="auto">
            <a:xfrm>
              <a:off x="2010" y="3857"/>
              <a:ext cx="189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0</a:t>
              </a:r>
            </a:p>
          </p:txBody>
        </p:sp>
        <p:sp>
          <p:nvSpPr>
            <p:cNvPr id="5177" name="Line 88"/>
            <p:cNvSpPr>
              <a:spLocks noChangeShapeType="1"/>
            </p:cNvSpPr>
            <p:nvPr/>
          </p:nvSpPr>
          <p:spPr bwMode="auto">
            <a:xfrm>
              <a:off x="2010" y="3857"/>
              <a:ext cx="1505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5178" name="Line 89"/>
            <p:cNvSpPr>
              <a:spLocks noChangeShapeType="1"/>
            </p:cNvSpPr>
            <p:nvPr/>
          </p:nvSpPr>
          <p:spPr bwMode="auto">
            <a:xfrm>
              <a:off x="2010" y="4020"/>
              <a:ext cx="1505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5179" name="Line 90"/>
            <p:cNvSpPr>
              <a:spLocks noChangeShapeType="1"/>
            </p:cNvSpPr>
            <p:nvPr/>
          </p:nvSpPr>
          <p:spPr bwMode="auto">
            <a:xfrm>
              <a:off x="2010" y="3857"/>
              <a:ext cx="0" cy="163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5180" name="Line 91"/>
            <p:cNvSpPr>
              <a:spLocks noChangeShapeType="1"/>
            </p:cNvSpPr>
            <p:nvPr/>
          </p:nvSpPr>
          <p:spPr bwMode="auto">
            <a:xfrm>
              <a:off x="2199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5181" name="Line 92"/>
            <p:cNvSpPr>
              <a:spLocks noChangeShapeType="1"/>
            </p:cNvSpPr>
            <p:nvPr/>
          </p:nvSpPr>
          <p:spPr bwMode="auto">
            <a:xfrm>
              <a:off x="2387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5182" name="Line 93"/>
            <p:cNvSpPr>
              <a:spLocks noChangeShapeType="1"/>
            </p:cNvSpPr>
            <p:nvPr/>
          </p:nvSpPr>
          <p:spPr bwMode="auto">
            <a:xfrm>
              <a:off x="2574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5183" name="Line 94"/>
            <p:cNvSpPr>
              <a:spLocks noChangeShapeType="1"/>
            </p:cNvSpPr>
            <p:nvPr/>
          </p:nvSpPr>
          <p:spPr bwMode="auto">
            <a:xfrm>
              <a:off x="2763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5184" name="Line 95"/>
            <p:cNvSpPr>
              <a:spLocks noChangeShapeType="1"/>
            </p:cNvSpPr>
            <p:nvPr/>
          </p:nvSpPr>
          <p:spPr bwMode="auto">
            <a:xfrm>
              <a:off x="2951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5185" name="Line 96"/>
            <p:cNvSpPr>
              <a:spLocks noChangeShapeType="1"/>
            </p:cNvSpPr>
            <p:nvPr/>
          </p:nvSpPr>
          <p:spPr bwMode="auto">
            <a:xfrm>
              <a:off x="3138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5186" name="Line 97"/>
            <p:cNvSpPr>
              <a:spLocks noChangeShapeType="1"/>
            </p:cNvSpPr>
            <p:nvPr/>
          </p:nvSpPr>
          <p:spPr bwMode="auto">
            <a:xfrm>
              <a:off x="3326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5187" name="Line 98"/>
            <p:cNvSpPr>
              <a:spLocks noChangeShapeType="1"/>
            </p:cNvSpPr>
            <p:nvPr/>
          </p:nvSpPr>
          <p:spPr bwMode="auto">
            <a:xfrm>
              <a:off x="3515" y="3857"/>
              <a:ext cx="0" cy="163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sp>
        <p:nvSpPr>
          <p:cNvPr id="5135" name="Rectangle 11"/>
          <p:cNvSpPr>
            <a:spLocks noChangeArrowheads="1"/>
          </p:cNvSpPr>
          <p:nvPr/>
        </p:nvSpPr>
        <p:spPr bwMode="auto">
          <a:xfrm>
            <a:off x="1587500" y="5195888"/>
            <a:ext cx="18510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algn="ctr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Lonworks    Network</a:t>
            </a:r>
          </a:p>
        </p:txBody>
      </p:sp>
      <p:sp>
        <p:nvSpPr>
          <p:cNvPr id="5136" name="Rectangle 11"/>
          <p:cNvSpPr>
            <a:spLocks noChangeArrowheads="1"/>
          </p:cNvSpPr>
          <p:nvPr/>
        </p:nvSpPr>
        <p:spPr bwMode="auto">
          <a:xfrm>
            <a:off x="1628775" y="3673475"/>
            <a:ext cx="1766888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Lonworks     Network</a:t>
            </a:r>
          </a:p>
        </p:txBody>
      </p:sp>
      <p:grpSp>
        <p:nvGrpSpPr>
          <p:cNvPr id="5137" name="Group 125"/>
          <p:cNvGrpSpPr>
            <a:grpSpLocks/>
          </p:cNvGrpSpPr>
          <p:nvPr/>
        </p:nvGrpSpPr>
        <p:grpSpPr bwMode="auto">
          <a:xfrm>
            <a:off x="2073275" y="4095750"/>
            <a:ext cx="1330325" cy="973138"/>
            <a:chOff x="1738" y="2592"/>
            <a:chExt cx="838" cy="613"/>
          </a:xfrm>
        </p:grpSpPr>
        <p:sp>
          <p:nvSpPr>
            <p:cNvPr id="5166" name="Rectangle 11"/>
            <p:cNvSpPr>
              <a:spLocks noChangeArrowheads="1"/>
            </p:cNvSpPr>
            <p:nvPr/>
          </p:nvSpPr>
          <p:spPr bwMode="auto">
            <a:xfrm>
              <a:off x="1804" y="2592"/>
              <a:ext cx="590" cy="18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555625" lvl="3" indent="-376238" eaLnBrk="1" latinLnBrk="1" hangingPunct="1">
                <a:buFont typeface="Wingdings" pitchFamily="2" charset="2"/>
                <a:buNone/>
              </a:pPr>
              <a:r>
                <a:rPr lang="en-US" altLang="ko-KR" sz="800" b="1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MDS (CDT)</a:t>
              </a:r>
            </a:p>
          </p:txBody>
        </p:sp>
        <p:pic>
          <p:nvPicPr>
            <p:cNvPr id="5167" name="Picture 127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8" y="2727"/>
              <a:ext cx="838" cy="4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138" name="Group 128"/>
          <p:cNvGrpSpPr>
            <a:grpSpLocks/>
          </p:cNvGrpSpPr>
          <p:nvPr/>
        </p:nvGrpSpPr>
        <p:grpSpPr bwMode="auto">
          <a:xfrm>
            <a:off x="1892300" y="5573713"/>
            <a:ext cx="1584325" cy="971550"/>
            <a:chOff x="1669" y="3408"/>
            <a:chExt cx="998" cy="612"/>
          </a:xfrm>
        </p:grpSpPr>
        <p:sp>
          <p:nvSpPr>
            <p:cNvPr id="5164" name="Rectangle 11"/>
            <p:cNvSpPr>
              <a:spLocks noChangeArrowheads="1"/>
            </p:cNvSpPr>
            <p:nvPr/>
          </p:nvSpPr>
          <p:spPr bwMode="auto">
            <a:xfrm>
              <a:off x="1759" y="3408"/>
              <a:ext cx="862" cy="18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555625" lvl="3" indent="-376238" eaLnBrk="1" latinLnBrk="1" hangingPunct="1">
                <a:buFont typeface="Wingdings" pitchFamily="2" charset="2"/>
                <a:buNone/>
              </a:pPr>
              <a:r>
                <a:rPr lang="en-US" altLang="ko-KR" sz="800" b="1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Converter/Inverter</a:t>
              </a:r>
            </a:p>
          </p:txBody>
        </p:sp>
        <p:pic>
          <p:nvPicPr>
            <p:cNvPr id="5165" name="Picture 130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9" y="3544"/>
              <a:ext cx="998" cy="4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80000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grpSp>
        <p:nvGrpSpPr>
          <p:cNvPr id="5139" name="Group 134"/>
          <p:cNvGrpSpPr>
            <a:grpSpLocks/>
          </p:cNvGrpSpPr>
          <p:nvPr/>
        </p:nvGrpSpPr>
        <p:grpSpPr bwMode="auto">
          <a:xfrm rot="5400000">
            <a:off x="2437607" y="3790156"/>
            <a:ext cx="468312" cy="73025"/>
            <a:chOff x="1191" y="1434"/>
            <a:chExt cx="613" cy="46"/>
          </a:xfrm>
        </p:grpSpPr>
        <p:sp>
          <p:nvSpPr>
            <p:cNvPr id="5162" name="Line 135"/>
            <p:cNvSpPr>
              <a:spLocks noChangeShapeType="1"/>
            </p:cNvSpPr>
            <p:nvPr/>
          </p:nvSpPr>
          <p:spPr bwMode="auto">
            <a:xfrm>
              <a:off x="1214" y="1480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5163" name="Line 136"/>
            <p:cNvSpPr>
              <a:spLocks noChangeShapeType="1"/>
            </p:cNvSpPr>
            <p:nvPr/>
          </p:nvSpPr>
          <p:spPr bwMode="auto">
            <a:xfrm rot="10800000">
              <a:off x="1191" y="1434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grpSp>
        <p:nvGrpSpPr>
          <p:cNvPr id="5140" name="Group 137"/>
          <p:cNvGrpSpPr>
            <a:grpSpLocks/>
          </p:cNvGrpSpPr>
          <p:nvPr/>
        </p:nvGrpSpPr>
        <p:grpSpPr bwMode="auto">
          <a:xfrm rot="5400000">
            <a:off x="2442370" y="5301456"/>
            <a:ext cx="468312" cy="73025"/>
            <a:chOff x="1191" y="1434"/>
            <a:chExt cx="613" cy="46"/>
          </a:xfrm>
        </p:grpSpPr>
        <p:sp>
          <p:nvSpPr>
            <p:cNvPr id="5160" name="Line 138"/>
            <p:cNvSpPr>
              <a:spLocks noChangeShapeType="1"/>
            </p:cNvSpPr>
            <p:nvPr/>
          </p:nvSpPr>
          <p:spPr bwMode="auto">
            <a:xfrm>
              <a:off x="1214" y="1480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5161" name="Line 139"/>
            <p:cNvSpPr>
              <a:spLocks noChangeShapeType="1"/>
            </p:cNvSpPr>
            <p:nvPr/>
          </p:nvSpPr>
          <p:spPr bwMode="auto">
            <a:xfrm rot="10800000">
              <a:off x="1191" y="1434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sp>
        <p:nvSpPr>
          <p:cNvPr id="5141" name="Line 154"/>
          <p:cNvSpPr>
            <a:spLocks noChangeShapeType="1"/>
          </p:cNvSpPr>
          <p:nvPr/>
        </p:nvSpPr>
        <p:spPr bwMode="auto">
          <a:xfrm rot="5400000">
            <a:off x="2352675" y="3836988"/>
            <a:ext cx="4508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142" name="Line 155"/>
          <p:cNvSpPr>
            <a:spLocks noChangeShapeType="1"/>
          </p:cNvSpPr>
          <p:nvPr/>
        </p:nvSpPr>
        <p:spPr bwMode="auto">
          <a:xfrm rot="5400000">
            <a:off x="2352675" y="5345113"/>
            <a:ext cx="4508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143" name="AutoShape 128"/>
          <p:cNvSpPr>
            <a:spLocks/>
          </p:cNvSpPr>
          <p:nvPr/>
        </p:nvSpPr>
        <p:spPr bwMode="auto">
          <a:xfrm>
            <a:off x="5024438" y="5089525"/>
            <a:ext cx="914400" cy="60960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72398"/>
              <a:gd name="adj5" fmla="val 141407"/>
              <a:gd name="adj6" fmla="val -138889"/>
            </a:avLst>
          </a:prstGeom>
          <a:solidFill>
            <a:srgbClr val="CCFFFF"/>
          </a:solidFill>
          <a:ln w="9525" algn="ctr">
            <a:solidFill>
              <a:srgbClr val="0000FF"/>
            </a:solidFill>
            <a:miter lim="800000"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Excessive Noise</a:t>
            </a:r>
          </a:p>
        </p:txBody>
      </p:sp>
      <p:sp>
        <p:nvSpPr>
          <p:cNvPr id="5144" name="AutoShape 194"/>
          <p:cNvSpPr>
            <a:spLocks noChangeArrowheads="1"/>
          </p:cNvSpPr>
          <p:nvPr/>
        </p:nvSpPr>
        <p:spPr bwMode="auto">
          <a:xfrm>
            <a:off x="3509963" y="5935663"/>
            <a:ext cx="319087" cy="142875"/>
          </a:xfrm>
          <a:prstGeom prst="irregularSeal1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145" name="직사각형 5"/>
          <p:cNvSpPr>
            <a:spLocks noChangeArrowheads="1"/>
          </p:cNvSpPr>
          <p:nvPr/>
        </p:nvSpPr>
        <p:spPr bwMode="auto">
          <a:xfrm>
            <a:off x="3522663" y="4351338"/>
            <a:ext cx="460375" cy="306387"/>
          </a:xfrm>
          <a:prstGeom prst="rect">
            <a:avLst/>
          </a:prstGeom>
          <a:solidFill>
            <a:srgbClr val="FF99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Ctr="1"/>
          <a:lstStyle/>
          <a:p>
            <a:pPr algn="ctr"/>
            <a:r>
              <a:rPr kumimoji="0"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Fault</a:t>
            </a:r>
          </a:p>
          <a:p>
            <a:pPr algn="ctr"/>
            <a:r>
              <a:rPr kumimoji="0"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Data</a:t>
            </a:r>
            <a:endParaRPr kumimoji="0" lang="ko-KR" altLang="en-US" sz="800" b="1">
              <a:solidFill>
                <a:schemeClr val="tx1"/>
              </a:solidFill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146" name="오른쪽 화살표 6"/>
          <p:cNvSpPr>
            <a:spLocks noChangeArrowheads="1"/>
          </p:cNvSpPr>
          <p:nvPr/>
        </p:nvSpPr>
        <p:spPr bwMode="auto">
          <a:xfrm rot="-5400000">
            <a:off x="3528219" y="3940969"/>
            <a:ext cx="455612" cy="177800"/>
          </a:xfrm>
          <a:prstGeom prst="rightArrow">
            <a:avLst>
              <a:gd name="adj1" fmla="val 50000"/>
              <a:gd name="adj2" fmla="val 49791"/>
            </a:avLst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Ctr="1"/>
          <a:lstStyle/>
          <a:p>
            <a:pPr algn="ctr"/>
            <a:endParaRPr kumimoji="0" lang="ko-KR" altLang="en-US" sz="800" b="1">
              <a:solidFill>
                <a:schemeClr val="bg1"/>
              </a:solidFill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147" name="직사각형 8"/>
          <p:cNvSpPr>
            <a:spLocks noChangeArrowheads="1"/>
          </p:cNvSpPr>
          <p:nvPr/>
        </p:nvSpPr>
        <p:spPr bwMode="auto">
          <a:xfrm>
            <a:off x="3502025" y="3532188"/>
            <a:ext cx="455613" cy="268287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Ctr="1"/>
          <a:lstStyle/>
          <a:p>
            <a:pPr algn="ctr"/>
            <a:r>
              <a:rPr kumimoji="0" lang="en-US" altLang="ko-KR" sz="800" b="1" dirty="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Fault</a:t>
            </a:r>
          </a:p>
          <a:p>
            <a:pPr algn="ctr"/>
            <a:r>
              <a:rPr kumimoji="0" lang="en-US" altLang="ko-KR" sz="800" b="1" dirty="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Data</a:t>
            </a:r>
          </a:p>
        </p:txBody>
      </p:sp>
      <p:sp>
        <p:nvSpPr>
          <p:cNvPr id="5148" name="오른쪽 화살표 9"/>
          <p:cNvSpPr>
            <a:spLocks noChangeArrowheads="1"/>
          </p:cNvSpPr>
          <p:nvPr/>
        </p:nvSpPr>
        <p:spPr bwMode="auto">
          <a:xfrm>
            <a:off x="4021138" y="3562350"/>
            <a:ext cx="596900" cy="207963"/>
          </a:xfrm>
          <a:prstGeom prst="rightArrow">
            <a:avLst>
              <a:gd name="adj1" fmla="val 50000"/>
              <a:gd name="adj2" fmla="val 50016"/>
            </a:avLst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Ctr="1"/>
          <a:lstStyle/>
          <a:p>
            <a:pPr algn="ctr"/>
            <a:endParaRPr kumimoji="0" lang="ko-KR" altLang="en-US" sz="800" b="1">
              <a:solidFill>
                <a:schemeClr val="bg1"/>
              </a:solidFill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149" name="오른쪽 화살표 275"/>
          <p:cNvSpPr>
            <a:spLocks noChangeArrowheads="1"/>
          </p:cNvSpPr>
          <p:nvPr/>
        </p:nvSpPr>
        <p:spPr bwMode="auto">
          <a:xfrm flipH="1">
            <a:off x="2843213" y="3573463"/>
            <a:ext cx="595312" cy="207962"/>
          </a:xfrm>
          <a:prstGeom prst="rightArrow">
            <a:avLst>
              <a:gd name="adj1" fmla="val 50000"/>
              <a:gd name="adj2" fmla="val 49883"/>
            </a:avLst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Ctr="1"/>
          <a:lstStyle/>
          <a:p>
            <a:pPr algn="ctr"/>
            <a:endParaRPr kumimoji="0" lang="ko-KR" altLang="en-US" sz="800" b="1">
              <a:solidFill>
                <a:schemeClr val="bg1"/>
              </a:solidFill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150" name="직사각형 278"/>
          <p:cNvSpPr>
            <a:spLocks noChangeArrowheads="1"/>
          </p:cNvSpPr>
          <p:nvPr/>
        </p:nvSpPr>
        <p:spPr bwMode="auto">
          <a:xfrm>
            <a:off x="6950075" y="3536950"/>
            <a:ext cx="455613" cy="269875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Ctr="1"/>
          <a:lstStyle/>
          <a:p>
            <a:pPr algn="ctr"/>
            <a:r>
              <a:rPr kumimoji="0"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Fault</a:t>
            </a:r>
          </a:p>
          <a:p>
            <a:pPr algn="ctr"/>
            <a:r>
              <a:rPr kumimoji="0"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Data</a:t>
            </a:r>
            <a:endParaRPr kumimoji="0" lang="ko-KR" altLang="en-US" sz="800" b="1">
              <a:solidFill>
                <a:schemeClr val="tx1"/>
              </a:solidFill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151" name="직사각형 279"/>
          <p:cNvSpPr>
            <a:spLocks noChangeArrowheads="1"/>
          </p:cNvSpPr>
          <p:nvPr/>
        </p:nvSpPr>
        <p:spPr bwMode="auto">
          <a:xfrm>
            <a:off x="8664575" y="3549650"/>
            <a:ext cx="455613" cy="269875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Ctr="1"/>
          <a:lstStyle/>
          <a:p>
            <a:pPr algn="ctr"/>
            <a:r>
              <a:rPr kumimoji="0"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Fault</a:t>
            </a:r>
          </a:p>
          <a:p>
            <a:pPr algn="ctr"/>
            <a:r>
              <a:rPr kumimoji="0"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Data</a:t>
            </a:r>
            <a:endParaRPr kumimoji="0" lang="ko-KR" altLang="en-US" sz="800" b="1">
              <a:solidFill>
                <a:schemeClr val="tx1"/>
              </a:solidFill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152" name="오른쪽 화살표 280"/>
          <p:cNvSpPr>
            <a:spLocks noChangeArrowheads="1"/>
          </p:cNvSpPr>
          <p:nvPr/>
        </p:nvSpPr>
        <p:spPr bwMode="auto">
          <a:xfrm>
            <a:off x="6089650" y="3603625"/>
            <a:ext cx="595313" cy="207963"/>
          </a:xfrm>
          <a:prstGeom prst="rightArrow">
            <a:avLst>
              <a:gd name="adj1" fmla="val 50000"/>
              <a:gd name="adj2" fmla="val 49883"/>
            </a:avLst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Ctr="1"/>
          <a:lstStyle/>
          <a:p>
            <a:pPr algn="ctr"/>
            <a:endParaRPr kumimoji="0" lang="ko-KR" altLang="en-US" sz="800" b="1">
              <a:solidFill>
                <a:schemeClr val="bg1"/>
              </a:solidFill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153" name="오른쪽 화살표 281"/>
          <p:cNvSpPr>
            <a:spLocks noChangeArrowheads="1"/>
          </p:cNvSpPr>
          <p:nvPr/>
        </p:nvSpPr>
        <p:spPr bwMode="auto">
          <a:xfrm>
            <a:off x="7773988" y="3609975"/>
            <a:ext cx="596900" cy="206375"/>
          </a:xfrm>
          <a:prstGeom prst="rightArrow">
            <a:avLst>
              <a:gd name="adj1" fmla="val 50000"/>
              <a:gd name="adj2" fmla="val 50401"/>
            </a:avLst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Ctr="1"/>
          <a:lstStyle/>
          <a:p>
            <a:pPr algn="ctr"/>
            <a:endParaRPr kumimoji="0" lang="ko-KR" altLang="en-US" sz="800" b="1">
              <a:solidFill>
                <a:schemeClr val="bg1"/>
              </a:solidFill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154" name="직사각형 283"/>
          <p:cNvSpPr>
            <a:spLocks noChangeArrowheads="1"/>
          </p:cNvSpPr>
          <p:nvPr/>
        </p:nvSpPr>
        <p:spPr bwMode="auto">
          <a:xfrm>
            <a:off x="742950" y="3621088"/>
            <a:ext cx="455613" cy="268287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Ctr="1"/>
          <a:lstStyle/>
          <a:p>
            <a:pPr algn="ctr"/>
            <a:r>
              <a:rPr kumimoji="0" lang="en-US" altLang="ko-KR" sz="800" b="1" dirty="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Fault</a:t>
            </a:r>
          </a:p>
          <a:p>
            <a:pPr algn="ctr"/>
            <a:r>
              <a:rPr kumimoji="0" lang="en-US" altLang="ko-KR" sz="800" b="1" dirty="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Data</a:t>
            </a:r>
            <a:endParaRPr kumimoji="0" lang="ko-KR" altLang="en-US" sz="800" b="1" dirty="0">
              <a:solidFill>
                <a:schemeClr val="tx1"/>
              </a:solidFill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155" name="오른쪽 화살표 284"/>
          <p:cNvSpPr>
            <a:spLocks noChangeArrowheads="1"/>
          </p:cNvSpPr>
          <p:nvPr/>
        </p:nvSpPr>
        <p:spPr bwMode="auto">
          <a:xfrm flipH="1">
            <a:off x="1296988" y="3632200"/>
            <a:ext cx="595312" cy="207963"/>
          </a:xfrm>
          <a:prstGeom prst="rightArrow">
            <a:avLst>
              <a:gd name="adj1" fmla="val 50000"/>
              <a:gd name="adj2" fmla="val 49883"/>
            </a:avLst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Ctr="1"/>
          <a:lstStyle/>
          <a:p>
            <a:pPr algn="ctr"/>
            <a:endParaRPr kumimoji="0" lang="ko-KR" altLang="en-US" sz="800" b="1">
              <a:solidFill>
                <a:schemeClr val="bg1"/>
              </a:solidFill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156" name="물결 285"/>
          <p:cNvSpPr>
            <a:spLocks noChangeArrowheads="1"/>
          </p:cNvSpPr>
          <p:nvPr/>
        </p:nvSpPr>
        <p:spPr bwMode="auto">
          <a:xfrm>
            <a:off x="4705350" y="3505200"/>
            <a:ext cx="1281113" cy="330200"/>
          </a:xfrm>
          <a:prstGeom prst="wave">
            <a:avLst>
              <a:gd name="adj1" fmla="val 20000"/>
              <a:gd name="adj2" fmla="val 4597"/>
            </a:avLst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Ctr="1"/>
          <a:lstStyle/>
          <a:p>
            <a:pPr algn="ctr"/>
            <a:endParaRPr kumimoji="0" lang="ko-KR" altLang="en-US" sz="800" b="1">
              <a:solidFill>
                <a:schemeClr val="bg1"/>
              </a:solidFill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157" name="AutoShape 128"/>
          <p:cNvSpPr>
            <a:spLocks/>
          </p:cNvSpPr>
          <p:nvPr/>
        </p:nvSpPr>
        <p:spPr bwMode="auto">
          <a:xfrm>
            <a:off x="4987925" y="4114800"/>
            <a:ext cx="914400" cy="60960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72398"/>
              <a:gd name="adj5" fmla="val -51694"/>
              <a:gd name="adj6" fmla="val -113602"/>
            </a:avLst>
          </a:prstGeom>
          <a:solidFill>
            <a:srgbClr val="CCFFFF"/>
          </a:solidFill>
          <a:ln w="9525" algn="ctr">
            <a:solidFill>
              <a:srgbClr val="0000FF"/>
            </a:solidFill>
            <a:miter lim="800000"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CI </a:t>
            </a:r>
            <a:r>
              <a: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고장</a:t>
            </a:r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</a:t>
            </a:r>
            <a:r>
              <a: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정보를 다른 차량에 전송한다</a:t>
            </a:r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.</a:t>
            </a:r>
          </a:p>
        </p:txBody>
      </p:sp>
      <p:sp>
        <p:nvSpPr>
          <p:cNvPr id="5158" name="AutoShape 128"/>
          <p:cNvSpPr>
            <a:spLocks/>
          </p:cNvSpPr>
          <p:nvPr/>
        </p:nvSpPr>
        <p:spPr bwMode="auto">
          <a:xfrm>
            <a:off x="8515350" y="4665663"/>
            <a:ext cx="914400" cy="60960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72398"/>
              <a:gd name="adj5" fmla="val -146523"/>
              <a:gd name="adj6" fmla="val 12833"/>
            </a:avLst>
          </a:prstGeom>
          <a:solidFill>
            <a:srgbClr val="CCFFFF"/>
          </a:solidFill>
          <a:ln w="9525" algn="ctr">
            <a:solidFill>
              <a:srgbClr val="0000FF"/>
            </a:solidFill>
            <a:miter lim="800000"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전체 차량</a:t>
            </a:r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</a:t>
            </a:r>
            <a:r>
              <a: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고장 정보 전달에 최대 </a:t>
            </a:r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90</a:t>
            </a:r>
            <a:r>
              <a: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초가 걸린다</a:t>
            </a:r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.</a:t>
            </a:r>
          </a:p>
        </p:txBody>
      </p:sp>
      <p:sp>
        <p:nvSpPr>
          <p:cNvPr id="110" name="Rectangle 11"/>
          <p:cNvSpPr>
            <a:spLocks noChangeArrowheads="1"/>
          </p:cNvSpPr>
          <p:nvPr/>
        </p:nvSpPr>
        <p:spPr bwMode="auto">
          <a:xfrm>
            <a:off x="123825" y="723900"/>
            <a:ext cx="7667625" cy="6889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376238" lvl="3" indent="-376238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Phase Shift _ 8-cars</a:t>
            </a:r>
          </a:p>
          <a:p>
            <a:pPr marL="376238" lvl="3" indent="-376238">
              <a:buFontTx/>
              <a:buChar char="-"/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CRA(PA)</a:t>
            </a:r>
            <a:r>
              <a:rPr lang="en-US" altLang="ko-KR" sz="8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</a:t>
            </a:r>
            <a:r>
              <a:rPr lang="en-US" altLang="ko-KR" sz="800" dirty="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– MDS – Converter/Inverter, </a:t>
            </a:r>
            <a:r>
              <a:rPr lang="en-US" altLang="ko-KR" sz="800" b="1" dirty="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(8)</a:t>
            </a:r>
            <a:r>
              <a:rPr lang="en-US" altLang="ko-KR" sz="800" dirty="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</a:t>
            </a:r>
            <a:r>
              <a:rPr lang="en-US" altLang="ko-KR" sz="800" b="1" dirty="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When a</a:t>
            </a:r>
            <a:r>
              <a:rPr lang="en-US" altLang="ko-KR" sz="800" dirty="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</a:t>
            </a:r>
            <a:r>
              <a:rPr lang="en-US" altLang="ko-KR" sz="800" b="1" dirty="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Converter/Inverter is Failed</a:t>
            </a:r>
          </a:p>
          <a:p>
            <a:pPr marL="0" lvl="3">
              <a:defRPr/>
            </a:pPr>
            <a:r>
              <a:rPr lang="en-US" altLang="ko-KR" sz="800" b="1" dirty="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-       </a:t>
            </a:r>
            <a:r>
              <a:rPr lang="en-US" altLang="ko-KR" sz="800" dirty="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CI </a:t>
            </a:r>
            <a:r>
              <a:rPr lang="ko-KR" altLang="en-US" sz="800" dirty="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고장 정보를 다른 차량에 전달 하는데 </a:t>
            </a:r>
            <a:r>
              <a:rPr lang="en-US" altLang="ko-KR" sz="800" dirty="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MAX 90</a:t>
            </a:r>
            <a:r>
              <a:rPr lang="ko-KR" altLang="en-US" sz="800" dirty="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초가 소요된다</a:t>
            </a:r>
            <a:r>
              <a:rPr lang="en-US" altLang="ko-KR" sz="800" dirty="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.</a:t>
            </a:r>
          </a:p>
        </p:txBody>
      </p:sp>
      <p:sp>
        <p:nvSpPr>
          <p:cNvPr id="115" name="Rectangle 9"/>
          <p:cNvSpPr>
            <a:spLocks noChangeArrowheads="1"/>
          </p:cNvSpPr>
          <p:nvPr/>
        </p:nvSpPr>
        <p:spPr bwMode="auto">
          <a:xfrm>
            <a:off x="193675" y="256352"/>
            <a:ext cx="82518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457200" indent="-457200" algn="ctr" eaLnBrk="1" latinLnBrk="1" hangingPunct="1"/>
            <a:r>
              <a:rPr lang="en-US" altLang="ko-KR" sz="20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Denver Eagle EMU Project</a:t>
            </a:r>
          </a:p>
        </p:txBody>
      </p:sp>
    </p:spTree>
    <p:extLst>
      <p:ext uri="{BB962C8B-B14F-4D97-AF65-F5344CB8AC3E}">
        <p14:creationId xmlns:p14="http://schemas.microsoft.com/office/powerpoint/2010/main" val="261876427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11"/>
          <p:cNvSpPr>
            <a:spLocks noChangeArrowheads="1"/>
          </p:cNvSpPr>
          <p:nvPr/>
        </p:nvSpPr>
        <p:spPr bwMode="auto">
          <a:xfrm>
            <a:off x="122238" y="823913"/>
            <a:ext cx="6767512" cy="37306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376238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Phase Shift _ 2-cars</a:t>
            </a:r>
          </a:p>
          <a:p>
            <a:pPr marL="376238" lvl="3" indent="-376238" eaLnBrk="1" latinLnBrk="1" hangingPunct="1">
              <a:buFont typeface="Wingdings" pitchFamily="2" charset="2"/>
              <a:buNone/>
            </a:pPr>
            <a:r>
              <a:rPr lang="en-US" altLang="ko-KR" sz="80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- </a:t>
            </a: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CRA(PA)</a:t>
            </a:r>
            <a:r>
              <a:rPr lang="en-US" altLang="ko-KR" sz="80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– MDS – Converter/Inverter, </a:t>
            </a: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(1) when START UP</a:t>
            </a:r>
          </a:p>
        </p:txBody>
      </p:sp>
      <p:sp>
        <p:nvSpPr>
          <p:cNvPr id="83" name="Rectangle 9"/>
          <p:cNvSpPr>
            <a:spLocks noChangeArrowheads="1"/>
          </p:cNvSpPr>
          <p:nvPr/>
        </p:nvSpPr>
        <p:spPr bwMode="auto">
          <a:xfrm>
            <a:off x="193675" y="256352"/>
            <a:ext cx="82518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457200" indent="-457200" algn="ctr" eaLnBrk="1" latinLnBrk="1" hangingPunct="1"/>
            <a:r>
              <a:rPr lang="en-US" altLang="ko-KR" sz="20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Denver Eagle EMU Project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416496" y="1277938"/>
            <a:ext cx="9350107" cy="5343525"/>
            <a:chOff x="416496" y="1277938"/>
            <a:chExt cx="9350107" cy="5343525"/>
          </a:xfrm>
        </p:grpSpPr>
        <p:grpSp>
          <p:nvGrpSpPr>
            <p:cNvPr id="6148" name="Group 283"/>
            <p:cNvGrpSpPr>
              <a:grpSpLocks/>
            </p:cNvGrpSpPr>
            <p:nvPr/>
          </p:nvGrpSpPr>
          <p:grpSpPr bwMode="auto">
            <a:xfrm>
              <a:off x="7369478" y="6122988"/>
              <a:ext cx="2397125" cy="498475"/>
              <a:chOff x="2005" y="3706"/>
              <a:chExt cx="1510" cy="314"/>
            </a:xfrm>
          </p:grpSpPr>
          <p:sp>
            <p:nvSpPr>
              <p:cNvPr id="6203" name="Rectangle 11"/>
              <p:cNvSpPr>
                <a:spLocks noChangeArrowheads="1"/>
              </p:cNvSpPr>
              <p:nvPr/>
            </p:nvSpPr>
            <p:spPr bwMode="auto">
              <a:xfrm>
                <a:off x="2005" y="3706"/>
                <a:ext cx="938" cy="178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376238" lvl="3" indent="-376238" eaLnBrk="1" latinLnBrk="1" hangingPunct="1">
                  <a:buFont typeface="Wingdings" pitchFamily="2" charset="2"/>
                  <a:buNone/>
                </a:pPr>
                <a:r>
                  <a:rPr lang="en-US" altLang="ko-KR" sz="800" b="1">
                    <a:solidFill>
                      <a:schemeClr val="tx1"/>
                    </a:solidFill>
                    <a:latin typeface="Arial Unicode MS" pitchFamily="50" charset="-127"/>
                    <a:ea typeface="Arial Unicode MS" pitchFamily="50" charset="-127"/>
                    <a:cs typeface="Arial Unicode MS" pitchFamily="50" charset="-127"/>
                  </a:rPr>
                  <a:t>Phase Shift </a:t>
                </a:r>
                <a:r>
                  <a:rPr lang="en-US" altLang="ko-KR" sz="800">
                    <a:solidFill>
                      <a:schemeClr val="tx1"/>
                    </a:solidFill>
                    <a:latin typeface="Arial Unicode MS" pitchFamily="50" charset="-127"/>
                    <a:ea typeface="Arial Unicode MS" pitchFamily="50" charset="-127"/>
                    <a:cs typeface="Arial Unicode MS" pitchFamily="50" charset="-127"/>
                  </a:rPr>
                  <a:t>(degree)</a:t>
                </a:r>
              </a:p>
            </p:txBody>
          </p:sp>
          <p:sp>
            <p:nvSpPr>
              <p:cNvPr id="6204" name="Rectangle 260"/>
              <p:cNvSpPr>
                <a:spLocks noChangeArrowheads="1"/>
              </p:cNvSpPr>
              <p:nvPr/>
            </p:nvSpPr>
            <p:spPr bwMode="auto">
              <a:xfrm>
                <a:off x="3326" y="3857"/>
                <a:ext cx="189" cy="163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/>
              <a:lstStyle/>
              <a:p>
                <a:pPr algn="ctr" latinLnBrk="1">
                  <a:spcBef>
                    <a:spcPct val="20000"/>
                  </a:spcBef>
                  <a:buFont typeface="Wingdings" pitchFamily="2" charset="2"/>
                  <a:buNone/>
                </a:pPr>
                <a:r>
                  <a:rPr lang="en-US" altLang="ko-KR" sz="800">
                    <a:solidFill>
                      <a:srgbClr val="FF0000"/>
                    </a:solidFill>
                    <a:latin typeface="Arial Unicode MS" pitchFamily="50" charset="-127"/>
                    <a:ea typeface="Arial Unicode MS" pitchFamily="50" charset="-127"/>
                    <a:cs typeface="Arial Unicode MS" pitchFamily="50" charset="-127"/>
                  </a:rPr>
                  <a:t>--</a:t>
                </a:r>
              </a:p>
            </p:txBody>
          </p:sp>
          <p:sp>
            <p:nvSpPr>
              <p:cNvPr id="6205" name="Rectangle 261"/>
              <p:cNvSpPr>
                <a:spLocks noChangeArrowheads="1"/>
              </p:cNvSpPr>
              <p:nvPr/>
            </p:nvSpPr>
            <p:spPr bwMode="auto">
              <a:xfrm>
                <a:off x="3138" y="3857"/>
                <a:ext cx="188" cy="163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/>
              <a:lstStyle/>
              <a:p>
                <a:pPr algn="ctr" latinLnBrk="1">
                  <a:spcBef>
                    <a:spcPct val="20000"/>
                  </a:spcBef>
                  <a:buFont typeface="Wingdings" pitchFamily="2" charset="2"/>
                  <a:buNone/>
                </a:pPr>
                <a:r>
                  <a:rPr lang="en-US" altLang="ko-KR" sz="800">
                    <a:solidFill>
                      <a:srgbClr val="FF0000"/>
                    </a:solidFill>
                    <a:latin typeface="Arial Unicode MS" pitchFamily="50" charset="-127"/>
                    <a:ea typeface="Arial Unicode MS" pitchFamily="50" charset="-127"/>
                    <a:cs typeface="Arial Unicode MS" pitchFamily="50" charset="-127"/>
                  </a:rPr>
                  <a:t>--</a:t>
                </a:r>
              </a:p>
            </p:txBody>
          </p:sp>
          <p:sp>
            <p:nvSpPr>
              <p:cNvPr id="6206" name="Rectangle 262"/>
              <p:cNvSpPr>
                <a:spLocks noChangeArrowheads="1"/>
              </p:cNvSpPr>
              <p:nvPr/>
            </p:nvSpPr>
            <p:spPr bwMode="auto">
              <a:xfrm>
                <a:off x="2951" y="3857"/>
                <a:ext cx="187" cy="163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/>
              <a:lstStyle/>
              <a:p>
                <a:pPr algn="ctr" latinLnBrk="1">
                  <a:spcBef>
                    <a:spcPct val="20000"/>
                  </a:spcBef>
                  <a:buFont typeface="Wingdings" pitchFamily="2" charset="2"/>
                  <a:buNone/>
                </a:pPr>
                <a:r>
                  <a:rPr lang="en-US" altLang="ko-KR" sz="800">
                    <a:solidFill>
                      <a:srgbClr val="FF0000"/>
                    </a:solidFill>
                    <a:latin typeface="Arial Unicode MS" pitchFamily="50" charset="-127"/>
                    <a:ea typeface="Arial Unicode MS" pitchFamily="50" charset="-127"/>
                    <a:cs typeface="Arial Unicode MS" pitchFamily="50" charset="-127"/>
                  </a:rPr>
                  <a:t>--</a:t>
                </a:r>
              </a:p>
            </p:txBody>
          </p:sp>
          <p:sp>
            <p:nvSpPr>
              <p:cNvPr id="6207" name="Rectangle 263"/>
              <p:cNvSpPr>
                <a:spLocks noChangeArrowheads="1"/>
              </p:cNvSpPr>
              <p:nvPr/>
            </p:nvSpPr>
            <p:spPr bwMode="auto">
              <a:xfrm>
                <a:off x="2763" y="3857"/>
                <a:ext cx="188" cy="163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/>
              <a:lstStyle/>
              <a:p>
                <a:pPr algn="ctr" latinLnBrk="1">
                  <a:spcBef>
                    <a:spcPct val="20000"/>
                  </a:spcBef>
                  <a:buFont typeface="Wingdings" pitchFamily="2" charset="2"/>
                  <a:buNone/>
                </a:pPr>
                <a:r>
                  <a:rPr lang="en-US" altLang="ko-KR" sz="800">
                    <a:solidFill>
                      <a:srgbClr val="FF0000"/>
                    </a:solidFill>
                    <a:latin typeface="Arial Unicode MS" pitchFamily="50" charset="-127"/>
                    <a:ea typeface="Arial Unicode MS" pitchFamily="50" charset="-127"/>
                    <a:cs typeface="Arial Unicode MS" pitchFamily="50" charset="-127"/>
                  </a:rPr>
                  <a:t>--</a:t>
                </a:r>
              </a:p>
            </p:txBody>
          </p:sp>
          <p:sp>
            <p:nvSpPr>
              <p:cNvPr id="6208" name="Rectangle 264"/>
              <p:cNvSpPr>
                <a:spLocks noChangeArrowheads="1"/>
              </p:cNvSpPr>
              <p:nvPr/>
            </p:nvSpPr>
            <p:spPr bwMode="auto">
              <a:xfrm>
                <a:off x="2574" y="3857"/>
                <a:ext cx="189" cy="163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/>
              <a:lstStyle/>
              <a:p>
                <a:pPr algn="ctr" latinLnBrk="1">
                  <a:spcBef>
                    <a:spcPct val="20000"/>
                  </a:spcBef>
                  <a:buFont typeface="Wingdings" pitchFamily="2" charset="2"/>
                  <a:buNone/>
                </a:pPr>
                <a:r>
                  <a:rPr lang="en-US" altLang="ko-KR" sz="800">
                    <a:solidFill>
                      <a:srgbClr val="FF0000"/>
                    </a:solidFill>
                    <a:latin typeface="Arial Unicode MS" pitchFamily="50" charset="-127"/>
                    <a:ea typeface="Arial Unicode MS" pitchFamily="50" charset="-127"/>
                    <a:cs typeface="Arial Unicode MS" pitchFamily="50" charset="-127"/>
                  </a:rPr>
                  <a:t>--</a:t>
                </a:r>
              </a:p>
            </p:txBody>
          </p:sp>
          <p:sp>
            <p:nvSpPr>
              <p:cNvPr id="6209" name="Rectangle 265"/>
              <p:cNvSpPr>
                <a:spLocks noChangeArrowheads="1"/>
              </p:cNvSpPr>
              <p:nvPr/>
            </p:nvSpPr>
            <p:spPr bwMode="auto">
              <a:xfrm>
                <a:off x="2387" y="3857"/>
                <a:ext cx="187" cy="163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/>
              <a:lstStyle/>
              <a:p>
                <a:pPr algn="ctr" latinLnBrk="1">
                  <a:spcBef>
                    <a:spcPct val="20000"/>
                  </a:spcBef>
                  <a:buFont typeface="Wingdings" pitchFamily="2" charset="2"/>
                  <a:buNone/>
                </a:pPr>
                <a:r>
                  <a:rPr lang="en-US" altLang="ko-KR" sz="800">
                    <a:solidFill>
                      <a:srgbClr val="FF0000"/>
                    </a:solidFill>
                    <a:latin typeface="Arial Unicode MS" pitchFamily="50" charset="-127"/>
                    <a:ea typeface="Arial Unicode MS" pitchFamily="50" charset="-127"/>
                    <a:cs typeface="Arial Unicode MS" pitchFamily="50" charset="-127"/>
                  </a:rPr>
                  <a:t>--</a:t>
                </a:r>
              </a:p>
            </p:txBody>
          </p:sp>
          <p:sp>
            <p:nvSpPr>
              <p:cNvPr id="6210" name="Rectangle 266"/>
              <p:cNvSpPr>
                <a:spLocks noChangeArrowheads="1"/>
              </p:cNvSpPr>
              <p:nvPr/>
            </p:nvSpPr>
            <p:spPr bwMode="auto">
              <a:xfrm>
                <a:off x="2199" y="3857"/>
                <a:ext cx="188" cy="163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/>
              <a:lstStyle/>
              <a:p>
                <a:pPr algn="ctr" latinLnBrk="1">
                  <a:spcBef>
                    <a:spcPct val="20000"/>
                  </a:spcBef>
                  <a:buFont typeface="Wingdings" pitchFamily="2" charset="2"/>
                  <a:buNone/>
                </a:pPr>
                <a:r>
                  <a:rPr lang="en-US" altLang="ko-KR" sz="800">
                    <a:solidFill>
                      <a:srgbClr val="FF0000"/>
                    </a:solidFill>
                    <a:latin typeface="Arial Unicode MS" pitchFamily="50" charset="-127"/>
                    <a:ea typeface="Arial Unicode MS" pitchFamily="50" charset="-127"/>
                    <a:cs typeface="Arial Unicode MS" pitchFamily="50" charset="-127"/>
                  </a:rPr>
                  <a:t>90</a:t>
                </a:r>
              </a:p>
            </p:txBody>
          </p:sp>
          <p:sp>
            <p:nvSpPr>
              <p:cNvPr id="6211" name="Rectangle 267"/>
              <p:cNvSpPr>
                <a:spLocks noChangeArrowheads="1"/>
              </p:cNvSpPr>
              <p:nvPr/>
            </p:nvSpPr>
            <p:spPr bwMode="auto">
              <a:xfrm>
                <a:off x="2010" y="3857"/>
                <a:ext cx="189" cy="163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/>
              <a:lstStyle/>
              <a:p>
                <a:pPr algn="ctr" latinLnBrk="1">
                  <a:spcBef>
                    <a:spcPct val="20000"/>
                  </a:spcBef>
                  <a:buFont typeface="Wingdings" pitchFamily="2" charset="2"/>
                  <a:buNone/>
                </a:pPr>
                <a:r>
                  <a:rPr lang="en-US" altLang="ko-KR" sz="800">
                    <a:solidFill>
                      <a:srgbClr val="FF0000"/>
                    </a:solidFill>
                    <a:latin typeface="Arial Unicode MS" pitchFamily="50" charset="-127"/>
                    <a:ea typeface="Arial Unicode MS" pitchFamily="50" charset="-127"/>
                    <a:cs typeface="Arial Unicode MS" pitchFamily="50" charset="-127"/>
                  </a:rPr>
                  <a:t>0</a:t>
                </a:r>
              </a:p>
            </p:txBody>
          </p:sp>
          <p:sp>
            <p:nvSpPr>
              <p:cNvPr id="6212" name="Line 268"/>
              <p:cNvSpPr>
                <a:spLocks noChangeShapeType="1"/>
              </p:cNvSpPr>
              <p:nvPr/>
            </p:nvSpPr>
            <p:spPr bwMode="auto">
              <a:xfrm>
                <a:off x="2010" y="3857"/>
                <a:ext cx="1505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/>
              <a:lstStyle/>
              <a:p>
                <a:endParaRPr lang="ko-KR" altLang="en-US" sz="80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endParaRPr>
              </a:p>
            </p:txBody>
          </p:sp>
          <p:sp>
            <p:nvSpPr>
              <p:cNvPr id="6213" name="Line 269"/>
              <p:cNvSpPr>
                <a:spLocks noChangeShapeType="1"/>
              </p:cNvSpPr>
              <p:nvPr/>
            </p:nvSpPr>
            <p:spPr bwMode="auto">
              <a:xfrm>
                <a:off x="2010" y="4020"/>
                <a:ext cx="1505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/>
              <a:lstStyle/>
              <a:p>
                <a:endParaRPr lang="ko-KR" altLang="en-US" sz="80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endParaRPr>
              </a:p>
            </p:txBody>
          </p:sp>
          <p:sp>
            <p:nvSpPr>
              <p:cNvPr id="6214" name="Line 270"/>
              <p:cNvSpPr>
                <a:spLocks noChangeShapeType="1"/>
              </p:cNvSpPr>
              <p:nvPr/>
            </p:nvSpPr>
            <p:spPr bwMode="auto">
              <a:xfrm>
                <a:off x="2010" y="3857"/>
                <a:ext cx="0" cy="163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/>
              <a:lstStyle/>
              <a:p>
                <a:endParaRPr lang="ko-KR" altLang="en-US" sz="80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endParaRPr>
              </a:p>
            </p:txBody>
          </p:sp>
          <p:sp>
            <p:nvSpPr>
              <p:cNvPr id="6215" name="Line 271"/>
              <p:cNvSpPr>
                <a:spLocks noChangeShapeType="1"/>
              </p:cNvSpPr>
              <p:nvPr/>
            </p:nvSpPr>
            <p:spPr bwMode="auto">
              <a:xfrm>
                <a:off x="2199" y="3857"/>
                <a:ext cx="0" cy="16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/>
              <a:lstStyle/>
              <a:p>
                <a:endParaRPr lang="ko-KR" altLang="en-US" sz="80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endParaRPr>
              </a:p>
            </p:txBody>
          </p:sp>
          <p:sp>
            <p:nvSpPr>
              <p:cNvPr id="6216" name="Line 272"/>
              <p:cNvSpPr>
                <a:spLocks noChangeShapeType="1"/>
              </p:cNvSpPr>
              <p:nvPr/>
            </p:nvSpPr>
            <p:spPr bwMode="auto">
              <a:xfrm>
                <a:off x="2387" y="3857"/>
                <a:ext cx="0" cy="16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/>
              <a:lstStyle/>
              <a:p>
                <a:endParaRPr lang="ko-KR" altLang="en-US" sz="80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endParaRPr>
              </a:p>
            </p:txBody>
          </p:sp>
          <p:sp>
            <p:nvSpPr>
              <p:cNvPr id="6217" name="Line 273"/>
              <p:cNvSpPr>
                <a:spLocks noChangeShapeType="1"/>
              </p:cNvSpPr>
              <p:nvPr/>
            </p:nvSpPr>
            <p:spPr bwMode="auto">
              <a:xfrm>
                <a:off x="2574" y="3857"/>
                <a:ext cx="0" cy="16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/>
              <a:lstStyle/>
              <a:p>
                <a:endParaRPr lang="ko-KR" altLang="en-US" sz="80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endParaRPr>
              </a:p>
            </p:txBody>
          </p:sp>
          <p:sp>
            <p:nvSpPr>
              <p:cNvPr id="6218" name="Line 274"/>
              <p:cNvSpPr>
                <a:spLocks noChangeShapeType="1"/>
              </p:cNvSpPr>
              <p:nvPr/>
            </p:nvSpPr>
            <p:spPr bwMode="auto">
              <a:xfrm>
                <a:off x="2763" y="3857"/>
                <a:ext cx="0" cy="16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/>
              <a:lstStyle/>
              <a:p>
                <a:endParaRPr lang="ko-KR" altLang="en-US" sz="80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endParaRPr>
              </a:p>
            </p:txBody>
          </p:sp>
          <p:sp>
            <p:nvSpPr>
              <p:cNvPr id="6219" name="Line 275"/>
              <p:cNvSpPr>
                <a:spLocks noChangeShapeType="1"/>
              </p:cNvSpPr>
              <p:nvPr/>
            </p:nvSpPr>
            <p:spPr bwMode="auto">
              <a:xfrm>
                <a:off x="2951" y="3857"/>
                <a:ext cx="0" cy="16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/>
              <a:lstStyle/>
              <a:p>
                <a:endParaRPr lang="ko-KR" altLang="en-US" sz="80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endParaRPr>
              </a:p>
            </p:txBody>
          </p:sp>
          <p:sp>
            <p:nvSpPr>
              <p:cNvPr id="6220" name="Line 276"/>
              <p:cNvSpPr>
                <a:spLocks noChangeShapeType="1"/>
              </p:cNvSpPr>
              <p:nvPr/>
            </p:nvSpPr>
            <p:spPr bwMode="auto">
              <a:xfrm>
                <a:off x="3138" y="3857"/>
                <a:ext cx="0" cy="16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/>
              <a:lstStyle/>
              <a:p>
                <a:endParaRPr lang="ko-KR" altLang="en-US" sz="80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endParaRPr>
              </a:p>
            </p:txBody>
          </p:sp>
          <p:sp>
            <p:nvSpPr>
              <p:cNvPr id="6221" name="Line 277"/>
              <p:cNvSpPr>
                <a:spLocks noChangeShapeType="1"/>
              </p:cNvSpPr>
              <p:nvPr/>
            </p:nvSpPr>
            <p:spPr bwMode="auto">
              <a:xfrm>
                <a:off x="3326" y="3857"/>
                <a:ext cx="0" cy="16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/>
              <a:lstStyle/>
              <a:p>
                <a:endParaRPr lang="ko-KR" altLang="en-US" sz="80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endParaRPr>
              </a:p>
            </p:txBody>
          </p:sp>
          <p:sp>
            <p:nvSpPr>
              <p:cNvPr id="6222" name="Line 278"/>
              <p:cNvSpPr>
                <a:spLocks noChangeShapeType="1"/>
              </p:cNvSpPr>
              <p:nvPr/>
            </p:nvSpPr>
            <p:spPr bwMode="auto">
              <a:xfrm>
                <a:off x="3515" y="3857"/>
                <a:ext cx="0" cy="163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/>
              <a:lstStyle/>
              <a:p>
                <a:endParaRPr lang="ko-KR" altLang="en-US" sz="80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endParaRPr>
              </a:p>
            </p:txBody>
          </p:sp>
        </p:grpSp>
        <p:sp>
          <p:nvSpPr>
            <p:cNvPr id="6149" name="Rectangle 11"/>
            <p:cNvSpPr>
              <a:spLocks noChangeArrowheads="1"/>
            </p:cNvSpPr>
            <p:nvPr/>
          </p:nvSpPr>
          <p:spPr bwMode="auto">
            <a:xfrm>
              <a:off x="5878513" y="2263775"/>
              <a:ext cx="1143000" cy="28733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555625" lvl="3" indent="-376238" eaLnBrk="1" latinLnBrk="1" hangingPunct="1">
                <a:buFont typeface="Wingdings" pitchFamily="2" charset="2"/>
                <a:buNone/>
              </a:pPr>
              <a:r>
                <a:rPr lang="en-US" altLang="ko-KR" sz="800" b="1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RS     485</a:t>
              </a:r>
            </a:p>
          </p:txBody>
        </p:sp>
        <p:sp>
          <p:nvSpPr>
            <p:cNvPr id="6150" name="Rectangle 11"/>
            <p:cNvSpPr>
              <a:spLocks noChangeArrowheads="1"/>
            </p:cNvSpPr>
            <p:nvPr/>
          </p:nvSpPr>
          <p:spPr bwMode="auto">
            <a:xfrm>
              <a:off x="5334000" y="5113338"/>
              <a:ext cx="1851025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555625" lvl="3" indent="-376238" algn="ctr" eaLnBrk="1" latinLnBrk="1" hangingPunct="1">
                <a:buFont typeface="Wingdings" pitchFamily="2" charset="2"/>
                <a:buNone/>
              </a:pPr>
              <a:r>
                <a:rPr lang="en-US" altLang="ko-KR" sz="800" b="1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Lonworks    Network</a:t>
              </a:r>
            </a:p>
          </p:txBody>
        </p:sp>
        <p:sp>
          <p:nvSpPr>
            <p:cNvPr id="6151" name="Rectangle 11"/>
            <p:cNvSpPr>
              <a:spLocks noChangeArrowheads="1"/>
            </p:cNvSpPr>
            <p:nvPr/>
          </p:nvSpPr>
          <p:spPr bwMode="auto">
            <a:xfrm>
              <a:off x="1489075" y="5084763"/>
              <a:ext cx="1766888" cy="28733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555625" lvl="3" indent="-376238" eaLnBrk="1" latinLnBrk="1" hangingPunct="1">
                <a:buFont typeface="Wingdings" pitchFamily="2" charset="2"/>
                <a:buNone/>
              </a:pPr>
              <a:r>
                <a:rPr lang="en-US" altLang="ko-KR" sz="800" b="1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Lonworks    Network</a:t>
              </a:r>
            </a:p>
          </p:txBody>
        </p:sp>
        <p:sp>
          <p:nvSpPr>
            <p:cNvPr id="6152" name="Rectangle 11"/>
            <p:cNvSpPr>
              <a:spLocks noChangeArrowheads="1"/>
            </p:cNvSpPr>
            <p:nvPr/>
          </p:nvSpPr>
          <p:spPr bwMode="auto">
            <a:xfrm>
              <a:off x="1450975" y="3609975"/>
              <a:ext cx="1766888" cy="287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555625" lvl="3" indent="-376238" eaLnBrk="1" latinLnBrk="1" hangingPunct="1">
                <a:buFont typeface="Wingdings" pitchFamily="2" charset="2"/>
                <a:buNone/>
              </a:pPr>
              <a:r>
                <a:rPr lang="en-US" altLang="ko-KR" sz="800" b="1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Lonworks     Network</a:t>
              </a:r>
            </a:p>
          </p:txBody>
        </p:sp>
        <p:sp>
          <p:nvSpPr>
            <p:cNvPr id="6153" name="Rectangle 11"/>
            <p:cNvSpPr>
              <a:spLocks noChangeArrowheads="1"/>
            </p:cNvSpPr>
            <p:nvPr/>
          </p:nvSpPr>
          <p:spPr bwMode="auto">
            <a:xfrm>
              <a:off x="5375275" y="3590925"/>
              <a:ext cx="1766888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555625" lvl="3" indent="-376238" eaLnBrk="1" latinLnBrk="1" hangingPunct="1">
                <a:buFont typeface="Wingdings" pitchFamily="2" charset="2"/>
                <a:buNone/>
              </a:pPr>
              <a:r>
                <a:rPr lang="en-US" altLang="ko-KR" sz="800" b="1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Lonworks     Network</a:t>
              </a:r>
            </a:p>
          </p:txBody>
        </p:sp>
        <p:sp>
          <p:nvSpPr>
            <p:cNvPr id="6154" name="Rectangle 11"/>
            <p:cNvSpPr>
              <a:spLocks noChangeArrowheads="1"/>
            </p:cNvSpPr>
            <p:nvPr/>
          </p:nvSpPr>
          <p:spPr bwMode="auto">
            <a:xfrm>
              <a:off x="1955800" y="2298700"/>
              <a:ext cx="1143000" cy="28733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555625" lvl="3" indent="-376238" eaLnBrk="1" latinLnBrk="1" hangingPunct="1">
                <a:buFont typeface="Wingdings" pitchFamily="2" charset="2"/>
                <a:buNone/>
              </a:pPr>
              <a:r>
                <a:rPr lang="en-US" altLang="ko-KR" sz="800" b="1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RS     485</a:t>
              </a:r>
            </a:p>
          </p:txBody>
        </p:sp>
        <p:sp>
          <p:nvSpPr>
            <p:cNvPr id="6155" name="Rectangle 11"/>
            <p:cNvSpPr>
              <a:spLocks noChangeArrowheads="1"/>
            </p:cNvSpPr>
            <p:nvPr/>
          </p:nvSpPr>
          <p:spPr bwMode="auto">
            <a:xfrm>
              <a:off x="1276350" y="1277938"/>
              <a:ext cx="2524125" cy="28733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555625" lvl="3" indent="-376238" eaLnBrk="1" latinLnBrk="1" hangingPunct="1">
                <a:buFont typeface="Wingdings" pitchFamily="2" charset="2"/>
                <a:buNone/>
              </a:pPr>
              <a:r>
                <a:rPr lang="en-US" altLang="ko-KR" sz="800" b="1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CCP (Comm. Control Panel)</a:t>
              </a:r>
            </a:p>
          </p:txBody>
        </p:sp>
        <p:sp>
          <p:nvSpPr>
            <p:cNvPr id="6156" name="Rectangle 11"/>
            <p:cNvSpPr>
              <a:spLocks noChangeArrowheads="1"/>
            </p:cNvSpPr>
            <p:nvPr/>
          </p:nvSpPr>
          <p:spPr bwMode="auto">
            <a:xfrm>
              <a:off x="2006600" y="3986213"/>
              <a:ext cx="936625" cy="28733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555625" lvl="3" indent="-376238" eaLnBrk="1" latinLnBrk="1" hangingPunct="1">
                <a:buFont typeface="Wingdings" pitchFamily="2" charset="2"/>
                <a:buNone/>
              </a:pPr>
              <a:r>
                <a:rPr lang="en-US" altLang="ko-KR" sz="800" b="1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MDS (CDT)</a:t>
              </a:r>
            </a:p>
          </p:txBody>
        </p:sp>
        <p:pic>
          <p:nvPicPr>
            <p:cNvPr id="6157" name="Picture 296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82775" y="4217988"/>
              <a:ext cx="1330325" cy="758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158" name="Rectangle 11"/>
            <p:cNvSpPr>
              <a:spLocks noChangeArrowheads="1"/>
            </p:cNvSpPr>
            <p:nvPr/>
          </p:nvSpPr>
          <p:spPr bwMode="auto">
            <a:xfrm>
              <a:off x="1863725" y="5481638"/>
              <a:ext cx="1368425" cy="28733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555625" lvl="3" indent="-376238" eaLnBrk="1" latinLnBrk="1" hangingPunct="1">
                <a:buFont typeface="Wingdings" pitchFamily="2" charset="2"/>
                <a:buNone/>
              </a:pPr>
              <a:r>
                <a:rPr lang="en-US" altLang="ko-KR" sz="800" b="1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Converter/Inverter</a:t>
              </a:r>
            </a:p>
          </p:txBody>
        </p:sp>
        <p:pic>
          <p:nvPicPr>
            <p:cNvPr id="6159" name="Picture 298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0850" y="5697538"/>
              <a:ext cx="1584325" cy="755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80000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6160" name="Line 299"/>
            <p:cNvSpPr>
              <a:spLocks noChangeShapeType="1"/>
            </p:cNvSpPr>
            <p:nvPr/>
          </p:nvSpPr>
          <p:spPr bwMode="auto">
            <a:xfrm rot="5400000">
              <a:off x="2243138" y="2436813"/>
              <a:ext cx="4508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6161" name="Line 300"/>
            <p:cNvSpPr>
              <a:spLocks noChangeShapeType="1"/>
            </p:cNvSpPr>
            <p:nvPr/>
          </p:nvSpPr>
          <p:spPr bwMode="auto">
            <a:xfrm rot="-5400000">
              <a:off x="2316163" y="2419350"/>
              <a:ext cx="4508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6162" name="Line 301"/>
            <p:cNvSpPr>
              <a:spLocks noChangeShapeType="1"/>
            </p:cNvSpPr>
            <p:nvPr/>
          </p:nvSpPr>
          <p:spPr bwMode="auto">
            <a:xfrm rot="5400000">
              <a:off x="2238375" y="3743325"/>
              <a:ext cx="4508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6163" name="Line 302"/>
            <p:cNvSpPr>
              <a:spLocks noChangeShapeType="1"/>
            </p:cNvSpPr>
            <p:nvPr/>
          </p:nvSpPr>
          <p:spPr bwMode="auto">
            <a:xfrm rot="-5400000">
              <a:off x="2311400" y="3725863"/>
              <a:ext cx="4508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6164" name="Line 303"/>
            <p:cNvSpPr>
              <a:spLocks noChangeShapeType="1"/>
            </p:cNvSpPr>
            <p:nvPr/>
          </p:nvSpPr>
          <p:spPr bwMode="auto">
            <a:xfrm rot="5400000">
              <a:off x="2243138" y="5254625"/>
              <a:ext cx="4508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6165" name="Line 304"/>
            <p:cNvSpPr>
              <a:spLocks noChangeShapeType="1"/>
            </p:cNvSpPr>
            <p:nvPr/>
          </p:nvSpPr>
          <p:spPr bwMode="auto">
            <a:xfrm rot="-5400000">
              <a:off x="2316163" y="5237163"/>
              <a:ext cx="4508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grpSp>
          <p:nvGrpSpPr>
            <p:cNvPr id="6166" name="Group 305"/>
            <p:cNvGrpSpPr>
              <a:grpSpLocks/>
            </p:cNvGrpSpPr>
            <p:nvPr/>
          </p:nvGrpSpPr>
          <p:grpSpPr bwMode="auto">
            <a:xfrm>
              <a:off x="5807075" y="4003675"/>
              <a:ext cx="1330325" cy="973138"/>
              <a:chOff x="1738" y="2592"/>
              <a:chExt cx="838" cy="613"/>
            </a:xfrm>
          </p:grpSpPr>
          <p:sp>
            <p:nvSpPr>
              <p:cNvPr id="6201" name="Rectangle 11"/>
              <p:cNvSpPr>
                <a:spLocks noChangeArrowheads="1"/>
              </p:cNvSpPr>
              <p:nvPr/>
            </p:nvSpPr>
            <p:spPr bwMode="auto">
              <a:xfrm>
                <a:off x="1804" y="2592"/>
                <a:ext cx="590" cy="18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555625" lvl="3" indent="-376238" eaLnBrk="1" latinLnBrk="1" hangingPunct="1">
                  <a:buFont typeface="Wingdings" pitchFamily="2" charset="2"/>
                  <a:buNone/>
                </a:pPr>
                <a:r>
                  <a:rPr lang="en-US" altLang="ko-KR" sz="800" b="1">
                    <a:solidFill>
                      <a:schemeClr val="tx1"/>
                    </a:solidFill>
                    <a:latin typeface="Arial Unicode MS" pitchFamily="50" charset="-127"/>
                    <a:ea typeface="Arial Unicode MS" pitchFamily="50" charset="-127"/>
                    <a:cs typeface="Arial Unicode MS" pitchFamily="50" charset="-127"/>
                  </a:rPr>
                  <a:t>MDS (CDT)</a:t>
                </a:r>
              </a:p>
            </p:txBody>
          </p:sp>
          <p:pic>
            <p:nvPicPr>
              <p:cNvPr id="6202" name="Picture 307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38" y="2727"/>
                <a:ext cx="838" cy="4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6167" name="Group 308"/>
            <p:cNvGrpSpPr>
              <a:grpSpLocks/>
            </p:cNvGrpSpPr>
            <p:nvPr/>
          </p:nvGrpSpPr>
          <p:grpSpPr bwMode="auto">
            <a:xfrm>
              <a:off x="5626100" y="5481638"/>
              <a:ext cx="1584325" cy="971550"/>
              <a:chOff x="1669" y="3408"/>
              <a:chExt cx="998" cy="612"/>
            </a:xfrm>
          </p:grpSpPr>
          <p:sp>
            <p:nvSpPr>
              <p:cNvPr id="6199" name="Rectangle 11"/>
              <p:cNvSpPr>
                <a:spLocks noChangeArrowheads="1"/>
              </p:cNvSpPr>
              <p:nvPr/>
            </p:nvSpPr>
            <p:spPr bwMode="auto">
              <a:xfrm>
                <a:off x="1759" y="3408"/>
                <a:ext cx="862" cy="18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555625" lvl="3" indent="-376238" eaLnBrk="1" latinLnBrk="1" hangingPunct="1">
                  <a:buFont typeface="Wingdings" pitchFamily="2" charset="2"/>
                  <a:buNone/>
                </a:pPr>
                <a:r>
                  <a:rPr lang="en-US" altLang="ko-KR" sz="800" b="1">
                    <a:solidFill>
                      <a:schemeClr val="tx1"/>
                    </a:solidFill>
                    <a:latin typeface="Arial Unicode MS" pitchFamily="50" charset="-127"/>
                    <a:ea typeface="Arial Unicode MS" pitchFamily="50" charset="-127"/>
                    <a:cs typeface="Arial Unicode MS" pitchFamily="50" charset="-127"/>
                  </a:rPr>
                  <a:t>Converter/Inverter</a:t>
                </a:r>
              </a:p>
            </p:txBody>
          </p:sp>
          <p:pic>
            <p:nvPicPr>
              <p:cNvPr id="6200" name="Picture 310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69" y="3544"/>
                <a:ext cx="998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800000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6168" name="Group 311"/>
            <p:cNvGrpSpPr>
              <a:grpSpLocks/>
            </p:cNvGrpSpPr>
            <p:nvPr/>
          </p:nvGrpSpPr>
          <p:grpSpPr bwMode="auto">
            <a:xfrm rot="5400000">
              <a:off x="6176169" y="2391569"/>
              <a:ext cx="468313" cy="73025"/>
              <a:chOff x="1191" y="1434"/>
              <a:chExt cx="613" cy="46"/>
            </a:xfrm>
          </p:grpSpPr>
          <p:sp>
            <p:nvSpPr>
              <p:cNvPr id="6197" name="Line 312"/>
              <p:cNvSpPr>
                <a:spLocks noChangeShapeType="1"/>
              </p:cNvSpPr>
              <p:nvPr/>
            </p:nvSpPr>
            <p:spPr bwMode="auto">
              <a:xfrm>
                <a:off x="1214" y="1480"/>
                <a:ext cx="59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80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endParaRPr>
              </a:p>
            </p:txBody>
          </p:sp>
          <p:sp>
            <p:nvSpPr>
              <p:cNvPr id="6198" name="Line 313"/>
              <p:cNvSpPr>
                <a:spLocks noChangeShapeType="1"/>
              </p:cNvSpPr>
              <p:nvPr/>
            </p:nvSpPr>
            <p:spPr bwMode="auto">
              <a:xfrm rot="10800000">
                <a:off x="1191" y="1434"/>
                <a:ext cx="59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80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endParaRPr>
              </a:p>
            </p:txBody>
          </p:sp>
        </p:grpSp>
        <p:grpSp>
          <p:nvGrpSpPr>
            <p:cNvPr id="6169" name="Group 314"/>
            <p:cNvGrpSpPr>
              <a:grpSpLocks/>
            </p:cNvGrpSpPr>
            <p:nvPr/>
          </p:nvGrpSpPr>
          <p:grpSpPr bwMode="auto">
            <a:xfrm rot="5400000">
              <a:off x="6171407" y="3698081"/>
              <a:ext cx="468312" cy="73025"/>
              <a:chOff x="1191" y="1434"/>
              <a:chExt cx="613" cy="46"/>
            </a:xfrm>
          </p:grpSpPr>
          <p:sp>
            <p:nvSpPr>
              <p:cNvPr id="6195" name="Line 315"/>
              <p:cNvSpPr>
                <a:spLocks noChangeShapeType="1"/>
              </p:cNvSpPr>
              <p:nvPr/>
            </p:nvSpPr>
            <p:spPr bwMode="auto">
              <a:xfrm>
                <a:off x="1214" y="1480"/>
                <a:ext cx="59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80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endParaRPr>
              </a:p>
            </p:txBody>
          </p:sp>
          <p:sp>
            <p:nvSpPr>
              <p:cNvPr id="6196" name="Line 316"/>
              <p:cNvSpPr>
                <a:spLocks noChangeShapeType="1"/>
              </p:cNvSpPr>
              <p:nvPr/>
            </p:nvSpPr>
            <p:spPr bwMode="auto">
              <a:xfrm rot="10800000">
                <a:off x="1191" y="1434"/>
                <a:ext cx="59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80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endParaRPr>
              </a:p>
            </p:txBody>
          </p:sp>
        </p:grpSp>
        <p:grpSp>
          <p:nvGrpSpPr>
            <p:cNvPr id="6170" name="Group 317"/>
            <p:cNvGrpSpPr>
              <a:grpSpLocks/>
            </p:cNvGrpSpPr>
            <p:nvPr/>
          </p:nvGrpSpPr>
          <p:grpSpPr bwMode="auto">
            <a:xfrm rot="5400000">
              <a:off x="6176170" y="5209381"/>
              <a:ext cx="468312" cy="73025"/>
              <a:chOff x="1191" y="1434"/>
              <a:chExt cx="613" cy="46"/>
            </a:xfrm>
          </p:grpSpPr>
          <p:sp>
            <p:nvSpPr>
              <p:cNvPr id="6193" name="Line 318"/>
              <p:cNvSpPr>
                <a:spLocks noChangeShapeType="1"/>
              </p:cNvSpPr>
              <p:nvPr/>
            </p:nvSpPr>
            <p:spPr bwMode="auto">
              <a:xfrm>
                <a:off x="1214" y="1480"/>
                <a:ext cx="59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80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endParaRPr>
              </a:p>
            </p:txBody>
          </p:sp>
          <p:sp>
            <p:nvSpPr>
              <p:cNvPr id="6194" name="Line 319"/>
              <p:cNvSpPr>
                <a:spLocks noChangeShapeType="1"/>
              </p:cNvSpPr>
              <p:nvPr/>
            </p:nvSpPr>
            <p:spPr bwMode="auto">
              <a:xfrm rot="10800000">
                <a:off x="1191" y="1434"/>
                <a:ext cx="59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80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endParaRPr>
              </a:p>
            </p:txBody>
          </p:sp>
        </p:grpSp>
        <p:grpSp>
          <p:nvGrpSpPr>
            <p:cNvPr id="6171" name="Group 320"/>
            <p:cNvGrpSpPr>
              <a:grpSpLocks/>
            </p:cNvGrpSpPr>
            <p:nvPr/>
          </p:nvGrpSpPr>
          <p:grpSpPr bwMode="auto">
            <a:xfrm>
              <a:off x="3203575" y="2976563"/>
              <a:ext cx="677863" cy="73025"/>
              <a:chOff x="1191" y="1434"/>
              <a:chExt cx="613" cy="46"/>
            </a:xfrm>
          </p:grpSpPr>
          <p:sp>
            <p:nvSpPr>
              <p:cNvPr id="6191" name="Line 321"/>
              <p:cNvSpPr>
                <a:spLocks noChangeShapeType="1"/>
              </p:cNvSpPr>
              <p:nvPr/>
            </p:nvSpPr>
            <p:spPr bwMode="auto">
              <a:xfrm>
                <a:off x="1214" y="1480"/>
                <a:ext cx="59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80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endParaRPr>
              </a:p>
            </p:txBody>
          </p:sp>
          <p:sp>
            <p:nvSpPr>
              <p:cNvPr id="6192" name="Line 322"/>
              <p:cNvSpPr>
                <a:spLocks noChangeShapeType="1"/>
              </p:cNvSpPr>
              <p:nvPr/>
            </p:nvSpPr>
            <p:spPr bwMode="auto">
              <a:xfrm rot="10800000">
                <a:off x="1191" y="1434"/>
                <a:ext cx="59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80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endParaRPr>
              </a:p>
            </p:txBody>
          </p:sp>
        </p:grpSp>
        <p:sp>
          <p:nvSpPr>
            <p:cNvPr id="6172" name="Line 328"/>
            <p:cNvSpPr>
              <a:spLocks noChangeShapeType="1"/>
            </p:cNvSpPr>
            <p:nvPr/>
          </p:nvSpPr>
          <p:spPr bwMode="auto">
            <a:xfrm rot="5400000">
              <a:off x="2170113" y="3744913"/>
              <a:ext cx="45085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6173" name="Line 329"/>
            <p:cNvSpPr>
              <a:spLocks noChangeShapeType="1"/>
            </p:cNvSpPr>
            <p:nvPr/>
          </p:nvSpPr>
          <p:spPr bwMode="auto">
            <a:xfrm rot="5400000">
              <a:off x="2170113" y="5253038"/>
              <a:ext cx="45085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6174" name="Line 330"/>
            <p:cNvSpPr>
              <a:spLocks noChangeShapeType="1"/>
            </p:cNvSpPr>
            <p:nvPr/>
          </p:nvSpPr>
          <p:spPr bwMode="auto">
            <a:xfrm rot="5400000">
              <a:off x="2166938" y="2439988"/>
              <a:ext cx="45085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6175" name="Line 332"/>
            <p:cNvSpPr>
              <a:spLocks noChangeShapeType="1"/>
            </p:cNvSpPr>
            <p:nvPr/>
          </p:nvSpPr>
          <p:spPr bwMode="auto">
            <a:xfrm>
              <a:off x="3213100" y="3132138"/>
              <a:ext cx="67310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6176" name="Line 334"/>
            <p:cNvSpPr>
              <a:spLocks noChangeShapeType="1"/>
            </p:cNvSpPr>
            <p:nvPr/>
          </p:nvSpPr>
          <p:spPr bwMode="auto">
            <a:xfrm rot="5400000">
              <a:off x="6086475" y="3744913"/>
              <a:ext cx="45085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6177" name="Line 335"/>
            <p:cNvSpPr>
              <a:spLocks noChangeShapeType="1"/>
            </p:cNvSpPr>
            <p:nvPr/>
          </p:nvSpPr>
          <p:spPr bwMode="auto">
            <a:xfrm rot="5400000">
              <a:off x="6086475" y="5253038"/>
              <a:ext cx="45085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pic>
          <p:nvPicPr>
            <p:cNvPr id="6178" name="Picture 33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5813" y="1519238"/>
              <a:ext cx="915987" cy="622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179" name="Rectangle 11"/>
            <p:cNvSpPr>
              <a:spLocks noChangeArrowheads="1"/>
            </p:cNvSpPr>
            <p:nvPr/>
          </p:nvSpPr>
          <p:spPr bwMode="auto">
            <a:xfrm>
              <a:off x="5154613" y="1296988"/>
              <a:ext cx="2524125" cy="28733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555625" lvl="3" indent="-376238" eaLnBrk="1" latinLnBrk="1" hangingPunct="1">
                <a:buFont typeface="Wingdings" pitchFamily="2" charset="2"/>
                <a:buNone/>
              </a:pPr>
              <a:r>
                <a:rPr lang="en-US" altLang="ko-KR" sz="800" b="1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CCP (Comm. Control Panel)</a:t>
              </a:r>
            </a:p>
          </p:txBody>
        </p:sp>
        <p:pic>
          <p:nvPicPr>
            <p:cNvPr id="6180" name="Picture 33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11850" y="1524000"/>
              <a:ext cx="911225" cy="619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181" name="Rectangle 11"/>
            <p:cNvSpPr>
              <a:spLocks noChangeArrowheads="1"/>
            </p:cNvSpPr>
            <p:nvPr/>
          </p:nvSpPr>
          <p:spPr bwMode="auto">
            <a:xfrm>
              <a:off x="5888038" y="2871788"/>
              <a:ext cx="969962" cy="28733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555625" lvl="3" indent="-376238" eaLnBrk="1" latinLnBrk="1" hangingPunct="1">
                <a:buFont typeface="Wingdings" pitchFamily="2" charset="2"/>
                <a:buNone/>
              </a:pPr>
              <a:r>
                <a:rPr lang="en-US" altLang="ko-KR" sz="800" b="1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RS-485</a:t>
              </a:r>
            </a:p>
          </p:txBody>
        </p:sp>
        <p:pic>
          <p:nvPicPr>
            <p:cNvPr id="6182" name="Picture 341"/>
            <p:cNvPicPr preferRelativeResize="0"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82913" y="1531938"/>
              <a:ext cx="546100" cy="3524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6183" name="Rectangle 11"/>
            <p:cNvSpPr>
              <a:spLocks noChangeArrowheads="1"/>
            </p:cNvSpPr>
            <p:nvPr/>
          </p:nvSpPr>
          <p:spPr bwMode="auto">
            <a:xfrm>
              <a:off x="3452813" y="1484313"/>
              <a:ext cx="1716087" cy="1042987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376238" lvl="3" indent="-376238"/>
              <a:r>
                <a:rPr lang="en-US" altLang="ko-KR" sz="800" b="1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Information for car network</a:t>
              </a:r>
            </a:p>
            <a:p>
              <a:pPr marL="376238" lvl="3" indent="-376238"/>
              <a:r>
                <a:rPr lang="en-US" altLang="ko-KR" sz="80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(1) Train configuration info.(2 bits)</a:t>
              </a:r>
            </a:p>
            <a:p>
              <a:pPr marL="376238" lvl="3" indent="-376238"/>
              <a:r>
                <a:rPr lang="en-US" altLang="ko-KR" sz="800" b="1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00 ; </a:t>
              </a: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2-cars</a:t>
              </a:r>
            </a:p>
            <a:p>
              <a:pPr marL="376238" lvl="3" indent="-376238"/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01 ; </a:t>
              </a:r>
              <a:r>
                <a:rPr lang="en-US" altLang="ko-KR" sz="80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4-cars</a:t>
              </a:r>
            </a:p>
            <a:p>
              <a:pPr marL="376238" lvl="3" indent="-376238"/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10</a:t>
              </a:r>
              <a:r>
                <a:rPr lang="en-US" altLang="ko-KR" sz="80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 ; 6-cars</a:t>
              </a:r>
            </a:p>
            <a:p>
              <a:pPr marL="376238" lvl="3" indent="-376238"/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11</a:t>
              </a:r>
              <a:r>
                <a:rPr lang="en-US" altLang="ko-KR" sz="80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 ; 8-cars</a:t>
              </a:r>
            </a:p>
            <a:p>
              <a:pPr marL="376238" lvl="3" indent="-376238"/>
              <a:r>
                <a:rPr lang="en-US" altLang="ko-KR" sz="80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(2) C/I position (8 bits = bit 3-10)</a:t>
              </a:r>
            </a:p>
            <a:p>
              <a:pPr marL="376238" lvl="3" indent="-376238"/>
              <a:r>
                <a:rPr lang="en-US" altLang="ko-KR" sz="800" b="1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10000000</a:t>
              </a:r>
              <a:r>
                <a:rPr lang="en-US" altLang="ko-KR" sz="80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 </a:t>
              </a: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; no. 1 car</a:t>
              </a:r>
            </a:p>
          </p:txBody>
        </p:sp>
        <p:sp>
          <p:nvSpPr>
            <p:cNvPr id="6184" name="Rectangle 343"/>
            <p:cNvSpPr>
              <a:spLocks noChangeArrowheads="1"/>
            </p:cNvSpPr>
            <p:nvPr/>
          </p:nvSpPr>
          <p:spPr bwMode="auto">
            <a:xfrm>
              <a:off x="5778500" y="2798763"/>
              <a:ext cx="1277938" cy="515937"/>
            </a:xfrm>
            <a:prstGeom prst="rect">
              <a:avLst/>
            </a:prstGeom>
            <a:solidFill>
              <a:srgbClr val="CCFFFF"/>
            </a:solidFill>
            <a:ln w="22225" algn="ctr">
              <a:solidFill>
                <a:srgbClr val="8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538163" lvl="3" algn="r"/>
              <a:r>
                <a:rPr lang="en-US" altLang="ko-KR" sz="800" b="1" dirty="0" smtClean="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CRA MB</a:t>
              </a:r>
              <a:endParaRPr lang="en-US" altLang="ko-KR" sz="8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  <a:p>
              <a:pPr marL="538163" lvl="3" algn="r"/>
              <a:r>
                <a:rPr lang="en-US" altLang="ko-KR" sz="800" b="1" dirty="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(Comm. Rack A)</a:t>
              </a:r>
              <a:endParaRPr lang="ko-KR" altLang="en-US" sz="8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6185" name="Rectangle 344"/>
            <p:cNvSpPr>
              <a:spLocks noChangeArrowheads="1"/>
            </p:cNvSpPr>
            <p:nvPr/>
          </p:nvSpPr>
          <p:spPr bwMode="auto">
            <a:xfrm>
              <a:off x="1857375" y="2779713"/>
              <a:ext cx="1277938" cy="515937"/>
            </a:xfrm>
            <a:prstGeom prst="rect">
              <a:avLst/>
            </a:prstGeom>
            <a:solidFill>
              <a:srgbClr val="CCFFFF"/>
            </a:solidFill>
            <a:ln w="22225" algn="ctr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538163" lvl="3" algn="r"/>
              <a:r>
                <a:rPr lang="en-US" altLang="ko-KR" sz="800" b="1" dirty="0" smtClean="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CRA </a:t>
              </a:r>
              <a:r>
                <a:rPr lang="ko-KR" altLang="en-US" sz="800" b="1" dirty="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 </a:t>
              </a:r>
              <a:r>
                <a:rPr lang="en-US" altLang="ko-KR" sz="800" b="1" dirty="0" smtClean="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MA</a:t>
              </a:r>
              <a:endParaRPr lang="en-US" altLang="ko-KR" sz="8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  <a:p>
              <a:pPr marL="538163" lvl="3" algn="r"/>
              <a:r>
                <a:rPr lang="en-US" altLang="ko-KR" sz="800" b="1" dirty="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(Comm. Rack A)</a:t>
              </a:r>
              <a:endParaRPr lang="ko-KR" altLang="en-US" sz="8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grpSp>
          <p:nvGrpSpPr>
            <p:cNvPr id="6186" name="Group 345"/>
            <p:cNvGrpSpPr>
              <a:grpSpLocks/>
            </p:cNvGrpSpPr>
            <p:nvPr/>
          </p:nvGrpSpPr>
          <p:grpSpPr bwMode="auto">
            <a:xfrm>
              <a:off x="4991100" y="2974975"/>
              <a:ext cx="677863" cy="73025"/>
              <a:chOff x="1191" y="1434"/>
              <a:chExt cx="613" cy="46"/>
            </a:xfrm>
          </p:grpSpPr>
          <p:sp>
            <p:nvSpPr>
              <p:cNvPr id="6189" name="Line 346"/>
              <p:cNvSpPr>
                <a:spLocks noChangeShapeType="1"/>
              </p:cNvSpPr>
              <p:nvPr/>
            </p:nvSpPr>
            <p:spPr bwMode="auto">
              <a:xfrm>
                <a:off x="1214" y="1480"/>
                <a:ext cx="59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80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endParaRPr>
              </a:p>
            </p:txBody>
          </p:sp>
          <p:sp>
            <p:nvSpPr>
              <p:cNvPr id="6190" name="Line 347"/>
              <p:cNvSpPr>
                <a:spLocks noChangeShapeType="1"/>
              </p:cNvSpPr>
              <p:nvPr/>
            </p:nvSpPr>
            <p:spPr bwMode="auto">
              <a:xfrm rot="10800000">
                <a:off x="1191" y="1434"/>
                <a:ext cx="59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80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endParaRPr>
              </a:p>
            </p:txBody>
          </p:sp>
        </p:grpSp>
        <p:sp>
          <p:nvSpPr>
            <p:cNvPr id="6187" name="Line 348"/>
            <p:cNvSpPr>
              <a:spLocks noChangeShapeType="1"/>
            </p:cNvSpPr>
            <p:nvPr/>
          </p:nvSpPr>
          <p:spPr bwMode="auto">
            <a:xfrm>
              <a:off x="5000625" y="3130550"/>
              <a:ext cx="67310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6188" name="Rectangle 11"/>
            <p:cNvSpPr>
              <a:spLocks noChangeArrowheads="1"/>
            </p:cNvSpPr>
            <p:nvPr/>
          </p:nvSpPr>
          <p:spPr bwMode="auto">
            <a:xfrm>
              <a:off x="3949700" y="2871788"/>
              <a:ext cx="969963" cy="287337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555625" lvl="3" indent="-376238" eaLnBrk="1" latinLnBrk="1" hangingPunct="1">
                <a:buFont typeface="Wingdings" pitchFamily="2" charset="2"/>
                <a:buNone/>
              </a:pPr>
              <a:r>
                <a:rPr lang="en-US" altLang="ko-KR" sz="800" b="1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RS-485</a:t>
              </a:r>
            </a:p>
          </p:txBody>
        </p:sp>
        <p:grpSp>
          <p:nvGrpSpPr>
            <p:cNvPr id="2" name="그룹 1"/>
            <p:cNvGrpSpPr/>
            <p:nvPr/>
          </p:nvGrpSpPr>
          <p:grpSpPr>
            <a:xfrm>
              <a:off x="7359953" y="1772816"/>
              <a:ext cx="1266219" cy="4205287"/>
              <a:chOff x="86381" y="2143125"/>
              <a:chExt cx="1266219" cy="4205287"/>
            </a:xfrm>
          </p:grpSpPr>
          <p:sp>
            <p:nvSpPr>
              <p:cNvPr id="95" name="직사각형 2061"/>
              <p:cNvSpPr>
                <a:spLocks noChangeArrowheads="1"/>
              </p:cNvSpPr>
              <p:nvPr/>
            </p:nvSpPr>
            <p:spPr bwMode="auto">
              <a:xfrm>
                <a:off x="86381" y="3327400"/>
                <a:ext cx="568325" cy="246062"/>
              </a:xfrm>
              <a:prstGeom prst="rect">
                <a:avLst/>
              </a:prstGeom>
              <a:solidFill>
                <a:srgbClr val="FF9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Ctr="1"/>
              <a:lstStyle/>
              <a:p>
                <a:pPr algn="ctr"/>
                <a:r>
                  <a:rPr kumimoji="0" lang="en-US" altLang="ko-KR" sz="800" b="1">
                    <a:solidFill>
                      <a:schemeClr val="tx1"/>
                    </a:solidFill>
                  </a:rPr>
                  <a:t>CI-SDR</a:t>
                </a:r>
                <a:endParaRPr kumimoji="0" lang="ko-KR" altLang="en-US" sz="8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96" name="직사각형 106"/>
              <p:cNvSpPr>
                <a:spLocks noChangeArrowheads="1"/>
              </p:cNvSpPr>
              <p:nvPr/>
            </p:nvSpPr>
            <p:spPr bwMode="auto">
              <a:xfrm>
                <a:off x="86381" y="4806950"/>
                <a:ext cx="568325" cy="246062"/>
              </a:xfrm>
              <a:prstGeom prst="rect">
                <a:avLst/>
              </a:prstGeom>
              <a:solidFill>
                <a:srgbClr val="FF9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Ctr="1"/>
              <a:lstStyle/>
              <a:p>
                <a:pPr algn="ctr"/>
                <a:r>
                  <a:rPr kumimoji="0" lang="en-US" altLang="ko-KR" sz="800" b="1">
                    <a:solidFill>
                      <a:schemeClr val="tx1"/>
                    </a:solidFill>
                  </a:rPr>
                  <a:t>CI-SDR</a:t>
                </a:r>
                <a:endParaRPr kumimoji="0" lang="ko-KR" altLang="en-US" sz="8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97" name="직사각형 107"/>
              <p:cNvSpPr>
                <a:spLocks noChangeArrowheads="1"/>
              </p:cNvSpPr>
              <p:nvPr/>
            </p:nvSpPr>
            <p:spPr bwMode="auto">
              <a:xfrm>
                <a:off x="95906" y="6102350"/>
                <a:ext cx="568325" cy="246062"/>
              </a:xfrm>
              <a:prstGeom prst="rect">
                <a:avLst/>
              </a:prstGeom>
              <a:solidFill>
                <a:srgbClr val="FF9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Ctr="1"/>
              <a:lstStyle/>
              <a:p>
                <a:pPr algn="ctr"/>
                <a:r>
                  <a:rPr kumimoji="0" lang="en-US" altLang="ko-KR" sz="800" b="1">
                    <a:solidFill>
                      <a:schemeClr val="tx1"/>
                    </a:solidFill>
                  </a:rPr>
                  <a:t>CI-SDR</a:t>
                </a:r>
                <a:endParaRPr kumimoji="0" lang="ko-KR" altLang="en-US" sz="8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98" name="직사각형 108"/>
              <p:cNvSpPr>
                <a:spLocks noChangeArrowheads="1"/>
              </p:cNvSpPr>
              <p:nvPr/>
            </p:nvSpPr>
            <p:spPr bwMode="auto">
              <a:xfrm>
                <a:off x="784275" y="6080125"/>
                <a:ext cx="568325" cy="246062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Ctr="1"/>
              <a:lstStyle/>
              <a:p>
                <a:pPr algn="ctr"/>
                <a:r>
                  <a:rPr kumimoji="0" lang="en-US" altLang="ko-KR" sz="800" b="1">
                    <a:solidFill>
                      <a:schemeClr val="tx1"/>
                    </a:solidFill>
                  </a:rPr>
                  <a:t>CRA-SD</a:t>
                </a:r>
                <a:endParaRPr kumimoji="0" lang="ko-KR" altLang="en-US" sz="8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99" name="직사각형 109"/>
              <p:cNvSpPr>
                <a:spLocks noChangeArrowheads="1"/>
              </p:cNvSpPr>
              <p:nvPr/>
            </p:nvSpPr>
            <p:spPr bwMode="auto">
              <a:xfrm>
                <a:off x="784275" y="4806950"/>
                <a:ext cx="568325" cy="246062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Ctr="1"/>
              <a:lstStyle/>
              <a:p>
                <a:pPr algn="ctr"/>
                <a:r>
                  <a:rPr kumimoji="0" lang="en-US" altLang="ko-KR" sz="800" b="1" dirty="0">
                    <a:solidFill>
                      <a:schemeClr val="tx1"/>
                    </a:solidFill>
                  </a:rPr>
                  <a:t>CRA-SD</a:t>
                </a:r>
                <a:endParaRPr kumimoji="0" lang="ko-KR" altLang="en-US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0" name="직사각형 110"/>
              <p:cNvSpPr>
                <a:spLocks noChangeArrowheads="1"/>
              </p:cNvSpPr>
              <p:nvPr/>
            </p:nvSpPr>
            <p:spPr bwMode="auto">
              <a:xfrm>
                <a:off x="719187" y="3314700"/>
                <a:ext cx="568325" cy="246062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Ctr="1"/>
              <a:lstStyle/>
              <a:p>
                <a:pPr algn="ctr"/>
                <a:r>
                  <a:rPr kumimoji="0" lang="en-US" altLang="ko-KR" sz="800" b="1">
                    <a:solidFill>
                      <a:schemeClr val="tx1"/>
                    </a:solidFill>
                  </a:rPr>
                  <a:t>CRA-SD</a:t>
                </a:r>
                <a:endParaRPr kumimoji="0" lang="ko-KR" altLang="en-US" sz="8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아래쪽 화살표 2062"/>
              <p:cNvSpPr>
                <a:spLocks noChangeArrowheads="1"/>
              </p:cNvSpPr>
              <p:nvPr/>
            </p:nvSpPr>
            <p:spPr bwMode="auto">
              <a:xfrm>
                <a:off x="303868" y="3833812"/>
                <a:ext cx="215900" cy="628650"/>
              </a:xfrm>
              <a:prstGeom prst="downArrow">
                <a:avLst>
                  <a:gd name="adj1" fmla="val 50000"/>
                  <a:gd name="adj2" fmla="val 50053"/>
                </a:avLst>
              </a:prstGeom>
              <a:solidFill>
                <a:srgbClr val="FF9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Ctr="1"/>
              <a:lstStyle/>
              <a:p>
                <a:pPr algn="ctr"/>
                <a:endParaRPr kumimoji="0" lang="ko-KR" altLang="en-US" sz="8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02" name="아래쪽 화살표 2063"/>
              <p:cNvSpPr>
                <a:spLocks noChangeArrowheads="1"/>
              </p:cNvSpPr>
              <p:nvPr/>
            </p:nvSpPr>
            <p:spPr bwMode="auto">
              <a:xfrm>
                <a:off x="303868" y="5202237"/>
                <a:ext cx="215900" cy="612775"/>
              </a:xfrm>
              <a:prstGeom prst="downArrow">
                <a:avLst>
                  <a:gd name="adj1" fmla="val 50000"/>
                  <a:gd name="adj2" fmla="val 50142"/>
                </a:avLst>
              </a:prstGeom>
              <a:solidFill>
                <a:srgbClr val="FF9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Ctr="1"/>
              <a:lstStyle/>
              <a:p>
                <a:pPr algn="ctr"/>
                <a:endParaRPr kumimoji="0" lang="ko-KR" altLang="en-US" sz="8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04" name="아래쪽 화살표 114"/>
              <p:cNvSpPr>
                <a:spLocks noChangeArrowheads="1"/>
              </p:cNvSpPr>
              <p:nvPr/>
            </p:nvSpPr>
            <p:spPr bwMode="auto">
              <a:xfrm flipV="1">
                <a:off x="947787" y="5199062"/>
                <a:ext cx="215900" cy="612775"/>
              </a:xfrm>
              <a:prstGeom prst="downArrow">
                <a:avLst>
                  <a:gd name="adj1" fmla="val 50000"/>
                  <a:gd name="adj2" fmla="val 50142"/>
                </a:avLst>
              </a:prstGeom>
              <a:solidFill>
                <a:srgbClr val="00B0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Ctr="1"/>
              <a:lstStyle/>
              <a:p>
                <a:pPr algn="ctr"/>
                <a:endParaRPr kumimoji="0" lang="ko-KR" altLang="en-US" sz="8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05" name="아래쪽 화살표 115"/>
              <p:cNvSpPr>
                <a:spLocks noChangeArrowheads="1"/>
              </p:cNvSpPr>
              <p:nvPr/>
            </p:nvSpPr>
            <p:spPr bwMode="auto">
              <a:xfrm flipV="1">
                <a:off x="927150" y="3833812"/>
                <a:ext cx="215900" cy="628650"/>
              </a:xfrm>
              <a:prstGeom prst="downArrow">
                <a:avLst>
                  <a:gd name="adj1" fmla="val 50000"/>
                  <a:gd name="adj2" fmla="val 50053"/>
                </a:avLst>
              </a:prstGeom>
              <a:solidFill>
                <a:srgbClr val="00B0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Ctr="1"/>
              <a:lstStyle/>
              <a:p>
                <a:pPr algn="ctr"/>
                <a:endParaRPr kumimoji="0" lang="ko-KR" altLang="en-US" sz="8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08" name="직사각형 119"/>
              <p:cNvSpPr>
                <a:spLocks noChangeArrowheads="1"/>
              </p:cNvSpPr>
              <p:nvPr/>
            </p:nvSpPr>
            <p:spPr bwMode="auto">
              <a:xfrm>
                <a:off x="719187" y="2143125"/>
                <a:ext cx="568325" cy="230187"/>
              </a:xfrm>
              <a:prstGeom prst="rect">
                <a:avLst/>
              </a:prstGeom>
              <a:solidFill>
                <a:srgbClr val="FF99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Ctr="1"/>
              <a:lstStyle/>
              <a:p>
                <a:pPr algn="ctr"/>
                <a:r>
                  <a:rPr kumimoji="0" lang="ko-KR" altLang="en-US" sz="800" b="1" dirty="0">
                    <a:solidFill>
                      <a:schemeClr val="tx1"/>
                    </a:solidFill>
                  </a:rPr>
                  <a:t>피드백</a:t>
                </a:r>
                <a:r>
                  <a:rPr kumimoji="0" lang="en-US" altLang="ko-KR" sz="800" b="1" dirty="0">
                    <a:solidFill>
                      <a:schemeClr val="tx1"/>
                    </a:solidFill>
                  </a:rPr>
                  <a:t> Data</a:t>
                </a:r>
                <a:endParaRPr kumimoji="0" lang="ko-KR" altLang="en-US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9" name="아래쪽 화살표 120"/>
              <p:cNvSpPr>
                <a:spLocks noChangeArrowheads="1"/>
              </p:cNvSpPr>
              <p:nvPr/>
            </p:nvSpPr>
            <p:spPr bwMode="auto">
              <a:xfrm flipV="1">
                <a:off x="927150" y="2524125"/>
                <a:ext cx="215900" cy="630237"/>
              </a:xfrm>
              <a:prstGeom prst="downArrow">
                <a:avLst>
                  <a:gd name="adj1" fmla="val 50000"/>
                  <a:gd name="adj2" fmla="val 50179"/>
                </a:avLst>
              </a:prstGeom>
              <a:solidFill>
                <a:srgbClr val="FF99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Ctr="1"/>
              <a:lstStyle/>
              <a:p>
                <a:pPr algn="ctr"/>
                <a:endParaRPr kumimoji="0" lang="ko-KR" altLang="en-US" sz="800" b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10" name="그룹 109"/>
            <p:cNvGrpSpPr/>
            <p:nvPr/>
          </p:nvGrpSpPr>
          <p:grpSpPr>
            <a:xfrm>
              <a:off x="416496" y="2022476"/>
              <a:ext cx="1266219" cy="4205287"/>
              <a:chOff x="86381" y="2143125"/>
              <a:chExt cx="1266219" cy="4205287"/>
            </a:xfrm>
          </p:grpSpPr>
          <p:sp>
            <p:nvSpPr>
              <p:cNvPr id="111" name="직사각형 2061"/>
              <p:cNvSpPr>
                <a:spLocks noChangeArrowheads="1"/>
              </p:cNvSpPr>
              <p:nvPr/>
            </p:nvSpPr>
            <p:spPr bwMode="auto">
              <a:xfrm>
                <a:off x="86381" y="3327400"/>
                <a:ext cx="568325" cy="246062"/>
              </a:xfrm>
              <a:prstGeom prst="rect">
                <a:avLst/>
              </a:prstGeom>
              <a:solidFill>
                <a:srgbClr val="FF9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Ctr="1"/>
              <a:lstStyle/>
              <a:p>
                <a:pPr algn="ctr"/>
                <a:r>
                  <a:rPr kumimoji="0" lang="en-US" altLang="ko-KR" sz="800" b="1">
                    <a:solidFill>
                      <a:schemeClr val="tx1"/>
                    </a:solidFill>
                  </a:rPr>
                  <a:t>CI-SDR</a:t>
                </a:r>
                <a:endParaRPr kumimoji="0" lang="ko-KR" altLang="en-US" sz="8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12" name="직사각형 106"/>
              <p:cNvSpPr>
                <a:spLocks noChangeArrowheads="1"/>
              </p:cNvSpPr>
              <p:nvPr/>
            </p:nvSpPr>
            <p:spPr bwMode="auto">
              <a:xfrm>
                <a:off x="86381" y="4806950"/>
                <a:ext cx="568325" cy="246062"/>
              </a:xfrm>
              <a:prstGeom prst="rect">
                <a:avLst/>
              </a:prstGeom>
              <a:solidFill>
                <a:srgbClr val="FF9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Ctr="1"/>
              <a:lstStyle/>
              <a:p>
                <a:pPr algn="ctr"/>
                <a:r>
                  <a:rPr kumimoji="0" lang="en-US" altLang="ko-KR" sz="800" b="1">
                    <a:solidFill>
                      <a:schemeClr val="tx1"/>
                    </a:solidFill>
                  </a:rPr>
                  <a:t>CI-SDR</a:t>
                </a:r>
                <a:endParaRPr kumimoji="0" lang="ko-KR" altLang="en-US" sz="8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13" name="직사각형 107"/>
              <p:cNvSpPr>
                <a:spLocks noChangeArrowheads="1"/>
              </p:cNvSpPr>
              <p:nvPr/>
            </p:nvSpPr>
            <p:spPr bwMode="auto">
              <a:xfrm>
                <a:off x="95906" y="6102350"/>
                <a:ext cx="568325" cy="246062"/>
              </a:xfrm>
              <a:prstGeom prst="rect">
                <a:avLst/>
              </a:prstGeom>
              <a:solidFill>
                <a:srgbClr val="FF9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Ctr="1"/>
              <a:lstStyle/>
              <a:p>
                <a:pPr algn="ctr"/>
                <a:r>
                  <a:rPr kumimoji="0" lang="en-US" altLang="ko-KR" sz="800" b="1">
                    <a:solidFill>
                      <a:schemeClr val="tx1"/>
                    </a:solidFill>
                  </a:rPr>
                  <a:t>CI-SDR</a:t>
                </a:r>
                <a:endParaRPr kumimoji="0" lang="ko-KR" altLang="en-US" sz="8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14" name="직사각형 108"/>
              <p:cNvSpPr>
                <a:spLocks noChangeArrowheads="1"/>
              </p:cNvSpPr>
              <p:nvPr/>
            </p:nvSpPr>
            <p:spPr bwMode="auto">
              <a:xfrm>
                <a:off x="784275" y="6080125"/>
                <a:ext cx="568325" cy="246062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Ctr="1"/>
              <a:lstStyle/>
              <a:p>
                <a:pPr algn="ctr"/>
                <a:r>
                  <a:rPr kumimoji="0" lang="en-US" altLang="ko-KR" sz="800" b="1">
                    <a:solidFill>
                      <a:schemeClr val="tx1"/>
                    </a:solidFill>
                  </a:rPr>
                  <a:t>CRA-SD</a:t>
                </a:r>
                <a:endParaRPr kumimoji="0" lang="ko-KR" altLang="en-US" sz="8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15" name="직사각형 109"/>
              <p:cNvSpPr>
                <a:spLocks noChangeArrowheads="1"/>
              </p:cNvSpPr>
              <p:nvPr/>
            </p:nvSpPr>
            <p:spPr bwMode="auto">
              <a:xfrm>
                <a:off x="784275" y="4806950"/>
                <a:ext cx="568325" cy="246062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Ctr="1"/>
              <a:lstStyle/>
              <a:p>
                <a:pPr algn="ctr"/>
                <a:r>
                  <a:rPr kumimoji="0" lang="en-US" altLang="ko-KR" sz="800" b="1" dirty="0">
                    <a:solidFill>
                      <a:schemeClr val="tx1"/>
                    </a:solidFill>
                  </a:rPr>
                  <a:t>CRA-SD</a:t>
                </a:r>
                <a:endParaRPr kumimoji="0" lang="ko-KR" altLang="en-US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6" name="직사각형 110"/>
              <p:cNvSpPr>
                <a:spLocks noChangeArrowheads="1"/>
              </p:cNvSpPr>
              <p:nvPr/>
            </p:nvSpPr>
            <p:spPr bwMode="auto">
              <a:xfrm>
                <a:off x="719187" y="3314700"/>
                <a:ext cx="568325" cy="246062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Ctr="1"/>
              <a:lstStyle/>
              <a:p>
                <a:pPr algn="ctr"/>
                <a:r>
                  <a:rPr kumimoji="0" lang="en-US" altLang="ko-KR" sz="800" b="1">
                    <a:solidFill>
                      <a:schemeClr val="tx1"/>
                    </a:solidFill>
                  </a:rPr>
                  <a:t>CRA-SD</a:t>
                </a:r>
                <a:endParaRPr kumimoji="0" lang="ko-KR" altLang="en-US" sz="8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17" name="아래쪽 화살표 2062"/>
              <p:cNvSpPr>
                <a:spLocks noChangeArrowheads="1"/>
              </p:cNvSpPr>
              <p:nvPr/>
            </p:nvSpPr>
            <p:spPr bwMode="auto">
              <a:xfrm>
                <a:off x="303868" y="3833812"/>
                <a:ext cx="215900" cy="628650"/>
              </a:xfrm>
              <a:prstGeom prst="downArrow">
                <a:avLst>
                  <a:gd name="adj1" fmla="val 50000"/>
                  <a:gd name="adj2" fmla="val 50053"/>
                </a:avLst>
              </a:prstGeom>
              <a:solidFill>
                <a:srgbClr val="FF9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Ctr="1"/>
              <a:lstStyle/>
              <a:p>
                <a:pPr algn="ctr"/>
                <a:endParaRPr kumimoji="0" lang="ko-KR" altLang="en-US" sz="8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18" name="아래쪽 화살표 2063"/>
              <p:cNvSpPr>
                <a:spLocks noChangeArrowheads="1"/>
              </p:cNvSpPr>
              <p:nvPr/>
            </p:nvSpPr>
            <p:spPr bwMode="auto">
              <a:xfrm>
                <a:off x="303868" y="5202237"/>
                <a:ext cx="215900" cy="612775"/>
              </a:xfrm>
              <a:prstGeom prst="downArrow">
                <a:avLst>
                  <a:gd name="adj1" fmla="val 50000"/>
                  <a:gd name="adj2" fmla="val 50142"/>
                </a:avLst>
              </a:prstGeom>
              <a:solidFill>
                <a:srgbClr val="FF9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Ctr="1"/>
              <a:lstStyle/>
              <a:p>
                <a:pPr algn="ctr"/>
                <a:endParaRPr kumimoji="0" lang="ko-KR" altLang="en-US" sz="8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19" name="아래쪽 화살표 114"/>
              <p:cNvSpPr>
                <a:spLocks noChangeArrowheads="1"/>
              </p:cNvSpPr>
              <p:nvPr/>
            </p:nvSpPr>
            <p:spPr bwMode="auto">
              <a:xfrm flipV="1">
                <a:off x="947787" y="5199062"/>
                <a:ext cx="215900" cy="612775"/>
              </a:xfrm>
              <a:prstGeom prst="downArrow">
                <a:avLst>
                  <a:gd name="adj1" fmla="val 50000"/>
                  <a:gd name="adj2" fmla="val 50142"/>
                </a:avLst>
              </a:prstGeom>
              <a:solidFill>
                <a:srgbClr val="00B0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Ctr="1"/>
              <a:lstStyle/>
              <a:p>
                <a:pPr algn="ctr"/>
                <a:endParaRPr kumimoji="0" lang="ko-KR" altLang="en-US" sz="8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20" name="아래쪽 화살표 115"/>
              <p:cNvSpPr>
                <a:spLocks noChangeArrowheads="1"/>
              </p:cNvSpPr>
              <p:nvPr/>
            </p:nvSpPr>
            <p:spPr bwMode="auto">
              <a:xfrm flipV="1">
                <a:off x="927150" y="3833812"/>
                <a:ext cx="215900" cy="628650"/>
              </a:xfrm>
              <a:prstGeom prst="downArrow">
                <a:avLst>
                  <a:gd name="adj1" fmla="val 50000"/>
                  <a:gd name="adj2" fmla="val 50053"/>
                </a:avLst>
              </a:prstGeom>
              <a:solidFill>
                <a:srgbClr val="00B0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Ctr="1"/>
              <a:lstStyle/>
              <a:p>
                <a:pPr algn="ctr"/>
                <a:endParaRPr kumimoji="0" lang="ko-KR" altLang="en-US" sz="8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21" name="직사각형 2065"/>
              <p:cNvSpPr>
                <a:spLocks noChangeArrowheads="1"/>
              </p:cNvSpPr>
              <p:nvPr/>
            </p:nvSpPr>
            <p:spPr bwMode="auto">
              <a:xfrm>
                <a:off x="86381" y="2143125"/>
                <a:ext cx="568325" cy="230187"/>
              </a:xfrm>
              <a:prstGeom prst="rect">
                <a:avLst/>
              </a:prstGeom>
              <a:solidFill>
                <a:srgbClr val="FF99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Ctr="1"/>
              <a:lstStyle/>
              <a:p>
                <a:pPr algn="ctr"/>
                <a:r>
                  <a:rPr kumimoji="0" lang="en-US" altLang="ko-KR" sz="800" b="1">
                    <a:solidFill>
                      <a:schemeClr val="tx1"/>
                    </a:solidFill>
                  </a:rPr>
                  <a:t>Input Data</a:t>
                </a:r>
                <a:endParaRPr kumimoji="0" lang="ko-KR" altLang="en-US" sz="8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아래쪽 화살표 118"/>
              <p:cNvSpPr>
                <a:spLocks noChangeArrowheads="1"/>
              </p:cNvSpPr>
              <p:nvPr/>
            </p:nvSpPr>
            <p:spPr bwMode="auto">
              <a:xfrm>
                <a:off x="249893" y="2506662"/>
                <a:ext cx="215900" cy="628650"/>
              </a:xfrm>
              <a:prstGeom prst="downArrow">
                <a:avLst>
                  <a:gd name="adj1" fmla="val 50000"/>
                  <a:gd name="adj2" fmla="val 50053"/>
                </a:avLst>
              </a:prstGeom>
              <a:solidFill>
                <a:srgbClr val="FF99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Ctr="1"/>
              <a:lstStyle/>
              <a:p>
                <a:pPr algn="ctr"/>
                <a:endParaRPr kumimoji="0" lang="ko-KR" altLang="en-US" sz="8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23" name="직사각형 119"/>
              <p:cNvSpPr>
                <a:spLocks noChangeArrowheads="1"/>
              </p:cNvSpPr>
              <p:nvPr/>
            </p:nvSpPr>
            <p:spPr bwMode="auto">
              <a:xfrm>
                <a:off x="719187" y="2143125"/>
                <a:ext cx="568325" cy="230187"/>
              </a:xfrm>
              <a:prstGeom prst="rect">
                <a:avLst/>
              </a:prstGeom>
              <a:solidFill>
                <a:srgbClr val="FF99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Ctr="1"/>
              <a:lstStyle/>
              <a:p>
                <a:pPr algn="ctr"/>
                <a:r>
                  <a:rPr kumimoji="0" lang="ko-KR" altLang="en-US" sz="800" b="1" dirty="0">
                    <a:solidFill>
                      <a:schemeClr val="tx1"/>
                    </a:solidFill>
                  </a:rPr>
                  <a:t>피드백</a:t>
                </a:r>
                <a:r>
                  <a:rPr kumimoji="0" lang="en-US" altLang="ko-KR" sz="800" b="1" dirty="0">
                    <a:solidFill>
                      <a:schemeClr val="tx1"/>
                    </a:solidFill>
                  </a:rPr>
                  <a:t> Data</a:t>
                </a:r>
                <a:endParaRPr kumimoji="0" lang="ko-KR" altLang="en-US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4" name="아래쪽 화살표 120"/>
              <p:cNvSpPr>
                <a:spLocks noChangeArrowheads="1"/>
              </p:cNvSpPr>
              <p:nvPr/>
            </p:nvSpPr>
            <p:spPr bwMode="auto">
              <a:xfrm flipV="1">
                <a:off x="927150" y="2524125"/>
                <a:ext cx="215900" cy="630237"/>
              </a:xfrm>
              <a:prstGeom prst="downArrow">
                <a:avLst>
                  <a:gd name="adj1" fmla="val 50000"/>
                  <a:gd name="adj2" fmla="val 50179"/>
                </a:avLst>
              </a:prstGeom>
              <a:solidFill>
                <a:srgbClr val="FF99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Ctr="1"/>
              <a:lstStyle/>
              <a:p>
                <a:pPr algn="ctr"/>
                <a:endParaRPr kumimoji="0" lang="ko-KR" altLang="en-US" sz="800" b="1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17839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11"/>
          <p:cNvSpPr>
            <a:spLocks noChangeArrowheads="1"/>
          </p:cNvSpPr>
          <p:nvPr/>
        </p:nvSpPr>
        <p:spPr bwMode="auto">
          <a:xfrm>
            <a:off x="122238" y="823913"/>
            <a:ext cx="7597775" cy="37306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376238" lvl="3" indent="-376238"/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Phase Shift _ 2-cars</a:t>
            </a:r>
          </a:p>
          <a:p>
            <a:pPr marL="376238" lvl="3" indent="-376238"/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-</a:t>
            </a:r>
            <a:r>
              <a:rPr lang="en-US" altLang="ko-KR" sz="80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</a:t>
            </a: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CRA(PA)</a:t>
            </a:r>
            <a:r>
              <a:rPr lang="en-US" altLang="ko-KR" sz="80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– MDS – Converter/Inverter, </a:t>
            </a: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(2)</a:t>
            </a:r>
            <a:r>
              <a:rPr lang="en-US" altLang="ko-KR" sz="80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</a:t>
            </a: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When a</a:t>
            </a:r>
            <a:r>
              <a:rPr lang="en-US" altLang="ko-KR" sz="80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</a:t>
            </a: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Converter/Inverter is Failed</a:t>
            </a:r>
          </a:p>
        </p:txBody>
      </p:sp>
      <p:grpSp>
        <p:nvGrpSpPr>
          <p:cNvPr id="7173" name="Group 102"/>
          <p:cNvGrpSpPr>
            <a:grpSpLocks/>
          </p:cNvGrpSpPr>
          <p:nvPr/>
        </p:nvGrpSpPr>
        <p:grpSpPr bwMode="auto">
          <a:xfrm>
            <a:off x="7348538" y="5821363"/>
            <a:ext cx="2397125" cy="498475"/>
            <a:chOff x="2005" y="3706"/>
            <a:chExt cx="1510" cy="314"/>
          </a:xfrm>
        </p:grpSpPr>
        <p:sp>
          <p:nvSpPr>
            <p:cNvPr id="7229" name="Rectangle 11"/>
            <p:cNvSpPr>
              <a:spLocks noChangeArrowheads="1"/>
            </p:cNvSpPr>
            <p:nvPr/>
          </p:nvSpPr>
          <p:spPr bwMode="auto">
            <a:xfrm>
              <a:off x="2005" y="3706"/>
              <a:ext cx="938" cy="178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376238" lvl="3" indent="-376238" eaLnBrk="1" latinLnBrk="1" hangingPunct="1">
                <a:buFont typeface="Wingdings" pitchFamily="2" charset="2"/>
                <a:buNone/>
              </a:pPr>
              <a:r>
                <a:rPr lang="en-US" altLang="ko-KR" sz="800" b="1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Phase Shift </a:t>
              </a:r>
              <a:r>
                <a:rPr lang="en-US" altLang="ko-KR" sz="800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(degree)</a:t>
              </a:r>
            </a:p>
          </p:txBody>
        </p:sp>
        <p:sp>
          <p:nvSpPr>
            <p:cNvPr id="7230" name="Rectangle 104"/>
            <p:cNvSpPr>
              <a:spLocks noChangeArrowheads="1"/>
            </p:cNvSpPr>
            <p:nvPr/>
          </p:nvSpPr>
          <p:spPr bwMode="auto">
            <a:xfrm>
              <a:off x="3326" y="3857"/>
              <a:ext cx="189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--</a:t>
              </a:r>
            </a:p>
          </p:txBody>
        </p:sp>
        <p:sp>
          <p:nvSpPr>
            <p:cNvPr id="7231" name="Rectangle 105"/>
            <p:cNvSpPr>
              <a:spLocks noChangeArrowheads="1"/>
            </p:cNvSpPr>
            <p:nvPr/>
          </p:nvSpPr>
          <p:spPr bwMode="auto">
            <a:xfrm>
              <a:off x="3138" y="3857"/>
              <a:ext cx="188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--</a:t>
              </a:r>
            </a:p>
          </p:txBody>
        </p:sp>
        <p:sp>
          <p:nvSpPr>
            <p:cNvPr id="7232" name="Rectangle 106"/>
            <p:cNvSpPr>
              <a:spLocks noChangeArrowheads="1"/>
            </p:cNvSpPr>
            <p:nvPr/>
          </p:nvSpPr>
          <p:spPr bwMode="auto">
            <a:xfrm>
              <a:off x="2951" y="3857"/>
              <a:ext cx="187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--</a:t>
              </a:r>
            </a:p>
          </p:txBody>
        </p:sp>
        <p:sp>
          <p:nvSpPr>
            <p:cNvPr id="7233" name="Rectangle 107"/>
            <p:cNvSpPr>
              <a:spLocks noChangeArrowheads="1"/>
            </p:cNvSpPr>
            <p:nvPr/>
          </p:nvSpPr>
          <p:spPr bwMode="auto">
            <a:xfrm>
              <a:off x="2763" y="3857"/>
              <a:ext cx="188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--</a:t>
              </a:r>
            </a:p>
          </p:txBody>
        </p:sp>
        <p:sp>
          <p:nvSpPr>
            <p:cNvPr id="7234" name="Rectangle 108"/>
            <p:cNvSpPr>
              <a:spLocks noChangeArrowheads="1"/>
            </p:cNvSpPr>
            <p:nvPr/>
          </p:nvSpPr>
          <p:spPr bwMode="auto">
            <a:xfrm>
              <a:off x="2574" y="3857"/>
              <a:ext cx="189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--</a:t>
              </a:r>
            </a:p>
          </p:txBody>
        </p:sp>
        <p:sp>
          <p:nvSpPr>
            <p:cNvPr id="7235" name="Rectangle 109"/>
            <p:cNvSpPr>
              <a:spLocks noChangeArrowheads="1"/>
            </p:cNvSpPr>
            <p:nvPr/>
          </p:nvSpPr>
          <p:spPr bwMode="auto">
            <a:xfrm>
              <a:off x="2387" y="3857"/>
              <a:ext cx="187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--</a:t>
              </a:r>
            </a:p>
          </p:txBody>
        </p:sp>
        <p:sp>
          <p:nvSpPr>
            <p:cNvPr id="7236" name="Rectangle 110"/>
            <p:cNvSpPr>
              <a:spLocks noChangeArrowheads="1"/>
            </p:cNvSpPr>
            <p:nvPr/>
          </p:nvSpPr>
          <p:spPr bwMode="auto">
            <a:xfrm>
              <a:off x="2199" y="3857"/>
              <a:ext cx="188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90</a:t>
              </a:r>
            </a:p>
          </p:txBody>
        </p:sp>
        <p:sp>
          <p:nvSpPr>
            <p:cNvPr id="7237" name="Rectangle 111"/>
            <p:cNvSpPr>
              <a:spLocks noChangeArrowheads="1"/>
            </p:cNvSpPr>
            <p:nvPr/>
          </p:nvSpPr>
          <p:spPr bwMode="auto">
            <a:xfrm>
              <a:off x="2010" y="3857"/>
              <a:ext cx="189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X</a:t>
              </a:r>
            </a:p>
          </p:txBody>
        </p:sp>
        <p:sp>
          <p:nvSpPr>
            <p:cNvPr id="7238" name="Line 112"/>
            <p:cNvSpPr>
              <a:spLocks noChangeShapeType="1"/>
            </p:cNvSpPr>
            <p:nvPr/>
          </p:nvSpPr>
          <p:spPr bwMode="auto">
            <a:xfrm>
              <a:off x="2010" y="3857"/>
              <a:ext cx="1505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7239" name="Line 113"/>
            <p:cNvSpPr>
              <a:spLocks noChangeShapeType="1"/>
            </p:cNvSpPr>
            <p:nvPr/>
          </p:nvSpPr>
          <p:spPr bwMode="auto">
            <a:xfrm>
              <a:off x="2010" y="4020"/>
              <a:ext cx="1505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7240" name="Line 114"/>
            <p:cNvSpPr>
              <a:spLocks noChangeShapeType="1"/>
            </p:cNvSpPr>
            <p:nvPr/>
          </p:nvSpPr>
          <p:spPr bwMode="auto">
            <a:xfrm>
              <a:off x="2010" y="3857"/>
              <a:ext cx="0" cy="163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7241" name="Line 115"/>
            <p:cNvSpPr>
              <a:spLocks noChangeShapeType="1"/>
            </p:cNvSpPr>
            <p:nvPr/>
          </p:nvSpPr>
          <p:spPr bwMode="auto">
            <a:xfrm>
              <a:off x="2199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7242" name="Line 116"/>
            <p:cNvSpPr>
              <a:spLocks noChangeShapeType="1"/>
            </p:cNvSpPr>
            <p:nvPr/>
          </p:nvSpPr>
          <p:spPr bwMode="auto">
            <a:xfrm>
              <a:off x="2387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7243" name="Line 117"/>
            <p:cNvSpPr>
              <a:spLocks noChangeShapeType="1"/>
            </p:cNvSpPr>
            <p:nvPr/>
          </p:nvSpPr>
          <p:spPr bwMode="auto">
            <a:xfrm>
              <a:off x="2574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7244" name="Line 118"/>
            <p:cNvSpPr>
              <a:spLocks noChangeShapeType="1"/>
            </p:cNvSpPr>
            <p:nvPr/>
          </p:nvSpPr>
          <p:spPr bwMode="auto">
            <a:xfrm>
              <a:off x="2763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7245" name="Line 119"/>
            <p:cNvSpPr>
              <a:spLocks noChangeShapeType="1"/>
            </p:cNvSpPr>
            <p:nvPr/>
          </p:nvSpPr>
          <p:spPr bwMode="auto">
            <a:xfrm>
              <a:off x="2951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7246" name="Line 120"/>
            <p:cNvSpPr>
              <a:spLocks noChangeShapeType="1"/>
            </p:cNvSpPr>
            <p:nvPr/>
          </p:nvSpPr>
          <p:spPr bwMode="auto">
            <a:xfrm>
              <a:off x="3138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7247" name="Line 121"/>
            <p:cNvSpPr>
              <a:spLocks noChangeShapeType="1"/>
            </p:cNvSpPr>
            <p:nvPr/>
          </p:nvSpPr>
          <p:spPr bwMode="auto">
            <a:xfrm>
              <a:off x="3326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7248" name="Line 122"/>
            <p:cNvSpPr>
              <a:spLocks noChangeShapeType="1"/>
            </p:cNvSpPr>
            <p:nvPr/>
          </p:nvSpPr>
          <p:spPr bwMode="auto">
            <a:xfrm>
              <a:off x="3515" y="3857"/>
              <a:ext cx="0" cy="163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sp>
        <p:nvSpPr>
          <p:cNvPr id="7174" name="AutoShape 128"/>
          <p:cNvSpPr>
            <a:spLocks/>
          </p:cNvSpPr>
          <p:nvPr/>
        </p:nvSpPr>
        <p:spPr bwMode="auto">
          <a:xfrm>
            <a:off x="8743950" y="4906963"/>
            <a:ext cx="914400" cy="60960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72398"/>
              <a:gd name="adj5" fmla="val 141407"/>
              <a:gd name="adj6" fmla="val -138889"/>
            </a:avLst>
          </a:prstGeom>
          <a:solidFill>
            <a:srgbClr val="CCFFFF"/>
          </a:solidFill>
          <a:ln w="9525" algn="ctr">
            <a:solidFill>
              <a:srgbClr val="0000FF"/>
            </a:solidFill>
            <a:miter lim="800000"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Excessive Noise</a:t>
            </a:r>
          </a:p>
        </p:txBody>
      </p:sp>
      <p:sp>
        <p:nvSpPr>
          <p:cNvPr id="7175" name="Rectangle 11"/>
          <p:cNvSpPr>
            <a:spLocks noChangeArrowheads="1"/>
          </p:cNvSpPr>
          <p:nvPr/>
        </p:nvSpPr>
        <p:spPr bwMode="auto">
          <a:xfrm>
            <a:off x="3368675" y="5624513"/>
            <a:ext cx="1871663" cy="541337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376238" lvl="3" indent="-376238"/>
            <a:r>
              <a:rPr lang="en-US" altLang="ko-KR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Information for car network</a:t>
            </a:r>
          </a:p>
          <a:p>
            <a:pPr marL="376238" lvl="3" indent="-376238"/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Failure of Converter/Inverter</a:t>
            </a:r>
          </a:p>
          <a:p>
            <a:pPr marL="376238" lvl="3" indent="-376238"/>
            <a:r>
              <a:rPr lang="en-US" altLang="ko-KR" sz="800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10000000</a:t>
            </a:r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; no. 1 car fault </a:t>
            </a:r>
          </a:p>
        </p:txBody>
      </p:sp>
      <p:sp>
        <p:nvSpPr>
          <p:cNvPr id="7176" name="Rectangle 11"/>
          <p:cNvSpPr>
            <a:spLocks noChangeArrowheads="1"/>
          </p:cNvSpPr>
          <p:nvPr/>
        </p:nvSpPr>
        <p:spPr bwMode="auto">
          <a:xfrm>
            <a:off x="5851525" y="2192338"/>
            <a:ext cx="1143000" cy="287337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RS     485</a:t>
            </a:r>
          </a:p>
        </p:txBody>
      </p:sp>
      <p:sp>
        <p:nvSpPr>
          <p:cNvPr id="7177" name="Rectangle 11"/>
          <p:cNvSpPr>
            <a:spLocks noChangeArrowheads="1"/>
          </p:cNvSpPr>
          <p:nvPr/>
        </p:nvSpPr>
        <p:spPr bwMode="auto">
          <a:xfrm>
            <a:off x="5335588" y="5041900"/>
            <a:ext cx="18510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algn="ctr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Lonworks    Network</a:t>
            </a:r>
          </a:p>
        </p:txBody>
      </p:sp>
      <p:sp>
        <p:nvSpPr>
          <p:cNvPr id="7178" name="Rectangle 11"/>
          <p:cNvSpPr>
            <a:spLocks noChangeArrowheads="1"/>
          </p:cNvSpPr>
          <p:nvPr/>
        </p:nvSpPr>
        <p:spPr bwMode="auto">
          <a:xfrm>
            <a:off x="1489075" y="5013325"/>
            <a:ext cx="1766888" cy="2873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Lonworks    Network</a:t>
            </a:r>
          </a:p>
        </p:txBody>
      </p:sp>
      <p:sp>
        <p:nvSpPr>
          <p:cNvPr id="7179" name="Rectangle 11"/>
          <p:cNvSpPr>
            <a:spLocks noChangeArrowheads="1"/>
          </p:cNvSpPr>
          <p:nvPr/>
        </p:nvSpPr>
        <p:spPr bwMode="auto">
          <a:xfrm>
            <a:off x="1450975" y="3538538"/>
            <a:ext cx="1766888" cy="2873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Lonworks     Network</a:t>
            </a:r>
          </a:p>
        </p:txBody>
      </p:sp>
      <p:sp>
        <p:nvSpPr>
          <p:cNvPr id="7180" name="Rectangle 11"/>
          <p:cNvSpPr>
            <a:spLocks noChangeArrowheads="1"/>
          </p:cNvSpPr>
          <p:nvPr/>
        </p:nvSpPr>
        <p:spPr bwMode="auto">
          <a:xfrm>
            <a:off x="5376863" y="3519488"/>
            <a:ext cx="176688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Lonworks     Network</a:t>
            </a:r>
          </a:p>
        </p:txBody>
      </p:sp>
      <p:sp>
        <p:nvSpPr>
          <p:cNvPr id="7181" name="Rectangle 11"/>
          <p:cNvSpPr>
            <a:spLocks noChangeArrowheads="1"/>
          </p:cNvSpPr>
          <p:nvPr/>
        </p:nvSpPr>
        <p:spPr bwMode="auto">
          <a:xfrm>
            <a:off x="1955800" y="2227263"/>
            <a:ext cx="1143000" cy="287337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RS     485</a:t>
            </a:r>
          </a:p>
        </p:txBody>
      </p:sp>
      <p:sp>
        <p:nvSpPr>
          <p:cNvPr id="7182" name="Rectangle 11"/>
          <p:cNvSpPr>
            <a:spLocks noChangeArrowheads="1"/>
          </p:cNvSpPr>
          <p:nvPr/>
        </p:nvSpPr>
        <p:spPr bwMode="auto">
          <a:xfrm>
            <a:off x="1276350" y="1196975"/>
            <a:ext cx="2524125" cy="2873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CCP (Comm. Control Panel)</a:t>
            </a:r>
          </a:p>
        </p:txBody>
      </p:sp>
      <p:sp>
        <p:nvSpPr>
          <p:cNvPr id="7183" name="Rectangle 11"/>
          <p:cNvSpPr>
            <a:spLocks noChangeArrowheads="1"/>
          </p:cNvSpPr>
          <p:nvPr/>
        </p:nvSpPr>
        <p:spPr bwMode="auto">
          <a:xfrm>
            <a:off x="2006600" y="3914775"/>
            <a:ext cx="936625" cy="2873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MDS (CDT)</a:t>
            </a:r>
          </a:p>
        </p:txBody>
      </p:sp>
      <p:pic>
        <p:nvPicPr>
          <p:cNvPr id="7184" name="Picture 14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2775" y="4146550"/>
            <a:ext cx="1330325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85" name="Rectangle 11"/>
          <p:cNvSpPr>
            <a:spLocks noChangeArrowheads="1"/>
          </p:cNvSpPr>
          <p:nvPr/>
        </p:nvSpPr>
        <p:spPr bwMode="auto">
          <a:xfrm>
            <a:off x="1863725" y="5410200"/>
            <a:ext cx="1368425" cy="2873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Converter/Inverter</a:t>
            </a:r>
          </a:p>
        </p:txBody>
      </p:sp>
      <p:pic>
        <p:nvPicPr>
          <p:cNvPr id="7186" name="Picture 14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850" y="5626100"/>
            <a:ext cx="1584325" cy="755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187" name="Line 144"/>
          <p:cNvSpPr>
            <a:spLocks noChangeShapeType="1"/>
          </p:cNvSpPr>
          <p:nvPr/>
        </p:nvSpPr>
        <p:spPr bwMode="auto">
          <a:xfrm rot="5400000">
            <a:off x="2243138" y="2365375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7188" name="Line 145"/>
          <p:cNvSpPr>
            <a:spLocks noChangeShapeType="1"/>
          </p:cNvSpPr>
          <p:nvPr/>
        </p:nvSpPr>
        <p:spPr bwMode="auto">
          <a:xfrm rot="-5400000">
            <a:off x="2316163" y="2347913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7189" name="Line 146"/>
          <p:cNvSpPr>
            <a:spLocks noChangeShapeType="1"/>
          </p:cNvSpPr>
          <p:nvPr/>
        </p:nvSpPr>
        <p:spPr bwMode="auto">
          <a:xfrm rot="5400000">
            <a:off x="2238375" y="3671888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7190" name="Line 147"/>
          <p:cNvSpPr>
            <a:spLocks noChangeShapeType="1"/>
          </p:cNvSpPr>
          <p:nvPr/>
        </p:nvSpPr>
        <p:spPr bwMode="auto">
          <a:xfrm rot="-5400000">
            <a:off x="2311400" y="3654425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7191" name="Line 148"/>
          <p:cNvSpPr>
            <a:spLocks noChangeShapeType="1"/>
          </p:cNvSpPr>
          <p:nvPr/>
        </p:nvSpPr>
        <p:spPr bwMode="auto">
          <a:xfrm rot="5400000">
            <a:off x="2243138" y="5183188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7192" name="Line 149"/>
          <p:cNvSpPr>
            <a:spLocks noChangeShapeType="1"/>
          </p:cNvSpPr>
          <p:nvPr/>
        </p:nvSpPr>
        <p:spPr bwMode="auto">
          <a:xfrm rot="-5400000">
            <a:off x="2316163" y="5165725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grpSp>
        <p:nvGrpSpPr>
          <p:cNvPr id="7193" name="Group 150"/>
          <p:cNvGrpSpPr>
            <a:grpSpLocks/>
          </p:cNvGrpSpPr>
          <p:nvPr/>
        </p:nvGrpSpPr>
        <p:grpSpPr bwMode="auto">
          <a:xfrm>
            <a:off x="5808663" y="3932238"/>
            <a:ext cx="1330325" cy="973137"/>
            <a:chOff x="1738" y="2592"/>
            <a:chExt cx="838" cy="613"/>
          </a:xfrm>
        </p:grpSpPr>
        <p:sp>
          <p:nvSpPr>
            <p:cNvPr id="7227" name="Rectangle 11"/>
            <p:cNvSpPr>
              <a:spLocks noChangeArrowheads="1"/>
            </p:cNvSpPr>
            <p:nvPr/>
          </p:nvSpPr>
          <p:spPr bwMode="auto">
            <a:xfrm>
              <a:off x="1804" y="2592"/>
              <a:ext cx="590" cy="18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555625" lvl="3" indent="-376238" eaLnBrk="1" latinLnBrk="1" hangingPunct="1">
                <a:buFont typeface="Wingdings" pitchFamily="2" charset="2"/>
                <a:buNone/>
              </a:pPr>
              <a:r>
                <a:rPr lang="en-US" altLang="ko-KR" sz="800" b="1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MDS (CDT)</a:t>
              </a:r>
            </a:p>
          </p:txBody>
        </p:sp>
        <p:pic>
          <p:nvPicPr>
            <p:cNvPr id="7228" name="Picture 15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8" y="2727"/>
              <a:ext cx="838" cy="4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194" name="Group 153"/>
          <p:cNvGrpSpPr>
            <a:grpSpLocks/>
          </p:cNvGrpSpPr>
          <p:nvPr/>
        </p:nvGrpSpPr>
        <p:grpSpPr bwMode="auto">
          <a:xfrm>
            <a:off x="5627688" y="5410200"/>
            <a:ext cx="1584325" cy="971550"/>
            <a:chOff x="1669" y="3408"/>
            <a:chExt cx="998" cy="612"/>
          </a:xfrm>
        </p:grpSpPr>
        <p:sp>
          <p:nvSpPr>
            <p:cNvPr id="7225" name="Rectangle 11"/>
            <p:cNvSpPr>
              <a:spLocks noChangeArrowheads="1"/>
            </p:cNvSpPr>
            <p:nvPr/>
          </p:nvSpPr>
          <p:spPr bwMode="auto">
            <a:xfrm>
              <a:off x="1759" y="3408"/>
              <a:ext cx="862" cy="18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555625" lvl="3" indent="-376238" eaLnBrk="1" latinLnBrk="1" hangingPunct="1">
                <a:buFont typeface="Wingdings" pitchFamily="2" charset="2"/>
                <a:buNone/>
              </a:pPr>
              <a:r>
                <a:rPr lang="en-US" altLang="ko-KR" sz="800" b="1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Converter/Inverter</a:t>
              </a:r>
            </a:p>
          </p:txBody>
        </p:sp>
        <p:pic>
          <p:nvPicPr>
            <p:cNvPr id="7226" name="Picture 15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9" y="3544"/>
              <a:ext cx="998" cy="4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80000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grpSp>
        <p:nvGrpSpPr>
          <p:cNvPr id="7195" name="Group 156"/>
          <p:cNvGrpSpPr>
            <a:grpSpLocks/>
          </p:cNvGrpSpPr>
          <p:nvPr/>
        </p:nvGrpSpPr>
        <p:grpSpPr bwMode="auto">
          <a:xfrm rot="5400000">
            <a:off x="6177757" y="2320131"/>
            <a:ext cx="468312" cy="73025"/>
            <a:chOff x="1191" y="1434"/>
            <a:chExt cx="613" cy="46"/>
          </a:xfrm>
        </p:grpSpPr>
        <p:sp>
          <p:nvSpPr>
            <p:cNvPr id="7223" name="Line 157"/>
            <p:cNvSpPr>
              <a:spLocks noChangeShapeType="1"/>
            </p:cNvSpPr>
            <p:nvPr/>
          </p:nvSpPr>
          <p:spPr bwMode="auto">
            <a:xfrm>
              <a:off x="1214" y="1480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7224" name="Line 158"/>
            <p:cNvSpPr>
              <a:spLocks noChangeShapeType="1"/>
            </p:cNvSpPr>
            <p:nvPr/>
          </p:nvSpPr>
          <p:spPr bwMode="auto">
            <a:xfrm rot="10800000">
              <a:off x="1191" y="1434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grpSp>
        <p:nvGrpSpPr>
          <p:cNvPr id="7196" name="Group 159"/>
          <p:cNvGrpSpPr>
            <a:grpSpLocks/>
          </p:cNvGrpSpPr>
          <p:nvPr/>
        </p:nvGrpSpPr>
        <p:grpSpPr bwMode="auto">
          <a:xfrm rot="5400000">
            <a:off x="6172994" y="3626644"/>
            <a:ext cx="468313" cy="73025"/>
            <a:chOff x="1191" y="1434"/>
            <a:chExt cx="613" cy="46"/>
          </a:xfrm>
        </p:grpSpPr>
        <p:sp>
          <p:nvSpPr>
            <p:cNvPr id="7221" name="Line 160"/>
            <p:cNvSpPr>
              <a:spLocks noChangeShapeType="1"/>
            </p:cNvSpPr>
            <p:nvPr/>
          </p:nvSpPr>
          <p:spPr bwMode="auto">
            <a:xfrm>
              <a:off x="1214" y="1480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7222" name="Line 161"/>
            <p:cNvSpPr>
              <a:spLocks noChangeShapeType="1"/>
            </p:cNvSpPr>
            <p:nvPr/>
          </p:nvSpPr>
          <p:spPr bwMode="auto">
            <a:xfrm rot="10800000">
              <a:off x="1191" y="1434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grpSp>
        <p:nvGrpSpPr>
          <p:cNvPr id="7197" name="Group 162"/>
          <p:cNvGrpSpPr>
            <a:grpSpLocks/>
          </p:cNvGrpSpPr>
          <p:nvPr/>
        </p:nvGrpSpPr>
        <p:grpSpPr bwMode="auto">
          <a:xfrm rot="5400000">
            <a:off x="6177756" y="5137944"/>
            <a:ext cx="468313" cy="73025"/>
            <a:chOff x="1191" y="1434"/>
            <a:chExt cx="613" cy="46"/>
          </a:xfrm>
        </p:grpSpPr>
        <p:sp>
          <p:nvSpPr>
            <p:cNvPr id="7219" name="Line 163"/>
            <p:cNvSpPr>
              <a:spLocks noChangeShapeType="1"/>
            </p:cNvSpPr>
            <p:nvPr/>
          </p:nvSpPr>
          <p:spPr bwMode="auto">
            <a:xfrm>
              <a:off x="1214" y="1480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7220" name="Line 164"/>
            <p:cNvSpPr>
              <a:spLocks noChangeShapeType="1"/>
            </p:cNvSpPr>
            <p:nvPr/>
          </p:nvSpPr>
          <p:spPr bwMode="auto">
            <a:xfrm rot="10800000">
              <a:off x="1191" y="1434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grpSp>
        <p:nvGrpSpPr>
          <p:cNvPr id="7198" name="Group 165"/>
          <p:cNvGrpSpPr>
            <a:grpSpLocks/>
          </p:cNvGrpSpPr>
          <p:nvPr/>
        </p:nvGrpSpPr>
        <p:grpSpPr bwMode="auto">
          <a:xfrm>
            <a:off x="3203575" y="2905125"/>
            <a:ext cx="677863" cy="73025"/>
            <a:chOff x="1191" y="1434"/>
            <a:chExt cx="613" cy="46"/>
          </a:xfrm>
        </p:grpSpPr>
        <p:sp>
          <p:nvSpPr>
            <p:cNvPr id="7217" name="Line 166"/>
            <p:cNvSpPr>
              <a:spLocks noChangeShapeType="1"/>
            </p:cNvSpPr>
            <p:nvPr/>
          </p:nvSpPr>
          <p:spPr bwMode="auto">
            <a:xfrm>
              <a:off x="1214" y="1480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7218" name="Line 167"/>
            <p:cNvSpPr>
              <a:spLocks noChangeShapeType="1"/>
            </p:cNvSpPr>
            <p:nvPr/>
          </p:nvSpPr>
          <p:spPr bwMode="auto">
            <a:xfrm rot="10800000">
              <a:off x="1191" y="1434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sp>
        <p:nvSpPr>
          <p:cNvPr id="7199" name="Line 173"/>
          <p:cNvSpPr>
            <a:spLocks noChangeShapeType="1"/>
          </p:cNvSpPr>
          <p:nvPr/>
        </p:nvSpPr>
        <p:spPr bwMode="auto">
          <a:xfrm rot="-5400000">
            <a:off x="2170113" y="3673475"/>
            <a:ext cx="4508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7200" name="Line 174"/>
          <p:cNvSpPr>
            <a:spLocks noChangeShapeType="1"/>
          </p:cNvSpPr>
          <p:nvPr/>
        </p:nvSpPr>
        <p:spPr bwMode="auto">
          <a:xfrm rot="-5400000">
            <a:off x="2179638" y="5181600"/>
            <a:ext cx="4508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7201" name="Line 177"/>
          <p:cNvSpPr>
            <a:spLocks noChangeShapeType="1"/>
          </p:cNvSpPr>
          <p:nvPr/>
        </p:nvSpPr>
        <p:spPr bwMode="auto">
          <a:xfrm>
            <a:off x="3213100" y="3060700"/>
            <a:ext cx="6731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7202" name="Line 179"/>
          <p:cNvSpPr>
            <a:spLocks noChangeShapeType="1"/>
          </p:cNvSpPr>
          <p:nvPr/>
        </p:nvSpPr>
        <p:spPr bwMode="auto">
          <a:xfrm rot="5400000">
            <a:off x="6069013" y="3673475"/>
            <a:ext cx="4508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7203" name="Line 180"/>
          <p:cNvSpPr>
            <a:spLocks noChangeShapeType="1"/>
          </p:cNvSpPr>
          <p:nvPr/>
        </p:nvSpPr>
        <p:spPr bwMode="auto">
          <a:xfrm rot="5400000">
            <a:off x="6088063" y="5181600"/>
            <a:ext cx="4508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pic>
        <p:nvPicPr>
          <p:cNvPr id="7204" name="Picture 18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5813" y="1447800"/>
            <a:ext cx="915987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05" name="Picture 18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3438" y="1452563"/>
            <a:ext cx="911225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06" name="Rectangle 11"/>
          <p:cNvSpPr>
            <a:spLocks noChangeArrowheads="1"/>
          </p:cNvSpPr>
          <p:nvPr/>
        </p:nvSpPr>
        <p:spPr bwMode="auto">
          <a:xfrm>
            <a:off x="5889625" y="2800350"/>
            <a:ext cx="969963" cy="2873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RS-485</a:t>
            </a:r>
          </a:p>
        </p:txBody>
      </p:sp>
      <p:sp>
        <p:nvSpPr>
          <p:cNvPr id="7207" name="Rectangle 185"/>
          <p:cNvSpPr>
            <a:spLocks noChangeArrowheads="1"/>
          </p:cNvSpPr>
          <p:nvPr/>
        </p:nvSpPr>
        <p:spPr bwMode="auto">
          <a:xfrm>
            <a:off x="5780088" y="2727325"/>
            <a:ext cx="1277937" cy="515938"/>
          </a:xfrm>
          <a:prstGeom prst="rect">
            <a:avLst/>
          </a:prstGeom>
          <a:solidFill>
            <a:srgbClr val="CCFFFF"/>
          </a:solidFill>
          <a:ln w="22225" algn="ctr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538163" lvl="3" algn="r"/>
            <a:r>
              <a:rPr lang="en-US" altLang="ko-KR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CRA</a:t>
            </a:r>
          </a:p>
          <a:p>
            <a:pPr marL="538163" lvl="3" algn="r"/>
            <a:r>
              <a:rPr lang="en-US" altLang="ko-KR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(Comm. Rack A)</a:t>
            </a:r>
            <a:endParaRPr lang="ko-KR" altLang="en-US" sz="800" b="1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7208" name="Rectangle 186"/>
          <p:cNvSpPr>
            <a:spLocks noChangeArrowheads="1"/>
          </p:cNvSpPr>
          <p:nvPr/>
        </p:nvSpPr>
        <p:spPr bwMode="auto">
          <a:xfrm>
            <a:off x="1868488" y="2708275"/>
            <a:ext cx="1277937" cy="515938"/>
          </a:xfrm>
          <a:prstGeom prst="rect">
            <a:avLst/>
          </a:prstGeom>
          <a:solidFill>
            <a:srgbClr val="CCFFFF"/>
          </a:solidFill>
          <a:ln w="22225" algn="ctr">
            <a:solidFill>
              <a:srgbClr val="99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538163" lvl="3" algn="r"/>
            <a:r>
              <a:rPr lang="en-US" altLang="ko-KR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CRA</a:t>
            </a:r>
          </a:p>
          <a:p>
            <a:pPr marL="538163" lvl="3" algn="r"/>
            <a:r>
              <a:rPr lang="en-US" altLang="ko-KR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(Comm. Rack A)</a:t>
            </a:r>
            <a:endParaRPr lang="ko-KR" altLang="en-US" sz="800" b="1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grpSp>
        <p:nvGrpSpPr>
          <p:cNvPr id="7209" name="Group 187"/>
          <p:cNvGrpSpPr>
            <a:grpSpLocks/>
          </p:cNvGrpSpPr>
          <p:nvPr/>
        </p:nvGrpSpPr>
        <p:grpSpPr bwMode="auto">
          <a:xfrm>
            <a:off x="4991100" y="2903538"/>
            <a:ext cx="677863" cy="73025"/>
            <a:chOff x="1191" y="1434"/>
            <a:chExt cx="613" cy="46"/>
          </a:xfrm>
        </p:grpSpPr>
        <p:sp>
          <p:nvSpPr>
            <p:cNvPr id="7215" name="Line 188"/>
            <p:cNvSpPr>
              <a:spLocks noChangeShapeType="1"/>
            </p:cNvSpPr>
            <p:nvPr/>
          </p:nvSpPr>
          <p:spPr bwMode="auto">
            <a:xfrm>
              <a:off x="1214" y="1480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7216" name="Line 189"/>
            <p:cNvSpPr>
              <a:spLocks noChangeShapeType="1"/>
            </p:cNvSpPr>
            <p:nvPr/>
          </p:nvSpPr>
          <p:spPr bwMode="auto">
            <a:xfrm rot="10800000">
              <a:off x="1191" y="1434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sp>
        <p:nvSpPr>
          <p:cNvPr id="7210" name="Line 190"/>
          <p:cNvSpPr>
            <a:spLocks noChangeShapeType="1"/>
          </p:cNvSpPr>
          <p:nvPr/>
        </p:nvSpPr>
        <p:spPr bwMode="auto">
          <a:xfrm>
            <a:off x="5000625" y="3059113"/>
            <a:ext cx="6731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7211" name="Rectangle 11"/>
          <p:cNvSpPr>
            <a:spLocks noChangeArrowheads="1"/>
          </p:cNvSpPr>
          <p:nvPr/>
        </p:nvSpPr>
        <p:spPr bwMode="auto">
          <a:xfrm>
            <a:off x="3949700" y="2800350"/>
            <a:ext cx="969963" cy="28733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RS-485</a:t>
            </a:r>
          </a:p>
        </p:txBody>
      </p:sp>
      <p:sp>
        <p:nvSpPr>
          <p:cNvPr id="7212" name="AutoShape 192"/>
          <p:cNvSpPr>
            <a:spLocks noChangeArrowheads="1"/>
          </p:cNvSpPr>
          <p:nvPr/>
        </p:nvSpPr>
        <p:spPr bwMode="auto">
          <a:xfrm rot="10800000">
            <a:off x="3181350" y="5797550"/>
            <a:ext cx="192088" cy="142875"/>
          </a:xfrm>
          <a:prstGeom prst="notchedRightArrow">
            <a:avLst>
              <a:gd name="adj1" fmla="val 50000"/>
              <a:gd name="adj2" fmla="val 33611"/>
            </a:avLst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7213" name="AutoShape 127"/>
          <p:cNvSpPr>
            <a:spLocks/>
          </p:cNvSpPr>
          <p:nvPr/>
        </p:nvSpPr>
        <p:spPr bwMode="auto">
          <a:xfrm>
            <a:off x="273050" y="5464175"/>
            <a:ext cx="914400" cy="609600"/>
          </a:xfrm>
          <a:prstGeom prst="borderCallout2">
            <a:avLst>
              <a:gd name="adj1" fmla="val 18750"/>
              <a:gd name="adj2" fmla="val 108333"/>
              <a:gd name="adj3" fmla="val 18750"/>
              <a:gd name="adj4" fmla="val 142884"/>
              <a:gd name="adj5" fmla="val 60157"/>
              <a:gd name="adj6" fmla="val 178819"/>
            </a:avLst>
          </a:prstGeom>
          <a:solidFill>
            <a:srgbClr val="CCFFFF"/>
          </a:solidFill>
          <a:ln w="9525" algn="ctr">
            <a:solidFill>
              <a:srgbClr val="0000FF"/>
            </a:solidFill>
            <a:miter lim="800000"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FAILURE</a:t>
            </a:r>
          </a:p>
        </p:txBody>
      </p:sp>
      <p:sp>
        <p:nvSpPr>
          <p:cNvPr id="7214" name="AutoShape 194"/>
          <p:cNvSpPr>
            <a:spLocks noChangeArrowheads="1"/>
          </p:cNvSpPr>
          <p:nvPr/>
        </p:nvSpPr>
        <p:spPr bwMode="auto">
          <a:xfrm>
            <a:off x="7229475" y="5753100"/>
            <a:ext cx="319088" cy="142875"/>
          </a:xfrm>
          <a:prstGeom prst="irregularSeal1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81" name="Rectangle 9"/>
          <p:cNvSpPr>
            <a:spLocks noChangeArrowheads="1"/>
          </p:cNvSpPr>
          <p:nvPr/>
        </p:nvSpPr>
        <p:spPr bwMode="auto">
          <a:xfrm>
            <a:off x="193675" y="256352"/>
            <a:ext cx="82518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457200" indent="-457200" algn="ctr" eaLnBrk="1" latinLnBrk="1" hangingPunct="1"/>
            <a:r>
              <a:rPr lang="en-US" altLang="ko-KR" sz="20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Denver Eagle EMU Project</a:t>
            </a:r>
          </a:p>
        </p:txBody>
      </p:sp>
    </p:spTree>
    <p:extLst>
      <p:ext uri="{BB962C8B-B14F-4D97-AF65-F5344CB8AC3E}">
        <p14:creationId xmlns:p14="http://schemas.microsoft.com/office/powerpoint/2010/main" val="11630442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11"/>
          <p:cNvSpPr>
            <a:spLocks noChangeArrowheads="1"/>
          </p:cNvSpPr>
          <p:nvPr/>
        </p:nvSpPr>
        <p:spPr bwMode="auto">
          <a:xfrm>
            <a:off x="122238" y="823913"/>
            <a:ext cx="6767512" cy="37306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376238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Phase Shift _ 4-cars</a:t>
            </a:r>
          </a:p>
          <a:p>
            <a:pPr marL="376238" lvl="3" indent="-376238" eaLnBrk="1" latinLnBrk="1" hangingPunct="1">
              <a:buFont typeface="Wingdings" pitchFamily="2" charset="2"/>
              <a:buNone/>
            </a:pPr>
            <a:r>
              <a:rPr lang="en-US" altLang="ko-KR" sz="80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- </a:t>
            </a: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CRA(PA)</a:t>
            </a:r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</a:t>
            </a:r>
            <a:r>
              <a:rPr lang="en-US" altLang="ko-KR" sz="80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– MDS – Converter/Inverter, </a:t>
            </a: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(3)</a:t>
            </a:r>
            <a:r>
              <a:rPr lang="en-US" altLang="ko-KR" sz="80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when </a:t>
            </a: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START UP</a:t>
            </a:r>
          </a:p>
        </p:txBody>
      </p:sp>
      <p:grpSp>
        <p:nvGrpSpPr>
          <p:cNvPr id="8197" name="Group 207"/>
          <p:cNvGrpSpPr>
            <a:grpSpLocks/>
          </p:cNvGrpSpPr>
          <p:nvPr/>
        </p:nvGrpSpPr>
        <p:grpSpPr bwMode="auto">
          <a:xfrm>
            <a:off x="7400925" y="5840413"/>
            <a:ext cx="2397125" cy="498475"/>
            <a:chOff x="2005" y="3706"/>
            <a:chExt cx="1510" cy="314"/>
          </a:xfrm>
        </p:grpSpPr>
        <p:sp>
          <p:nvSpPr>
            <p:cNvPr id="8261" name="Rectangle 11"/>
            <p:cNvSpPr>
              <a:spLocks noChangeArrowheads="1"/>
            </p:cNvSpPr>
            <p:nvPr/>
          </p:nvSpPr>
          <p:spPr bwMode="auto">
            <a:xfrm>
              <a:off x="2005" y="3706"/>
              <a:ext cx="938" cy="178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376238" lvl="3" indent="-376238" eaLnBrk="1" latinLnBrk="1" hangingPunct="1">
                <a:buFont typeface="Wingdings" pitchFamily="2" charset="2"/>
                <a:buNone/>
              </a:pPr>
              <a:r>
                <a:rPr lang="en-US" altLang="ko-KR" sz="800" b="1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Phase Shift </a:t>
              </a:r>
              <a:r>
                <a:rPr lang="en-US" altLang="ko-KR" sz="800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(degree)</a:t>
              </a:r>
            </a:p>
          </p:txBody>
        </p:sp>
        <p:sp>
          <p:nvSpPr>
            <p:cNvPr id="8262" name="Rectangle 209"/>
            <p:cNvSpPr>
              <a:spLocks noChangeArrowheads="1"/>
            </p:cNvSpPr>
            <p:nvPr/>
          </p:nvSpPr>
          <p:spPr bwMode="auto">
            <a:xfrm>
              <a:off x="3326" y="3857"/>
              <a:ext cx="189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--</a:t>
              </a:r>
            </a:p>
          </p:txBody>
        </p:sp>
        <p:sp>
          <p:nvSpPr>
            <p:cNvPr id="8263" name="Rectangle 210"/>
            <p:cNvSpPr>
              <a:spLocks noChangeArrowheads="1"/>
            </p:cNvSpPr>
            <p:nvPr/>
          </p:nvSpPr>
          <p:spPr bwMode="auto">
            <a:xfrm>
              <a:off x="3138" y="3857"/>
              <a:ext cx="188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--</a:t>
              </a:r>
            </a:p>
          </p:txBody>
        </p:sp>
        <p:sp>
          <p:nvSpPr>
            <p:cNvPr id="8264" name="Rectangle 211"/>
            <p:cNvSpPr>
              <a:spLocks noChangeArrowheads="1"/>
            </p:cNvSpPr>
            <p:nvPr/>
          </p:nvSpPr>
          <p:spPr bwMode="auto">
            <a:xfrm>
              <a:off x="2951" y="3857"/>
              <a:ext cx="187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--</a:t>
              </a:r>
            </a:p>
          </p:txBody>
        </p:sp>
        <p:sp>
          <p:nvSpPr>
            <p:cNvPr id="8265" name="Rectangle 212"/>
            <p:cNvSpPr>
              <a:spLocks noChangeArrowheads="1"/>
            </p:cNvSpPr>
            <p:nvPr/>
          </p:nvSpPr>
          <p:spPr bwMode="auto">
            <a:xfrm>
              <a:off x="2763" y="3857"/>
              <a:ext cx="188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--</a:t>
              </a:r>
            </a:p>
          </p:txBody>
        </p:sp>
        <p:sp>
          <p:nvSpPr>
            <p:cNvPr id="8266" name="Rectangle 213"/>
            <p:cNvSpPr>
              <a:spLocks noChangeArrowheads="1"/>
            </p:cNvSpPr>
            <p:nvPr/>
          </p:nvSpPr>
          <p:spPr bwMode="auto">
            <a:xfrm>
              <a:off x="2574" y="3857"/>
              <a:ext cx="189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135</a:t>
              </a:r>
            </a:p>
          </p:txBody>
        </p:sp>
        <p:sp>
          <p:nvSpPr>
            <p:cNvPr id="8267" name="Rectangle 214"/>
            <p:cNvSpPr>
              <a:spLocks noChangeArrowheads="1"/>
            </p:cNvSpPr>
            <p:nvPr/>
          </p:nvSpPr>
          <p:spPr bwMode="auto">
            <a:xfrm>
              <a:off x="2387" y="3857"/>
              <a:ext cx="187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45</a:t>
              </a:r>
            </a:p>
          </p:txBody>
        </p:sp>
        <p:sp>
          <p:nvSpPr>
            <p:cNvPr id="8268" name="Rectangle 215"/>
            <p:cNvSpPr>
              <a:spLocks noChangeArrowheads="1"/>
            </p:cNvSpPr>
            <p:nvPr/>
          </p:nvSpPr>
          <p:spPr bwMode="auto">
            <a:xfrm>
              <a:off x="2199" y="3857"/>
              <a:ext cx="188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90</a:t>
              </a:r>
            </a:p>
          </p:txBody>
        </p:sp>
        <p:sp>
          <p:nvSpPr>
            <p:cNvPr id="8269" name="Rectangle 216"/>
            <p:cNvSpPr>
              <a:spLocks noChangeArrowheads="1"/>
            </p:cNvSpPr>
            <p:nvPr/>
          </p:nvSpPr>
          <p:spPr bwMode="auto">
            <a:xfrm>
              <a:off x="2010" y="3857"/>
              <a:ext cx="189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0</a:t>
              </a:r>
            </a:p>
          </p:txBody>
        </p:sp>
        <p:sp>
          <p:nvSpPr>
            <p:cNvPr id="8270" name="Line 217"/>
            <p:cNvSpPr>
              <a:spLocks noChangeShapeType="1"/>
            </p:cNvSpPr>
            <p:nvPr/>
          </p:nvSpPr>
          <p:spPr bwMode="auto">
            <a:xfrm>
              <a:off x="2010" y="3857"/>
              <a:ext cx="1505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8271" name="Line 218"/>
            <p:cNvSpPr>
              <a:spLocks noChangeShapeType="1"/>
            </p:cNvSpPr>
            <p:nvPr/>
          </p:nvSpPr>
          <p:spPr bwMode="auto">
            <a:xfrm>
              <a:off x="2010" y="4020"/>
              <a:ext cx="1505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8272" name="Line 219"/>
            <p:cNvSpPr>
              <a:spLocks noChangeShapeType="1"/>
            </p:cNvSpPr>
            <p:nvPr/>
          </p:nvSpPr>
          <p:spPr bwMode="auto">
            <a:xfrm>
              <a:off x="2010" y="3857"/>
              <a:ext cx="0" cy="163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8273" name="Line 220"/>
            <p:cNvSpPr>
              <a:spLocks noChangeShapeType="1"/>
            </p:cNvSpPr>
            <p:nvPr/>
          </p:nvSpPr>
          <p:spPr bwMode="auto">
            <a:xfrm>
              <a:off x="2199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8274" name="Line 221"/>
            <p:cNvSpPr>
              <a:spLocks noChangeShapeType="1"/>
            </p:cNvSpPr>
            <p:nvPr/>
          </p:nvSpPr>
          <p:spPr bwMode="auto">
            <a:xfrm>
              <a:off x="2387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8275" name="Line 222"/>
            <p:cNvSpPr>
              <a:spLocks noChangeShapeType="1"/>
            </p:cNvSpPr>
            <p:nvPr/>
          </p:nvSpPr>
          <p:spPr bwMode="auto">
            <a:xfrm>
              <a:off x="2574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8276" name="Line 223"/>
            <p:cNvSpPr>
              <a:spLocks noChangeShapeType="1"/>
            </p:cNvSpPr>
            <p:nvPr/>
          </p:nvSpPr>
          <p:spPr bwMode="auto">
            <a:xfrm>
              <a:off x="2763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8277" name="Line 224"/>
            <p:cNvSpPr>
              <a:spLocks noChangeShapeType="1"/>
            </p:cNvSpPr>
            <p:nvPr/>
          </p:nvSpPr>
          <p:spPr bwMode="auto">
            <a:xfrm>
              <a:off x="2951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8278" name="Line 225"/>
            <p:cNvSpPr>
              <a:spLocks noChangeShapeType="1"/>
            </p:cNvSpPr>
            <p:nvPr/>
          </p:nvSpPr>
          <p:spPr bwMode="auto">
            <a:xfrm>
              <a:off x="3138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8279" name="Line 226"/>
            <p:cNvSpPr>
              <a:spLocks noChangeShapeType="1"/>
            </p:cNvSpPr>
            <p:nvPr/>
          </p:nvSpPr>
          <p:spPr bwMode="auto">
            <a:xfrm>
              <a:off x="3326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8280" name="Line 227"/>
            <p:cNvSpPr>
              <a:spLocks noChangeShapeType="1"/>
            </p:cNvSpPr>
            <p:nvPr/>
          </p:nvSpPr>
          <p:spPr bwMode="auto">
            <a:xfrm>
              <a:off x="3515" y="3857"/>
              <a:ext cx="0" cy="163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sp>
        <p:nvSpPr>
          <p:cNvPr id="8198" name="Rectangle 11"/>
          <p:cNvSpPr>
            <a:spLocks noChangeArrowheads="1"/>
          </p:cNvSpPr>
          <p:nvPr/>
        </p:nvSpPr>
        <p:spPr bwMode="auto">
          <a:xfrm>
            <a:off x="5795963" y="2263775"/>
            <a:ext cx="1143000" cy="28733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RS     485</a:t>
            </a:r>
          </a:p>
        </p:txBody>
      </p:sp>
      <p:sp>
        <p:nvSpPr>
          <p:cNvPr id="8199" name="Rectangle 11"/>
          <p:cNvSpPr>
            <a:spLocks noChangeArrowheads="1"/>
          </p:cNvSpPr>
          <p:nvPr/>
        </p:nvSpPr>
        <p:spPr bwMode="auto">
          <a:xfrm>
            <a:off x="300038" y="2852738"/>
            <a:ext cx="908050" cy="287337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71500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RS-485</a:t>
            </a:r>
          </a:p>
        </p:txBody>
      </p:sp>
      <p:sp>
        <p:nvSpPr>
          <p:cNvPr id="8200" name="Rectangle 11"/>
          <p:cNvSpPr>
            <a:spLocks noChangeArrowheads="1"/>
          </p:cNvSpPr>
          <p:nvPr/>
        </p:nvSpPr>
        <p:spPr bwMode="auto">
          <a:xfrm>
            <a:off x="5278438" y="5113338"/>
            <a:ext cx="18510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algn="ctr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Lonworks    Network</a:t>
            </a:r>
          </a:p>
        </p:txBody>
      </p:sp>
      <p:sp>
        <p:nvSpPr>
          <p:cNvPr id="8201" name="Rectangle 11"/>
          <p:cNvSpPr>
            <a:spLocks noChangeArrowheads="1"/>
          </p:cNvSpPr>
          <p:nvPr/>
        </p:nvSpPr>
        <p:spPr bwMode="auto">
          <a:xfrm>
            <a:off x="1489075" y="5084763"/>
            <a:ext cx="1766888" cy="2873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Lonworks    Network</a:t>
            </a:r>
          </a:p>
        </p:txBody>
      </p:sp>
      <p:sp>
        <p:nvSpPr>
          <p:cNvPr id="8202" name="Rectangle 11"/>
          <p:cNvSpPr>
            <a:spLocks noChangeArrowheads="1"/>
          </p:cNvSpPr>
          <p:nvPr/>
        </p:nvSpPr>
        <p:spPr bwMode="auto">
          <a:xfrm>
            <a:off x="1450975" y="3609975"/>
            <a:ext cx="1766888" cy="2873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Lonworks     Network</a:t>
            </a:r>
          </a:p>
        </p:txBody>
      </p:sp>
      <p:sp>
        <p:nvSpPr>
          <p:cNvPr id="8203" name="Rectangle 11"/>
          <p:cNvSpPr>
            <a:spLocks noChangeArrowheads="1"/>
          </p:cNvSpPr>
          <p:nvPr/>
        </p:nvSpPr>
        <p:spPr bwMode="auto">
          <a:xfrm>
            <a:off x="5321300" y="3590925"/>
            <a:ext cx="1766888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Lonworks     Network</a:t>
            </a:r>
          </a:p>
        </p:txBody>
      </p:sp>
      <p:sp>
        <p:nvSpPr>
          <p:cNvPr id="8204" name="Rectangle 11"/>
          <p:cNvSpPr>
            <a:spLocks noChangeArrowheads="1"/>
          </p:cNvSpPr>
          <p:nvPr/>
        </p:nvSpPr>
        <p:spPr bwMode="auto">
          <a:xfrm>
            <a:off x="1955800" y="2298700"/>
            <a:ext cx="1143000" cy="28733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RS     485</a:t>
            </a:r>
          </a:p>
        </p:txBody>
      </p:sp>
      <p:sp>
        <p:nvSpPr>
          <p:cNvPr id="8205" name="Rectangle 11"/>
          <p:cNvSpPr>
            <a:spLocks noChangeArrowheads="1"/>
          </p:cNvSpPr>
          <p:nvPr/>
        </p:nvSpPr>
        <p:spPr bwMode="auto">
          <a:xfrm>
            <a:off x="7740650" y="2862263"/>
            <a:ext cx="969963" cy="287337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RS-485</a:t>
            </a:r>
          </a:p>
        </p:txBody>
      </p:sp>
      <p:sp>
        <p:nvSpPr>
          <p:cNvPr id="8206" name="Rectangle 11"/>
          <p:cNvSpPr>
            <a:spLocks noChangeArrowheads="1"/>
          </p:cNvSpPr>
          <p:nvPr/>
        </p:nvSpPr>
        <p:spPr bwMode="auto">
          <a:xfrm>
            <a:off x="1276350" y="1268413"/>
            <a:ext cx="2524125" cy="2873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CCP (Comm. Control Panel)</a:t>
            </a:r>
          </a:p>
        </p:txBody>
      </p:sp>
      <p:sp>
        <p:nvSpPr>
          <p:cNvPr id="8207" name="Rectangle 11"/>
          <p:cNvSpPr>
            <a:spLocks noChangeArrowheads="1"/>
          </p:cNvSpPr>
          <p:nvPr/>
        </p:nvSpPr>
        <p:spPr bwMode="auto">
          <a:xfrm>
            <a:off x="2006600" y="3986213"/>
            <a:ext cx="936625" cy="2873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MDS (CDT)</a:t>
            </a:r>
          </a:p>
        </p:txBody>
      </p:sp>
      <p:pic>
        <p:nvPicPr>
          <p:cNvPr id="8208" name="Picture 2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2775" y="4217988"/>
            <a:ext cx="1330325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9" name="Rectangle 11"/>
          <p:cNvSpPr>
            <a:spLocks noChangeArrowheads="1"/>
          </p:cNvSpPr>
          <p:nvPr/>
        </p:nvSpPr>
        <p:spPr bwMode="auto">
          <a:xfrm>
            <a:off x="1863725" y="5481638"/>
            <a:ext cx="1368425" cy="2873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Converter/Inverter</a:t>
            </a:r>
          </a:p>
        </p:txBody>
      </p:sp>
      <p:pic>
        <p:nvPicPr>
          <p:cNvPr id="8210" name="Picture 2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850" y="5697538"/>
            <a:ext cx="1584325" cy="755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8211" name="Line 23"/>
          <p:cNvSpPr>
            <a:spLocks noChangeShapeType="1"/>
          </p:cNvSpPr>
          <p:nvPr/>
        </p:nvSpPr>
        <p:spPr bwMode="auto">
          <a:xfrm rot="5400000">
            <a:off x="2243138" y="2436813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8212" name="Line 24"/>
          <p:cNvSpPr>
            <a:spLocks noChangeShapeType="1"/>
          </p:cNvSpPr>
          <p:nvPr/>
        </p:nvSpPr>
        <p:spPr bwMode="auto">
          <a:xfrm rot="-5400000">
            <a:off x="2316163" y="2419350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8213" name="Line 25"/>
          <p:cNvSpPr>
            <a:spLocks noChangeShapeType="1"/>
          </p:cNvSpPr>
          <p:nvPr/>
        </p:nvSpPr>
        <p:spPr bwMode="auto">
          <a:xfrm rot="5400000">
            <a:off x="2238375" y="3743325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8214" name="Line 26"/>
          <p:cNvSpPr>
            <a:spLocks noChangeShapeType="1"/>
          </p:cNvSpPr>
          <p:nvPr/>
        </p:nvSpPr>
        <p:spPr bwMode="auto">
          <a:xfrm rot="-5400000">
            <a:off x="2311400" y="3725863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8215" name="Line 27"/>
          <p:cNvSpPr>
            <a:spLocks noChangeShapeType="1"/>
          </p:cNvSpPr>
          <p:nvPr/>
        </p:nvSpPr>
        <p:spPr bwMode="auto">
          <a:xfrm rot="5400000">
            <a:off x="2243138" y="5254625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8216" name="Line 28"/>
          <p:cNvSpPr>
            <a:spLocks noChangeShapeType="1"/>
          </p:cNvSpPr>
          <p:nvPr/>
        </p:nvSpPr>
        <p:spPr bwMode="auto">
          <a:xfrm rot="-5400000">
            <a:off x="2316163" y="5237163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grpSp>
        <p:nvGrpSpPr>
          <p:cNvPr id="8217" name="Group 36"/>
          <p:cNvGrpSpPr>
            <a:grpSpLocks/>
          </p:cNvGrpSpPr>
          <p:nvPr/>
        </p:nvGrpSpPr>
        <p:grpSpPr bwMode="auto">
          <a:xfrm>
            <a:off x="5753100" y="4003675"/>
            <a:ext cx="1330325" cy="973138"/>
            <a:chOff x="1738" y="2592"/>
            <a:chExt cx="838" cy="613"/>
          </a:xfrm>
        </p:grpSpPr>
        <p:sp>
          <p:nvSpPr>
            <p:cNvPr id="8259" name="Rectangle 11"/>
            <p:cNvSpPr>
              <a:spLocks noChangeArrowheads="1"/>
            </p:cNvSpPr>
            <p:nvPr/>
          </p:nvSpPr>
          <p:spPr bwMode="auto">
            <a:xfrm>
              <a:off x="1804" y="2592"/>
              <a:ext cx="590" cy="18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555625" lvl="3" indent="-376238" eaLnBrk="1" latinLnBrk="1" hangingPunct="1">
                <a:buFont typeface="Wingdings" pitchFamily="2" charset="2"/>
                <a:buNone/>
              </a:pPr>
              <a:r>
                <a:rPr lang="en-US" altLang="ko-KR" sz="800" b="1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MDS (CDT)</a:t>
              </a:r>
            </a:p>
          </p:txBody>
        </p:sp>
        <p:pic>
          <p:nvPicPr>
            <p:cNvPr id="8260" name="Picture 3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8" y="2727"/>
              <a:ext cx="838" cy="4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8218" name="Group 39"/>
          <p:cNvGrpSpPr>
            <a:grpSpLocks/>
          </p:cNvGrpSpPr>
          <p:nvPr/>
        </p:nvGrpSpPr>
        <p:grpSpPr bwMode="auto">
          <a:xfrm>
            <a:off x="5572125" y="5481638"/>
            <a:ext cx="1584325" cy="971550"/>
            <a:chOff x="1669" y="3408"/>
            <a:chExt cx="998" cy="612"/>
          </a:xfrm>
        </p:grpSpPr>
        <p:sp>
          <p:nvSpPr>
            <p:cNvPr id="8257" name="Rectangle 11"/>
            <p:cNvSpPr>
              <a:spLocks noChangeArrowheads="1"/>
            </p:cNvSpPr>
            <p:nvPr/>
          </p:nvSpPr>
          <p:spPr bwMode="auto">
            <a:xfrm>
              <a:off x="1759" y="3408"/>
              <a:ext cx="862" cy="18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555625" lvl="3" indent="-376238" eaLnBrk="1" latinLnBrk="1" hangingPunct="1">
                <a:buFont typeface="Wingdings" pitchFamily="2" charset="2"/>
                <a:buNone/>
              </a:pPr>
              <a:r>
                <a:rPr lang="en-US" altLang="ko-KR" sz="800" b="1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Converter/Inverter</a:t>
              </a:r>
            </a:p>
          </p:txBody>
        </p:sp>
        <p:pic>
          <p:nvPicPr>
            <p:cNvPr id="8258" name="Picture 4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9" y="3544"/>
              <a:ext cx="998" cy="4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80000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grpSp>
        <p:nvGrpSpPr>
          <p:cNvPr id="8219" name="Group 42"/>
          <p:cNvGrpSpPr>
            <a:grpSpLocks/>
          </p:cNvGrpSpPr>
          <p:nvPr/>
        </p:nvGrpSpPr>
        <p:grpSpPr bwMode="auto">
          <a:xfrm rot="5400000">
            <a:off x="6122194" y="2391569"/>
            <a:ext cx="468313" cy="73025"/>
            <a:chOff x="1191" y="1434"/>
            <a:chExt cx="613" cy="46"/>
          </a:xfrm>
        </p:grpSpPr>
        <p:sp>
          <p:nvSpPr>
            <p:cNvPr id="8255" name="Line 43"/>
            <p:cNvSpPr>
              <a:spLocks noChangeShapeType="1"/>
            </p:cNvSpPr>
            <p:nvPr/>
          </p:nvSpPr>
          <p:spPr bwMode="auto">
            <a:xfrm>
              <a:off x="1214" y="1480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8256" name="Line 44"/>
            <p:cNvSpPr>
              <a:spLocks noChangeShapeType="1"/>
            </p:cNvSpPr>
            <p:nvPr/>
          </p:nvSpPr>
          <p:spPr bwMode="auto">
            <a:xfrm rot="10800000">
              <a:off x="1191" y="1434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grpSp>
        <p:nvGrpSpPr>
          <p:cNvPr id="8220" name="Group 45"/>
          <p:cNvGrpSpPr>
            <a:grpSpLocks/>
          </p:cNvGrpSpPr>
          <p:nvPr/>
        </p:nvGrpSpPr>
        <p:grpSpPr bwMode="auto">
          <a:xfrm rot="5400000">
            <a:off x="6117432" y="3698081"/>
            <a:ext cx="468312" cy="73025"/>
            <a:chOff x="1191" y="1434"/>
            <a:chExt cx="613" cy="46"/>
          </a:xfrm>
        </p:grpSpPr>
        <p:sp>
          <p:nvSpPr>
            <p:cNvPr id="8253" name="Line 46"/>
            <p:cNvSpPr>
              <a:spLocks noChangeShapeType="1"/>
            </p:cNvSpPr>
            <p:nvPr/>
          </p:nvSpPr>
          <p:spPr bwMode="auto">
            <a:xfrm>
              <a:off x="1214" y="1480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8254" name="Line 47"/>
            <p:cNvSpPr>
              <a:spLocks noChangeShapeType="1"/>
            </p:cNvSpPr>
            <p:nvPr/>
          </p:nvSpPr>
          <p:spPr bwMode="auto">
            <a:xfrm rot="10800000">
              <a:off x="1191" y="1434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grpSp>
        <p:nvGrpSpPr>
          <p:cNvPr id="8221" name="Group 48"/>
          <p:cNvGrpSpPr>
            <a:grpSpLocks/>
          </p:cNvGrpSpPr>
          <p:nvPr/>
        </p:nvGrpSpPr>
        <p:grpSpPr bwMode="auto">
          <a:xfrm rot="5400000">
            <a:off x="6122195" y="5209381"/>
            <a:ext cx="468312" cy="73025"/>
            <a:chOff x="1191" y="1434"/>
            <a:chExt cx="613" cy="46"/>
          </a:xfrm>
        </p:grpSpPr>
        <p:sp>
          <p:nvSpPr>
            <p:cNvPr id="8251" name="Line 49"/>
            <p:cNvSpPr>
              <a:spLocks noChangeShapeType="1"/>
            </p:cNvSpPr>
            <p:nvPr/>
          </p:nvSpPr>
          <p:spPr bwMode="auto">
            <a:xfrm>
              <a:off x="1214" y="1480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8252" name="Line 50"/>
            <p:cNvSpPr>
              <a:spLocks noChangeShapeType="1"/>
            </p:cNvSpPr>
            <p:nvPr/>
          </p:nvSpPr>
          <p:spPr bwMode="auto">
            <a:xfrm rot="10800000">
              <a:off x="1191" y="1434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grpSp>
        <p:nvGrpSpPr>
          <p:cNvPr id="8222" name="Group 53"/>
          <p:cNvGrpSpPr>
            <a:grpSpLocks/>
          </p:cNvGrpSpPr>
          <p:nvPr/>
        </p:nvGrpSpPr>
        <p:grpSpPr bwMode="auto">
          <a:xfrm>
            <a:off x="3203575" y="2976563"/>
            <a:ext cx="677863" cy="73025"/>
            <a:chOff x="1191" y="1434"/>
            <a:chExt cx="613" cy="46"/>
          </a:xfrm>
        </p:grpSpPr>
        <p:sp>
          <p:nvSpPr>
            <p:cNvPr id="8249" name="Line 54"/>
            <p:cNvSpPr>
              <a:spLocks noChangeShapeType="1"/>
            </p:cNvSpPr>
            <p:nvPr/>
          </p:nvSpPr>
          <p:spPr bwMode="auto">
            <a:xfrm>
              <a:off x="1214" y="1480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8250" name="Line 55"/>
            <p:cNvSpPr>
              <a:spLocks noChangeShapeType="1"/>
            </p:cNvSpPr>
            <p:nvPr/>
          </p:nvSpPr>
          <p:spPr bwMode="auto">
            <a:xfrm rot="10800000">
              <a:off x="1191" y="1434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sp>
        <p:nvSpPr>
          <p:cNvPr id="8223" name="Line 57"/>
          <p:cNvSpPr>
            <a:spLocks noChangeShapeType="1"/>
          </p:cNvSpPr>
          <p:nvPr/>
        </p:nvSpPr>
        <p:spPr bwMode="auto">
          <a:xfrm>
            <a:off x="1223963" y="3054350"/>
            <a:ext cx="5159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8224" name="Line 58"/>
          <p:cNvSpPr>
            <a:spLocks noChangeShapeType="1"/>
          </p:cNvSpPr>
          <p:nvPr/>
        </p:nvSpPr>
        <p:spPr bwMode="auto">
          <a:xfrm rot="10800000">
            <a:off x="1203325" y="2981325"/>
            <a:ext cx="5159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grpSp>
        <p:nvGrpSpPr>
          <p:cNvPr id="8225" name="Group 59"/>
          <p:cNvGrpSpPr>
            <a:grpSpLocks/>
          </p:cNvGrpSpPr>
          <p:nvPr/>
        </p:nvGrpSpPr>
        <p:grpSpPr bwMode="auto">
          <a:xfrm>
            <a:off x="7088188" y="2981325"/>
            <a:ext cx="677862" cy="73025"/>
            <a:chOff x="1191" y="1434"/>
            <a:chExt cx="613" cy="46"/>
          </a:xfrm>
        </p:grpSpPr>
        <p:sp>
          <p:nvSpPr>
            <p:cNvPr id="8247" name="Line 60"/>
            <p:cNvSpPr>
              <a:spLocks noChangeShapeType="1"/>
            </p:cNvSpPr>
            <p:nvPr/>
          </p:nvSpPr>
          <p:spPr bwMode="auto">
            <a:xfrm>
              <a:off x="1214" y="1480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8248" name="Line 61"/>
            <p:cNvSpPr>
              <a:spLocks noChangeShapeType="1"/>
            </p:cNvSpPr>
            <p:nvPr/>
          </p:nvSpPr>
          <p:spPr bwMode="auto">
            <a:xfrm rot="10800000">
              <a:off x="1191" y="1434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sp>
        <p:nvSpPr>
          <p:cNvPr id="8226" name="Line 68"/>
          <p:cNvSpPr>
            <a:spLocks noChangeShapeType="1"/>
          </p:cNvSpPr>
          <p:nvPr/>
        </p:nvSpPr>
        <p:spPr bwMode="auto">
          <a:xfrm rot="5400000">
            <a:off x="2170113" y="3744913"/>
            <a:ext cx="4508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8227" name="Line 69"/>
          <p:cNvSpPr>
            <a:spLocks noChangeShapeType="1"/>
          </p:cNvSpPr>
          <p:nvPr/>
        </p:nvSpPr>
        <p:spPr bwMode="auto">
          <a:xfrm rot="5400000">
            <a:off x="2170113" y="5253038"/>
            <a:ext cx="4508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8228" name="Line 70"/>
          <p:cNvSpPr>
            <a:spLocks noChangeShapeType="1"/>
          </p:cNvSpPr>
          <p:nvPr/>
        </p:nvSpPr>
        <p:spPr bwMode="auto">
          <a:xfrm rot="5400000">
            <a:off x="2176463" y="2439988"/>
            <a:ext cx="4508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8229" name="Line 71"/>
          <p:cNvSpPr>
            <a:spLocks noChangeShapeType="1"/>
          </p:cNvSpPr>
          <p:nvPr/>
        </p:nvSpPr>
        <p:spPr bwMode="auto">
          <a:xfrm rot="10800000">
            <a:off x="1187450" y="3113088"/>
            <a:ext cx="531813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8230" name="Line 73"/>
          <p:cNvSpPr>
            <a:spLocks noChangeShapeType="1"/>
          </p:cNvSpPr>
          <p:nvPr/>
        </p:nvSpPr>
        <p:spPr bwMode="auto">
          <a:xfrm>
            <a:off x="3213100" y="3132138"/>
            <a:ext cx="6731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8231" name="Line 74"/>
          <p:cNvSpPr>
            <a:spLocks noChangeShapeType="1"/>
          </p:cNvSpPr>
          <p:nvPr/>
        </p:nvSpPr>
        <p:spPr bwMode="auto">
          <a:xfrm>
            <a:off x="7137400" y="3132138"/>
            <a:ext cx="6350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8232" name="Line 75"/>
          <p:cNvSpPr>
            <a:spLocks noChangeShapeType="1"/>
          </p:cNvSpPr>
          <p:nvPr/>
        </p:nvSpPr>
        <p:spPr bwMode="auto">
          <a:xfrm rot="5400000">
            <a:off x="6032500" y="3744913"/>
            <a:ext cx="4508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8233" name="Line 76"/>
          <p:cNvSpPr>
            <a:spLocks noChangeShapeType="1"/>
          </p:cNvSpPr>
          <p:nvPr/>
        </p:nvSpPr>
        <p:spPr bwMode="auto">
          <a:xfrm rot="5400000">
            <a:off x="6032500" y="5253038"/>
            <a:ext cx="4508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pic>
        <p:nvPicPr>
          <p:cNvPr id="8234" name="Picture 22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5813" y="1519238"/>
            <a:ext cx="915987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35" name="Rectangle 11"/>
          <p:cNvSpPr>
            <a:spLocks noChangeArrowheads="1"/>
          </p:cNvSpPr>
          <p:nvPr/>
        </p:nvSpPr>
        <p:spPr bwMode="auto">
          <a:xfrm>
            <a:off x="5043488" y="1277938"/>
            <a:ext cx="2524125" cy="2873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CCP (Comm. Control Panel)</a:t>
            </a:r>
          </a:p>
        </p:txBody>
      </p:sp>
      <p:pic>
        <p:nvPicPr>
          <p:cNvPr id="8236" name="Picture 23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75" y="1524000"/>
            <a:ext cx="911225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37" name="Rectangle 11"/>
          <p:cNvSpPr>
            <a:spLocks noChangeArrowheads="1"/>
          </p:cNvSpPr>
          <p:nvPr/>
        </p:nvSpPr>
        <p:spPr bwMode="auto">
          <a:xfrm>
            <a:off x="5834063" y="2871788"/>
            <a:ext cx="969962" cy="2873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RS-485</a:t>
            </a:r>
          </a:p>
        </p:txBody>
      </p:sp>
      <p:pic>
        <p:nvPicPr>
          <p:cNvPr id="8238" name="Picture 235"/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2913" y="1531938"/>
            <a:ext cx="546100" cy="35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8239" name="Rectangle 11"/>
          <p:cNvSpPr>
            <a:spLocks noChangeArrowheads="1"/>
          </p:cNvSpPr>
          <p:nvPr/>
        </p:nvSpPr>
        <p:spPr bwMode="auto">
          <a:xfrm>
            <a:off x="3452813" y="1484313"/>
            <a:ext cx="1716087" cy="1042987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376238" lvl="3" indent="-376238"/>
            <a:r>
              <a:rPr lang="en-US" altLang="ko-KR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Information for car network</a:t>
            </a:r>
          </a:p>
          <a:p>
            <a:pPr marL="376238" lvl="3" indent="-376238"/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(1) Train configuration info.(2 bits)</a:t>
            </a:r>
          </a:p>
          <a:p>
            <a:pPr marL="376238" lvl="3" indent="-376238"/>
            <a:r>
              <a:rPr lang="en-US" altLang="ko-KR" sz="800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00</a:t>
            </a:r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; 2-cars</a:t>
            </a:r>
          </a:p>
          <a:p>
            <a:pPr marL="376238" lvl="3" indent="-376238"/>
            <a:r>
              <a:rPr lang="en-US" altLang="ko-KR" sz="800" b="1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01 ; 4-cars</a:t>
            </a:r>
          </a:p>
          <a:p>
            <a:pPr marL="376238" lvl="3" indent="-376238"/>
            <a:r>
              <a:rPr lang="en-US" altLang="ko-KR" sz="800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10</a:t>
            </a:r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; 6-cars</a:t>
            </a:r>
          </a:p>
          <a:p>
            <a:pPr marL="376238" lvl="3" indent="-376238"/>
            <a:r>
              <a:rPr lang="en-US" altLang="ko-KR" sz="800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11</a:t>
            </a:r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; 8-cars</a:t>
            </a:r>
          </a:p>
          <a:p>
            <a:pPr marL="376238" lvl="3" indent="-376238"/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(2) C/I position (8 bits = bit 3-10)</a:t>
            </a:r>
          </a:p>
          <a:p>
            <a:pPr marL="376238" lvl="3" indent="-376238"/>
            <a:r>
              <a:rPr lang="en-US" altLang="ko-KR" sz="800" b="1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00100000</a:t>
            </a:r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; no. 3 car</a:t>
            </a:r>
          </a:p>
        </p:txBody>
      </p:sp>
      <p:sp>
        <p:nvSpPr>
          <p:cNvPr id="8240" name="Rectangle 237"/>
          <p:cNvSpPr>
            <a:spLocks noChangeArrowheads="1"/>
          </p:cNvSpPr>
          <p:nvPr/>
        </p:nvSpPr>
        <p:spPr bwMode="auto">
          <a:xfrm>
            <a:off x="5724525" y="2798763"/>
            <a:ext cx="1277938" cy="515937"/>
          </a:xfrm>
          <a:prstGeom prst="rect">
            <a:avLst/>
          </a:prstGeom>
          <a:solidFill>
            <a:srgbClr val="CCFFFF"/>
          </a:solidFill>
          <a:ln w="22225" algn="ctr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538163" lvl="3" algn="r"/>
            <a:r>
              <a:rPr lang="en-US" altLang="ko-KR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CRA</a:t>
            </a:r>
          </a:p>
          <a:p>
            <a:pPr marL="538163" lvl="3" algn="r"/>
            <a:r>
              <a:rPr lang="en-US" altLang="ko-KR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(Comm. Rack A)</a:t>
            </a:r>
            <a:endParaRPr lang="ko-KR" altLang="en-US" sz="800" b="1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8241" name="Rectangle 238"/>
          <p:cNvSpPr>
            <a:spLocks noChangeArrowheads="1"/>
          </p:cNvSpPr>
          <p:nvPr/>
        </p:nvSpPr>
        <p:spPr bwMode="auto">
          <a:xfrm>
            <a:off x="1868488" y="2779713"/>
            <a:ext cx="1277937" cy="515937"/>
          </a:xfrm>
          <a:prstGeom prst="rect">
            <a:avLst/>
          </a:prstGeom>
          <a:solidFill>
            <a:srgbClr val="CCFFFF"/>
          </a:solidFill>
          <a:ln w="22225" algn="ctr">
            <a:solidFill>
              <a:srgbClr val="99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538163" lvl="3" algn="r"/>
            <a:r>
              <a:rPr lang="en-US" altLang="ko-KR" sz="8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CRA</a:t>
            </a:r>
          </a:p>
          <a:p>
            <a:pPr marL="538163" lvl="3" algn="r"/>
            <a:r>
              <a:rPr lang="en-US" altLang="ko-KR" sz="8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(Comm. Rack A)</a:t>
            </a:r>
            <a:endParaRPr lang="ko-KR" altLang="en-US" sz="8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grpSp>
        <p:nvGrpSpPr>
          <p:cNvPr id="8242" name="Group 239"/>
          <p:cNvGrpSpPr>
            <a:grpSpLocks/>
          </p:cNvGrpSpPr>
          <p:nvPr/>
        </p:nvGrpSpPr>
        <p:grpSpPr bwMode="auto">
          <a:xfrm>
            <a:off x="4991100" y="2974975"/>
            <a:ext cx="677863" cy="73025"/>
            <a:chOff x="1191" y="1434"/>
            <a:chExt cx="613" cy="46"/>
          </a:xfrm>
        </p:grpSpPr>
        <p:sp>
          <p:nvSpPr>
            <p:cNvPr id="8245" name="Line 240"/>
            <p:cNvSpPr>
              <a:spLocks noChangeShapeType="1"/>
            </p:cNvSpPr>
            <p:nvPr/>
          </p:nvSpPr>
          <p:spPr bwMode="auto">
            <a:xfrm>
              <a:off x="1214" y="1480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8246" name="Line 241"/>
            <p:cNvSpPr>
              <a:spLocks noChangeShapeType="1"/>
            </p:cNvSpPr>
            <p:nvPr/>
          </p:nvSpPr>
          <p:spPr bwMode="auto">
            <a:xfrm rot="10800000">
              <a:off x="1191" y="1434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sp>
        <p:nvSpPr>
          <p:cNvPr id="8243" name="Line 242"/>
          <p:cNvSpPr>
            <a:spLocks noChangeShapeType="1"/>
          </p:cNvSpPr>
          <p:nvPr/>
        </p:nvSpPr>
        <p:spPr bwMode="auto">
          <a:xfrm>
            <a:off x="5000625" y="3130550"/>
            <a:ext cx="6731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8244" name="Rectangle 11"/>
          <p:cNvSpPr>
            <a:spLocks noChangeArrowheads="1"/>
          </p:cNvSpPr>
          <p:nvPr/>
        </p:nvSpPr>
        <p:spPr bwMode="auto">
          <a:xfrm>
            <a:off x="3949700" y="2871788"/>
            <a:ext cx="969963" cy="287337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RS-485</a:t>
            </a:r>
          </a:p>
        </p:txBody>
      </p:sp>
      <p:sp>
        <p:nvSpPr>
          <p:cNvPr id="89" name="Rectangle 9"/>
          <p:cNvSpPr>
            <a:spLocks noChangeArrowheads="1"/>
          </p:cNvSpPr>
          <p:nvPr/>
        </p:nvSpPr>
        <p:spPr bwMode="auto">
          <a:xfrm>
            <a:off x="193675" y="256352"/>
            <a:ext cx="82518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457200" indent="-457200" algn="ctr" eaLnBrk="1" latinLnBrk="1" hangingPunct="1"/>
            <a:r>
              <a:rPr lang="en-US" altLang="ko-KR" sz="20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Denver Eagle EMU Project</a:t>
            </a:r>
          </a:p>
        </p:txBody>
      </p:sp>
    </p:spTree>
    <p:extLst>
      <p:ext uri="{BB962C8B-B14F-4D97-AF65-F5344CB8AC3E}">
        <p14:creationId xmlns:p14="http://schemas.microsoft.com/office/powerpoint/2010/main" val="20130348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1"/>
          <p:cNvSpPr>
            <a:spLocks noChangeArrowheads="1"/>
          </p:cNvSpPr>
          <p:nvPr/>
        </p:nvSpPr>
        <p:spPr bwMode="auto">
          <a:xfrm>
            <a:off x="5092700" y="1225550"/>
            <a:ext cx="2524125" cy="2873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CCP (Comm. Control Panel)</a:t>
            </a:r>
          </a:p>
        </p:txBody>
      </p:sp>
      <p:sp>
        <p:nvSpPr>
          <p:cNvPr id="9221" name="Rectangle 11"/>
          <p:cNvSpPr>
            <a:spLocks noChangeArrowheads="1"/>
          </p:cNvSpPr>
          <p:nvPr/>
        </p:nvSpPr>
        <p:spPr bwMode="auto">
          <a:xfrm>
            <a:off x="122238" y="823913"/>
            <a:ext cx="7667625" cy="287337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376238" lvl="3" indent="-376238"/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Phase Shift _ 4-cars</a:t>
            </a:r>
          </a:p>
          <a:p>
            <a:pPr marL="376238" lvl="3" indent="-376238"/>
            <a:r>
              <a:rPr lang="en-US" altLang="ko-KR" sz="80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- </a:t>
            </a: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CRA(PA)</a:t>
            </a:r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</a:t>
            </a:r>
            <a:r>
              <a:rPr lang="en-US" altLang="ko-KR" sz="80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– MDS – Converter/Inverter, </a:t>
            </a: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(4)</a:t>
            </a:r>
            <a:r>
              <a:rPr lang="en-US" altLang="ko-KR" sz="80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</a:t>
            </a: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When a</a:t>
            </a:r>
            <a:r>
              <a:rPr lang="en-US" altLang="ko-KR" sz="80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</a:t>
            </a: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Converter/Inverter is Failed</a:t>
            </a:r>
          </a:p>
        </p:txBody>
      </p:sp>
      <p:grpSp>
        <p:nvGrpSpPr>
          <p:cNvPr id="9222" name="Group 78"/>
          <p:cNvGrpSpPr>
            <a:grpSpLocks/>
          </p:cNvGrpSpPr>
          <p:nvPr/>
        </p:nvGrpSpPr>
        <p:grpSpPr bwMode="auto">
          <a:xfrm>
            <a:off x="7400925" y="5734050"/>
            <a:ext cx="2397125" cy="498475"/>
            <a:chOff x="2005" y="3706"/>
            <a:chExt cx="1510" cy="314"/>
          </a:xfrm>
        </p:grpSpPr>
        <p:sp>
          <p:nvSpPr>
            <p:cNvPr id="9284" name="Rectangle 11"/>
            <p:cNvSpPr>
              <a:spLocks noChangeArrowheads="1"/>
            </p:cNvSpPr>
            <p:nvPr/>
          </p:nvSpPr>
          <p:spPr bwMode="auto">
            <a:xfrm>
              <a:off x="2005" y="3706"/>
              <a:ext cx="938" cy="178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376238" lvl="3" indent="-376238" eaLnBrk="1" latinLnBrk="1" hangingPunct="1">
                <a:buFont typeface="Wingdings" pitchFamily="2" charset="2"/>
                <a:buNone/>
              </a:pPr>
              <a:r>
                <a:rPr lang="en-US" altLang="ko-KR" sz="800" b="1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Phase Shift </a:t>
              </a:r>
              <a:r>
                <a:rPr lang="en-US" altLang="ko-KR" sz="800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(degree)</a:t>
              </a:r>
            </a:p>
          </p:txBody>
        </p:sp>
        <p:sp>
          <p:nvSpPr>
            <p:cNvPr id="9285" name="Rectangle 80"/>
            <p:cNvSpPr>
              <a:spLocks noChangeArrowheads="1"/>
            </p:cNvSpPr>
            <p:nvPr/>
          </p:nvSpPr>
          <p:spPr bwMode="auto">
            <a:xfrm>
              <a:off x="3326" y="3857"/>
              <a:ext cx="189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--</a:t>
              </a:r>
            </a:p>
          </p:txBody>
        </p:sp>
        <p:sp>
          <p:nvSpPr>
            <p:cNvPr id="9286" name="Rectangle 81"/>
            <p:cNvSpPr>
              <a:spLocks noChangeArrowheads="1"/>
            </p:cNvSpPr>
            <p:nvPr/>
          </p:nvSpPr>
          <p:spPr bwMode="auto">
            <a:xfrm>
              <a:off x="3138" y="3857"/>
              <a:ext cx="188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--</a:t>
              </a:r>
            </a:p>
          </p:txBody>
        </p:sp>
        <p:sp>
          <p:nvSpPr>
            <p:cNvPr id="9287" name="Rectangle 82"/>
            <p:cNvSpPr>
              <a:spLocks noChangeArrowheads="1"/>
            </p:cNvSpPr>
            <p:nvPr/>
          </p:nvSpPr>
          <p:spPr bwMode="auto">
            <a:xfrm>
              <a:off x="2951" y="3857"/>
              <a:ext cx="187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--</a:t>
              </a:r>
            </a:p>
          </p:txBody>
        </p:sp>
        <p:sp>
          <p:nvSpPr>
            <p:cNvPr id="9288" name="Rectangle 83"/>
            <p:cNvSpPr>
              <a:spLocks noChangeArrowheads="1"/>
            </p:cNvSpPr>
            <p:nvPr/>
          </p:nvSpPr>
          <p:spPr bwMode="auto">
            <a:xfrm>
              <a:off x="2763" y="3857"/>
              <a:ext cx="188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--</a:t>
              </a:r>
            </a:p>
          </p:txBody>
        </p:sp>
        <p:sp>
          <p:nvSpPr>
            <p:cNvPr id="9289" name="Rectangle 84"/>
            <p:cNvSpPr>
              <a:spLocks noChangeArrowheads="1"/>
            </p:cNvSpPr>
            <p:nvPr/>
          </p:nvSpPr>
          <p:spPr bwMode="auto">
            <a:xfrm>
              <a:off x="2574" y="3857"/>
              <a:ext cx="189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120</a:t>
              </a:r>
            </a:p>
          </p:txBody>
        </p:sp>
        <p:sp>
          <p:nvSpPr>
            <p:cNvPr id="9290" name="Rectangle 85"/>
            <p:cNvSpPr>
              <a:spLocks noChangeArrowheads="1"/>
            </p:cNvSpPr>
            <p:nvPr/>
          </p:nvSpPr>
          <p:spPr bwMode="auto">
            <a:xfrm>
              <a:off x="2387" y="3857"/>
              <a:ext cx="187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X</a:t>
              </a:r>
            </a:p>
          </p:txBody>
        </p:sp>
        <p:sp>
          <p:nvSpPr>
            <p:cNvPr id="9291" name="Rectangle 86"/>
            <p:cNvSpPr>
              <a:spLocks noChangeArrowheads="1"/>
            </p:cNvSpPr>
            <p:nvPr/>
          </p:nvSpPr>
          <p:spPr bwMode="auto">
            <a:xfrm>
              <a:off x="2199" y="3857"/>
              <a:ext cx="188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60</a:t>
              </a:r>
            </a:p>
          </p:txBody>
        </p:sp>
        <p:sp>
          <p:nvSpPr>
            <p:cNvPr id="9292" name="Rectangle 87"/>
            <p:cNvSpPr>
              <a:spLocks noChangeArrowheads="1"/>
            </p:cNvSpPr>
            <p:nvPr/>
          </p:nvSpPr>
          <p:spPr bwMode="auto">
            <a:xfrm>
              <a:off x="2010" y="3857"/>
              <a:ext cx="189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0</a:t>
              </a:r>
            </a:p>
          </p:txBody>
        </p:sp>
        <p:sp>
          <p:nvSpPr>
            <p:cNvPr id="9293" name="Line 88"/>
            <p:cNvSpPr>
              <a:spLocks noChangeShapeType="1"/>
            </p:cNvSpPr>
            <p:nvPr/>
          </p:nvSpPr>
          <p:spPr bwMode="auto">
            <a:xfrm>
              <a:off x="2010" y="3857"/>
              <a:ext cx="1505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9294" name="Line 89"/>
            <p:cNvSpPr>
              <a:spLocks noChangeShapeType="1"/>
            </p:cNvSpPr>
            <p:nvPr/>
          </p:nvSpPr>
          <p:spPr bwMode="auto">
            <a:xfrm>
              <a:off x="2010" y="4020"/>
              <a:ext cx="1505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9295" name="Line 90"/>
            <p:cNvSpPr>
              <a:spLocks noChangeShapeType="1"/>
            </p:cNvSpPr>
            <p:nvPr/>
          </p:nvSpPr>
          <p:spPr bwMode="auto">
            <a:xfrm>
              <a:off x="2010" y="3857"/>
              <a:ext cx="0" cy="163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9296" name="Line 91"/>
            <p:cNvSpPr>
              <a:spLocks noChangeShapeType="1"/>
            </p:cNvSpPr>
            <p:nvPr/>
          </p:nvSpPr>
          <p:spPr bwMode="auto">
            <a:xfrm>
              <a:off x="2199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9297" name="Line 92"/>
            <p:cNvSpPr>
              <a:spLocks noChangeShapeType="1"/>
            </p:cNvSpPr>
            <p:nvPr/>
          </p:nvSpPr>
          <p:spPr bwMode="auto">
            <a:xfrm>
              <a:off x="2387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9298" name="Line 93"/>
            <p:cNvSpPr>
              <a:spLocks noChangeShapeType="1"/>
            </p:cNvSpPr>
            <p:nvPr/>
          </p:nvSpPr>
          <p:spPr bwMode="auto">
            <a:xfrm>
              <a:off x="2574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9299" name="Line 94"/>
            <p:cNvSpPr>
              <a:spLocks noChangeShapeType="1"/>
            </p:cNvSpPr>
            <p:nvPr/>
          </p:nvSpPr>
          <p:spPr bwMode="auto">
            <a:xfrm>
              <a:off x="2763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9300" name="Line 95"/>
            <p:cNvSpPr>
              <a:spLocks noChangeShapeType="1"/>
            </p:cNvSpPr>
            <p:nvPr/>
          </p:nvSpPr>
          <p:spPr bwMode="auto">
            <a:xfrm>
              <a:off x="2951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9301" name="Line 96"/>
            <p:cNvSpPr>
              <a:spLocks noChangeShapeType="1"/>
            </p:cNvSpPr>
            <p:nvPr/>
          </p:nvSpPr>
          <p:spPr bwMode="auto">
            <a:xfrm>
              <a:off x="3138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9302" name="Line 97"/>
            <p:cNvSpPr>
              <a:spLocks noChangeShapeType="1"/>
            </p:cNvSpPr>
            <p:nvPr/>
          </p:nvSpPr>
          <p:spPr bwMode="auto">
            <a:xfrm>
              <a:off x="3326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9303" name="Line 98"/>
            <p:cNvSpPr>
              <a:spLocks noChangeShapeType="1"/>
            </p:cNvSpPr>
            <p:nvPr/>
          </p:nvSpPr>
          <p:spPr bwMode="auto">
            <a:xfrm>
              <a:off x="3515" y="3857"/>
              <a:ext cx="0" cy="163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sp>
        <p:nvSpPr>
          <p:cNvPr id="9223" name="Rectangle 11"/>
          <p:cNvSpPr>
            <a:spLocks noChangeArrowheads="1"/>
          </p:cNvSpPr>
          <p:nvPr/>
        </p:nvSpPr>
        <p:spPr bwMode="auto">
          <a:xfrm>
            <a:off x="3368675" y="5624513"/>
            <a:ext cx="1871663" cy="541337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376238" lvl="3" indent="-376238"/>
            <a:r>
              <a:rPr lang="en-US" altLang="ko-KR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Information for car network</a:t>
            </a:r>
          </a:p>
          <a:p>
            <a:pPr marL="376238" lvl="3" indent="-376238"/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Failure of Converter/Inverter</a:t>
            </a:r>
          </a:p>
          <a:p>
            <a:pPr marL="376238" lvl="3" indent="-376238"/>
            <a:r>
              <a:rPr lang="en-US" altLang="ko-KR" sz="800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00100000</a:t>
            </a:r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; no. 3 car fault </a:t>
            </a:r>
          </a:p>
        </p:txBody>
      </p:sp>
      <p:sp>
        <p:nvSpPr>
          <p:cNvPr id="9224" name="Rectangle 11"/>
          <p:cNvSpPr>
            <a:spLocks noChangeArrowheads="1"/>
          </p:cNvSpPr>
          <p:nvPr/>
        </p:nvSpPr>
        <p:spPr bwMode="auto">
          <a:xfrm>
            <a:off x="300038" y="2781300"/>
            <a:ext cx="908050" cy="28733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71500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RS-485</a:t>
            </a:r>
          </a:p>
        </p:txBody>
      </p:sp>
      <p:sp>
        <p:nvSpPr>
          <p:cNvPr id="9225" name="Rectangle 11"/>
          <p:cNvSpPr>
            <a:spLocks noChangeArrowheads="1"/>
          </p:cNvSpPr>
          <p:nvPr/>
        </p:nvSpPr>
        <p:spPr bwMode="auto">
          <a:xfrm>
            <a:off x="5313363" y="5041900"/>
            <a:ext cx="18510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algn="ctr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Lonworks    Network</a:t>
            </a:r>
          </a:p>
        </p:txBody>
      </p:sp>
      <p:sp>
        <p:nvSpPr>
          <p:cNvPr id="9226" name="Rectangle 11"/>
          <p:cNvSpPr>
            <a:spLocks noChangeArrowheads="1"/>
          </p:cNvSpPr>
          <p:nvPr/>
        </p:nvSpPr>
        <p:spPr bwMode="auto">
          <a:xfrm>
            <a:off x="1489075" y="5013325"/>
            <a:ext cx="1766888" cy="2873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Lonworks    Network</a:t>
            </a:r>
          </a:p>
        </p:txBody>
      </p:sp>
      <p:sp>
        <p:nvSpPr>
          <p:cNvPr id="9227" name="Rectangle 11"/>
          <p:cNvSpPr>
            <a:spLocks noChangeArrowheads="1"/>
          </p:cNvSpPr>
          <p:nvPr/>
        </p:nvSpPr>
        <p:spPr bwMode="auto">
          <a:xfrm>
            <a:off x="1450975" y="3538538"/>
            <a:ext cx="1766888" cy="2873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Lonworks     Network</a:t>
            </a:r>
          </a:p>
        </p:txBody>
      </p:sp>
      <p:sp>
        <p:nvSpPr>
          <p:cNvPr id="9228" name="Rectangle 11"/>
          <p:cNvSpPr>
            <a:spLocks noChangeArrowheads="1"/>
          </p:cNvSpPr>
          <p:nvPr/>
        </p:nvSpPr>
        <p:spPr bwMode="auto">
          <a:xfrm>
            <a:off x="5354638" y="3519488"/>
            <a:ext cx="176688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Lonworks     Network</a:t>
            </a:r>
          </a:p>
        </p:txBody>
      </p:sp>
      <p:sp>
        <p:nvSpPr>
          <p:cNvPr id="9229" name="Rectangle 11"/>
          <p:cNvSpPr>
            <a:spLocks noChangeArrowheads="1"/>
          </p:cNvSpPr>
          <p:nvPr/>
        </p:nvSpPr>
        <p:spPr bwMode="auto">
          <a:xfrm>
            <a:off x="7786688" y="2790825"/>
            <a:ext cx="969962" cy="28733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RS-485</a:t>
            </a:r>
          </a:p>
        </p:txBody>
      </p:sp>
      <p:sp>
        <p:nvSpPr>
          <p:cNvPr id="9230" name="Rectangle 11"/>
          <p:cNvSpPr>
            <a:spLocks noChangeArrowheads="1"/>
          </p:cNvSpPr>
          <p:nvPr/>
        </p:nvSpPr>
        <p:spPr bwMode="auto">
          <a:xfrm>
            <a:off x="1276350" y="1196975"/>
            <a:ext cx="2524125" cy="2873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CCP (Comm. Control Panel)</a:t>
            </a:r>
          </a:p>
        </p:txBody>
      </p:sp>
      <p:sp>
        <p:nvSpPr>
          <p:cNvPr id="9231" name="Rectangle 11"/>
          <p:cNvSpPr>
            <a:spLocks noChangeArrowheads="1"/>
          </p:cNvSpPr>
          <p:nvPr/>
        </p:nvSpPr>
        <p:spPr bwMode="auto">
          <a:xfrm>
            <a:off x="2006600" y="3914775"/>
            <a:ext cx="936625" cy="2873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MDS (CDT)</a:t>
            </a:r>
          </a:p>
        </p:txBody>
      </p:sp>
      <p:pic>
        <p:nvPicPr>
          <p:cNvPr id="9232" name="Picture 11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2775" y="4146550"/>
            <a:ext cx="1330325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33" name="Rectangle 11"/>
          <p:cNvSpPr>
            <a:spLocks noChangeArrowheads="1"/>
          </p:cNvSpPr>
          <p:nvPr/>
        </p:nvSpPr>
        <p:spPr bwMode="auto">
          <a:xfrm>
            <a:off x="1863725" y="5410200"/>
            <a:ext cx="1368425" cy="2873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Converter/Inverter</a:t>
            </a:r>
          </a:p>
        </p:txBody>
      </p:sp>
      <p:pic>
        <p:nvPicPr>
          <p:cNvPr id="9234" name="Picture 1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850" y="5626100"/>
            <a:ext cx="1584325" cy="755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9235" name="Line 119"/>
          <p:cNvSpPr>
            <a:spLocks noChangeShapeType="1"/>
          </p:cNvSpPr>
          <p:nvPr/>
        </p:nvSpPr>
        <p:spPr bwMode="auto">
          <a:xfrm rot="5400000">
            <a:off x="2238375" y="3671888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9236" name="Line 120"/>
          <p:cNvSpPr>
            <a:spLocks noChangeShapeType="1"/>
          </p:cNvSpPr>
          <p:nvPr/>
        </p:nvSpPr>
        <p:spPr bwMode="auto">
          <a:xfrm rot="-5400000">
            <a:off x="2311400" y="3654425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9237" name="Line 121"/>
          <p:cNvSpPr>
            <a:spLocks noChangeShapeType="1"/>
          </p:cNvSpPr>
          <p:nvPr/>
        </p:nvSpPr>
        <p:spPr bwMode="auto">
          <a:xfrm rot="5400000">
            <a:off x="2243138" y="5183188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9238" name="Line 122"/>
          <p:cNvSpPr>
            <a:spLocks noChangeShapeType="1"/>
          </p:cNvSpPr>
          <p:nvPr/>
        </p:nvSpPr>
        <p:spPr bwMode="auto">
          <a:xfrm rot="-5400000">
            <a:off x="2316163" y="5165725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grpSp>
        <p:nvGrpSpPr>
          <p:cNvPr id="9239" name="Group 123"/>
          <p:cNvGrpSpPr>
            <a:grpSpLocks/>
          </p:cNvGrpSpPr>
          <p:nvPr/>
        </p:nvGrpSpPr>
        <p:grpSpPr bwMode="auto">
          <a:xfrm>
            <a:off x="5799138" y="3932238"/>
            <a:ext cx="1330325" cy="973137"/>
            <a:chOff x="1738" y="2592"/>
            <a:chExt cx="838" cy="613"/>
          </a:xfrm>
        </p:grpSpPr>
        <p:sp>
          <p:nvSpPr>
            <p:cNvPr id="9282" name="Rectangle 11"/>
            <p:cNvSpPr>
              <a:spLocks noChangeArrowheads="1"/>
            </p:cNvSpPr>
            <p:nvPr/>
          </p:nvSpPr>
          <p:spPr bwMode="auto">
            <a:xfrm>
              <a:off x="1804" y="2592"/>
              <a:ext cx="590" cy="18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555625" lvl="3" indent="-376238" eaLnBrk="1" latinLnBrk="1" hangingPunct="1">
                <a:buFont typeface="Wingdings" pitchFamily="2" charset="2"/>
                <a:buNone/>
              </a:pPr>
              <a:r>
                <a:rPr lang="en-US" altLang="ko-KR" sz="800" b="1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MDS (CDT)</a:t>
              </a:r>
            </a:p>
          </p:txBody>
        </p:sp>
        <p:pic>
          <p:nvPicPr>
            <p:cNvPr id="9283" name="Picture 12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8" y="2727"/>
              <a:ext cx="838" cy="4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9240" name="Group 126"/>
          <p:cNvGrpSpPr>
            <a:grpSpLocks/>
          </p:cNvGrpSpPr>
          <p:nvPr/>
        </p:nvGrpSpPr>
        <p:grpSpPr bwMode="auto">
          <a:xfrm>
            <a:off x="5618163" y="5410200"/>
            <a:ext cx="1584325" cy="971550"/>
            <a:chOff x="1669" y="3408"/>
            <a:chExt cx="998" cy="612"/>
          </a:xfrm>
        </p:grpSpPr>
        <p:sp>
          <p:nvSpPr>
            <p:cNvPr id="9280" name="Rectangle 11"/>
            <p:cNvSpPr>
              <a:spLocks noChangeArrowheads="1"/>
            </p:cNvSpPr>
            <p:nvPr/>
          </p:nvSpPr>
          <p:spPr bwMode="auto">
            <a:xfrm>
              <a:off x="1759" y="3408"/>
              <a:ext cx="862" cy="18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555625" lvl="3" indent="-376238" eaLnBrk="1" latinLnBrk="1" hangingPunct="1">
                <a:buFont typeface="Wingdings" pitchFamily="2" charset="2"/>
                <a:buNone/>
              </a:pPr>
              <a:r>
                <a:rPr lang="en-US" altLang="ko-KR" sz="800" b="1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Converter/Inverter</a:t>
              </a:r>
            </a:p>
          </p:txBody>
        </p:sp>
        <p:pic>
          <p:nvPicPr>
            <p:cNvPr id="9281" name="Picture 128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9" y="3544"/>
              <a:ext cx="998" cy="4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80000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grpSp>
        <p:nvGrpSpPr>
          <p:cNvPr id="9241" name="Group 132"/>
          <p:cNvGrpSpPr>
            <a:grpSpLocks/>
          </p:cNvGrpSpPr>
          <p:nvPr/>
        </p:nvGrpSpPr>
        <p:grpSpPr bwMode="auto">
          <a:xfrm rot="5400000">
            <a:off x="6163469" y="3626644"/>
            <a:ext cx="468313" cy="73025"/>
            <a:chOff x="1191" y="1434"/>
            <a:chExt cx="613" cy="46"/>
          </a:xfrm>
        </p:grpSpPr>
        <p:sp>
          <p:nvSpPr>
            <p:cNvPr id="9278" name="Line 133"/>
            <p:cNvSpPr>
              <a:spLocks noChangeShapeType="1"/>
            </p:cNvSpPr>
            <p:nvPr/>
          </p:nvSpPr>
          <p:spPr bwMode="auto">
            <a:xfrm>
              <a:off x="1214" y="1480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9279" name="Line 134"/>
            <p:cNvSpPr>
              <a:spLocks noChangeShapeType="1"/>
            </p:cNvSpPr>
            <p:nvPr/>
          </p:nvSpPr>
          <p:spPr bwMode="auto">
            <a:xfrm rot="10800000">
              <a:off x="1191" y="1434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grpSp>
        <p:nvGrpSpPr>
          <p:cNvPr id="9242" name="Group 135"/>
          <p:cNvGrpSpPr>
            <a:grpSpLocks/>
          </p:cNvGrpSpPr>
          <p:nvPr/>
        </p:nvGrpSpPr>
        <p:grpSpPr bwMode="auto">
          <a:xfrm rot="5400000">
            <a:off x="6168231" y="5137944"/>
            <a:ext cx="468313" cy="73025"/>
            <a:chOff x="1191" y="1434"/>
            <a:chExt cx="613" cy="46"/>
          </a:xfrm>
        </p:grpSpPr>
        <p:sp>
          <p:nvSpPr>
            <p:cNvPr id="9276" name="Line 136"/>
            <p:cNvSpPr>
              <a:spLocks noChangeShapeType="1"/>
            </p:cNvSpPr>
            <p:nvPr/>
          </p:nvSpPr>
          <p:spPr bwMode="auto">
            <a:xfrm>
              <a:off x="1214" y="1480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9277" name="Line 137"/>
            <p:cNvSpPr>
              <a:spLocks noChangeShapeType="1"/>
            </p:cNvSpPr>
            <p:nvPr/>
          </p:nvSpPr>
          <p:spPr bwMode="auto">
            <a:xfrm rot="10800000">
              <a:off x="1191" y="1434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grpSp>
        <p:nvGrpSpPr>
          <p:cNvPr id="9243" name="Group 138"/>
          <p:cNvGrpSpPr>
            <a:grpSpLocks/>
          </p:cNvGrpSpPr>
          <p:nvPr/>
        </p:nvGrpSpPr>
        <p:grpSpPr bwMode="auto">
          <a:xfrm>
            <a:off x="3203575" y="2905125"/>
            <a:ext cx="677863" cy="73025"/>
            <a:chOff x="1191" y="1434"/>
            <a:chExt cx="613" cy="46"/>
          </a:xfrm>
        </p:grpSpPr>
        <p:sp>
          <p:nvSpPr>
            <p:cNvPr id="9274" name="Line 139"/>
            <p:cNvSpPr>
              <a:spLocks noChangeShapeType="1"/>
            </p:cNvSpPr>
            <p:nvPr/>
          </p:nvSpPr>
          <p:spPr bwMode="auto">
            <a:xfrm>
              <a:off x="1214" y="1480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9275" name="Line 140"/>
            <p:cNvSpPr>
              <a:spLocks noChangeShapeType="1"/>
            </p:cNvSpPr>
            <p:nvPr/>
          </p:nvSpPr>
          <p:spPr bwMode="auto">
            <a:xfrm rot="10800000">
              <a:off x="1191" y="1434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sp>
        <p:nvSpPr>
          <p:cNvPr id="9244" name="Line 141"/>
          <p:cNvSpPr>
            <a:spLocks noChangeShapeType="1"/>
          </p:cNvSpPr>
          <p:nvPr/>
        </p:nvSpPr>
        <p:spPr bwMode="auto">
          <a:xfrm>
            <a:off x="1223963" y="2982913"/>
            <a:ext cx="5159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9245" name="Line 142"/>
          <p:cNvSpPr>
            <a:spLocks noChangeShapeType="1"/>
          </p:cNvSpPr>
          <p:nvPr/>
        </p:nvSpPr>
        <p:spPr bwMode="auto">
          <a:xfrm rot="10800000">
            <a:off x="1203325" y="2909888"/>
            <a:ext cx="5159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grpSp>
        <p:nvGrpSpPr>
          <p:cNvPr id="9246" name="Group 143"/>
          <p:cNvGrpSpPr>
            <a:grpSpLocks/>
          </p:cNvGrpSpPr>
          <p:nvPr/>
        </p:nvGrpSpPr>
        <p:grpSpPr bwMode="auto">
          <a:xfrm>
            <a:off x="7134225" y="2909888"/>
            <a:ext cx="677863" cy="73025"/>
            <a:chOff x="1191" y="1434"/>
            <a:chExt cx="613" cy="46"/>
          </a:xfrm>
        </p:grpSpPr>
        <p:sp>
          <p:nvSpPr>
            <p:cNvPr id="9272" name="Line 144"/>
            <p:cNvSpPr>
              <a:spLocks noChangeShapeType="1"/>
            </p:cNvSpPr>
            <p:nvPr/>
          </p:nvSpPr>
          <p:spPr bwMode="auto">
            <a:xfrm>
              <a:off x="1214" y="1480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9273" name="Line 145"/>
            <p:cNvSpPr>
              <a:spLocks noChangeShapeType="1"/>
            </p:cNvSpPr>
            <p:nvPr/>
          </p:nvSpPr>
          <p:spPr bwMode="auto">
            <a:xfrm rot="10800000">
              <a:off x="1191" y="1434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sp>
        <p:nvSpPr>
          <p:cNvPr id="9247" name="Line 146"/>
          <p:cNvSpPr>
            <a:spLocks noChangeShapeType="1"/>
          </p:cNvSpPr>
          <p:nvPr/>
        </p:nvSpPr>
        <p:spPr bwMode="auto">
          <a:xfrm rot="-5400000">
            <a:off x="2170113" y="3673475"/>
            <a:ext cx="4508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9248" name="Line 147"/>
          <p:cNvSpPr>
            <a:spLocks noChangeShapeType="1"/>
          </p:cNvSpPr>
          <p:nvPr/>
        </p:nvSpPr>
        <p:spPr bwMode="auto">
          <a:xfrm rot="-5400000">
            <a:off x="2170113" y="5181600"/>
            <a:ext cx="4508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9249" name="Line 149"/>
          <p:cNvSpPr>
            <a:spLocks noChangeShapeType="1"/>
          </p:cNvSpPr>
          <p:nvPr/>
        </p:nvSpPr>
        <p:spPr bwMode="auto">
          <a:xfrm rot="10800000">
            <a:off x="1187450" y="3041650"/>
            <a:ext cx="531813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9250" name="Line 150"/>
          <p:cNvSpPr>
            <a:spLocks noChangeShapeType="1"/>
          </p:cNvSpPr>
          <p:nvPr/>
        </p:nvSpPr>
        <p:spPr bwMode="auto">
          <a:xfrm>
            <a:off x="3213100" y="3060700"/>
            <a:ext cx="6731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9251" name="Line 151"/>
          <p:cNvSpPr>
            <a:spLocks noChangeShapeType="1"/>
          </p:cNvSpPr>
          <p:nvPr/>
        </p:nvSpPr>
        <p:spPr bwMode="auto">
          <a:xfrm>
            <a:off x="7183438" y="3060700"/>
            <a:ext cx="6350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9252" name="Line 152"/>
          <p:cNvSpPr>
            <a:spLocks noChangeShapeType="1"/>
          </p:cNvSpPr>
          <p:nvPr/>
        </p:nvSpPr>
        <p:spPr bwMode="auto">
          <a:xfrm rot="5400000">
            <a:off x="6078538" y="3673475"/>
            <a:ext cx="4508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9253" name="Line 153"/>
          <p:cNvSpPr>
            <a:spLocks noChangeShapeType="1"/>
          </p:cNvSpPr>
          <p:nvPr/>
        </p:nvSpPr>
        <p:spPr bwMode="auto">
          <a:xfrm rot="5400000">
            <a:off x="6078538" y="5181600"/>
            <a:ext cx="4508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pic>
        <p:nvPicPr>
          <p:cNvPr id="9254" name="Picture 15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5813" y="1447800"/>
            <a:ext cx="915987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55" name="Picture 15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3913" y="1452563"/>
            <a:ext cx="911225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56" name="Rectangle 11"/>
          <p:cNvSpPr>
            <a:spLocks noChangeArrowheads="1"/>
          </p:cNvSpPr>
          <p:nvPr/>
        </p:nvSpPr>
        <p:spPr bwMode="auto">
          <a:xfrm>
            <a:off x="5880100" y="2800350"/>
            <a:ext cx="969963" cy="2873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RS-485</a:t>
            </a:r>
          </a:p>
        </p:txBody>
      </p:sp>
      <p:sp>
        <p:nvSpPr>
          <p:cNvPr id="9257" name="Rectangle 159"/>
          <p:cNvSpPr>
            <a:spLocks noChangeArrowheads="1"/>
          </p:cNvSpPr>
          <p:nvPr/>
        </p:nvSpPr>
        <p:spPr bwMode="auto">
          <a:xfrm>
            <a:off x="5770563" y="2727325"/>
            <a:ext cx="1277937" cy="515938"/>
          </a:xfrm>
          <a:prstGeom prst="rect">
            <a:avLst/>
          </a:prstGeom>
          <a:solidFill>
            <a:srgbClr val="CCFFFF"/>
          </a:solidFill>
          <a:ln w="22225" algn="ctr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538163" lvl="3" algn="r"/>
            <a:r>
              <a:rPr lang="en-US" altLang="ko-KR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CRA</a:t>
            </a:r>
          </a:p>
          <a:p>
            <a:pPr marL="538163" lvl="3" algn="r"/>
            <a:r>
              <a:rPr lang="en-US" altLang="ko-KR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(Comm. Rack A)</a:t>
            </a:r>
            <a:endParaRPr lang="ko-KR" altLang="en-US" sz="800" b="1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9258" name="Rectangle 160"/>
          <p:cNvSpPr>
            <a:spLocks noChangeArrowheads="1"/>
          </p:cNvSpPr>
          <p:nvPr/>
        </p:nvSpPr>
        <p:spPr bwMode="auto">
          <a:xfrm>
            <a:off x="1868488" y="2708275"/>
            <a:ext cx="1277937" cy="515938"/>
          </a:xfrm>
          <a:prstGeom prst="rect">
            <a:avLst/>
          </a:prstGeom>
          <a:solidFill>
            <a:srgbClr val="CCFFFF"/>
          </a:solidFill>
          <a:ln w="22225" algn="ctr">
            <a:solidFill>
              <a:srgbClr val="99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538163" lvl="3" algn="r"/>
            <a:r>
              <a:rPr lang="en-US" altLang="ko-KR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CRA</a:t>
            </a:r>
          </a:p>
          <a:p>
            <a:pPr marL="538163" lvl="3" algn="r"/>
            <a:r>
              <a:rPr lang="en-US" altLang="ko-KR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(Comm. Rack A)</a:t>
            </a:r>
            <a:endParaRPr lang="ko-KR" altLang="en-US" sz="800" b="1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grpSp>
        <p:nvGrpSpPr>
          <p:cNvPr id="9259" name="Group 161"/>
          <p:cNvGrpSpPr>
            <a:grpSpLocks/>
          </p:cNvGrpSpPr>
          <p:nvPr/>
        </p:nvGrpSpPr>
        <p:grpSpPr bwMode="auto">
          <a:xfrm>
            <a:off x="4991100" y="2903538"/>
            <a:ext cx="677863" cy="73025"/>
            <a:chOff x="1191" y="1434"/>
            <a:chExt cx="613" cy="46"/>
          </a:xfrm>
        </p:grpSpPr>
        <p:sp>
          <p:nvSpPr>
            <p:cNvPr id="9270" name="Line 162"/>
            <p:cNvSpPr>
              <a:spLocks noChangeShapeType="1"/>
            </p:cNvSpPr>
            <p:nvPr/>
          </p:nvSpPr>
          <p:spPr bwMode="auto">
            <a:xfrm>
              <a:off x="1214" y="1480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9271" name="Line 163"/>
            <p:cNvSpPr>
              <a:spLocks noChangeShapeType="1"/>
            </p:cNvSpPr>
            <p:nvPr/>
          </p:nvSpPr>
          <p:spPr bwMode="auto">
            <a:xfrm rot="10800000">
              <a:off x="1191" y="1434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sp>
        <p:nvSpPr>
          <p:cNvPr id="9260" name="Line 164"/>
          <p:cNvSpPr>
            <a:spLocks noChangeShapeType="1"/>
          </p:cNvSpPr>
          <p:nvPr/>
        </p:nvSpPr>
        <p:spPr bwMode="auto">
          <a:xfrm>
            <a:off x="5000625" y="3059113"/>
            <a:ext cx="6731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9261" name="Rectangle 11"/>
          <p:cNvSpPr>
            <a:spLocks noChangeArrowheads="1"/>
          </p:cNvSpPr>
          <p:nvPr/>
        </p:nvSpPr>
        <p:spPr bwMode="auto">
          <a:xfrm>
            <a:off x="3949700" y="2800350"/>
            <a:ext cx="969963" cy="28733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RS-485</a:t>
            </a:r>
          </a:p>
        </p:txBody>
      </p:sp>
      <p:sp>
        <p:nvSpPr>
          <p:cNvPr id="9262" name="AutoShape 166"/>
          <p:cNvSpPr>
            <a:spLocks noChangeArrowheads="1"/>
          </p:cNvSpPr>
          <p:nvPr/>
        </p:nvSpPr>
        <p:spPr bwMode="auto">
          <a:xfrm rot="10800000">
            <a:off x="3181350" y="5797550"/>
            <a:ext cx="192088" cy="142875"/>
          </a:xfrm>
          <a:prstGeom prst="notchedRightArrow">
            <a:avLst>
              <a:gd name="adj1" fmla="val 50000"/>
              <a:gd name="adj2" fmla="val 33611"/>
            </a:avLst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9263" name="Rectangle 11"/>
          <p:cNvSpPr>
            <a:spLocks noChangeArrowheads="1"/>
          </p:cNvSpPr>
          <p:nvPr/>
        </p:nvSpPr>
        <p:spPr bwMode="auto">
          <a:xfrm>
            <a:off x="5795963" y="2263775"/>
            <a:ext cx="1143000" cy="28733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RS     485</a:t>
            </a:r>
          </a:p>
        </p:txBody>
      </p:sp>
      <p:sp>
        <p:nvSpPr>
          <p:cNvPr id="9264" name="Rectangle 11"/>
          <p:cNvSpPr>
            <a:spLocks noChangeArrowheads="1"/>
          </p:cNvSpPr>
          <p:nvPr/>
        </p:nvSpPr>
        <p:spPr bwMode="auto">
          <a:xfrm>
            <a:off x="1955800" y="2298700"/>
            <a:ext cx="1143000" cy="28733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RS     485</a:t>
            </a:r>
          </a:p>
        </p:txBody>
      </p:sp>
      <p:sp>
        <p:nvSpPr>
          <p:cNvPr id="9265" name="Line 171"/>
          <p:cNvSpPr>
            <a:spLocks noChangeShapeType="1"/>
          </p:cNvSpPr>
          <p:nvPr/>
        </p:nvSpPr>
        <p:spPr bwMode="auto">
          <a:xfrm rot="5400000">
            <a:off x="2243138" y="2436813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9266" name="Line 172"/>
          <p:cNvSpPr>
            <a:spLocks noChangeShapeType="1"/>
          </p:cNvSpPr>
          <p:nvPr/>
        </p:nvSpPr>
        <p:spPr bwMode="auto">
          <a:xfrm rot="-5400000">
            <a:off x="2316163" y="2419350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grpSp>
        <p:nvGrpSpPr>
          <p:cNvPr id="9267" name="Group 173"/>
          <p:cNvGrpSpPr>
            <a:grpSpLocks/>
          </p:cNvGrpSpPr>
          <p:nvPr/>
        </p:nvGrpSpPr>
        <p:grpSpPr bwMode="auto">
          <a:xfrm rot="5400000">
            <a:off x="6122194" y="2391569"/>
            <a:ext cx="468313" cy="73025"/>
            <a:chOff x="1191" y="1434"/>
            <a:chExt cx="613" cy="46"/>
          </a:xfrm>
        </p:grpSpPr>
        <p:sp>
          <p:nvSpPr>
            <p:cNvPr id="9268" name="Line 174"/>
            <p:cNvSpPr>
              <a:spLocks noChangeShapeType="1"/>
            </p:cNvSpPr>
            <p:nvPr/>
          </p:nvSpPr>
          <p:spPr bwMode="auto">
            <a:xfrm>
              <a:off x="1214" y="1480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9269" name="Line 175"/>
            <p:cNvSpPr>
              <a:spLocks noChangeShapeType="1"/>
            </p:cNvSpPr>
            <p:nvPr/>
          </p:nvSpPr>
          <p:spPr bwMode="auto">
            <a:xfrm rot="10800000">
              <a:off x="1191" y="1434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sp>
        <p:nvSpPr>
          <p:cNvPr id="88" name="Rectangle 9"/>
          <p:cNvSpPr>
            <a:spLocks noChangeArrowheads="1"/>
          </p:cNvSpPr>
          <p:nvPr/>
        </p:nvSpPr>
        <p:spPr bwMode="auto">
          <a:xfrm>
            <a:off x="193675" y="256352"/>
            <a:ext cx="82518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457200" indent="-457200" algn="ctr" eaLnBrk="1" latinLnBrk="1" hangingPunct="1"/>
            <a:r>
              <a:rPr lang="en-US" altLang="ko-KR" sz="20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Denver Eagle EMU Project</a:t>
            </a:r>
          </a:p>
        </p:txBody>
      </p:sp>
    </p:spTree>
    <p:extLst>
      <p:ext uri="{BB962C8B-B14F-4D97-AF65-F5344CB8AC3E}">
        <p14:creationId xmlns:p14="http://schemas.microsoft.com/office/powerpoint/2010/main" val="25994434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11"/>
          <p:cNvSpPr>
            <a:spLocks noChangeArrowheads="1"/>
          </p:cNvSpPr>
          <p:nvPr/>
        </p:nvSpPr>
        <p:spPr bwMode="auto">
          <a:xfrm>
            <a:off x="122238" y="823913"/>
            <a:ext cx="6767512" cy="37306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376238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Phase Shift _ 6-cars</a:t>
            </a:r>
          </a:p>
          <a:p>
            <a:pPr marL="376238" lvl="3" indent="-376238" eaLnBrk="1" latinLnBrk="1" hangingPunct="1">
              <a:buFont typeface="Wingdings" pitchFamily="2" charset="2"/>
              <a:buNone/>
            </a:pPr>
            <a:r>
              <a:rPr lang="en-US" altLang="ko-KR" sz="80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- </a:t>
            </a: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CRA(PA)</a:t>
            </a:r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</a:t>
            </a:r>
            <a:r>
              <a:rPr lang="en-US" altLang="ko-KR" sz="80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– MDS – Converter/Inverter, </a:t>
            </a: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(5)</a:t>
            </a:r>
            <a:r>
              <a:rPr lang="en-US" altLang="ko-KR" sz="80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when </a:t>
            </a: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START UP</a:t>
            </a:r>
          </a:p>
        </p:txBody>
      </p:sp>
      <p:grpSp>
        <p:nvGrpSpPr>
          <p:cNvPr id="10245" name="Group 79"/>
          <p:cNvGrpSpPr>
            <a:grpSpLocks/>
          </p:cNvGrpSpPr>
          <p:nvPr/>
        </p:nvGrpSpPr>
        <p:grpSpPr bwMode="auto">
          <a:xfrm>
            <a:off x="7400925" y="5840413"/>
            <a:ext cx="2397125" cy="498475"/>
            <a:chOff x="2005" y="3706"/>
            <a:chExt cx="1510" cy="314"/>
          </a:xfrm>
        </p:grpSpPr>
        <p:sp>
          <p:nvSpPr>
            <p:cNvPr id="10309" name="Rectangle 11"/>
            <p:cNvSpPr>
              <a:spLocks noChangeArrowheads="1"/>
            </p:cNvSpPr>
            <p:nvPr/>
          </p:nvSpPr>
          <p:spPr bwMode="auto">
            <a:xfrm>
              <a:off x="2005" y="3706"/>
              <a:ext cx="938" cy="178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376238" lvl="3" indent="-376238" eaLnBrk="1" latinLnBrk="1" hangingPunct="1">
                <a:buFont typeface="Wingdings" pitchFamily="2" charset="2"/>
                <a:buNone/>
              </a:pPr>
              <a:r>
                <a:rPr lang="en-US" altLang="ko-KR" sz="800" b="1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Phase Shift </a:t>
              </a:r>
              <a:r>
                <a:rPr lang="en-US" altLang="ko-KR" sz="800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(degree)</a:t>
              </a:r>
            </a:p>
          </p:txBody>
        </p:sp>
        <p:sp>
          <p:nvSpPr>
            <p:cNvPr id="10310" name="Rectangle 81"/>
            <p:cNvSpPr>
              <a:spLocks noChangeArrowheads="1"/>
            </p:cNvSpPr>
            <p:nvPr/>
          </p:nvSpPr>
          <p:spPr bwMode="auto">
            <a:xfrm>
              <a:off x="3326" y="3857"/>
              <a:ext cx="189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--</a:t>
              </a:r>
            </a:p>
          </p:txBody>
        </p:sp>
        <p:sp>
          <p:nvSpPr>
            <p:cNvPr id="10311" name="Rectangle 82"/>
            <p:cNvSpPr>
              <a:spLocks noChangeArrowheads="1"/>
            </p:cNvSpPr>
            <p:nvPr/>
          </p:nvSpPr>
          <p:spPr bwMode="auto">
            <a:xfrm>
              <a:off x="3138" y="3857"/>
              <a:ext cx="188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--</a:t>
              </a:r>
            </a:p>
          </p:txBody>
        </p:sp>
        <p:sp>
          <p:nvSpPr>
            <p:cNvPr id="10312" name="Rectangle 83"/>
            <p:cNvSpPr>
              <a:spLocks noChangeArrowheads="1"/>
            </p:cNvSpPr>
            <p:nvPr/>
          </p:nvSpPr>
          <p:spPr bwMode="auto">
            <a:xfrm>
              <a:off x="2951" y="3857"/>
              <a:ext cx="187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90</a:t>
              </a:r>
            </a:p>
          </p:txBody>
        </p:sp>
        <p:sp>
          <p:nvSpPr>
            <p:cNvPr id="10313" name="Rectangle 84"/>
            <p:cNvSpPr>
              <a:spLocks noChangeArrowheads="1"/>
            </p:cNvSpPr>
            <p:nvPr/>
          </p:nvSpPr>
          <p:spPr bwMode="auto">
            <a:xfrm>
              <a:off x="2763" y="3857"/>
              <a:ext cx="188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0</a:t>
              </a:r>
            </a:p>
          </p:txBody>
        </p:sp>
        <p:sp>
          <p:nvSpPr>
            <p:cNvPr id="10314" name="Rectangle 85"/>
            <p:cNvSpPr>
              <a:spLocks noChangeArrowheads="1"/>
            </p:cNvSpPr>
            <p:nvPr/>
          </p:nvSpPr>
          <p:spPr bwMode="auto">
            <a:xfrm>
              <a:off x="2574" y="3857"/>
              <a:ext cx="189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135</a:t>
              </a:r>
            </a:p>
          </p:txBody>
        </p:sp>
        <p:sp>
          <p:nvSpPr>
            <p:cNvPr id="10315" name="Rectangle 86"/>
            <p:cNvSpPr>
              <a:spLocks noChangeArrowheads="1"/>
            </p:cNvSpPr>
            <p:nvPr/>
          </p:nvSpPr>
          <p:spPr bwMode="auto">
            <a:xfrm>
              <a:off x="2387" y="3857"/>
              <a:ext cx="187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90</a:t>
              </a:r>
            </a:p>
          </p:txBody>
        </p:sp>
        <p:sp>
          <p:nvSpPr>
            <p:cNvPr id="10316" name="Rectangle 87"/>
            <p:cNvSpPr>
              <a:spLocks noChangeArrowheads="1"/>
            </p:cNvSpPr>
            <p:nvPr/>
          </p:nvSpPr>
          <p:spPr bwMode="auto">
            <a:xfrm>
              <a:off x="2199" y="3857"/>
              <a:ext cx="188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45</a:t>
              </a:r>
            </a:p>
          </p:txBody>
        </p:sp>
        <p:sp>
          <p:nvSpPr>
            <p:cNvPr id="10317" name="Rectangle 88"/>
            <p:cNvSpPr>
              <a:spLocks noChangeArrowheads="1"/>
            </p:cNvSpPr>
            <p:nvPr/>
          </p:nvSpPr>
          <p:spPr bwMode="auto">
            <a:xfrm>
              <a:off x="2010" y="3857"/>
              <a:ext cx="189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0</a:t>
              </a:r>
            </a:p>
          </p:txBody>
        </p:sp>
        <p:sp>
          <p:nvSpPr>
            <p:cNvPr id="10318" name="Line 89"/>
            <p:cNvSpPr>
              <a:spLocks noChangeShapeType="1"/>
            </p:cNvSpPr>
            <p:nvPr/>
          </p:nvSpPr>
          <p:spPr bwMode="auto">
            <a:xfrm>
              <a:off x="2010" y="3857"/>
              <a:ext cx="1505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0319" name="Line 90"/>
            <p:cNvSpPr>
              <a:spLocks noChangeShapeType="1"/>
            </p:cNvSpPr>
            <p:nvPr/>
          </p:nvSpPr>
          <p:spPr bwMode="auto">
            <a:xfrm>
              <a:off x="2010" y="4020"/>
              <a:ext cx="1505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0320" name="Line 91"/>
            <p:cNvSpPr>
              <a:spLocks noChangeShapeType="1"/>
            </p:cNvSpPr>
            <p:nvPr/>
          </p:nvSpPr>
          <p:spPr bwMode="auto">
            <a:xfrm>
              <a:off x="2010" y="3857"/>
              <a:ext cx="0" cy="163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0321" name="Line 92"/>
            <p:cNvSpPr>
              <a:spLocks noChangeShapeType="1"/>
            </p:cNvSpPr>
            <p:nvPr/>
          </p:nvSpPr>
          <p:spPr bwMode="auto">
            <a:xfrm>
              <a:off x="2199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0322" name="Line 93"/>
            <p:cNvSpPr>
              <a:spLocks noChangeShapeType="1"/>
            </p:cNvSpPr>
            <p:nvPr/>
          </p:nvSpPr>
          <p:spPr bwMode="auto">
            <a:xfrm>
              <a:off x="2387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0323" name="Line 94"/>
            <p:cNvSpPr>
              <a:spLocks noChangeShapeType="1"/>
            </p:cNvSpPr>
            <p:nvPr/>
          </p:nvSpPr>
          <p:spPr bwMode="auto">
            <a:xfrm>
              <a:off x="2574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0324" name="Line 95"/>
            <p:cNvSpPr>
              <a:spLocks noChangeShapeType="1"/>
            </p:cNvSpPr>
            <p:nvPr/>
          </p:nvSpPr>
          <p:spPr bwMode="auto">
            <a:xfrm>
              <a:off x="2763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0325" name="Line 96"/>
            <p:cNvSpPr>
              <a:spLocks noChangeShapeType="1"/>
            </p:cNvSpPr>
            <p:nvPr/>
          </p:nvSpPr>
          <p:spPr bwMode="auto">
            <a:xfrm>
              <a:off x="2951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0326" name="Line 97"/>
            <p:cNvSpPr>
              <a:spLocks noChangeShapeType="1"/>
            </p:cNvSpPr>
            <p:nvPr/>
          </p:nvSpPr>
          <p:spPr bwMode="auto">
            <a:xfrm>
              <a:off x="3138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0327" name="Line 98"/>
            <p:cNvSpPr>
              <a:spLocks noChangeShapeType="1"/>
            </p:cNvSpPr>
            <p:nvPr/>
          </p:nvSpPr>
          <p:spPr bwMode="auto">
            <a:xfrm>
              <a:off x="3326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0328" name="Line 99"/>
            <p:cNvSpPr>
              <a:spLocks noChangeShapeType="1"/>
            </p:cNvSpPr>
            <p:nvPr/>
          </p:nvSpPr>
          <p:spPr bwMode="auto">
            <a:xfrm>
              <a:off x="3515" y="3857"/>
              <a:ext cx="0" cy="163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sp>
        <p:nvSpPr>
          <p:cNvPr id="10246" name="Rectangle 11"/>
          <p:cNvSpPr>
            <a:spLocks noChangeArrowheads="1"/>
          </p:cNvSpPr>
          <p:nvPr/>
        </p:nvSpPr>
        <p:spPr bwMode="auto">
          <a:xfrm>
            <a:off x="300038" y="2852738"/>
            <a:ext cx="908050" cy="287337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71500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RS-485</a:t>
            </a:r>
          </a:p>
        </p:txBody>
      </p:sp>
      <p:sp>
        <p:nvSpPr>
          <p:cNvPr id="10247" name="Rectangle 11"/>
          <p:cNvSpPr>
            <a:spLocks noChangeArrowheads="1"/>
          </p:cNvSpPr>
          <p:nvPr/>
        </p:nvSpPr>
        <p:spPr bwMode="auto">
          <a:xfrm>
            <a:off x="5278438" y="5113338"/>
            <a:ext cx="18510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algn="ctr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Lonworks    Network</a:t>
            </a:r>
          </a:p>
        </p:txBody>
      </p:sp>
      <p:sp>
        <p:nvSpPr>
          <p:cNvPr id="10248" name="Rectangle 11"/>
          <p:cNvSpPr>
            <a:spLocks noChangeArrowheads="1"/>
          </p:cNvSpPr>
          <p:nvPr/>
        </p:nvSpPr>
        <p:spPr bwMode="auto">
          <a:xfrm>
            <a:off x="1489075" y="5084763"/>
            <a:ext cx="1766888" cy="2873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Lonworks    Network</a:t>
            </a:r>
          </a:p>
        </p:txBody>
      </p:sp>
      <p:sp>
        <p:nvSpPr>
          <p:cNvPr id="10249" name="Rectangle 11"/>
          <p:cNvSpPr>
            <a:spLocks noChangeArrowheads="1"/>
          </p:cNvSpPr>
          <p:nvPr/>
        </p:nvSpPr>
        <p:spPr bwMode="auto">
          <a:xfrm>
            <a:off x="1450975" y="3609975"/>
            <a:ext cx="1766888" cy="2873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Lonworks     Network</a:t>
            </a:r>
          </a:p>
        </p:txBody>
      </p:sp>
      <p:sp>
        <p:nvSpPr>
          <p:cNvPr id="10250" name="Rectangle 11"/>
          <p:cNvSpPr>
            <a:spLocks noChangeArrowheads="1"/>
          </p:cNvSpPr>
          <p:nvPr/>
        </p:nvSpPr>
        <p:spPr bwMode="auto">
          <a:xfrm>
            <a:off x="5321300" y="3590925"/>
            <a:ext cx="1766888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Lonworks     Network</a:t>
            </a:r>
          </a:p>
        </p:txBody>
      </p:sp>
      <p:sp>
        <p:nvSpPr>
          <p:cNvPr id="10251" name="Rectangle 11"/>
          <p:cNvSpPr>
            <a:spLocks noChangeArrowheads="1"/>
          </p:cNvSpPr>
          <p:nvPr/>
        </p:nvSpPr>
        <p:spPr bwMode="auto">
          <a:xfrm>
            <a:off x="7740650" y="2862263"/>
            <a:ext cx="969963" cy="287337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RS-485</a:t>
            </a:r>
          </a:p>
        </p:txBody>
      </p:sp>
      <p:sp>
        <p:nvSpPr>
          <p:cNvPr id="10252" name="Rectangle 11"/>
          <p:cNvSpPr>
            <a:spLocks noChangeArrowheads="1"/>
          </p:cNvSpPr>
          <p:nvPr/>
        </p:nvSpPr>
        <p:spPr bwMode="auto">
          <a:xfrm>
            <a:off x="1276350" y="1268413"/>
            <a:ext cx="2524125" cy="2873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CCP (Comm. Control Panel)</a:t>
            </a:r>
          </a:p>
        </p:txBody>
      </p:sp>
      <p:sp>
        <p:nvSpPr>
          <p:cNvPr id="10253" name="Rectangle 11"/>
          <p:cNvSpPr>
            <a:spLocks noChangeArrowheads="1"/>
          </p:cNvSpPr>
          <p:nvPr/>
        </p:nvSpPr>
        <p:spPr bwMode="auto">
          <a:xfrm>
            <a:off x="2006600" y="3986213"/>
            <a:ext cx="936625" cy="2873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MDS (CDT)</a:t>
            </a:r>
          </a:p>
        </p:txBody>
      </p:sp>
      <p:pic>
        <p:nvPicPr>
          <p:cNvPr id="10254" name="Picture 11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2775" y="4217988"/>
            <a:ext cx="1330325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55" name="Rectangle 11"/>
          <p:cNvSpPr>
            <a:spLocks noChangeArrowheads="1"/>
          </p:cNvSpPr>
          <p:nvPr/>
        </p:nvSpPr>
        <p:spPr bwMode="auto">
          <a:xfrm>
            <a:off x="1863725" y="5481638"/>
            <a:ext cx="1368425" cy="2873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Converter/Inverter</a:t>
            </a:r>
          </a:p>
        </p:txBody>
      </p:sp>
      <p:pic>
        <p:nvPicPr>
          <p:cNvPr id="10256" name="Picture 1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850" y="5697538"/>
            <a:ext cx="1584325" cy="755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257" name="Line 120"/>
          <p:cNvSpPr>
            <a:spLocks noChangeShapeType="1"/>
          </p:cNvSpPr>
          <p:nvPr/>
        </p:nvSpPr>
        <p:spPr bwMode="auto">
          <a:xfrm rot="5400000">
            <a:off x="2238375" y="3743325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0258" name="Line 121"/>
          <p:cNvSpPr>
            <a:spLocks noChangeShapeType="1"/>
          </p:cNvSpPr>
          <p:nvPr/>
        </p:nvSpPr>
        <p:spPr bwMode="auto">
          <a:xfrm rot="-5400000">
            <a:off x="2311400" y="3725863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0259" name="Line 122"/>
          <p:cNvSpPr>
            <a:spLocks noChangeShapeType="1"/>
          </p:cNvSpPr>
          <p:nvPr/>
        </p:nvSpPr>
        <p:spPr bwMode="auto">
          <a:xfrm rot="5400000">
            <a:off x="2243138" y="5254625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0260" name="Line 123"/>
          <p:cNvSpPr>
            <a:spLocks noChangeShapeType="1"/>
          </p:cNvSpPr>
          <p:nvPr/>
        </p:nvSpPr>
        <p:spPr bwMode="auto">
          <a:xfrm rot="-5400000">
            <a:off x="2316163" y="5237163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grpSp>
        <p:nvGrpSpPr>
          <p:cNvPr id="10261" name="Group 124"/>
          <p:cNvGrpSpPr>
            <a:grpSpLocks/>
          </p:cNvGrpSpPr>
          <p:nvPr/>
        </p:nvGrpSpPr>
        <p:grpSpPr bwMode="auto">
          <a:xfrm>
            <a:off x="5753100" y="4003675"/>
            <a:ext cx="1330325" cy="973138"/>
            <a:chOff x="1738" y="2592"/>
            <a:chExt cx="838" cy="613"/>
          </a:xfrm>
        </p:grpSpPr>
        <p:sp>
          <p:nvSpPr>
            <p:cNvPr id="10307" name="Rectangle 11"/>
            <p:cNvSpPr>
              <a:spLocks noChangeArrowheads="1"/>
            </p:cNvSpPr>
            <p:nvPr/>
          </p:nvSpPr>
          <p:spPr bwMode="auto">
            <a:xfrm>
              <a:off x="1804" y="2592"/>
              <a:ext cx="590" cy="18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555625" lvl="3" indent="-376238" eaLnBrk="1" latinLnBrk="1" hangingPunct="1">
                <a:buFont typeface="Wingdings" pitchFamily="2" charset="2"/>
                <a:buNone/>
              </a:pPr>
              <a:r>
                <a:rPr lang="en-US" altLang="ko-KR" sz="800" b="1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MDS (CDT)</a:t>
              </a:r>
            </a:p>
          </p:txBody>
        </p:sp>
        <p:pic>
          <p:nvPicPr>
            <p:cNvPr id="10308" name="Picture 126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8" y="2727"/>
              <a:ext cx="838" cy="4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262" name="Group 127"/>
          <p:cNvGrpSpPr>
            <a:grpSpLocks/>
          </p:cNvGrpSpPr>
          <p:nvPr/>
        </p:nvGrpSpPr>
        <p:grpSpPr bwMode="auto">
          <a:xfrm>
            <a:off x="5572125" y="5481638"/>
            <a:ext cx="1584325" cy="971550"/>
            <a:chOff x="1669" y="3408"/>
            <a:chExt cx="998" cy="612"/>
          </a:xfrm>
        </p:grpSpPr>
        <p:sp>
          <p:nvSpPr>
            <p:cNvPr id="10305" name="Rectangle 11"/>
            <p:cNvSpPr>
              <a:spLocks noChangeArrowheads="1"/>
            </p:cNvSpPr>
            <p:nvPr/>
          </p:nvSpPr>
          <p:spPr bwMode="auto">
            <a:xfrm>
              <a:off x="1759" y="3408"/>
              <a:ext cx="862" cy="18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555625" lvl="3" indent="-376238" eaLnBrk="1" latinLnBrk="1" hangingPunct="1">
                <a:buFont typeface="Wingdings" pitchFamily="2" charset="2"/>
                <a:buNone/>
              </a:pPr>
              <a:r>
                <a:rPr lang="en-US" altLang="ko-KR" sz="800" b="1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Converter/Inverter</a:t>
              </a:r>
            </a:p>
          </p:txBody>
        </p:sp>
        <p:pic>
          <p:nvPicPr>
            <p:cNvPr id="10306" name="Picture 12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9" y="3544"/>
              <a:ext cx="998" cy="4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80000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grpSp>
        <p:nvGrpSpPr>
          <p:cNvPr id="10263" name="Group 133"/>
          <p:cNvGrpSpPr>
            <a:grpSpLocks/>
          </p:cNvGrpSpPr>
          <p:nvPr/>
        </p:nvGrpSpPr>
        <p:grpSpPr bwMode="auto">
          <a:xfrm rot="5400000">
            <a:off x="6117432" y="3698081"/>
            <a:ext cx="468312" cy="73025"/>
            <a:chOff x="1191" y="1434"/>
            <a:chExt cx="613" cy="46"/>
          </a:xfrm>
        </p:grpSpPr>
        <p:sp>
          <p:nvSpPr>
            <p:cNvPr id="10303" name="Line 134"/>
            <p:cNvSpPr>
              <a:spLocks noChangeShapeType="1"/>
            </p:cNvSpPr>
            <p:nvPr/>
          </p:nvSpPr>
          <p:spPr bwMode="auto">
            <a:xfrm>
              <a:off x="1214" y="1480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0304" name="Line 135"/>
            <p:cNvSpPr>
              <a:spLocks noChangeShapeType="1"/>
            </p:cNvSpPr>
            <p:nvPr/>
          </p:nvSpPr>
          <p:spPr bwMode="auto">
            <a:xfrm rot="10800000">
              <a:off x="1191" y="1434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grpSp>
        <p:nvGrpSpPr>
          <p:cNvPr id="10264" name="Group 136"/>
          <p:cNvGrpSpPr>
            <a:grpSpLocks/>
          </p:cNvGrpSpPr>
          <p:nvPr/>
        </p:nvGrpSpPr>
        <p:grpSpPr bwMode="auto">
          <a:xfrm rot="5400000">
            <a:off x="6122195" y="5209381"/>
            <a:ext cx="468312" cy="73025"/>
            <a:chOff x="1191" y="1434"/>
            <a:chExt cx="613" cy="46"/>
          </a:xfrm>
        </p:grpSpPr>
        <p:sp>
          <p:nvSpPr>
            <p:cNvPr id="10301" name="Line 137"/>
            <p:cNvSpPr>
              <a:spLocks noChangeShapeType="1"/>
            </p:cNvSpPr>
            <p:nvPr/>
          </p:nvSpPr>
          <p:spPr bwMode="auto">
            <a:xfrm>
              <a:off x="1214" y="1480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0302" name="Line 138"/>
            <p:cNvSpPr>
              <a:spLocks noChangeShapeType="1"/>
            </p:cNvSpPr>
            <p:nvPr/>
          </p:nvSpPr>
          <p:spPr bwMode="auto">
            <a:xfrm rot="10800000">
              <a:off x="1191" y="1434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grpSp>
        <p:nvGrpSpPr>
          <p:cNvPr id="10265" name="Group 139"/>
          <p:cNvGrpSpPr>
            <a:grpSpLocks/>
          </p:cNvGrpSpPr>
          <p:nvPr/>
        </p:nvGrpSpPr>
        <p:grpSpPr bwMode="auto">
          <a:xfrm>
            <a:off x="3203575" y="2976563"/>
            <a:ext cx="677863" cy="73025"/>
            <a:chOff x="1191" y="1434"/>
            <a:chExt cx="613" cy="46"/>
          </a:xfrm>
        </p:grpSpPr>
        <p:sp>
          <p:nvSpPr>
            <p:cNvPr id="10299" name="Line 140"/>
            <p:cNvSpPr>
              <a:spLocks noChangeShapeType="1"/>
            </p:cNvSpPr>
            <p:nvPr/>
          </p:nvSpPr>
          <p:spPr bwMode="auto">
            <a:xfrm>
              <a:off x="1214" y="1480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0300" name="Line 141"/>
            <p:cNvSpPr>
              <a:spLocks noChangeShapeType="1"/>
            </p:cNvSpPr>
            <p:nvPr/>
          </p:nvSpPr>
          <p:spPr bwMode="auto">
            <a:xfrm rot="10800000">
              <a:off x="1191" y="1434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sp>
        <p:nvSpPr>
          <p:cNvPr id="10266" name="Line 142"/>
          <p:cNvSpPr>
            <a:spLocks noChangeShapeType="1"/>
          </p:cNvSpPr>
          <p:nvPr/>
        </p:nvSpPr>
        <p:spPr bwMode="auto">
          <a:xfrm>
            <a:off x="1223963" y="3054350"/>
            <a:ext cx="5159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0267" name="Line 143"/>
          <p:cNvSpPr>
            <a:spLocks noChangeShapeType="1"/>
          </p:cNvSpPr>
          <p:nvPr/>
        </p:nvSpPr>
        <p:spPr bwMode="auto">
          <a:xfrm rot="10800000">
            <a:off x="1203325" y="2981325"/>
            <a:ext cx="5159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grpSp>
        <p:nvGrpSpPr>
          <p:cNvPr id="10268" name="Group 144"/>
          <p:cNvGrpSpPr>
            <a:grpSpLocks/>
          </p:cNvGrpSpPr>
          <p:nvPr/>
        </p:nvGrpSpPr>
        <p:grpSpPr bwMode="auto">
          <a:xfrm>
            <a:off x="7088188" y="2981325"/>
            <a:ext cx="677862" cy="73025"/>
            <a:chOff x="1191" y="1434"/>
            <a:chExt cx="613" cy="46"/>
          </a:xfrm>
        </p:grpSpPr>
        <p:sp>
          <p:nvSpPr>
            <p:cNvPr id="10297" name="Line 145"/>
            <p:cNvSpPr>
              <a:spLocks noChangeShapeType="1"/>
            </p:cNvSpPr>
            <p:nvPr/>
          </p:nvSpPr>
          <p:spPr bwMode="auto">
            <a:xfrm>
              <a:off x="1214" y="1480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0298" name="Line 146"/>
            <p:cNvSpPr>
              <a:spLocks noChangeShapeType="1"/>
            </p:cNvSpPr>
            <p:nvPr/>
          </p:nvSpPr>
          <p:spPr bwMode="auto">
            <a:xfrm rot="10800000">
              <a:off x="1191" y="1434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sp>
        <p:nvSpPr>
          <p:cNvPr id="10269" name="Line 147"/>
          <p:cNvSpPr>
            <a:spLocks noChangeShapeType="1"/>
          </p:cNvSpPr>
          <p:nvPr/>
        </p:nvSpPr>
        <p:spPr bwMode="auto">
          <a:xfrm rot="5400000">
            <a:off x="2170113" y="3744913"/>
            <a:ext cx="4508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0270" name="Line 148"/>
          <p:cNvSpPr>
            <a:spLocks noChangeShapeType="1"/>
          </p:cNvSpPr>
          <p:nvPr/>
        </p:nvSpPr>
        <p:spPr bwMode="auto">
          <a:xfrm rot="5400000">
            <a:off x="2170113" y="5253038"/>
            <a:ext cx="4508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0271" name="Line 150"/>
          <p:cNvSpPr>
            <a:spLocks noChangeShapeType="1"/>
          </p:cNvSpPr>
          <p:nvPr/>
        </p:nvSpPr>
        <p:spPr bwMode="auto">
          <a:xfrm rot="10800000">
            <a:off x="1187450" y="3113088"/>
            <a:ext cx="531813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0272" name="Line 151"/>
          <p:cNvSpPr>
            <a:spLocks noChangeShapeType="1"/>
          </p:cNvSpPr>
          <p:nvPr/>
        </p:nvSpPr>
        <p:spPr bwMode="auto">
          <a:xfrm>
            <a:off x="3213100" y="3132138"/>
            <a:ext cx="6731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0273" name="Line 152"/>
          <p:cNvSpPr>
            <a:spLocks noChangeShapeType="1"/>
          </p:cNvSpPr>
          <p:nvPr/>
        </p:nvSpPr>
        <p:spPr bwMode="auto">
          <a:xfrm>
            <a:off x="7137400" y="3132138"/>
            <a:ext cx="6350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0274" name="Line 153"/>
          <p:cNvSpPr>
            <a:spLocks noChangeShapeType="1"/>
          </p:cNvSpPr>
          <p:nvPr/>
        </p:nvSpPr>
        <p:spPr bwMode="auto">
          <a:xfrm rot="5400000">
            <a:off x="6032500" y="3744913"/>
            <a:ext cx="4508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0275" name="Line 154"/>
          <p:cNvSpPr>
            <a:spLocks noChangeShapeType="1"/>
          </p:cNvSpPr>
          <p:nvPr/>
        </p:nvSpPr>
        <p:spPr bwMode="auto">
          <a:xfrm rot="5400000">
            <a:off x="6032500" y="5253038"/>
            <a:ext cx="4508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pic>
        <p:nvPicPr>
          <p:cNvPr id="10276" name="Picture 15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5813" y="1519238"/>
            <a:ext cx="915987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7" name="Rectangle 11"/>
          <p:cNvSpPr>
            <a:spLocks noChangeArrowheads="1"/>
          </p:cNvSpPr>
          <p:nvPr/>
        </p:nvSpPr>
        <p:spPr bwMode="auto">
          <a:xfrm>
            <a:off x="5043488" y="1277938"/>
            <a:ext cx="2524125" cy="2873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CCP (Comm. Control Panel)</a:t>
            </a:r>
          </a:p>
        </p:txBody>
      </p:sp>
      <p:pic>
        <p:nvPicPr>
          <p:cNvPr id="10278" name="Picture 15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75" y="1524000"/>
            <a:ext cx="911225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9" name="Rectangle 11"/>
          <p:cNvSpPr>
            <a:spLocks noChangeArrowheads="1"/>
          </p:cNvSpPr>
          <p:nvPr/>
        </p:nvSpPr>
        <p:spPr bwMode="auto">
          <a:xfrm>
            <a:off x="5834063" y="2871788"/>
            <a:ext cx="969962" cy="2873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RS-485</a:t>
            </a:r>
          </a:p>
        </p:txBody>
      </p:sp>
      <p:pic>
        <p:nvPicPr>
          <p:cNvPr id="10280" name="Picture 160"/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2913" y="1531938"/>
            <a:ext cx="546100" cy="35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281" name="Rectangle 11"/>
          <p:cNvSpPr>
            <a:spLocks noChangeArrowheads="1"/>
          </p:cNvSpPr>
          <p:nvPr/>
        </p:nvSpPr>
        <p:spPr bwMode="auto">
          <a:xfrm>
            <a:off x="3452813" y="1484313"/>
            <a:ext cx="1716087" cy="1042987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376238" lvl="3" indent="-376238"/>
            <a:r>
              <a:rPr lang="en-US" altLang="ko-KR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Information for car network</a:t>
            </a:r>
          </a:p>
          <a:p>
            <a:pPr marL="376238" lvl="3" indent="-376238"/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(1) Train configuration info.(2 bits)</a:t>
            </a:r>
          </a:p>
          <a:p>
            <a:pPr marL="376238" lvl="3" indent="-376238"/>
            <a:r>
              <a:rPr lang="en-US" altLang="ko-KR" sz="800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00</a:t>
            </a:r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; 2-cars</a:t>
            </a:r>
          </a:p>
          <a:p>
            <a:pPr marL="376238" lvl="3" indent="-376238"/>
            <a:r>
              <a:rPr lang="en-US" altLang="ko-KR" sz="800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01</a:t>
            </a:r>
            <a:r>
              <a:rPr lang="en-US" altLang="ko-KR" sz="80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; 4-cars</a:t>
            </a:r>
          </a:p>
          <a:p>
            <a:pPr marL="376238" lvl="3" indent="-376238"/>
            <a:r>
              <a:rPr lang="en-US" altLang="ko-KR" sz="800" b="1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10 </a:t>
            </a:r>
            <a:r>
              <a:rPr lang="en-US" altLang="ko-KR" sz="800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; 6-cars</a:t>
            </a:r>
          </a:p>
          <a:p>
            <a:pPr marL="376238" lvl="3" indent="-376238"/>
            <a:r>
              <a:rPr lang="en-US" altLang="ko-KR" sz="800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11</a:t>
            </a:r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; 8-cars</a:t>
            </a:r>
          </a:p>
          <a:p>
            <a:pPr marL="376238" lvl="3" indent="-376238"/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(2) C/I position (8 bits = bit 3-10)</a:t>
            </a:r>
          </a:p>
          <a:p>
            <a:pPr marL="376238" lvl="3" indent="-376238"/>
            <a:r>
              <a:rPr lang="en-US" altLang="ko-KR" sz="800" b="1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00100000</a:t>
            </a:r>
            <a:r>
              <a:rPr lang="en-US" altLang="ko-KR" sz="800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; no. 3 car</a:t>
            </a:r>
          </a:p>
        </p:txBody>
      </p:sp>
      <p:sp>
        <p:nvSpPr>
          <p:cNvPr id="10282" name="Rectangle 162"/>
          <p:cNvSpPr>
            <a:spLocks noChangeArrowheads="1"/>
          </p:cNvSpPr>
          <p:nvPr/>
        </p:nvSpPr>
        <p:spPr bwMode="auto">
          <a:xfrm>
            <a:off x="5724525" y="2798763"/>
            <a:ext cx="1277938" cy="515937"/>
          </a:xfrm>
          <a:prstGeom prst="rect">
            <a:avLst/>
          </a:prstGeom>
          <a:solidFill>
            <a:srgbClr val="CCFFFF"/>
          </a:solidFill>
          <a:ln w="22225" algn="ctr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538163" lvl="3" algn="r"/>
            <a:r>
              <a:rPr lang="en-US" altLang="ko-KR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CRA</a:t>
            </a:r>
          </a:p>
          <a:p>
            <a:pPr marL="538163" lvl="3" algn="r"/>
            <a:r>
              <a:rPr lang="en-US" altLang="ko-KR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(Comm. Rack A)</a:t>
            </a:r>
            <a:endParaRPr lang="ko-KR" altLang="en-US" sz="800" b="1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0283" name="Rectangle 163"/>
          <p:cNvSpPr>
            <a:spLocks noChangeArrowheads="1"/>
          </p:cNvSpPr>
          <p:nvPr/>
        </p:nvSpPr>
        <p:spPr bwMode="auto">
          <a:xfrm>
            <a:off x="1868488" y="2779713"/>
            <a:ext cx="1277937" cy="515937"/>
          </a:xfrm>
          <a:prstGeom prst="rect">
            <a:avLst/>
          </a:prstGeom>
          <a:solidFill>
            <a:srgbClr val="CCFFFF"/>
          </a:solidFill>
          <a:ln w="22225" algn="ctr">
            <a:solidFill>
              <a:srgbClr val="99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538163" lvl="3" algn="r"/>
            <a:r>
              <a:rPr lang="en-US" altLang="ko-KR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CRA</a:t>
            </a:r>
          </a:p>
          <a:p>
            <a:pPr marL="538163" lvl="3" algn="r"/>
            <a:r>
              <a:rPr lang="en-US" altLang="ko-KR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(Comm. Rack A)</a:t>
            </a:r>
            <a:endParaRPr lang="ko-KR" altLang="en-US" sz="800" b="1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grpSp>
        <p:nvGrpSpPr>
          <p:cNvPr id="10284" name="Group 164"/>
          <p:cNvGrpSpPr>
            <a:grpSpLocks/>
          </p:cNvGrpSpPr>
          <p:nvPr/>
        </p:nvGrpSpPr>
        <p:grpSpPr bwMode="auto">
          <a:xfrm>
            <a:off x="4991100" y="2974975"/>
            <a:ext cx="677863" cy="73025"/>
            <a:chOff x="1191" y="1434"/>
            <a:chExt cx="613" cy="46"/>
          </a:xfrm>
        </p:grpSpPr>
        <p:sp>
          <p:nvSpPr>
            <p:cNvPr id="10295" name="Line 165"/>
            <p:cNvSpPr>
              <a:spLocks noChangeShapeType="1"/>
            </p:cNvSpPr>
            <p:nvPr/>
          </p:nvSpPr>
          <p:spPr bwMode="auto">
            <a:xfrm>
              <a:off x="1214" y="1480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0296" name="Line 166"/>
            <p:cNvSpPr>
              <a:spLocks noChangeShapeType="1"/>
            </p:cNvSpPr>
            <p:nvPr/>
          </p:nvSpPr>
          <p:spPr bwMode="auto">
            <a:xfrm rot="10800000">
              <a:off x="1191" y="1434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sp>
        <p:nvSpPr>
          <p:cNvPr id="10285" name="Line 167"/>
          <p:cNvSpPr>
            <a:spLocks noChangeShapeType="1"/>
          </p:cNvSpPr>
          <p:nvPr/>
        </p:nvSpPr>
        <p:spPr bwMode="auto">
          <a:xfrm>
            <a:off x="5000625" y="3130550"/>
            <a:ext cx="6731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0286" name="Rectangle 11"/>
          <p:cNvSpPr>
            <a:spLocks noChangeArrowheads="1"/>
          </p:cNvSpPr>
          <p:nvPr/>
        </p:nvSpPr>
        <p:spPr bwMode="auto">
          <a:xfrm>
            <a:off x="3949700" y="2871788"/>
            <a:ext cx="969963" cy="287337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RS-485</a:t>
            </a:r>
          </a:p>
        </p:txBody>
      </p:sp>
      <p:sp>
        <p:nvSpPr>
          <p:cNvPr id="10287" name="Rectangle 11"/>
          <p:cNvSpPr>
            <a:spLocks noChangeArrowheads="1"/>
          </p:cNvSpPr>
          <p:nvPr/>
        </p:nvSpPr>
        <p:spPr bwMode="auto">
          <a:xfrm>
            <a:off x="5795963" y="2263775"/>
            <a:ext cx="1143000" cy="28733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RS     485</a:t>
            </a:r>
          </a:p>
        </p:txBody>
      </p:sp>
      <p:sp>
        <p:nvSpPr>
          <p:cNvPr id="10288" name="Rectangle 11"/>
          <p:cNvSpPr>
            <a:spLocks noChangeArrowheads="1"/>
          </p:cNvSpPr>
          <p:nvPr/>
        </p:nvSpPr>
        <p:spPr bwMode="auto">
          <a:xfrm>
            <a:off x="1955800" y="2298700"/>
            <a:ext cx="1143000" cy="28733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RS     485</a:t>
            </a:r>
          </a:p>
        </p:txBody>
      </p:sp>
      <p:sp>
        <p:nvSpPr>
          <p:cNvPr id="10289" name="Line 171"/>
          <p:cNvSpPr>
            <a:spLocks noChangeShapeType="1"/>
          </p:cNvSpPr>
          <p:nvPr/>
        </p:nvSpPr>
        <p:spPr bwMode="auto">
          <a:xfrm rot="5400000">
            <a:off x="2243138" y="2436813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0290" name="Line 172"/>
          <p:cNvSpPr>
            <a:spLocks noChangeShapeType="1"/>
          </p:cNvSpPr>
          <p:nvPr/>
        </p:nvSpPr>
        <p:spPr bwMode="auto">
          <a:xfrm rot="-5400000">
            <a:off x="2316163" y="2419350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grpSp>
        <p:nvGrpSpPr>
          <p:cNvPr id="10291" name="Group 173"/>
          <p:cNvGrpSpPr>
            <a:grpSpLocks/>
          </p:cNvGrpSpPr>
          <p:nvPr/>
        </p:nvGrpSpPr>
        <p:grpSpPr bwMode="auto">
          <a:xfrm rot="5400000">
            <a:off x="6122194" y="2391569"/>
            <a:ext cx="468313" cy="73025"/>
            <a:chOff x="1191" y="1434"/>
            <a:chExt cx="613" cy="46"/>
          </a:xfrm>
        </p:grpSpPr>
        <p:sp>
          <p:nvSpPr>
            <p:cNvPr id="10293" name="Line 174"/>
            <p:cNvSpPr>
              <a:spLocks noChangeShapeType="1"/>
            </p:cNvSpPr>
            <p:nvPr/>
          </p:nvSpPr>
          <p:spPr bwMode="auto">
            <a:xfrm>
              <a:off x="1214" y="1480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0294" name="Line 175"/>
            <p:cNvSpPr>
              <a:spLocks noChangeShapeType="1"/>
            </p:cNvSpPr>
            <p:nvPr/>
          </p:nvSpPr>
          <p:spPr bwMode="auto">
            <a:xfrm rot="10800000">
              <a:off x="1191" y="1434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sp>
        <p:nvSpPr>
          <p:cNvPr id="10292" name="Line 176"/>
          <p:cNvSpPr>
            <a:spLocks noChangeShapeType="1"/>
          </p:cNvSpPr>
          <p:nvPr/>
        </p:nvSpPr>
        <p:spPr bwMode="auto">
          <a:xfrm rot="5400000">
            <a:off x="2176463" y="2439988"/>
            <a:ext cx="4508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89" name="Rectangle 9"/>
          <p:cNvSpPr>
            <a:spLocks noChangeArrowheads="1"/>
          </p:cNvSpPr>
          <p:nvPr/>
        </p:nvSpPr>
        <p:spPr bwMode="auto">
          <a:xfrm>
            <a:off x="193675" y="256352"/>
            <a:ext cx="82518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457200" indent="-457200" algn="ctr" eaLnBrk="1" latinLnBrk="1" hangingPunct="1"/>
            <a:r>
              <a:rPr lang="en-US" altLang="ko-KR" sz="20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Denver Eagle EMU Project</a:t>
            </a:r>
          </a:p>
        </p:txBody>
      </p:sp>
    </p:spTree>
    <p:extLst>
      <p:ext uri="{BB962C8B-B14F-4D97-AF65-F5344CB8AC3E}">
        <p14:creationId xmlns:p14="http://schemas.microsoft.com/office/powerpoint/2010/main" val="259077729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11"/>
          <p:cNvSpPr>
            <a:spLocks noChangeArrowheads="1"/>
          </p:cNvSpPr>
          <p:nvPr/>
        </p:nvSpPr>
        <p:spPr bwMode="auto">
          <a:xfrm>
            <a:off x="122238" y="823913"/>
            <a:ext cx="7667625" cy="287337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376238" lvl="3" indent="-376238"/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Phase Shift _ 6-cars</a:t>
            </a:r>
          </a:p>
          <a:p>
            <a:pPr marL="376238" lvl="3" indent="-376238"/>
            <a:r>
              <a:rPr lang="en-US" altLang="ko-KR" sz="80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- </a:t>
            </a: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CRA(PA)</a:t>
            </a:r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</a:t>
            </a:r>
            <a:r>
              <a:rPr lang="en-US" altLang="ko-KR" sz="80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– MDS – Converter/Inverter, </a:t>
            </a: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(6)</a:t>
            </a:r>
            <a:r>
              <a:rPr lang="en-US" altLang="ko-KR" sz="80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</a:t>
            </a: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When a</a:t>
            </a:r>
            <a:r>
              <a:rPr lang="en-US" altLang="ko-KR" sz="80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</a:t>
            </a: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Converter/Inverter is Failed</a:t>
            </a:r>
          </a:p>
        </p:txBody>
      </p:sp>
      <p:grpSp>
        <p:nvGrpSpPr>
          <p:cNvPr id="11269" name="Group 78"/>
          <p:cNvGrpSpPr>
            <a:grpSpLocks/>
          </p:cNvGrpSpPr>
          <p:nvPr/>
        </p:nvGrpSpPr>
        <p:grpSpPr bwMode="auto">
          <a:xfrm>
            <a:off x="7400925" y="5840413"/>
            <a:ext cx="2397125" cy="498475"/>
            <a:chOff x="2005" y="3706"/>
            <a:chExt cx="1510" cy="314"/>
          </a:xfrm>
        </p:grpSpPr>
        <p:sp>
          <p:nvSpPr>
            <p:cNvPr id="11332" name="Rectangle 11"/>
            <p:cNvSpPr>
              <a:spLocks noChangeArrowheads="1"/>
            </p:cNvSpPr>
            <p:nvPr/>
          </p:nvSpPr>
          <p:spPr bwMode="auto">
            <a:xfrm>
              <a:off x="2005" y="3706"/>
              <a:ext cx="938" cy="178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376238" lvl="3" indent="-376238" eaLnBrk="1" latinLnBrk="1" hangingPunct="1">
                <a:buFont typeface="Wingdings" pitchFamily="2" charset="2"/>
                <a:buNone/>
              </a:pPr>
              <a:r>
                <a:rPr lang="en-US" altLang="ko-KR" sz="800" b="1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Phase Shift </a:t>
              </a:r>
              <a:r>
                <a:rPr lang="en-US" altLang="ko-KR" sz="800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(degree)</a:t>
              </a:r>
            </a:p>
          </p:txBody>
        </p:sp>
        <p:sp>
          <p:nvSpPr>
            <p:cNvPr id="11333" name="Rectangle 80"/>
            <p:cNvSpPr>
              <a:spLocks noChangeArrowheads="1"/>
            </p:cNvSpPr>
            <p:nvPr/>
          </p:nvSpPr>
          <p:spPr bwMode="auto">
            <a:xfrm>
              <a:off x="3326" y="3857"/>
              <a:ext cx="189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--</a:t>
              </a:r>
            </a:p>
          </p:txBody>
        </p:sp>
        <p:sp>
          <p:nvSpPr>
            <p:cNvPr id="11334" name="Rectangle 81"/>
            <p:cNvSpPr>
              <a:spLocks noChangeArrowheads="1"/>
            </p:cNvSpPr>
            <p:nvPr/>
          </p:nvSpPr>
          <p:spPr bwMode="auto">
            <a:xfrm>
              <a:off x="3138" y="3857"/>
              <a:ext cx="188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--</a:t>
              </a:r>
            </a:p>
          </p:txBody>
        </p:sp>
        <p:sp>
          <p:nvSpPr>
            <p:cNvPr id="11335" name="Rectangle 82"/>
            <p:cNvSpPr>
              <a:spLocks noChangeArrowheads="1"/>
            </p:cNvSpPr>
            <p:nvPr/>
          </p:nvSpPr>
          <p:spPr bwMode="auto">
            <a:xfrm>
              <a:off x="2951" y="3857"/>
              <a:ext cx="187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90</a:t>
              </a:r>
            </a:p>
          </p:txBody>
        </p:sp>
        <p:sp>
          <p:nvSpPr>
            <p:cNvPr id="11336" name="Rectangle 83"/>
            <p:cNvSpPr>
              <a:spLocks noChangeArrowheads="1"/>
            </p:cNvSpPr>
            <p:nvPr/>
          </p:nvSpPr>
          <p:spPr bwMode="auto">
            <a:xfrm>
              <a:off x="2763" y="3857"/>
              <a:ext cx="188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0</a:t>
              </a:r>
            </a:p>
          </p:txBody>
        </p:sp>
        <p:sp>
          <p:nvSpPr>
            <p:cNvPr id="11337" name="Rectangle 84"/>
            <p:cNvSpPr>
              <a:spLocks noChangeArrowheads="1"/>
            </p:cNvSpPr>
            <p:nvPr/>
          </p:nvSpPr>
          <p:spPr bwMode="auto">
            <a:xfrm>
              <a:off x="2574" y="3857"/>
              <a:ext cx="189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 b="1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120</a:t>
              </a:r>
            </a:p>
          </p:txBody>
        </p:sp>
        <p:sp>
          <p:nvSpPr>
            <p:cNvPr id="11338" name="Rectangle 85"/>
            <p:cNvSpPr>
              <a:spLocks noChangeArrowheads="1"/>
            </p:cNvSpPr>
            <p:nvPr/>
          </p:nvSpPr>
          <p:spPr bwMode="auto">
            <a:xfrm>
              <a:off x="2387" y="3857"/>
              <a:ext cx="187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X</a:t>
              </a:r>
            </a:p>
          </p:txBody>
        </p:sp>
        <p:sp>
          <p:nvSpPr>
            <p:cNvPr id="11339" name="Rectangle 86"/>
            <p:cNvSpPr>
              <a:spLocks noChangeArrowheads="1"/>
            </p:cNvSpPr>
            <p:nvPr/>
          </p:nvSpPr>
          <p:spPr bwMode="auto">
            <a:xfrm>
              <a:off x="2199" y="3857"/>
              <a:ext cx="188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 b="1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60</a:t>
              </a:r>
            </a:p>
          </p:txBody>
        </p:sp>
        <p:sp>
          <p:nvSpPr>
            <p:cNvPr id="11340" name="Rectangle 87"/>
            <p:cNvSpPr>
              <a:spLocks noChangeArrowheads="1"/>
            </p:cNvSpPr>
            <p:nvPr/>
          </p:nvSpPr>
          <p:spPr bwMode="auto">
            <a:xfrm>
              <a:off x="2010" y="3857"/>
              <a:ext cx="189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0</a:t>
              </a:r>
            </a:p>
          </p:txBody>
        </p:sp>
        <p:sp>
          <p:nvSpPr>
            <p:cNvPr id="11341" name="Line 88"/>
            <p:cNvSpPr>
              <a:spLocks noChangeShapeType="1"/>
            </p:cNvSpPr>
            <p:nvPr/>
          </p:nvSpPr>
          <p:spPr bwMode="auto">
            <a:xfrm>
              <a:off x="2010" y="3857"/>
              <a:ext cx="1505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1342" name="Line 89"/>
            <p:cNvSpPr>
              <a:spLocks noChangeShapeType="1"/>
            </p:cNvSpPr>
            <p:nvPr/>
          </p:nvSpPr>
          <p:spPr bwMode="auto">
            <a:xfrm>
              <a:off x="2010" y="4020"/>
              <a:ext cx="1505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1343" name="Line 90"/>
            <p:cNvSpPr>
              <a:spLocks noChangeShapeType="1"/>
            </p:cNvSpPr>
            <p:nvPr/>
          </p:nvSpPr>
          <p:spPr bwMode="auto">
            <a:xfrm>
              <a:off x="2010" y="3857"/>
              <a:ext cx="0" cy="163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1344" name="Line 91"/>
            <p:cNvSpPr>
              <a:spLocks noChangeShapeType="1"/>
            </p:cNvSpPr>
            <p:nvPr/>
          </p:nvSpPr>
          <p:spPr bwMode="auto">
            <a:xfrm>
              <a:off x="2199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1345" name="Line 92"/>
            <p:cNvSpPr>
              <a:spLocks noChangeShapeType="1"/>
            </p:cNvSpPr>
            <p:nvPr/>
          </p:nvSpPr>
          <p:spPr bwMode="auto">
            <a:xfrm>
              <a:off x="2387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1346" name="Line 93"/>
            <p:cNvSpPr>
              <a:spLocks noChangeShapeType="1"/>
            </p:cNvSpPr>
            <p:nvPr/>
          </p:nvSpPr>
          <p:spPr bwMode="auto">
            <a:xfrm>
              <a:off x="2574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1347" name="Line 94"/>
            <p:cNvSpPr>
              <a:spLocks noChangeShapeType="1"/>
            </p:cNvSpPr>
            <p:nvPr/>
          </p:nvSpPr>
          <p:spPr bwMode="auto">
            <a:xfrm>
              <a:off x="2763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1348" name="Line 95"/>
            <p:cNvSpPr>
              <a:spLocks noChangeShapeType="1"/>
            </p:cNvSpPr>
            <p:nvPr/>
          </p:nvSpPr>
          <p:spPr bwMode="auto">
            <a:xfrm>
              <a:off x="2951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1349" name="Line 96"/>
            <p:cNvSpPr>
              <a:spLocks noChangeShapeType="1"/>
            </p:cNvSpPr>
            <p:nvPr/>
          </p:nvSpPr>
          <p:spPr bwMode="auto">
            <a:xfrm>
              <a:off x="3138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1350" name="Line 97"/>
            <p:cNvSpPr>
              <a:spLocks noChangeShapeType="1"/>
            </p:cNvSpPr>
            <p:nvPr/>
          </p:nvSpPr>
          <p:spPr bwMode="auto">
            <a:xfrm>
              <a:off x="3326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1351" name="Line 98"/>
            <p:cNvSpPr>
              <a:spLocks noChangeShapeType="1"/>
            </p:cNvSpPr>
            <p:nvPr/>
          </p:nvSpPr>
          <p:spPr bwMode="auto">
            <a:xfrm>
              <a:off x="3515" y="3857"/>
              <a:ext cx="0" cy="163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sp>
        <p:nvSpPr>
          <p:cNvPr id="11270" name="Rectangle 11"/>
          <p:cNvSpPr>
            <a:spLocks noChangeArrowheads="1"/>
          </p:cNvSpPr>
          <p:nvPr/>
        </p:nvSpPr>
        <p:spPr bwMode="auto">
          <a:xfrm>
            <a:off x="5092700" y="1225550"/>
            <a:ext cx="2524125" cy="2873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CCP (Comm. Control Panel)</a:t>
            </a:r>
          </a:p>
        </p:txBody>
      </p:sp>
      <p:sp>
        <p:nvSpPr>
          <p:cNvPr id="11271" name="Rectangle 11"/>
          <p:cNvSpPr>
            <a:spLocks noChangeArrowheads="1"/>
          </p:cNvSpPr>
          <p:nvPr/>
        </p:nvSpPr>
        <p:spPr bwMode="auto">
          <a:xfrm>
            <a:off x="3368675" y="5624513"/>
            <a:ext cx="1871663" cy="541337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376238" lvl="3" indent="-376238"/>
            <a:r>
              <a:rPr lang="en-US" altLang="ko-KR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Information for car network</a:t>
            </a:r>
          </a:p>
          <a:p>
            <a:pPr marL="376238" lvl="3" indent="-376238"/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Failure of Converter/Inverter</a:t>
            </a:r>
          </a:p>
          <a:p>
            <a:pPr marL="376238" lvl="3" indent="-376238"/>
            <a:r>
              <a:rPr lang="en-US" altLang="ko-KR" sz="800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00100000</a:t>
            </a:r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; no. 3 car fault </a:t>
            </a:r>
          </a:p>
        </p:txBody>
      </p:sp>
      <p:sp>
        <p:nvSpPr>
          <p:cNvPr id="11272" name="Rectangle 11"/>
          <p:cNvSpPr>
            <a:spLocks noChangeArrowheads="1"/>
          </p:cNvSpPr>
          <p:nvPr/>
        </p:nvSpPr>
        <p:spPr bwMode="auto">
          <a:xfrm>
            <a:off x="300038" y="2781300"/>
            <a:ext cx="908050" cy="28733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71500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RS-485</a:t>
            </a:r>
          </a:p>
        </p:txBody>
      </p:sp>
      <p:sp>
        <p:nvSpPr>
          <p:cNvPr id="11273" name="Rectangle 11"/>
          <p:cNvSpPr>
            <a:spLocks noChangeArrowheads="1"/>
          </p:cNvSpPr>
          <p:nvPr/>
        </p:nvSpPr>
        <p:spPr bwMode="auto">
          <a:xfrm>
            <a:off x="5313363" y="5041900"/>
            <a:ext cx="18510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algn="ctr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Lonworks    Network</a:t>
            </a:r>
          </a:p>
        </p:txBody>
      </p:sp>
      <p:sp>
        <p:nvSpPr>
          <p:cNvPr id="11274" name="Rectangle 11"/>
          <p:cNvSpPr>
            <a:spLocks noChangeArrowheads="1"/>
          </p:cNvSpPr>
          <p:nvPr/>
        </p:nvSpPr>
        <p:spPr bwMode="auto">
          <a:xfrm>
            <a:off x="1489075" y="5013325"/>
            <a:ext cx="1766888" cy="2873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Lonworks    Network</a:t>
            </a:r>
          </a:p>
        </p:txBody>
      </p:sp>
      <p:sp>
        <p:nvSpPr>
          <p:cNvPr id="11275" name="Rectangle 11"/>
          <p:cNvSpPr>
            <a:spLocks noChangeArrowheads="1"/>
          </p:cNvSpPr>
          <p:nvPr/>
        </p:nvSpPr>
        <p:spPr bwMode="auto">
          <a:xfrm>
            <a:off x="1450975" y="3538538"/>
            <a:ext cx="1766888" cy="2873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Lonworks     Network</a:t>
            </a:r>
          </a:p>
        </p:txBody>
      </p:sp>
      <p:sp>
        <p:nvSpPr>
          <p:cNvPr id="11276" name="Rectangle 11"/>
          <p:cNvSpPr>
            <a:spLocks noChangeArrowheads="1"/>
          </p:cNvSpPr>
          <p:nvPr/>
        </p:nvSpPr>
        <p:spPr bwMode="auto">
          <a:xfrm>
            <a:off x="5354638" y="3519488"/>
            <a:ext cx="176688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Lonworks     Network</a:t>
            </a:r>
          </a:p>
        </p:txBody>
      </p:sp>
      <p:sp>
        <p:nvSpPr>
          <p:cNvPr id="11277" name="Rectangle 11"/>
          <p:cNvSpPr>
            <a:spLocks noChangeArrowheads="1"/>
          </p:cNvSpPr>
          <p:nvPr/>
        </p:nvSpPr>
        <p:spPr bwMode="auto">
          <a:xfrm>
            <a:off x="7786688" y="2790825"/>
            <a:ext cx="969962" cy="28733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RS-485</a:t>
            </a:r>
          </a:p>
        </p:txBody>
      </p:sp>
      <p:sp>
        <p:nvSpPr>
          <p:cNvPr id="11278" name="Rectangle 11"/>
          <p:cNvSpPr>
            <a:spLocks noChangeArrowheads="1"/>
          </p:cNvSpPr>
          <p:nvPr/>
        </p:nvSpPr>
        <p:spPr bwMode="auto">
          <a:xfrm>
            <a:off x="1276350" y="1196975"/>
            <a:ext cx="2524125" cy="2873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CCP (Comm. Control Panel)</a:t>
            </a:r>
          </a:p>
        </p:txBody>
      </p:sp>
      <p:sp>
        <p:nvSpPr>
          <p:cNvPr id="11279" name="Rectangle 11"/>
          <p:cNvSpPr>
            <a:spLocks noChangeArrowheads="1"/>
          </p:cNvSpPr>
          <p:nvPr/>
        </p:nvSpPr>
        <p:spPr bwMode="auto">
          <a:xfrm>
            <a:off x="2006600" y="3914775"/>
            <a:ext cx="936625" cy="2873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MDS (CDT)</a:t>
            </a:r>
          </a:p>
        </p:txBody>
      </p:sp>
      <p:pic>
        <p:nvPicPr>
          <p:cNvPr id="11280" name="Picture 11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2775" y="4146550"/>
            <a:ext cx="1330325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81" name="Rectangle 11"/>
          <p:cNvSpPr>
            <a:spLocks noChangeArrowheads="1"/>
          </p:cNvSpPr>
          <p:nvPr/>
        </p:nvSpPr>
        <p:spPr bwMode="auto">
          <a:xfrm>
            <a:off x="1863725" y="5410200"/>
            <a:ext cx="1368425" cy="2873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Converter/Inverter</a:t>
            </a:r>
          </a:p>
        </p:txBody>
      </p:sp>
      <p:pic>
        <p:nvPicPr>
          <p:cNvPr id="11282" name="Picture 1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850" y="5626100"/>
            <a:ext cx="1584325" cy="755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1283" name="Line 120"/>
          <p:cNvSpPr>
            <a:spLocks noChangeShapeType="1"/>
          </p:cNvSpPr>
          <p:nvPr/>
        </p:nvSpPr>
        <p:spPr bwMode="auto">
          <a:xfrm rot="5400000">
            <a:off x="2244725" y="3671888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1284" name="Line 121"/>
          <p:cNvSpPr>
            <a:spLocks noChangeShapeType="1"/>
          </p:cNvSpPr>
          <p:nvPr/>
        </p:nvSpPr>
        <p:spPr bwMode="auto">
          <a:xfrm rot="-5400000">
            <a:off x="2311400" y="3654425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1285" name="Line 122"/>
          <p:cNvSpPr>
            <a:spLocks noChangeShapeType="1"/>
          </p:cNvSpPr>
          <p:nvPr/>
        </p:nvSpPr>
        <p:spPr bwMode="auto">
          <a:xfrm rot="5400000">
            <a:off x="2249488" y="5183188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1286" name="Line 123"/>
          <p:cNvSpPr>
            <a:spLocks noChangeShapeType="1"/>
          </p:cNvSpPr>
          <p:nvPr/>
        </p:nvSpPr>
        <p:spPr bwMode="auto">
          <a:xfrm rot="-5400000">
            <a:off x="2316163" y="5165725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grpSp>
        <p:nvGrpSpPr>
          <p:cNvPr id="11287" name="Group 124"/>
          <p:cNvGrpSpPr>
            <a:grpSpLocks/>
          </p:cNvGrpSpPr>
          <p:nvPr/>
        </p:nvGrpSpPr>
        <p:grpSpPr bwMode="auto">
          <a:xfrm>
            <a:off x="5799138" y="3932238"/>
            <a:ext cx="1330325" cy="973137"/>
            <a:chOff x="1738" y="2592"/>
            <a:chExt cx="838" cy="613"/>
          </a:xfrm>
        </p:grpSpPr>
        <p:sp>
          <p:nvSpPr>
            <p:cNvPr id="11330" name="Rectangle 11"/>
            <p:cNvSpPr>
              <a:spLocks noChangeArrowheads="1"/>
            </p:cNvSpPr>
            <p:nvPr/>
          </p:nvSpPr>
          <p:spPr bwMode="auto">
            <a:xfrm>
              <a:off x="1804" y="2592"/>
              <a:ext cx="590" cy="18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555625" lvl="3" indent="-376238" eaLnBrk="1" latinLnBrk="1" hangingPunct="1">
                <a:buFont typeface="Wingdings" pitchFamily="2" charset="2"/>
                <a:buNone/>
              </a:pPr>
              <a:r>
                <a:rPr lang="en-US" altLang="ko-KR" sz="800" b="1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MDS (CDT)</a:t>
              </a:r>
            </a:p>
          </p:txBody>
        </p:sp>
        <p:pic>
          <p:nvPicPr>
            <p:cNvPr id="11331" name="Picture 126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8" y="2727"/>
              <a:ext cx="838" cy="4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1288" name="Group 127"/>
          <p:cNvGrpSpPr>
            <a:grpSpLocks/>
          </p:cNvGrpSpPr>
          <p:nvPr/>
        </p:nvGrpSpPr>
        <p:grpSpPr bwMode="auto">
          <a:xfrm>
            <a:off x="5618163" y="5410200"/>
            <a:ext cx="1584325" cy="971550"/>
            <a:chOff x="1669" y="3408"/>
            <a:chExt cx="998" cy="612"/>
          </a:xfrm>
        </p:grpSpPr>
        <p:sp>
          <p:nvSpPr>
            <p:cNvPr id="11328" name="Rectangle 11"/>
            <p:cNvSpPr>
              <a:spLocks noChangeArrowheads="1"/>
            </p:cNvSpPr>
            <p:nvPr/>
          </p:nvSpPr>
          <p:spPr bwMode="auto">
            <a:xfrm>
              <a:off x="1759" y="3408"/>
              <a:ext cx="862" cy="18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555625" lvl="3" indent="-376238" eaLnBrk="1" latinLnBrk="1" hangingPunct="1">
                <a:buFont typeface="Wingdings" pitchFamily="2" charset="2"/>
                <a:buNone/>
              </a:pPr>
              <a:r>
                <a:rPr lang="en-US" altLang="ko-KR" sz="800" b="1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Converter/Inverter</a:t>
              </a:r>
            </a:p>
          </p:txBody>
        </p:sp>
        <p:pic>
          <p:nvPicPr>
            <p:cNvPr id="11329" name="Picture 12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9" y="3544"/>
              <a:ext cx="998" cy="4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80000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grpSp>
        <p:nvGrpSpPr>
          <p:cNvPr id="11289" name="Group 133"/>
          <p:cNvGrpSpPr>
            <a:grpSpLocks/>
          </p:cNvGrpSpPr>
          <p:nvPr/>
        </p:nvGrpSpPr>
        <p:grpSpPr bwMode="auto">
          <a:xfrm rot="5400000">
            <a:off x="6163469" y="3626644"/>
            <a:ext cx="468313" cy="73025"/>
            <a:chOff x="1191" y="1434"/>
            <a:chExt cx="613" cy="46"/>
          </a:xfrm>
        </p:grpSpPr>
        <p:sp>
          <p:nvSpPr>
            <p:cNvPr id="11326" name="Line 134"/>
            <p:cNvSpPr>
              <a:spLocks noChangeShapeType="1"/>
            </p:cNvSpPr>
            <p:nvPr/>
          </p:nvSpPr>
          <p:spPr bwMode="auto">
            <a:xfrm>
              <a:off x="1214" y="1480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1327" name="Line 135"/>
            <p:cNvSpPr>
              <a:spLocks noChangeShapeType="1"/>
            </p:cNvSpPr>
            <p:nvPr/>
          </p:nvSpPr>
          <p:spPr bwMode="auto">
            <a:xfrm rot="10800000">
              <a:off x="1191" y="1434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grpSp>
        <p:nvGrpSpPr>
          <p:cNvPr id="11290" name="Group 136"/>
          <p:cNvGrpSpPr>
            <a:grpSpLocks/>
          </p:cNvGrpSpPr>
          <p:nvPr/>
        </p:nvGrpSpPr>
        <p:grpSpPr bwMode="auto">
          <a:xfrm rot="5400000">
            <a:off x="6168231" y="5137944"/>
            <a:ext cx="468313" cy="73025"/>
            <a:chOff x="1191" y="1434"/>
            <a:chExt cx="613" cy="46"/>
          </a:xfrm>
        </p:grpSpPr>
        <p:sp>
          <p:nvSpPr>
            <p:cNvPr id="11324" name="Line 137"/>
            <p:cNvSpPr>
              <a:spLocks noChangeShapeType="1"/>
            </p:cNvSpPr>
            <p:nvPr/>
          </p:nvSpPr>
          <p:spPr bwMode="auto">
            <a:xfrm>
              <a:off x="1214" y="1480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1325" name="Line 138"/>
            <p:cNvSpPr>
              <a:spLocks noChangeShapeType="1"/>
            </p:cNvSpPr>
            <p:nvPr/>
          </p:nvSpPr>
          <p:spPr bwMode="auto">
            <a:xfrm rot="10800000">
              <a:off x="1191" y="1434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grpSp>
        <p:nvGrpSpPr>
          <p:cNvPr id="11291" name="Group 139"/>
          <p:cNvGrpSpPr>
            <a:grpSpLocks/>
          </p:cNvGrpSpPr>
          <p:nvPr/>
        </p:nvGrpSpPr>
        <p:grpSpPr bwMode="auto">
          <a:xfrm>
            <a:off x="3203575" y="2905125"/>
            <a:ext cx="677863" cy="73025"/>
            <a:chOff x="1191" y="1434"/>
            <a:chExt cx="613" cy="46"/>
          </a:xfrm>
        </p:grpSpPr>
        <p:sp>
          <p:nvSpPr>
            <p:cNvPr id="11322" name="Line 140"/>
            <p:cNvSpPr>
              <a:spLocks noChangeShapeType="1"/>
            </p:cNvSpPr>
            <p:nvPr/>
          </p:nvSpPr>
          <p:spPr bwMode="auto">
            <a:xfrm>
              <a:off x="1214" y="1480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1323" name="Line 141"/>
            <p:cNvSpPr>
              <a:spLocks noChangeShapeType="1"/>
            </p:cNvSpPr>
            <p:nvPr/>
          </p:nvSpPr>
          <p:spPr bwMode="auto">
            <a:xfrm rot="10800000">
              <a:off x="1191" y="1434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sp>
        <p:nvSpPr>
          <p:cNvPr id="11292" name="Line 142"/>
          <p:cNvSpPr>
            <a:spLocks noChangeShapeType="1"/>
          </p:cNvSpPr>
          <p:nvPr/>
        </p:nvSpPr>
        <p:spPr bwMode="auto">
          <a:xfrm>
            <a:off x="1223963" y="2982913"/>
            <a:ext cx="5159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1293" name="Line 143"/>
          <p:cNvSpPr>
            <a:spLocks noChangeShapeType="1"/>
          </p:cNvSpPr>
          <p:nvPr/>
        </p:nvSpPr>
        <p:spPr bwMode="auto">
          <a:xfrm rot="10800000">
            <a:off x="1203325" y="2909888"/>
            <a:ext cx="5159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grpSp>
        <p:nvGrpSpPr>
          <p:cNvPr id="11294" name="Group 144"/>
          <p:cNvGrpSpPr>
            <a:grpSpLocks/>
          </p:cNvGrpSpPr>
          <p:nvPr/>
        </p:nvGrpSpPr>
        <p:grpSpPr bwMode="auto">
          <a:xfrm>
            <a:off x="7134225" y="2909888"/>
            <a:ext cx="677863" cy="73025"/>
            <a:chOff x="1191" y="1434"/>
            <a:chExt cx="613" cy="46"/>
          </a:xfrm>
        </p:grpSpPr>
        <p:sp>
          <p:nvSpPr>
            <p:cNvPr id="11320" name="Line 145"/>
            <p:cNvSpPr>
              <a:spLocks noChangeShapeType="1"/>
            </p:cNvSpPr>
            <p:nvPr/>
          </p:nvSpPr>
          <p:spPr bwMode="auto">
            <a:xfrm>
              <a:off x="1214" y="1480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1321" name="Line 146"/>
            <p:cNvSpPr>
              <a:spLocks noChangeShapeType="1"/>
            </p:cNvSpPr>
            <p:nvPr/>
          </p:nvSpPr>
          <p:spPr bwMode="auto">
            <a:xfrm rot="10800000">
              <a:off x="1191" y="1434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sp>
        <p:nvSpPr>
          <p:cNvPr id="11295" name="Line 147"/>
          <p:cNvSpPr>
            <a:spLocks noChangeShapeType="1"/>
          </p:cNvSpPr>
          <p:nvPr/>
        </p:nvSpPr>
        <p:spPr bwMode="auto">
          <a:xfrm rot="-5400000">
            <a:off x="2179638" y="3654425"/>
            <a:ext cx="4508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1296" name="Line 148"/>
          <p:cNvSpPr>
            <a:spLocks noChangeShapeType="1"/>
          </p:cNvSpPr>
          <p:nvPr/>
        </p:nvSpPr>
        <p:spPr bwMode="auto">
          <a:xfrm rot="-5400000">
            <a:off x="2179638" y="5162550"/>
            <a:ext cx="4508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1297" name="Line 150"/>
          <p:cNvSpPr>
            <a:spLocks noChangeShapeType="1"/>
          </p:cNvSpPr>
          <p:nvPr/>
        </p:nvSpPr>
        <p:spPr bwMode="auto">
          <a:xfrm rot="10800000">
            <a:off x="1187450" y="3041650"/>
            <a:ext cx="531813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1298" name="Line 151"/>
          <p:cNvSpPr>
            <a:spLocks noChangeShapeType="1"/>
          </p:cNvSpPr>
          <p:nvPr/>
        </p:nvSpPr>
        <p:spPr bwMode="auto">
          <a:xfrm>
            <a:off x="3213100" y="3060700"/>
            <a:ext cx="6731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1299" name="Line 152"/>
          <p:cNvSpPr>
            <a:spLocks noChangeShapeType="1"/>
          </p:cNvSpPr>
          <p:nvPr/>
        </p:nvSpPr>
        <p:spPr bwMode="auto">
          <a:xfrm>
            <a:off x="7183438" y="3060700"/>
            <a:ext cx="6350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1300" name="Line 153"/>
          <p:cNvSpPr>
            <a:spLocks noChangeShapeType="1"/>
          </p:cNvSpPr>
          <p:nvPr/>
        </p:nvSpPr>
        <p:spPr bwMode="auto">
          <a:xfrm rot="5400000">
            <a:off x="6078538" y="3673475"/>
            <a:ext cx="4508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1301" name="Line 154"/>
          <p:cNvSpPr>
            <a:spLocks noChangeShapeType="1"/>
          </p:cNvSpPr>
          <p:nvPr/>
        </p:nvSpPr>
        <p:spPr bwMode="auto">
          <a:xfrm rot="5400000">
            <a:off x="6078538" y="5181600"/>
            <a:ext cx="4508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pic>
        <p:nvPicPr>
          <p:cNvPr id="11302" name="Picture 15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5813" y="1447800"/>
            <a:ext cx="915987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303" name="Picture 15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3913" y="1452563"/>
            <a:ext cx="911225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304" name="Rectangle 11"/>
          <p:cNvSpPr>
            <a:spLocks noChangeArrowheads="1"/>
          </p:cNvSpPr>
          <p:nvPr/>
        </p:nvSpPr>
        <p:spPr bwMode="auto">
          <a:xfrm>
            <a:off x="5880100" y="2800350"/>
            <a:ext cx="969963" cy="2873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RS-485</a:t>
            </a:r>
          </a:p>
        </p:txBody>
      </p:sp>
      <p:sp>
        <p:nvSpPr>
          <p:cNvPr id="11305" name="Rectangle 159"/>
          <p:cNvSpPr>
            <a:spLocks noChangeArrowheads="1"/>
          </p:cNvSpPr>
          <p:nvPr/>
        </p:nvSpPr>
        <p:spPr bwMode="auto">
          <a:xfrm>
            <a:off x="5770563" y="2727325"/>
            <a:ext cx="1277937" cy="515938"/>
          </a:xfrm>
          <a:prstGeom prst="rect">
            <a:avLst/>
          </a:prstGeom>
          <a:solidFill>
            <a:srgbClr val="CCFFFF"/>
          </a:solidFill>
          <a:ln w="22225" algn="ctr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538163" lvl="3" algn="r"/>
            <a:r>
              <a:rPr lang="en-US" altLang="ko-KR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CRA</a:t>
            </a:r>
          </a:p>
          <a:p>
            <a:pPr marL="538163" lvl="3" algn="r"/>
            <a:r>
              <a:rPr lang="en-US" altLang="ko-KR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(Comm. Rack A)</a:t>
            </a:r>
            <a:endParaRPr lang="ko-KR" altLang="en-US" sz="800" b="1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1306" name="Rectangle 160"/>
          <p:cNvSpPr>
            <a:spLocks noChangeArrowheads="1"/>
          </p:cNvSpPr>
          <p:nvPr/>
        </p:nvSpPr>
        <p:spPr bwMode="auto">
          <a:xfrm>
            <a:off x="1868488" y="2708275"/>
            <a:ext cx="1277937" cy="515938"/>
          </a:xfrm>
          <a:prstGeom prst="rect">
            <a:avLst/>
          </a:prstGeom>
          <a:solidFill>
            <a:srgbClr val="CCFFFF"/>
          </a:solidFill>
          <a:ln w="22225" algn="ctr">
            <a:solidFill>
              <a:srgbClr val="99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538163" lvl="3" algn="r"/>
            <a:r>
              <a:rPr lang="en-US" altLang="ko-KR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CRA</a:t>
            </a:r>
          </a:p>
          <a:p>
            <a:pPr marL="538163" lvl="3" algn="r"/>
            <a:r>
              <a:rPr lang="en-US" altLang="ko-KR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(Comm. Rack A)</a:t>
            </a:r>
            <a:endParaRPr lang="ko-KR" altLang="en-US" sz="800" b="1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grpSp>
        <p:nvGrpSpPr>
          <p:cNvPr id="11307" name="Group 161"/>
          <p:cNvGrpSpPr>
            <a:grpSpLocks/>
          </p:cNvGrpSpPr>
          <p:nvPr/>
        </p:nvGrpSpPr>
        <p:grpSpPr bwMode="auto">
          <a:xfrm>
            <a:off x="4991100" y="2903538"/>
            <a:ext cx="677863" cy="73025"/>
            <a:chOff x="1191" y="1434"/>
            <a:chExt cx="613" cy="46"/>
          </a:xfrm>
        </p:grpSpPr>
        <p:sp>
          <p:nvSpPr>
            <p:cNvPr id="11318" name="Line 162"/>
            <p:cNvSpPr>
              <a:spLocks noChangeShapeType="1"/>
            </p:cNvSpPr>
            <p:nvPr/>
          </p:nvSpPr>
          <p:spPr bwMode="auto">
            <a:xfrm>
              <a:off x="1214" y="1480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1319" name="Line 163"/>
            <p:cNvSpPr>
              <a:spLocks noChangeShapeType="1"/>
            </p:cNvSpPr>
            <p:nvPr/>
          </p:nvSpPr>
          <p:spPr bwMode="auto">
            <a:xfrm rot="10800000">
              <a:off x="1191" y="1434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sp>
        <p:nvSpPr>
          <p:cNvPr id="11308" name="Line 164"/>
          <p:cNvSpPr>
            <a:spLocks noChangeShapeType="1"/>
          </p:cNvSpPr>
          <p:nvPr/>
        </p:nvSpPr>
        <p:spPr bwMode="auto">
          <a:xfrm>
            <a:off x="5000625" y="3059113"/>
            <a:ext cx="6731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1309" name="Rectangle 11"/>
          <p:cNvSpPr>
            <a:spLocks noChangeArrowheads="1"/>
          </p:cNvSpPr>
          <p:nvPr/>
        </p:nvSpPr>
        <p:spPr bwMode="auto">
          <a:xfrm>
            <a:off x="3949700" y="2800350"/>
            <a:ext cx="969963" cy="28733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RS-485</a:t>
            </a:r>
          </a:p>
        </p:txBody>
      </p:sp>
      <p:sp>
        <p:nvSpPr>
          <p:cNvPr id="11310" name="AutoShape 166"/>
          <p:cNvSpPr>
            <a:spLocks noChangeArrowheads="1"/>
          </p:cNvSpPr>
          <p:nvPr/>
        </p:nvSpPr>
        <p:spPr bwMode="auto">
          <a:xfrm rot="10800000">
            <a:off x="3181350" y="5797550"/>
            <a:ext cx="192088" cy="142875"/>
          </a:xfrm>
          <a:prstGeom prst="notchedRightArrow">
            <a:avLst>
              <a:gd name="adj1" fmla="val 50000"/>
              <a:gd name="adj2" fmla="val 33611"/>
            </a:avLst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1311" name="Rectangle 11"/>
          <p:cNvSpPr>
            <a:spLocks noChangeArrowheads="1"/>
          </p:cNvSpPr>
          <p:nvPr/>
        </p:nvSpPr>
        <p:spPr bwMode="auto">
          <a:xfrm>
            <a:off x="5795963" y="2263775"/>
            <a:ext cx="1143000" cy="28733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RS     485</a:t>
            </a:r>
          </a:p>
        </p:txBody>
      </p:sp>
      <p:sp>
        <p:nvSpPr>
          <p:cNvPr id="11312" name="Rectangle 11"/>
          <p:cNvSpPr>
            <a:spLocks noChangeArrowheads="1"/>
          </p:cNvSpPr>
          <p:nvPr/>
        </p:nvSpPr>
        <p:spPr bwMode="auto">
          <a:xfrm>
            <a:off x="1955800" y="2298700"/>
            <a:ext cx="1143000" cy="28733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RS     485</a:t>
            </a:r>
          </a:p>
        </p:txBody>
      </p:sp>
      <p:sp>
        <p:nvSpPr>
          <p:cNvPr id="11313" name="Line 169"/>
          <p:cNvSpPr>
            <a:spLocks noChangeShapeType="1"/>
          </p:cNvSpPr>
          <p:nvPr/>
        </p:nvSpPr>
        <p:spPr bwMode="auto">
          <a:xfrm rot="5400000">
            <a:off x="2243138" y="2436813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1314" name="Line 170"/>
          <p:cNvSpPr>
            <a:spLocks noChangeShapeType="1"/>
          </p:cNvSpPr>
          <p:nvPr/>
        </p:nvSpPr>
        <p:spPr bwMode="auto">
          <a:xfrm rot="-5400000">
            <a:off x="2316163" y="2419350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grpSp>
        <p:nvGrpSpPr>
          <p:cNvPr id="11315" name="Group 171"/>
          <p:cNvGrpSpPr>
            <a:grpSpLocks/>
          </p:cNvGrpSpPr>
          <p:nvPr/>
        </p:nvGrpSpPr>
        <p:grpSpPr bwMode="auto">
          <a:xfrm rot="5400000">
            <a:off x="6122194" y="2391569"/>
            <a:ext cx="468313" cy="73025"/>
            <a:chOff x="1191" y="1434"/>
            <a:chExt cx="613" cy="46"/>
          </a:xfrm>
        </p:grpSpPr>
        <p:sp>
          <p:nvSpPr>
            <p:cNvPr id="11316" name="Line 172"/>
            <p:cNvSpPr>
              <a:spLocks noChangeShapeType="1"/>
            </p:cNvSpPr>
            <p:nvPr/>
          </p:nvSpPr>
          <p:spPr bwMode="auto">
            <a:xfrm>
              <a:off x="1214" y="1480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1317" name="Line 173"/>
            <p:cNvSpPr>
              <a:spLocks noChangeShapeType="1"/>
            </p:cNvSpPr>
            <p:nvPr/>
          </p:nvSpPr>
          <p:spPr bwMode="auto">
            <a:xfrm rot="10800000">
              <a:off x="1191" y="1434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sp>
        <p:nvSpPr>
          <p:cNvPr id="88" name="Rectangle 9"/>
          <p:cNvSpPr>
            <a:spLocks noChangeArrowheads="1"/>
          </p:cNvSpPr>
          <p:nvPr/>
        </p:nvSpPr>
        <p:spPr bwMode="auto">
          <a:xfrm>
            <a:off x="193675" y="256352"/>
            <a:ext cx="82518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457200" indent="-457200" algn="ctr" eaLnBrk="1" latinLnBrk="1" hangingPunct="1"/>
            <a:r>
              <a:rPr lang="en-US" altLang="ko-KR" sz="20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Denver Eagle EMU Project</a:t>
            </a:r>
          </a:p>
        </p:txBody>
      </p:sp>
    </p:spTree>
    <p:extLst>
      <p:ext uri="{BB962C8B-B14F-4D97-AF65-F5344CB8AC3E}">
        <p14:creationId xmlns:p14="http://schemas.microsoft.com/office/powerpoint/2010/main" val="12908226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11"/>
          <p:cNvSpPr>
            <a:spLocks noChangeArrowheads="1"/>
          </p:cNvSpPr>
          <p:nvPr/>
        </p:nvSpPr>
        <p:spPr bwMode="auto">
          <a:xfrm>
            <a:off x="122238" y="823913"/>
            <a:ext cx="6767512" cy="37306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376238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Phase Shift _ 8-cars</a:t>
            </a:r>
          </a:p>
          <a:p>
            <a:pPr marL="376238" lvl="3" indent="-376238" eaLnBrk="1" latinLnBrk="1" hangingPunct="1">
              <a:buFont typeface="Wingdings" pitchFamily="2" charset="2"/>
              <a:buNone/>
            </a:pPr>
            <a:r>
              <a:rPr lang="en-US" altLang="ko-KR" sz="80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- </a:t>
            </a: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CRA(PA)</a:t>
            </a:r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</a:t>
            </a:r>
            <a:r>
              <a:rPr lang="en-US" altLang="ko-KR" sz="80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– MDS – Converter/Inverter, </a:t>
            </a: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(7)</a:t>
            </a:r>
            <a:r>
              <a:rPr lang="en-US" altLang="ko-KR" sz="80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when </a:t>
            </a: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START UP</a:t>
            </a:r>
          </a:p>
        </p:txBody>
      </p:sp>
      <p:grpSp>
        <p:nvGrpSpPr>
          <p:cNvPr id="12293" name="Group 79"/>
          <p:cNvGrpSpPr>
            <a:grpSpLocks/>
          </p:cNvGrpSpPr>
          <p:nvPr/>
        </p:nvGrpSpPr>
        <p:grpSpPr bwMode="auto">
          <a:xfrm>
            <a:off x="7400925" y="5840413"/>
            <a:ext cx="2397125" cy="498475"/>
            <a:chOff x="2005" y="3706"/>
            <a:chExt cx="1510" cy="314"/>
          </a:xfrm>
        </p:grpSpPr>
        <p:sp>
          <p:nvSpPr>
            <p:cNvPr id="12357" name="Rectangle 11"/>
            <p:cNvSpPr>
              <a:spLocks noChangeArrowheads="1"/>
            </p:cNvSpPr>
            <p:nvPr/>
          </p:nvSpPr>
          <p:spPr bwMode="auto">
            <a:xfrm>
              <a:off x="2005" y="3706"/>
              <a:ext cx="938" cy="178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376238" lvl="3" indent="-376238" eaLnBrk="1" latinLnBrk="1" hangingPunct="1">
                <a:buFont typeface="Wingdings" pitchFamily="2" charset="2"/>
                <a:buNone/>
              </a:pPr>
              <a:r>
                <a:rPr lang="en-US" altLang="ko-KR" sz="800" b="1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Phase Shift </a:t>
              </a:r>
              <a:r>
                <a:rPr lang="en-US" altLang="ko-KR" sz="800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(degree)</a:t>
              </a:r>
            </a:p>
          </p:txBody>
        </p:sp>
        <p:sp>
          <p:nvSpPr>
            <p:cNvPr id="12358" name="Rectangle 81"/>
            <p:cNvSpPr>
              <a:spLocks noChangeArrowheads="1"/>
            </p:cNvSpPr>
            <p:nvPr/>
          </p:nvSpPr>
          <p:spPr bwMode="auto">
            <a:xfrm>
              <a:off x="3326" y="3857"/>
              <a:ext cx="189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135</a:t>
              </a:r>
            </a:p>
          </p:txBody>
        </p:sp>
        <p:sp>
          <p:nvSpPr>
            <p:cNvPr id="12359" name="Rectangle 82"/>
            <p:cNvSpPr>
              <a:spLocks noChangeArrowheads="1"/>
            </p:cNvSpPr>
            <p:nvPr/>
          </p:nvSpPr>
          <p:spPr bwMode="auto">
            <a:xfrm>
              <a:off x="3138" y="3857"/>
              <a:ext cx="188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45</a:t>
              </a:r>
            </a:p>
          </p:txBody>
        </p:sp>
        <p:sp>
          <p:nvSpPr>
            <p:cNvPr id="12360" name="Rectangle 83"/>
            <p:cNvSpPr>
              <a:spLocks noChangeArrowheads="1"/>
            </p:cNvSpPr>
            <p:nvPr/>
          </p:nvSpPr>
          <p:spPr bwMode="auto">
            <a:xfrm>
              <a:off x="2951" y="3857"/>
              <a:ext cx="187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90</a:t>
              </a:r>
            </a:p>
          </p:txBody>
        </p:sp>
        <p:sp>
          <p:nvSpPr>
            <p:cNvPr id="12361" name="Rectangle 84"/>
            <p:cNvSpPr>
              <a:spLocks noChangeArrowheads="1"/>
            </p:cNvSpPr>
            <p:nvPr/>
          </p:nvSpPr>
          <p:spPr bwMode="auto">
            <a:xfrm>
              <a:off x="2763" y="3857"/>
              <a:ext cx="188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0</a:t>
              </a:r>
            </a:p>
          </p:txBody>
        </p:sp>
        <p:sp>
          <p:nvSpPr>
            <p:cNvPr id="12362" name="Rectangle 85"/>
            <p:cNvSpPr>
              <a:spLocks noChangeArrowheads="1"/>
            </p:cNvSpPr>
            <p:nvPr/>
          </p:nvSpPr>
          <p:spPr bwMode="auto">
            <a:xfrm>
              <a:off x="2574" y="3857"/>
              <a:ext cx="189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135</a:t>
              </a:r>
            </a:p>
          </p:txBody>
        </p:sp>
        <p:sp>
          <p:nvSpPr>
            <p:cNvPr id="12363" name="Rectangle 86"/>
            <p:cNvSpPr>
              <a:spLocks noChangeArrowheads="1"/>
            </p:cNvSpPr>
            <p:nvPr/>
          </p:nvSpPr>
          <p:spPr bwMode="auto">
            <a:xfrm>
              <a:off x="2387" y="3857"/>
              <a:ext cx="187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45</a:t>
              </a:r>
            </a:p>
          </p:txBody>
        </p:sp>
        <p:sp>
          <p:nvSpPr>
            <p:cNvPr id="12364" name="Rectangle 87"/>
            <p:cNvSpPr>
              <a:spLocks noChangeArrowheads="1"/>
            </p:cNvSpPr>
            <p:nvPr/>
          </p:nvSpPr>
          <p:spPr bwMode="auto">
            <a:xfrm>
              <a:off x="2199" y="3857"/>
              <a:ext cx="188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90</a:t>
              </a:r>
            </a:p>
          </p:txBody>
        </p:sp>
        <p:sp>
          <p:nvSpPr>
            <p:cNvPr id="12365" name="Rectangle 88"/>
            <p:cNvSpPr>
              <a:spLocks noChangeArrowheads="1"/>
            </p:cNvSpPr>
            <p:nvPr/>
          </p:nvSpPr>
          <p:spPr bwMode="auto">
            <a:xfrm>
              <a:off x="2010" y="3857"/>
              <a:ext cx="189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0</a:t>
              </a:r>
            </a:p>
          </p:txBody>
        </p:sp>
        <p:sp>
          <p:nvSpPr>
            <p:cNvPr id="12366" name="Line 89"/>
            <p:cNvSpPr>
              <a:spLocks noChangeShapeType="1"/>
            </p:cNvSpPr>
            <p:nvPr/>
          </p:nvSpPr>
          <p:spPr bwMode="auto">
            <a:xfrm>
              <a:off x="2010" y="3857"/>
              <a:ext cx="1505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2367" name="Line 90"/>
            <p:cNvSpPr>
              <a:spLocks noChangeShapeType="1"/>
            </p:cNvSpPr>
            <p:nvPr/>
          </p:nvSpPr>
          <p:spPr bwMode="auto">
            <a:xfrm>
              <a:off x="2010" y="4020"/>
              <a:ext cx="1505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2368" name="Line 91"/>
            <p:cNvSpPr>
              <a:spLocks noChangeShapeType="1"/>
            </p:cNvSpPr>
            <p:nvPr/>
          </p:nvSpPr>
          <p:spPr bwMode="auto">
            <a:xfrm>
              <a:off x="2010" y="3857"/>
              <a:ext cx="0" cy="163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2369" name="Line 92"/>
            <p:cNvSpPr>
              <a:spLocks noChangeShapeType="1"/>
            </p:cNvSpPr>
            <p:nvPr/>
          </p:nvSpPr>
          <p:spPr bwMode="auto">
            <a:xfrm>
              <a:off x="2199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2370" name="Line 93"/>
            <p:cNvSpPr>
              <a:spLocks noChangeShapeType="1"/>
            </p:cNvSpPr>
            <p:nvPr/>
          </p:nvSpPr>
          <p:spPr bwMode="auto">
            <a:xfrm>
              <a:off x="2387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2371" name="Line 94"/>
            <p:cNvSpPr>
              <a:spLocks noChangeShapeType="1"/>
            </p:cNvSpPr>
            <p:nvPr/>
          </p:nvSpPr>
          <p:spPr bwMode="auto">
            <a:xfrm>
              <a:off x="2574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2372" name="Line 95"/>
            <p:cNvSpPr>
              <a:spLocks noChangeShapeType="1"/>
            </p:cNvSpPr>
            <p:nvPr/>
          </p:nvSpPr>
          <p:spPr bwMode="auto">
            <a:xfrm>
              <a:off x="2763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2373" name="Line 96"/>
            <p:cNvSpPr>
              <a:spLocks noChangeShapeType="1"/>
            </p:cNvSpPr>
            <p:nvPr/>
          </p:nvSpPr>
          <p:spPr bwMode="auto">
            <a:xfrm>
              <a:off x="2951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2374" name="Line 97"/>
            <p:cNvSpPr>
              <a:spLocks noChangeShapeType="1"/>
            </p:cNvSpPr>
            <p:nvPr/>
          </p:nvSpPr>
          <p:spPr bwMode="auto">
            <a:xfrm>
              <a:off x="3138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2375" name="Line 98"/>
            <p:cNvSpPr>
              <a:spLocks noChangeShapeType="1"/>
            </p:cNvSpPr>
            <p:nvPr/>
          </p:nvSpPr>
          <p:spPr bwMode="auto">
            <a:xfrm>
              <a:off x="3326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2376" name="Line 99"/>
            <p:cNvSpPr>
              <a:spLocks noChangeShapeType="1"/>
            </p:cNvSpPr>
            <p:nvPr/>
          </p:nvSpPr>
          <p:spPr bwMode="auto">
            <a:xfrm>
              <a:off x="3515" y="3857"/>
              <a:ext cx="0" cy="163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sp>
        <p:nvSpPr>
          <p:cNvPr id="12294" name="Rectangle 11"/>
          <p:cNvSpPr>
            <a:spLocks noChangeArrowheads="1"/>
          </p:cNvSpPr>
          <p:nvPr/>
        </p:nvSpPr>
        <p:spPr bwMode="auto">
          <a:xfrm>
            <a:off x="300038" y="2852738"/>
            <a:ext cx="908050" cy="287337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71500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RS-485</a:t>
            </a:r>
          </a:p>
        </p:txBody>
      </p:sp>
      <p:sp>
        <p:nvSpPr>
          <p:cNvPr id="12295" name="Rectangle 11"/>
          <p:cNvSpPr>
            <a:spLocks noChangeArrowheads="1"/>
          </p:cNvSpPr>
          <p:nvPr/>
        </p:nvSpPr>
        <p:spPr bwMode="auto">
          <a:xfrm>
            <a:off x="5287963" y="5113338"/>
            <a:ext cx="18510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algn="ctr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Lonworks    Network</a:t>
            </a:r>
          </a:p>
        </p:txBody>
      </p:sp>
      <p:sp>
        <p:nvSpPr>
          <p:cNvPr id="12296" name="Rectangle 11"/>
          <p:cNvSpPr>
            <a:spLocks noChangeArrowheads="1"/>
          </p:cNvSpPr>
          <p:nvPr/>
        </p:nvSpPr>
        <p:spPr bwMode="auto">
          <a:xfrm>
            <a:off x="1489075" y="5084763"/>
            <a:ext cx="1766888" cy="2873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Lonworks    Network</a:t>
            </a:r>
          </a:p>
        </p:txBody>
      </p:sp>
      <p:sp>
        <p:nvSpPr>
          <p:cNvPr id="12297" name="Rectangle 11"/>
          <p:cNvSpPr>
            <a:spLocks noChangeArrowheads="1"/>
          </p:cNvSpPr>
          <p:nvPr/>
        </p:nvSpPr>
        <p:spPr bwMode="auto">
          <a:xfrm>
            <a:off x="1450975" y="3609975"/>
            <a:ext cx="1766888" cy="2873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Lonworks     Network</a:t>
            </a:r>
          </a:p>
        </p:txBody>
      </p:sp>
      <p:sp>
        <p:nvSpPr>
          <p:cNvPr id="12298" name="Rectangle 11"/>
          <p:cNvSpPr>
            <a:spLocks noChangeArrowheads="1"/>
          </p:cNvSpPr>
          <p:nvPr/>
        </p:nvSpPr>
        <p:spPr bwMode="auto">
          <a:xfrm>
            <a:off x="5321300" y="3590925"/>
            <a:ext cx="1766888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Lonworks     Network</a:t>
            </a:r>
          </a:p>
        </p:txBody>
      </p:sp>
      <p:sp>
        <p:nvSpPr>
          <p:cNvPr id="12299" name="Rectangle 11"/>
          <p:cNvSpPr>
            <a:spLocks noChangeArrowheads="1"/>
          </p:cNvSpPr>
          <p:nvPr/>
        </p:nvSpPr>
        <p:spPr bwMode="auto">
          <a:xfrm>
            <a:off x="7740650" y="2862263"/>
            <a:ext cx="969963" cy="287337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RS-485</a:t>
            </a:r>
          </a:p>
        </p:txBody>
      </p:sp>
      <p:sp>
        <p:nvSpPr>
          <p:cNvPr id="12300" name="Rectangle 11"/>
          <p:cNvSpPr>
            <a:spLocks noChangeArrowheads="1"/>
          </p:cNvSpPr>
          <p:nvPr/>
        </p:nvSpPr>
        <p:spPr bwMode="auto">
          <a:xfrm>
            <a:off x="1276350" y="1268413"/>
            <a:ext cx="2524125" cy="2873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CCP </a:t>
            </a:r>
            <a:r>
              <a:rPr lang="en-US" altLang="ko-KR" sz="800" b="1">
                <a:solidFill>
                  <a:schemeClr val="bg2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(Comm. Control Panel)</a:t>
            </a:r>
          </a:p>
        </p:txBody>
      </p:sp>
      <p:sp>
        <p:nvSpPr>
          <p:cNvPr id="12301" name="Rectangle 11"/>
          <p:cNvSpPr>
            <a:spLocks noChangeArrowheads="1"/>
          </p:cNvSpPr>
          <p:nvPr/>
        </p:nvSpPr>
        <p:spPr bwMode="auto">
          <a:xfrm>
            <a:off x="2006600" y="3986213"/>
            <a:ext cx="936625" cy="2873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MDS (CDT)</a:t>
            </a:r>
          </a:p>
        </p:txBody>
      </p:sp>
      <p:pic>
        <p:nvPicPr>
          <p:cNvPr id="12302" name="Picture 1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2775" y="4217988"/>
            <a:ext cx="1330325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303" name="Rectangle 11"/>
          <p:cNvSpPr>
            <a:spLocks noChangeArrowheads="1"/>
          </p:cNvSpPr>
          <p:nvPr/>
        </p:nvSpPr>
        <p:spPr bwMode="auto">
          <a:xfrm>
            <a:off x="1863725" y="5481638"/>
            <a:ext cx="1368425" cy="2873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Converter/Inverter</a:t>
            </a:r>
          </a:p>
        </p:txBody>
      </p:sp>
      <p:pic>
        <p:nvPicPr>
          <p:cNvPr id="12304" name="Picture 1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850" y="5697538"/>
            <a:ext cx="1584325" cy="755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2305" name="Line 117"/>
          <p:cNvSpPr>
            <a:spLocks noChangeShapeType="1"/>
          </p:cNvSpPr>
          <p:nvPr/>
        </p:nvSpPr>
        <p:spPr bwMode="auto">
          <a:xfrm rot="5400000">
            <a:off x="2238375" y="3743325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2306" name="Line 118"/>
          <p:cNvSpPr>
            <a:spLocks noChangeShapeType="1"/>
          </p:cNvSpPr>
          <p:nvPr/>
        </p:nvSpPr>
        <p:spPr bwMode="auto">
          <a:xfrm rot="-5400000">
            <a:off x="2311400" y="3725863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2307" name="Line 119"/>
          <p:cNvSpPr>
            <a:spLocks noChangeShapeType="1"/>
          </p:cNvSpPr>
          <p:nvPr/>
        </p:nvSpPr>
        <p:spPr bwMode="auto">
          <a:xfrm rot="5400000">
            <a:off x="2243138" y="5254625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2308" name="Line 120"/>
          <p:cNvSpPr>
            <a:spLocks noChangeShapeType="1"/>
          </p:cNvSpPr>
          <p:nvPr/>
        </p:nvSpPr>
        <p:spPr bwMode="auto">
          <a:xfrm rot="-5400000">
            <a:off x="2316163" y="5237163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grpSp>
        <p:nvGrpSpPr>
          <p:cNvPr id="12309" name="Group 121"/>
          <p:cNvGrpSpPr>
            <a:grpSpLocks/>
          </p:cNvGrpSpPr>
          <p:nvPr/>
        </p:nvGrpSpPr>
        <p:grpSpPr bwMode="auto">
          <a:xfrm>
            <a:off x="5753100" y="4003675"/>
            <a:ext cx="1330325" cy="973138"/>
            <a:chOff x="1738" y="2592"/>
            <a:chExt cx="838" cy="613"/>
          </a:xfrm>
        </p:grpSpPr>
        <p:sp>
          <p:nvSpPr>
            <p:cNvPr id="12355" name="Rectangle 11"/>
            <p:cNvSpPr>
              <a:spLocks noChangeArrowheads="1"/>
            </p:cNvSpPr>
            <p:nvPr/>
          </p:nvSpPr>
          <p:spPr bwMode="auto">
            <a:xfrm>
              <a:off x="1804" y="2592"/>
              <a:ext cx="590" cy="18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555625" lvl="3" indent="-376238" eaLnBrk="1" latinLnBrk="1" hangingPunct="1">
                <a:buFont typeface="Wingdings" pitchFamily="2" charset="2"/>
                <a:buNone/>
              </a:pPr>
              <a:r>
                <a:rPr lang="en-US" altLang="ko-KR" sz="800" b="1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MDS (CDT)</a:t>
              </a:r>
            </a:p>
          </p:txBody>
        </p:sp>
        <p:pic>
          <p:nvPicPr>
            <p:cNvPr id="12356" name="Picture 12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8" y="2727"/>
              <a:ext cx="838" cy="4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2310" name="Group 124"/>
          <p:cNvGrpSpPr>
            <a:grpSpLocks/>
          </p:cNvGrpSpPr>
          <p:nvPr/>
        </p:nvGrpSpPr>
        <p:grpSpPr bwMode="auto">
          <a:xfrm>
            <a:off x="5572125" y="5481638"/>
            <a:ext cx="1584325" cy="971550"/>
            <a:chOff x="1669" y="3408"/>
            <a:chExt cx="998" cy="612"/>
          </a:xfrm>
        </p:grpSpPr>
        <p:sp>
          <p:nvSpPr>
            <p:cNvPr id="12353" name="Rectangle 11"/>
            <p:cNvSpPr>
              <a:spLocks noChangeArrowheads="1"/>
            </p:cNvSpPr>
            <p:nvPr/>
          </p:nvSpPr>
          <p:spPr bwMode="auto">
            <a:xfrm>
              <a:off x="1759" y="3408"/>
              <a:ext cx="862" cy="18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555625" lvl="3" indent="-376238" eaLnBrk="1" latinLnBrk="1" hangingPunct="1">
                <a:buFont typeface="Wingdings" pitchFamily="2" charset="2"/>
                <a:buNone/>
              </a:pPr>
              <a:r>
                <a:rPr lang="en-US" altLang="ko-KR" sz="800" b="1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Converter/Inverter</a:t>
              </a:r>
            </a:p>
          </p:txBody>
        </p:sp>
        <p:pic>
          <p:nvPicPr>
            <p:cNvPr id="12354" name="Picture 12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9" y="3544"/>
              <a:ext cx="998" cy="4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80000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grpSp>
        <p:nvGrpSpPr>
          <p:cNvPr id="12311" name="Group 130"/>
          <p:cNvGrpSpPr>
            <a:grpSpLocks/>
          </p:cNvGrpSpPr>
          <p:nvPr/>
        </p:nvGrpSpPr>
        <p:grpSpPr bwMode="auto">
          <a:xfrm rot="5400000">
            <a:off x="6117432" y="3698081"/>
            <a:ext cx="468312" cy="73025"/>
            <a:chOff x="1191" y="1434"/>
            <a:chExt cx="613" cy="46"/>
          </a:xfrm>
        </p:grpSpPr>
        <p:sp>
          <p:nvSpPr>
            <p:cNvPr id="12351" name="Line 131"/>
            <p:cNvSpPr>
              <a:spLocks noChangeShapeType="1"/>
            </p:cNvSpPr>
            <p:nvPr/>
          </p:nvSpPr>
          <p:spPr bwMode="auto">
            <a:xfrm>
              <a:off x="1214" y="1480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2352" name="Line 132"/>
            <p:cNvSpPr>
              <a:spLocks noChangeShapeType="1"/>
            </p:cNvSpPr>
            <p:nvPr/>
          </p:nvSpPr>
          <p:spPr bwMode="auto">
            <a:xfrm rot="10800000">
              <a:off x="1191" y="1434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grpSp>
        <p:nvGrpSpPr>
          <p:cNvPr id="12312" name="Group 133"/>
          <p:cNvGrpSpPr>
            <a:grpSpLocks/>
          </p:cNvGrpSpPr>
          <p:nvPr/>
        </p:nvGrpSpPr>
        <p:grpSpPr bwMode="auto">
          <a:xfrm rot="5400000">
            <a:off x="6122195" y="5209381"/>
            <a:ext cx="468312" cy="73025"/>
            <a:chOff x="1191" y="1434"/>
            <a:chExt cx="613" cy="46"/>
          </a:xfrm>
        </p:grpSpPr>
        <p:sp>
          <p:nvSpPr>
            <p:cNvPr id="12349" name="Line 134"/>
            <p:cNvSpPr>
              <a:spLocks noChangeShapeType="1"/>
            </p:cNvSpPr>
            <p:nvPr/>
          </p:nvSpPr>
          <p:spPr bwMode="auto">
            <a:xfrm>
              <a:off x="1214" y="1480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2350" name="Line 135"/>
            <p:cNvSpPr>
              <a:spLocks noChangeShapeType="1"/>
            </p:cNvSpPr>
            <p:nvPr/>
          </p:nvSpPr>
          <p:spPr bwMode="auto">
            <a:xfrm rot="10800000">
              <a:off x="1191" y="1434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grpSp>
        <p:nvGrpSpPr>
          <p:cNvPr id="12313" name="Group 136"/>
          <p:cNvGrpSpPr>
            <a:grpSpLocks/>
          </p:cNvGrpSpPr>
          <p:nvPr/>
        </p:nvGrpSpPr>
        <p:grpSpPr bwMode="auto">
          <a:xfrm>
            <a:off x="3203575" y="2976563"/>
            <a:ext cx="677863" cy="73025"/>
            <a:chOff x="1191" y="1434"/>
            <a:chExt cx="613" cy="46"/>
          </a:xfrm>
        </p:grpSpPr>
        <p:sp>
          <p:nvSpPr>
            <p:cNvPr id="12347" name="Line 137"/>
            <p:cNvSpPr>
              <a:spLocks noChangeShapeType="1"/>
            </p:cNvSpPr>
            <p:nvPr/>
          </p:nvSpPr>
          <p:spPr bwMode="auto">
            <a:xfrm>
              <a:off x="1214" y="1480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2348" name="Line 138"/>
            <p:cNvSpPr>
              <a:spLocks noChangeShapeType="1"/>
            </p:cNvSpPr>
            <p:nvPr/>
          </p:nvSpPr>
          <p:spPr bwMode="auto">
            <a:xfrm rot="10800000">
              <a:off x="1191" y="1434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sp>
        <p:nvSpPr>
          <p:cNvPr id="12314" name="Line 139"/>
          <p:cNvSpPr>
            <a:spLocks noChangeShapeType="1"/>
          </p:cNvSpPr>
          <p:nvPr/>
        </p:nvSpPr>
        <p:spPr bwMode="auto">
          <a:xfrm>
            <a:off x="1223963" y="3054350"/>
            <a:ext cx="5159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2315" name="Line 140"/>
          <p:cNvSpPr>
            <a:spLocks noChangeShapeType="1"/>
          </p:cNvSpPr>
          <p:nvPr/>
        </p:nvSpPr>
        <p:spPr bwMode="auto">
          <a:xfrm rot="10800000">
            <a:off x="1203325" y="2981325"/>
            <a:ext cx="5159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grpSp>
        <p:nvGrpSpPr>
          <p:cNvPr id="12316" name="Group 141"/>
          <p:cNvGrpSpPr>
            <a:grpSpLocks/>
          </p:cNvGrpSpPr>
          <p:nvPr/>
        </p:nvGrpSpPr>
        <p:grpSpPr bwMode="auto">
          <a:xfrm>
            <a:off x="7088188" y="2981325"/>
            <a:ext cx="677862" cy="73025"/>
            <a:chOff x="1191" y="1434"/>
            <a:chExt cx="613" cy="46"/>
          </a:xfrm>
        </p:grpSpPr>
        <p:sp>
          <p:nvSpPr>
            <p:cNvPr id="12345" name="Line 142"/>
            <p:cNvSpPr>
              <a:spLocks noChangeShapeType="1"/>
            </p:cNvSpPr>
            <p:nvPr/>
          </p:nvSpPr>
          <p:spPr bwMode="auto">
            <a:xfrm>
              <a:off x="1214" y="1480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2346" name="Line 143"/>
            <p:cNvSpPr>
              <a:spLocks noChangeShapeType="1"/>
            </p:cNvSpPr>
            <p:nvPr/>
          </p:nvSpPr>
          <p:spPr bwMode="auto">
            <a:xfrm rot="10800000">
              <a:off x="1191" y="1434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sp>
        <p:nvSpPr>
          <p:cNvPr id="12317" name="Line 144"/>
          <p:cNvSpPr>
            <a:spLocks noChangeShapeType="1"/>
          </p:cNvSpPr>
          <p:nvPr/>
        </p:nvSpPr>
        <p:spPr bwMode="auto">
          <a:xfrm rot="5400000">
            <a:off x="2170113" y="3744913"/>
            <a:ext cx="4508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2318" name="Line 145"/>
          <p:cNvSpPr>
            <a:spLocks noChangeShapeType="1"/>
          </p:cNvSpPr>
          <p:nvPr/>
        </p:nvSpPr>
        <p:spPr bwMode="auto">
          <a:xfrm rot="5400000">
            <a:off x="2170113" y="5253038"/>
            <a:ext cx="4508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2319" name="Line 147"/>
          <p:cNvSpPr>
            <a:spLocks noChangeShapeType="1"/>
          </p:cNvSpPr>
          <p:nvPr/>
        </p:nvSpPr>
        <p:spPr bwMode="auto">
          <a:xfrm rot="10800000">
            <a:off x="1187450" y="3113088"/>
            <a:ext cx="531813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2320" name="Line 148"/>
          <p:cNvSpPr>
            <a:spLocks noChangeShapeType="1"/>
          </p:cNvSpPr>
          <p:nvPr/>
        </p:nvSpPr>
        <p:spPr bwMode="auto">
          <a:xfrm>
            <a:off x="3213100" y="3132138"/>
            <a:ext cx="6731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2321" name="Line 149"/>
          <p:cNvSpPr>
            <a:spLocks noChangeShapeType="1"/>
          </p:cNvSpPr>
          <p:nvPr/>
        </p:nvSpPr>
        <p:spPr bwMode="auto">
          <a:xfrm>
            <a:off x="7137400" y="3132138"/>
            <a:ext cx="6350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2322" name="Line 150"/>
          <p:cNvSpPr>
            <a:spLocks noChangeShapeType="1"/>
          </p:cNvSpPr>
          <p:nvPr/>
        </p:nvSpPr>
        <p:spPr bwMode="auto">
          <a:xfrm rot="5400000">
            <a:off x="6032500" y="3744913"/>
            <a:ext cx="4508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2323" name="Line 151"/>
          <p:cNvSpPr>
            <a:spLocks noChangeShapeType="1"/>
          </p:cNvSpPr>
          <p:nvPr/>
        </p:nvSpPr>
        <p:spPr bwMode="auto">
          <a:xfrm rot="5400000">
            <a:off x="6032500" y="5253038"/>
            <a:ext cx="4508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pic>
        <p:nvPicPr>
          <p:cNvPr id="12324" name="Picture 15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5813" y="1519238"/>
            <a:ext cx="915987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325" name="Rectangle 11"/>
          <p:cNvSpPr>
            <a:spLocks noChangeArrowheads="1"/>
          </p:cNvSpPr>
          <p:nvPr/>
        </p:nvSpPr>
        <p:spPr bwMode="auto">
          <a:xfrm>
            <a:off x="5043488" y="1277938"/>
            <a:ext cx="2524125" cy="2873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CCP </a:t>
            </a:r>
            <a:r>
              <a:rPr lang="en-US" altLang="ko-KR" sz="800" b="1">
                <a:solidFill>
                  <a:schemeClr val="bg2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(Comm. Control Panel)</a:t>
            </a:r>
          </a:p>
        </p:txBody>
      </p:sp>
      <p:pic>
        <p:nvPicPr>
          <p:cNvPr id="12326" name="Picture 15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75" y="1524000"/>
            <a:ext cx="911225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327" name="Rectangle 11"/>
          <p:cNvSpPr>
            <a:spLocks noChangeArrowheads="1"/>
          </p:cNvSpPr>
          <p:nvPr/>
        </p:nvSpPr>
        <p:spPr bwMode="auto">
          <a:xfrm>
            <a:off x="5834063" y="2871788"/>
            <a:ext cx="969962" cy="2873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RS-485</a:t>
            </a:r>
          </a:p>
        </p:txBody>
      </p:sp>
      <p:pic>
        <p:nvPicPr>
          <p:cNvPr id="12328" name="Picture 157"/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2913" y="1531938"/>
            <a:ext cx="546100" cy="35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2329" name="Rectangle 11"/>
          <p:cNvSpPr>
            <a:spLocks noChangeArrowheads="1"/>
          </p:cNvSpPr>
          <p:nvPr/>
        </p:nvSpPr>
        <p:spPr bwMode="auto">
          <a:xfrm>
            <a:off x="3452813" y="1484313"/>
            <a:ext cx="1716087" cy="1042987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376238" lvl="3" indent="-376238"/>
            <a:r>
              <a:rPr lang="en-US" altLang="ko-KR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Information for car network</a:t>
            </a:r>
          </a:p>
          <a:p>
            <a:pPr marL="376238" lvl="3" indent="-376238"/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(1) Train configuration info.(2 bits)</a:t>
            </a:r>
          </a:p>
          <a:p>
            <a:pPr marL="376238" lvl="3" indent="-376238"/>
            <a:r>
              <a:rPr lang="en-US" altLang="ko-KR" sz="800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00</a:t>
            </a:r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; 2-cars</a:t>
            </a:r>
          </a:p>
          <a:p>
            <a:pPr marL="376238" lvl="3" indent="-376238"/>
            <a:r>
              <a:rPr lang="en-US" altLang="ko-KR" sz="800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01 ; </a:t>
            </a:r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4-cars</a:t>
            </a:r>
          </a:p>
          <a:p>
            <a:pPr marL="376238" lvl="3" indent="-376238"/>
            <a:r>
              <a:rPr lang="en-US" altLang="ko-KR" sz="800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10</a:t>
            </a:r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; 6-cars</a:t>
            </a:r>
          </a:p>
          <a:p>
            <a:pPr marL="376238" lvl="3" indent="-376238"/>
            <a:r>
              <a:rPr lang="en-US" altLang="ko-KR" sz="800" b="1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11 ; </a:t>
            </a:r>
            <a:r>
              <a:rPr lang="en-US" altLang="ko-KR" sz="800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8-cars</a:t>
            </a:r>
          </a:p>
          <a:p>
            <a:pPr marL="376238" lvl="3" indent="-376238"/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(2) C/I position (8 bits = bit 3-10)</a:t>
            </a:r>
          </a:p>
          <a:p>
            <a:pPr marL="376238" lvl="3" indent="-376238"/>
            <a:r>
              <a:rPr lang="en-US" altLang="ko-KR" sz="800" b="1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00100000</a:t>
            </a:r>
            <a:r>
              <a:rPr lang="en-US" altLang="ko-KR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</a:t>
            </a:r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; no. 3 car</a:t>
            </a:r>
          </a:p>
        </p:txBody>
      </p:sp>
      <p:sp>
        <p:nvSpPr>
          <p:cNvPr id="12330" name="Rectangle 159"/>
          <p:cNvSpPr>
            <a:spLocks noChangeArrowheads="1"/>
          </p:cNvSpPr>
          <p:nvPr/>
        </p:nvSpPr>
        <p:spPr bwMode="auto">
          <a:xfrm>
            <a:off x="5724525" y="2798763"/>
            <a:ext cx="1277938" cy="515937"/>
          </a:xfrm>
          <a:prstGeom prst="rect">
            <a:avLst/>
          </a:prstGeom>
          <a:solidFill>
            <a:srgbClr val="CCFFFF"/>
          </a:solidFill>
          <a:ln w="22225" algn="ctr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538163" lvl="3" algn="r"/>
            <a:r>
              <a:rPr lang="en-US" altLang="ko-KR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CRA</a:t>
            </a:r>
          </a:p>
          <a:p>
            <a:pPr marL="538163" lvl="3" algn="r"/>
            <a:r>
              <a:rPr lang="en-US" altLang="ko-KR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(Comm. Rack A)</a:t>
            </a:r>
            <a:endParaRPr lang="ko-KR" altLang="en-US" sz="800" b="1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2331" name="Rectangle 160"/>
          <p:cNvSpPr>
            <a:spLocks noChangeArrowheads="1"/>
          </p:cNvSpPr>
          <p:nvPr/>
        </p:nvSpPr>
        <p:spPr bwMode="auto">
          <a:xfrm>
            <a:off x="1868488" y="2779713"/>
            <a:ext cx="1277937" cy="515937"/>
          </a:xfrm>
          <a:prstGeom prst="rect">
            <a:avLst/>
          </a:prstGeom>
          <a:solidFill>
            <a:srgbClr val="CCFFFF"/>
          </a:solidFill>
          <a:ln w="22225" algn="ctr">
            <a:solidFill>
              <a:srgbClr val="99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538163" lvl="3" algn="r"/>
            <a:r>
              <a:rPr lang="en-US" altLang="ko-KR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CRA</a:t>
            </a:r>
          </a:p>
          <a:p>
            <a:pPr marL="538163" lvl="3" algn="r"/>
            <a:r>
              <a:rPr lang="en-US" altLang="ko-KR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(Comm. Rack A)</a:t>
            </a:r>
            <a:endParaRPr lang="ko-KR" altLang="en-US" sz="800" b="1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grpSp>
        <p:nvGrpSpPr>
          <p:cNvPr id="12332" name="Group 161"/>
          <p:cNvGrpSpPr>
            <a:grpSpLocks/>
          </p:cNvGrpSpPr>
          <p:nvPr/>
        </p:nvGrpSpPr>
        <p:grpSpPr bwMode="auto">
          <a:xfrm>
            <a:off x="4991100" y="2974975"/>
            <a:ext cx="677863" cy="73025"/>
            <a:chOff x="1191" y="1434"/>
            <a:chExt cx="613" cy="46"/>
          </a:xfrm>
        </p:grpSpPr>
        <p:sp>
          <p:nvSpPr>
            <p:cNvPr id="12343" name="Line 162"/>
            <p:cNvSpPr>
              <a:spLocks noChangeShapeType="1"/>
            </p:cNvSpPr>
            <p:nvPr/>
          </p:nvSpPr>
          <p:spPr bwMode="auto">
            <a:xfrm>
              <a:off x="1214" y="1480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2344" name="Line 163"/>
            <p:cNvSpPr>
              <a:spLocks noChangeShapeType="1"/>
            </p:cNvSpPr>
            <p:nvPr/>
          </p:nvSpPr>
          <p:spPr bwMode="auto">
            <a:xfrm rot="10800000">
              <a:off x="1191" y="1434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sp>
        <p:nvSpPr>
          <p:cNvPr id="12333" name="Line 164"/>
          <p:cNvSpPr>
            <a:spLocks noChangeShapeType="1"/>
          </p:cNvSpPr>
          <p:nvPr/>
        </p:nvSpPr>
        <p:spPr bwMode="auto">
          <a:xfrm>
            <a:off x="5000625" y="3130550"/>
            <a:ext cx="6731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2334" name="Rectangle 11"/>
          <p:cNvSpPr>
            <a:spLocks noChangeArrowheads="1"/>
          </p:cNvSpPr>
          <p:nvPr/>
        </p:nvSpPr>
        <p:spPr bwMode="auto">
          <a:xfrm>
            <a:off x="3949700" y="2871788"/>
            <a:ext cx="969963" cy="287337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RS-485</a:t>
            </a:r>
          </a:p>
        </p:txBody>
      </p:sp>
      <p:sp>
        <p:nvSpPr>
          <p:cNvPr id="12335" name="Rectangle 11"/>
          <p:cNvSpPr>
            <a:spLocks noChangeArrowheads="1"/>
          </p:cNvSpPr>
          <p:nvPr/>
        </p:nvSpPr>
        <p:spPr bwMode="auto">
          <a:xfrm>
            <a:off x="5795963" y="2263775"/>
            <a:ext cx="1143000" cy="28733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RS     485</a:t>
            </a:r>
          </a:p>
        </p:txBody>
      </p:sp>
      <p:sp>
        <p:nvSpPr>
          <p:cNvPr id="12336" name="Rectangle 11"/>
          <p:cNvSpPr>
            <a:spLocks noChangeArrowheads="1"/>
          </p:cNvSpPr>
          <p:nvPr/>
        </p:nvSpPr>
        <p:spPr bwMode="auto">
          <a:xfrm>
            <a:off x="1955800" y="2298700"/>
            <a:ext cx="1143000" cy="28733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RS     485</a:t>
            </a:r>
          </a:p>
        </p:txBody>
      </p:sp>
      <p:sp>
        <p:nvSpPr>
          <p:cNvPr id="12337" name="Line 168"/>
          <p:cNvSpPr>
            <a:spLocks noChangeShapeType="1"/>
          </p:cNvSpPr>
          <p:nvPr/>
        </p:nvSpPr>
        <p:spPr bwMode="auto">
          <a:xfrm rot="5400000">
            <a:off x="2243138" y="2436813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2338" name="Line 169"/>
          <p:cNvSpPr>
            <a:spLocks noChangeShapeType="1"/>
          </p:cNvSpPr>
          <p:nvPr/>
        </p:nvSpPr>
        <p:spPr bwMode="auto">
          <a:xfrm rot="-5400000">
            <a:off x="2316163" y="2419350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grpSp>
        <p:nvGrpSpPr>
          <p:cNvPr id="12339" name="Group 170"/>
          <p:cNvGrpSpPr>
            <a:grpSpLocks/>
          </p:cNvGrpSpPr>
          <p:nvPr/>
        </p:nvGrpSpPr>
        <p:grpSpPr bwMode="auto">
          <a:xfrm rot="5400000">
            <a:off x="6122194" y="2391569"/>
            <a:ext cx="468313" cy="73025"/>
            <a:chOff x="1191" y="1434"/>
            <a:chExt cx="613" cy="46"/>
          </a:xfrm>
        </p:grpSpPr>
        <p:sp>
          <p:nvSpPr>
            <p:cNvPr id="12341" name="Line 171"/>
            <p:cNvSpPr>
              <a:spLocks noChangeShapeType="1"/>
            </p:cNvSpPr>
            <p:nvPr/>
          </p:nvSpPr>
          <p:spPr bwMode="auto">
            <a:xfrm>
              <a:off x="1214" y="1480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2342" name="Line 172"/>
            <p:cNvSpPr>
              <a:spLocks noChangeShapeType="1"/>
            </p:cNvSpPr>
            <p:nvPr/>
          </p:nvSpPr>
          <p:spPr bwMode="auto">
            <a:xfrm rot="10800000">
              <a:off x="1191" y="1434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sp>
        <p:nvSpPr>
          <p:cNvPr id="12340" name="Line 173"/>
          <p:cNvSpPr>
            <a:spLocks noChangeShapeType="1"/>
          </p:cNvSpPr>
          <p:nvPr/>
        </p:nvSpPr>
        <p:spPr bwMode="auto">
          <a:xfrm rot="5400000">
            <a:off x="2176463" y="2439988"/>
            <a:ext cx="4508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89" name="Rectangle 9"/>
          <p:cNvSpPr>
            <a:spLocks noChangeArrowheads="1"/>
          </p:cNvSpPr>
          <p:nvPr/>
        </p:nvSpPr>
        <p:spPr bwMode="auto">
          <a:xfrm>
            <a:off x="193675" y="256352"/>
            <a:ext cx="82518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457200" indent="-457200" algn="ctr" eaLnBrk="1" latinLnBrk="1" hangingPunct="1"/>
            <a:r>
              <a:rPr lang="en-US" altLang="ko-KR" sz="20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Denver Eagle EMU Project</a:t>
            </a:r>
          </a:p>
        </p:txBody>
      </p:sp>
    </p:spTree>
    <p:extLst>
      <p:ext uri="{BB962C8B-B14F-4D97-AF65-F5344CB8AC3E}">
        <p14:creationId xmlns:p14="http://schemas.microsoft.com/office/powerpoint/2010/main" val="333878386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11"/>
          <p:cNvSpPr>
            <a:spLocks noChangeArrowheads="1"/>
          </p:cNvSpPr>
          <p:nvPr/>
        </p:nvSpPr>
        <p:spPr bwMode="auto">
          <a:xfrm>
            <a:off x="122238" y="823913"/>
            <a:ext cx="7667625" cy="287337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376238" lvl="3" indent="-376238"/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Phase Shift _ 8-cars</a:t>
            </a:r>
          </a:p>
          <a:p>
            <a:pPr marL="376238" lvl="3" indent="-376238"/>
            <a:r>
              <a:rPr lang="en-US" altLang="ko-KR" sz="80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- </a:t>
            </a: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CRA(PA)</a:t>
            </a:r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</a:t>
            </a:r>
            <a:r>
              <a:rPr lang="en-US" altLang="ko-KR" sz="80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– MDS – Converter/Inverter, </a:t>
            </a: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(8)</a:t>
            </a:r>
            <a:r>
              <a:rPr lang="en-US" altLang="ko-KR" sz="80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</a:t>
            </a: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When a</a:t>
            </a:r>
            <a:r>
              <a:rPr lang="en-US" altLang="ko-KR" sz="80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</a:t>
            </a: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Converter/Inverter is Failed</a:t>
            </a:r>
          </a:p>
        </p:txBody>
      </p:sp>
      <p:grpSp>
        <p:nvGrpSpPr>
          <p:cNvPr id="13317" name="Group 78"/>
          <p:cNvGrpSpPr>
            <a:grpSpLocks/>
          </p:cNvGrpSpPr>
          <p:nvPr/>
        </p:nvGrpSpPr>
        <p:grpSpPr bwMode="auto">
          <a:xfrm>
            <a:off x="7400925" y="5840413"/>
            <a:ext cx="2397125" cy="498475"/>
            <a:chOff x="2005" y="3706"/>
            <a:chExt cx="1510" cy="314"/>
          </a:xfrm>
        </p:grpSpPr>
        <p:sp>
          <p:nvSpPr>
            <p:cNvPr id="13380" name="Rectangle 11"/>
            <p:cNvSpPr>
              <a:spLocks noChangeArrowheads="1"/>
            </p:cNvSpPr>
            <p:nvPr/>
          </p:nvSpPr>
          <p:spPr bwMode="auto">
            <a:xfrm>
              <a:off x="2005" y="3706"/>
              <a:ext cx="938" cy="178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376238" lvl="3" indent="-376238" eaLnBrk="1" latinLnBrk="1" hangingPunct="1">
                <a:buFont typeface="Wingdings" pitchFamily="2" charset="2"/>
                <a:buNone/>
              </a:pPr>
              <a:r>
                <a:rPr lang="en-US" altLang="ko-KR" sz="800" b="1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Phase Shift </a:t>
              </a:r>
              <a:r>
                <a:rPr lang="en-US" altLang="ko-KR" sz="800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(degree)</a:t>
              </a:r>
            </a:p>
          </p:txBody>
        </p:sp>
        <p:sp>
          <p:nvSpPr>
            <p:cNvPr id="13381" name="Rectangle 80"/>
            <p:cNvSpPr>
              <a:spLocks noChangeArrowheads="1"/>
            </p:cNvSpPr>
            <p:nvPr/>
          </p:nvSpPr>
          <p:spPr bwMode="auto">
            <a:xfrm>
              <a:off x="3326" y="3857"/>
              <a:ext cx="189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500" dirty="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135</a:t>
              </a:r>
            </a:p>
          </p:txBody>
        </p:sp>
        <p:sp>
          <p:nvSpPr>
            <p:cNvPr id="13382" name="Rectangle 81"/>
            <p:cNvSpPr>
              <a:spLocks noChangeArrowheads="1"/>
            </p:cNvSpPr>
            <p:nvPr/>
          </p:nvSpPr>
          <p:spPr bwMode="auto">
            <a:xfrm>
              <a:off x="3138" y="3857"/>
              <a:ext cx="188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 dirty="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45</a:t>
              </a:r>
            </a:p>
          </p:txBody>
        </p:sp>
        <p:sp>
          <p:nvSpPr>
            <p:cNvPr id="13383" name="Rectangle 82"/>
            <p:cNvSpPr>
              <a:spLocks noChangeArrowheads="1"/>
            </p:cNvSpPr>
            <p:nvPr/>
          </p:nvSpPr>
          <p:spPr bwMode="auto">
            <a:xfrm>
              <a:off x="2951" y="3857"/>
              <a:ext cx="187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90</a:t>
              </a:r>
            </a:p>
          </p:txBody>
        </p:sp>
        <p:sp>
          <p:nvSpPr>
            <p:cNvPr id="13384" name="Rectangle 83"/>
            <p:cNvSpPr>
              <a:spLocks noChangeArrowheads="1"/>
            </p:cNvSpPr>
            <p:nvPr/>
          </p:nvSpPr>
          <p:spPr bwMode="auto">
            <a:xfrm>
              <a:off x="2763" y="3857"/>
              <a:ext cx="188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0</a:t>
              </a:r>
            </a:p>
          </p:txBody>
        </p:sp>
        <p:sp>
          <p:nvSpPr>
            <p:cNvPr id="13385" name="Rectangle 84"/>
            <p:cNvSpPr>
              <a:spLocks noChangeArrowheads="1"/>
            </p:cNvSpPr>
            <p:nvPr/>
          </p:nvSpPr>
          <p:spPr bwMode="auto">
            <a:xfrm>
              <a:off x="2574" y="3857"/>
              <a:ext cx="189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500" b="1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120</a:t>
              </a:r>
            </a:p>
          </p:txBody>
        </p:sp>
        <p:sp>
          <p:nvSpPr>
            <p:cNvPr id="13386" name="Rectangle 85"/>
            <p:cNvSpPr>
              <a:spLocks noChangeArrowheads="1"/>
            </p:cNvSpPr>
            <p:nvPr/>
          </p:nvSpPr>
          <p:spPr bwMode="auto">
            <a:xfrm>
              <a:off x="2387" y="3857"/>
              <a:ext cx="187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X</a:t>
              </a:r>
            </a:p>
          </p:txBody>
        </p:sp>
        <p:sp>
          <p:nvSpPr>
            <p:cNvPr id="13387" name="Rectangle 86"/>
            <p:cNvSpPr>
              <a:spLocks noChangeArrowheads="1"/>
            </p:cNvSpPr>
            <p:nvPr/>
          </p:nvSpPr>
          <p:spPr bwMode="auto">
            <a:xfrm>
              <a:off x="2199" y="3857"/>
              <a:ext cx="188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 b="1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60</a:t>
              </a:r>
            </a:p>
          </p:txBody>
        </p:sp>
        <p:sp>
          <p:nvSpPr>
            <p:cNvPr id="13388" name="Rectangle 87"/>
            <p:cNvSpPr>
              <a:spLocks noChangeArrowheads="1"/>
            </p:cNvSpPr>
            <p:nvPr/>
          </p:nvSpPr>
          <p:spPr bwMode="auto">
            <a:xfrm>
              <a:off x="2010" y="3857"/>
              <a:ext cx="189" cy="16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pPr algn="ctr" latinLnBrk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ko-KR" sz="800">
                  <a:solidFill>
                    <a:srgbClr val="FF0000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0</a:t>
              </a:r>
            </a:p>
          </p:txBody>
        </p:sp>
        <p:sp>
          <p:nvSpPr>
            <p:cNvPr id="13389" name="Line 88"/>
            <p:cNvSpPr>
              <a:spLocks noChangeShapeType="1"/>
            </p:cNvSpPr>
            <p:nvPr/>
          </p:nvSpPr>
          <p:spPr bwMode="auto">
            <a:xfrm>
              <a:off x="2010" y="3857"/>
              <a:ext cx="1505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500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3390" name="Line 89"/>
            <p:cNvSpPr>
              <a:spLocks noChangeShapeType="1"/>
            </p:cNvSpPr>
            <p:nvPr/>
          </p:nvSpPr>
          <p:spPr bwMode="auto">
            <a:xfrm>
              <a:off x="2010" y="4020"/>
              <a:ext cx="1505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3391" name="Line 90"/>
            <p:cNvSpPr>
              <a:spLocks noChangeShapeType="1"/>
            </p:cNvSpPr>
            <p:nvPr/>
          </p:nvSpPr>
          <p:spPr bwMode="auto">
            <a:xfrm>
              <a:off x="2010" y="3857"/>
              <a:ext cx="0" cy="163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3392" name="Line 91"/>
            <p:cNvSpPr>
              <a:spLocks noChangeShapeType="1"/>
            </p:cNvSpPr>
            <p:nvPr/>
          </p:nvSpPr>
          <p:spPr bwMode="auto">
            <a:xfrm>
              <a:off x="2199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3393" name="Line 92"/>
            <p:cNvSpPr>
              <a:spLocks noChangeShapeType="1"/>
            </p:cNvSpPr>
            <p:nvPr/>
          </p:nvSpPr>
          <p:spPr bwMode="auto">
            <a:xfrm>
              <a:off x="2387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3394" name="Line 93"/>
            <p:cNvSpPr>
              <a:spLocks noChangeShapeType="1"/>
            </p:cNvSpPr>
            <p:nvPr/>
          </p:nvSpPr>
          <p:spPr bwMode="auto">
            <a:xfrm>
              <a:off x="2574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3395" name="Line 94"/>
            <p:cNvSpPr>
              <a:spLocks noChangeShapeType="1"/>
            </p:cNvSpPr>
            <p:nvPr/>
          </p:nvSpPr>
          <p:spPr bwMode="auto">
            <a:xfrm>
              <a:off x="2763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3396" name="Line 95"/>
            <p:cNvSpPr>
              <a:spLocks noChangeShapeType="1"/>
            </p:cNvSpPr>
            <p:nvPr/>
          </p:nvSpPr>
          <p:spPr bwMode="auto">
            <a:xfrm>
              <a:off x="2951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3397" name="Line 96"/>
            <p:cNvSpPr>
              <a:spLocks noChangeShapeType="1"/>
            </p:cNvSpPr>
            <p:nvPr/>
          </p:nvSpPr>
          <p:spPr bwMode="auto">
            <a:xfrm>
              <a:off x="3138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3398" name="Line 97"/>
            <p:cNvSpPr>
              <a:spLocks noChangeShapeType="1"/>
            </p:cNvSpPr>
            <p:nvPr/>
          </p:nvSpPr>
          <p:spPr bwMode="auto">
            <a:xfrm>
              <a:off x="3326" y="3857"/>
              <a:ext cx="0" cy="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3399" name="Line 98"/>
            <p:cNvSpPr>
              <a:spLocks noChangeShapeType="1"/>
            </p:cNvSpPr>
            <p:nvPr/>
          </p:nvSpPr>
          <p:spPr bwMode="auto">
            <a:xfrm>
              <a:off x="3515" y="3857"/>
              <a:ext cx="0" cy="163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sp>
        <p:nvSpPr>
          <p:cNvPr id="13318" name="Rectangle 11"/>
          <p:cNvSpPr>
            <a:spLocks noChangeArrowheads="1"/>
          </p:cNvSpPr>
          <p:nvPr/>
        </p:nvSpPr>
        <p:spPr bwMode="auto">
          <a:xfrm>
            <a:off x="5092700" y="1225550"/>
            <a:ext cx="2524125" cy="2873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CCP </a:t>
            </a:r>
            <a:r>
              <a:rPr lang="en-US" altLang="ko-KR" sz="800" b="1">
                <a:solidFill>
                  <a:schemeClr val="bg2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(Comm. Control Panel)</a:t>
            </a:r>
          </a:p>
        </p:txBody>
      </p:sp>
      <p:sp>
        <p:nvSpPr>
          <p:cNvPr id="13319" name="Rectangle 11"/>
          <p:cNvSpPr>
            <a:spLocks noChangeArrowheads="1"/>
          </p:cNvSpPr>
          <p:nvPr/>
        </p:nvSpPr>
        <p:spPr bwMode="auto">
          <a:xfrm>
            <a:off x="3368675" y="5624513"/>
            <a:ext cx="1871663" cy="541337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376238" lvl="3" indent="-376238"/>
            <a:r>
              <a:rPr lang="en-US" altLang="ko-KR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Information for car network</a:t>
            </a:r>
          </a:p>
          <a:p>
            <a:pPr marL="376238" lvl="3" indent="-376238"/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Failure of Converter/Inverter</a:t>
            </a:r>
          </a:p>
          <a:p>
            <a:pPr marL="376238" lvl="3" indent="-376238"/>
            <a:r>
              <a:rPr lang="en-US" altLang="ko-KR" sz="800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00100000</a:t>
            </a:r>
            <a:r>
              <a:rPr lang="en-US" altLang="ko-KR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 ; no. 3 car fault </a:t>
            </a:r>
          </a:p>
        </p:txBody>
      </p:sp>
      <p:sp>
        <p:nvSpPr>
          <p:cNvPr id="13320" name="Rectangle 11"/>
          <p:cNvSpPr>
            <a:spLocks noChangeArrowheads="1"/>
          </p:cNvSpPr>
          <p:nvPr/>
        </p:nvSpPr>
        <p:spPr bwMode="auto">
          <a:xfrm>
            <a:off x="300038" y="2781300"/>
            <a:ext cx="908050" cy="28733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71500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RS-485</a:t>
            </a:r>
          </a:p>
        </p:txBody>
      </p:sp>
      <p:sp>
        <p:nvSpPr>
          <p:cNvPr id="13321" name="Rectangle 11"/>
          <p:cNvSpPr>
            <a:spLocks noChangeArrowheads="1"/>
          </p:cNvSpPr>
          <p:nvPr/>
        </p:nvSpPr>
        <p:spPr bwMode="auto">
          <a:xfrm>
            <a:off x="5313363" y="5032375"/>
            <a:ext cx="18510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algn="ctr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Lonworks    Network</a:t>
            </a:r>
          </a:p>
        </p:txBody>
      </p:sp>
      <p:sp>
        <p:nvSpPr>
          <p:cNvPr id="13322" name="Rectangle 11"/>
          <p:cNvSpPr>
            <a:spLocks noChangeArrowheads="1"/>
          </p:cNvSpPr>
          <p:nvPr/>
        </p:nvSpPr>
        <p:spPr bwMode="auto">
          <a:xfrm>
            <a:off x="1489075" y="5013325"/>
            <a:ext cx="1766888" cy="2873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Lonworks    Network</a:t>
            </a:r>
          </a:p>
        </p:txBody>
      </p:sp>
      <p:sp>
        <p:nvSpPr>
          <p:cNvPr id="13323" name="Rectangle 11"/>
          <p:cNvSpPr>
            <a:spLocks noChangeArrowheads="1"/>
          </p:cNvSpPr>
          <p:nvPr/>
        </p:nvSpPr>
        <p:spPr bwMode="auto">
          <a:xfrm>
            <a:off x="1450975" y="3538538"/>
            <a:ext cx="1766888" cy="2873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Lonworks     Network</a:t>
            </a:r>
          </a:p>
        </p:txBody>
      </p:sp>
      <p:sp>
        <p:nvSpPr>
          <p:cNvPr id="13324" name="Rectangle 11"/>
          <p:cNvSpPr>
            <a:spLocks noChangeArrowheads="1"/>
          </p:cNvSpPr>
          <p:nvPr/>
        </p:nvSpPr>
        <p:spPr bwMode="auto">
          <a:xfrm>
            <a:off x="5354638" y="3509963"/>
            <a:ext cx="176688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rgbClr val="FF0000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Lonworks     Network</a:t>
            </a:r>
          </a:p>
        </p:txBody>
      </p:sp>
      <p:sp>
        <p:nvSpPr>
          <p:cNvPr id="13325" name="Rectangle 11"/>
          <p:cNvSpPr>
            <a:spLocks noChangeArrowheads="1"/>
          </p:cNvSpPr>
          <p:nvPr/>
        </p:nvSpPr>
        <p:spPr bwMode="auto">
          <a:xfrm>
            <a:off x="7786688" y="2790825"/>
            <a:ext cx="969962" cy="28733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RS-485</a:t>
            </a:r>
          </a:p>
        </p:txBody>
      </p:sp>
      <p:sp>
        <p:nvSpPr>
          <p:cNvPr id="13326" name="Rectangle 11"/>
          <p:cNvSpPr>
            <a:spLocks noChangeArrowheads="1"/>
          </p:cNvSpPr>
          <p:nvPr/>
        </p:nvSpPr>
        <p:spPr bwMode="auto">
          <a:xfrm>
            <a:off x="1276350" y="1196975"/>
            <a:ext cx="2524125" cy="2873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CCP </a:t>
            </a:r>
            <a:r>
              <a:rPr lang="en-US" altLang="ko-KR" sz="800" b="1">
                <a:solidFill>
                  <a:schemeClr val="bg2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(Comm. Control Panel)</a:t>
            </a:r>
          </a:p>
        </p:txBody>
      </p:sp>
      <p:sp>
        <p:nvSpPr>
          <p:cNvPr id="13327" name="Rectangle 11"/>
          <p:cNvSpPr>
            <a:spLocks noChangeArrowheads="1"/>
          </p:cNvSpPr>
          <p:nvPr/>
        </p:nvSpPr>
        <p:spPr bwMode="auto">
          <a:xfrm>
            <a:off x="2006600" y="3914775"/>
            <a:ext cx="936625" cy="2873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MDS (CDT)</a:t>
            </a:r>
          </a:p>
        </p:txBody>
      </p:sp>
      <p:pic>
        <p:nvPicPr>
          <p:cNvPr id="13328" name="Picture 11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2775" y="4146550"/>
            <a:ext cx="1330325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29" name="Rectangle 11"/>
          <p:cNvSpPr>
            <a:spLocks noChangeArrowheads="1"/>
          </p:cNvSpPr>
          <p:nvPr/>
        </p:nvSpPr>
        <p:spPr bwMode="auto">
          <a:xfrm>
            <a:off x="1863725" y="5410200"/>
            <a:ext cx="1368425" cy="2873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Converter/Inverter</a:t>
            </a:r>
          </a:p>
        </p:txBody>
      </p:sp>
      <p:pic>
        <p:nvPicPr>
          <p:cNvPr id="13330" name="Picture 1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850" y="5626100"/>
            <a:ext cx="1584325" cy="755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3331" name="Line 121"/>
          <p:cNvSpPr>
            <a:spLocks noChangeShapeType="1"/>
          </p:cNvSpPr>
          <p:nvPr/>
        </p:nvSpPr>
        <p:spPr bwMode="auto">
          <a:xfrm rot="5400000">
            <a:off x="2238375" y="3671888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3332" name="Line 122"/>
          <p:cNvSpPr>
            <a:spLocks noChangeShapeType="1"/>
          </p:cNvSpPr>
          <p:nvPr/>
        </p:nvSpPr>
        <p:spPr bwMode="auto">
          <a:xfrm rot="-5400000">
            <a:off x="2311400" y="3654425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3333" name="Line 123"/>
          <p:cNvSpPr>
            <a:spLocks noChangeShapeType="1"/>
          </p:cNvSpPr>
          <p:nvPr/>
        </p:nvSpPr>
        <p:spPr bwMode="auto">
          <a:xfrm rot="5400000">
            <a:off x="2243138" y="5183188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3334" name="Line 124"/>
          <p:cNvSpPr>
            <a:spLocks noChangeShapeType="1"/>
          </p:cNvSpPr>
          <p:nvPr/>
        </p:nvSpPr>
        <p:spPr bwMode="auto">
          <a:xfrm rot="-5400000">
            <a:off x="2316163" y="5165725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grpSp>
        <p:nvGrpSpPr>
          <p:cNvPr id="13335" name="Group 125"/>
          <p:cNvGrpSpPr>
            <a:grpSpLocks/>
          </p:cNvGrpSpPr>
          <p:nvPr/>
        </p:nvGrpSpPr>
        <p:grpSpPr bwMode="auto">
          <a:xfrm>
            <a:off x="5799138" y="3932238"/>
            <a:ext cx="1330325" cy="973137"/>
            <a:chOff x="1738" y="2592"/>
            <a:chExt cx="838" cy="613"/>
          </a:xfrm>
        </p:grpSpPr>
        <p:sp>
          <p:nvSpPr>
            <p:cNvPr id="13378" name="Rectangle 11"/>
            <p:cNvSpPr>
              <a:spLocks noChangeArrowheads="1"/>
            </p:cNvSpPr>
            <p:nvPr/>
          </p:nvSpPr>
          <p:spPr bwMode="auto">
            <a:xfrm>
              <a:off x="1804" y="2592"/>
              <a:ext cx="590" cy="18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555625" lvl="3" indent="-376238" eaLnBrk="1" latinLnBrk="1" hangingPunct="1">
                <a:buFont typeface="Wingdings" pitchFamily="2" charset="2"/>
                <a:buNone/>
              </a:pPr>
              <a:r>
                <a:rPr lang="en-US" altLang="ko-KR" sz="800" b="1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MDS (CDT)</a:t>
              </a:r>
            </a:p>
          </p:txBody>
        </p:sp>
        <p:pic>
          <p:nvPicPr>
            <p:cNvPr id="13379" name="Picture 127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8" y="2727"/>
              <a:ext cx="838" cy="4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3336" name="Group 128"/>
          <p:cNvGrpSpPr>
            <a:grpSpLocks/>
          </p:cNvGrpSpPr>
          <p:nvPr/>
        </p:nvGrpSpPr>
        <p:grpSpPr bwMode="auto">
          <a:xfrm>
            <a:off x="5618163" y="5410200"/>
            <a:ext cx="1584325" cy="971550"/>
            <a:chOff x="1669" y="3408"/>
            <a:chExt cx="998" cy="612"/>
          </a:xfrm>
        </p:grpSpPr>
        <p:sp>
          <p:nvSpPr>
            <p:cNvPr id="13376" name="Rectangle 11"/>
            <p:cNvSpPr>
              <a:spLocks noChangeArrowheads="1"/>
            </p:cNvSpPr>
            <p:nvPr/>
          </p:nvSpPr>
          <p:spPr bwMode="auto">
            <a:xfrm>
              <a:off x="1759" y="3408"/>
              <a:ext cx="862" cy="18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555625" lvl="3" indent="-376238" eaLnBrk="1" latinLnBrk="1" hangingPunct="1">
                <a:buFont typeface="Wingdings" pitchFamily="2" charset="2"/>
                <a:buNone/>
              </a:pPr>
              <a:r>
                <a:rPr lang="en-US" altLang="ko-KR" sz="800" b="1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Converter/Inverter</a:t>
              </a:r>
            </a:p>
          </p:txBody>
        </p:sp>
        <p:pic>
          <p:nvPicPr>
            <p:cNvPr id="13377" name="Picture 13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9" y="3544"/>
              <a:ext cx="998" cy="4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80000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grpSp>
        <p:nvGrpSpPr>
          <p:cNvPr id="13337" name="Group 134"/>
          <p:cNvGrpSpPr>
            <a:grpSpLocks/>
          </p:cNvGrpSpPr>
          <p:nvPr/>
        </p:nvGrpSpPr>
        <p:grpSpPr bwMode="auto">
          <a:xfrm rot="5400000">
            <a:off x="6163469" y="3626644"/>
            <a:ext cx="468313" cy="73025"/>
            <a:chOff x="1191" y="1434"/>
            <a:chExt cx="613" cy="46"/>
          </a:xfrm>
        </p:grpSpPr>
        <p:sp>
          <p:nvSpPr>
            <p:cNvPr id="13374" name="Line 135"/>
            <p:cNvSpPr>
              <a:spLocks noChangeShapeType="1"/>
            </p:cNvSpPr>
            <p:nvPr/>
          </p:nvSpPr>
          <p:spPr bwMode="auto">
            <a:xfrm>
              <a:off x="1214" y="1480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3375" name="Line 136"/>
            <p:cNvSpPr>
              <a:spLocks noChangeShapeType="1"/>
            </p:cNvSpPr>
            <p:nvPr/>
          </p:nvSpPr>
          <p:spPr bwMode="auto">
            <a:xfrm rot="10800000">
              <a:off x="1191" y="1434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grpSp>
        <p:nvGrpSpPr>
          <p:cNvPr id="13338" name="Group 137"/>
          <p:cNvGrpSpPr>
            <a:grpSpLocks/>
          </p:cNvGrpSpPr>
          <p:nvPr/>
        </p:nvGrpSpPr>
        <p:grpSpPr bwMode="auto">
          <a:xfrm rot="5400000">
            <a:off x="6168231" y="5137944"/>
            <a:ext cx="468313" cy="73025"/>
            <a:chOff x="1191" y="1434"/>
            <a:chExt cx="613" cy="46"/>
          </a:xfrm>
        </p:grpSpPr>
        <p:sp>
          <p:nvSpPr>
            <p:cNvPr id="13372" name="Line 138"/>
            <p:cNvSpPr>
              <a:spLocks noChangeShapeType="1"/>
            </p:cNvSpPr>
            <p:nvPr/>
          </p:nvSpPr>
          <p:spPr bwMode="auto">
            <a:xfrm>
              <a:off x="1214" y="1480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3373" name="Line 139"/>
            <p:cNvSpPr>
              <a:spLocks noChangeShapeType="1"/>
            </p:cNvSpPr>
            <p:nvPr/>
          </p:nvSpPr>
          <p:spPr bwMode="auto">
            <a:xfrm rot="10800000">
              <a:off x="1191" y="1434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grpSp>
        <p:nvGrpSpPr>
          <p:cNvPr id="13339" name="Group 140"/>
          <p:cNvGrpSpPr>
            <a:grpSpLocks/>
          </p:cNvGrpSpPr>
          <p:nvPr/>
        </p:nvGrpSpPr>
        <p:grpSpPr bwMode="auto">
          <a:xfrm>
            <a:off x="3203575" y="2905125"/>
            <a:ext cx="677863" cy="73025"/>
            <a:chOff x="1191" y="1434"/>
            <a:chExt cx="613" cy="46"/>
          </a:xfrm>
        </p:grpSpPr>
        <p:sp>
          <p:nvSpPr>
            <p:cNvPr id="13370" name="Line 141"/>
            <p:cNvSpPr>
              <a:spLocks noChangeShapeType="1"/>
            </p:cNvSpPr>
            <p:nvPr/>
          </p:nvSpPr>
          <p:spPr bwMode="auto">
            <a:xfrm>
              <a:off x="1214" y="1480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3371" name="Line 142"/>
            <p:cNvSpPr>
              <a:spLocks noChangeShapeType="1"/>
            </p:cNvSpPr>
            <p:nvPr/>
          </p:nvSpPr>
          <p:spPr bwMode="auto">
            <a:xfrm rot="10800000">
              <a:off x="1191" y="1434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sp>
        <p:nvSpPr>
          <p:cNvPr id="13340" name="Line 143"/>
          <p:cNvSpPr>
            <a:spLocks noChangeShapeType="1"/>
          </p:cNvSpPr>
          <p:nvPr/>
        </p:nvSpPr>
        <p:spPr bwMode="auto">
          <a:xfrm>
            <a:off x="1223963" y="2982913"/>
            <a:ext cx="5159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3341" name="Line 144"/>
          <p:cNvSpPr>
            <a:spLocks noChangeShapeType="1"/>
          </p:cNvSpPr>
          <p:nvPr/>
        </p:nvSpPr>
        <p:spPr bwMode="auto">
          <a:xfrm rot="10800000">
            <a:off x="1203325" y="2909888"/>
            <a:ext cx="5159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grpSp>
        <p:nvGrpSpPr>
          <p:cNvPr id="13342" name="Group 145"/>
          <p:cNvGrpSpPr>
            <a:grpSpLocks/>
          </p:cNvGrpSpPr>
          <p:nvPr/>
        </p:nvGrpSpPr>
        <p:grpSpPr bwMode="auto">
          <a:xfrm>
            <a:off x="7134225" y="2909888"/>
            <a:ext cx="677863" cy="73025"/>
            <a:chOff x="1191" y="1434"/>
            <a:chExt cx="613" cy="46"/>
          </a:xfrm>
        </p:grpSpPr>
        <p:sp>
          <p:nvSpPr>
            <p:cNvPr id="13368" name="Line 146"/>
            <p:cNvSpPr>
              <a:spLocks noChangeShapeType="1"/>
            </p:cNvSpPr>
            <p:nvPr/>
          </p:nvSpPr>
          <p:spPr bwMode="auto">
            <a:xfrm>
              <a:off x="1214" y="1480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3369" name="Line 147"/>
            <p:cNvSpPr>
              <a:spLocks noChangeShapeType="1"/>
            </p:cNvSpPr>
            <p:nvPr/>
          </p:nvSpPr>
          <p:spPr bwMode="auto">
            <a:xfrm rot="10800000">
              <a:off x="1191" y="1434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sp>
        <p:nvSpPr>
          <p:cNvPr id="13343" name="Line 148"/>
          <p:cNvSpPr>
            <a:spLocks noChangeShapeType="1"/>
          </p:cNvSpPr>
          <p:nvPr/>
        </p:nvSpPr>
        <p:spPr bwMode="auto">
          <a:xfrm rot="-5400000">
            <a:off x="2179638" y="3654425"/>
            <a:ext cx="4508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3344" name="Line 149"/>
          <p:cNvSpPr>
            <a:spLocks noChangeShapeType="1"/>
          </p:cNvSpPr>
          <p:nvPr/>
        </p:nvSpPr>
        <p:spPr bwMode="auto">
          <a:xfrm rot="-5400000">
            <a:off x="2179638" y="5162550"/>
            <a:ext cx="4508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3345" name="Line 151"/>
          <p:cNvSpPr>
            <a:spLocks noChangeShapeType="1"/>
          </p:cNvSpPr>
          <p:nvPr/>
        </p:nvSpPr>
        <p:spPr bwMode="auto">
          <a:xfrm rot="10800000">
            <a:off x="1187450" y="3041650"/>
            <a:ext cx="531813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3346" name="Line 152"/>
          <p:cNvSpPr>
            <a:spLocks noChangeShapeType="1"/>
          </p:cNvSpPr>
          <p:nvPr/>
        </p:nvSpPr>
        <p:spPr bwMode="auto">
          <a:xfrm>
            <a:off x="3213100" y="3060700"/>
            <a:ext cx="6731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3347" name="Line 153"/>
          <p:cNvSpPr>
            <a:spLocks noChangeShapeType="1"/>
          </p:cNvSpPr>
          <p:nvPr/>
        </p:nvSpPr>
        <p:spPr bwMode="auto">
          <a:xfrm>
            <a:off x="7183438" y="3060700"/>
            <a:ext cx="6350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3348" name="Line 154"/>
          <p:cNvSpPr>
            <a:spLocks noChangeShapeType="1"/>
          </p:cNvSpPr>
          <p:nvPr/>
        </p:nvSpPr>
        <p:spPr bwMode="auto">
          <a:xfrm rot="5400000">
            <a:off x="6078538" y="3673475"/>
            <a:ext cx="4508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3349" name="Line 155"/>
          <p:cNvSpPr>
            <a:spLocks noChangeShapeType="1"/>
          </p:cNvSpPr>
          <p:nvPr/>
        </p:nvSpPr>
        <p:spPr bwMode="auto">
          <a:xfrm rot="5400000">
            <a:off x="6078538" y="5181600"/>
            <a:ext cx="4508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pic>
        <p:nvPicPr>
          <p:cNvPr id="13350" name="Picture 15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5813" y="1447800"/>
            <a:ext cx="915987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51" name="Picture 15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3913" y="1452563"/>
            <a:ext cx="911225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52" name="Rectangle 11"/>
          <p:cNvSpPr>
            <a:spLocks noChangeArrowheads="1"/>
          </p:cNvSpPr>
          <p:nvPr/>
        </p:nvSpPr>
        <p:spPr bwMode="auto">
          <a:xfrm>
            <a:off x="5880100" y="2800350"/>
            <a:ext cx="969963" cy="2873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RS-485</a:t>
            </a:r>
          </a:p>
        </p:txBody>
      </p:sp>
      <p:sp>
        <p:nvSpPr>
          <p:cNvPr id="13353" name="Rectangle 160"/>
          <p:cNvSpPr>
            <a:spLocks noChangeArrowheads="1"/>
          </p:cNvSpPr>
          <p:nvPr/>
        </p:nvSpPr>
        <p:spPr bwMode="auto">
          <a:xfrm>
            <a:off x="5770563" y="2727325"/>
            <a:ext cx="1277937" cy="515938"/>
          </a:xfrm>
          <a:prstGeom prst="rect">
            <a:avLst/>
          </a:prstGeom>
          <a:solidFill>
            <a:srgbClr val="CCFFFF"/>
          </a:solidFill>
          <a:ln w="22225" algn="ctr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538163" lvl="3" algn="r"/>
            <a:r>
              <a:rPr lang="en-US" altLang="ko-KR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CRA</a:t>
            </a:r>
          </a:p>
          <a:p>
            <a:pPr marL="538163" lvl="3" algn="r"/>
            <a:r>
              <a:rPr lang="en-US" altLang="ko-KR" sz="8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(Comm. Rack A)</a:t>
            </a:r>
            <a:endParaRPr lang="ko-KR" altLang="en-US" sz="800" b="1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3354" name="Rectangle 161"/>
          <p:cNvSpPr>
            <a:spLocks noChangeArrowheads="1"/>
          </p:cNvSpPr>
          <p:nvPr/>
        </p:nvSpPr>
        <p:spPr bwMode="auto">
          <a:xfrm>
            <a:off x="1868488" y="2708275"/>
            <a:ext cx="1277937" cy="515938"/>
          </a:xfrm>
          <a:prstGeom prst="rect">
            <a:avLst/>
          </a:prstGeom>
          <a:solidFill>
            <a:srgbClr val="CCFFFF"/>
          </a:solidFill>
          <a:ln w="22225" algn="ctr">
            <a:solidFill>
              <a:srgbClr val="99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538163" lvl="3" algn="r"/>
            <a:r>
              <a:rPr lang="en-US" altLang="ko-KR" sz="8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CRA</a:t>
            </a:r>
          </a:p>
          <a:p>
            <a:pPr marL="538163" lvl="3" algn="r"/>
            <a:r>
              <a:rPr lang="en-US" altLang="ko-KR" sz="8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(Comm. Rack A)</a:t>
            </a:r>
            <a:endParaRPr lang="ko-KR" altLang="en-US" sz="8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grpSp>
        <p:nvGrpSpPr>
          <p:cNvPr id="13355" name="Group 162"/>
          <p:cNvGrpSpPr>
            <a:grpSpLocks/>
          </p:cNvGrpSpPr>
          <p:nvPr/>
        </p:nvGrpSpPr>
        <p:grpSpPr bwMode="auto">
          <a:xfrm>
            <a:off x="4991100" y="2903538"/>
            <a:ext cx="677863" cy="73025"/>
            <a:chOff x="1191" y="1434"/>
            <a:chExt cx="613" cy="46"/>
          </a:xfrm>
        </p:grpSpPr>
        <p:sp>
          <p:nvSpPr>
            <p:cNvPr id="13366" name="Line 163"/>
            <p:cNvSpPr>
              <a:spLocks noChangeShapeType="1"/>
            </p:cNvSpPr>
            <p:nvPr/>
          </p:nvSpPr>
          <p:spPr bwMode="auto">
            <a:xfrm>
              <a:off x="1214" y="1480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3367" name="Line 164"/>
            <p:cNvSpPr>
              <a:spLocks noChangeShapeType="1"/>
            </p:cNvSpPr>
            <p:nvPr/>
          </p:nvSpPr>
          <p:spPr bwMode="auto">
            <a:xfrm rot="10800000">
              <a:off x="1191" y="1434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sp>
        <p:nvSpPr>
          <p:cNvPr id="13356" name="Line 165"/>
          <p:cNvSpPr>
            <a:spLocks noChangeShapeType="1"/>
          </p:cNvSpPr>
          <p:nvPr/>
        </p:nvSpPr>
        <p:spPr bwMode="auto">
          <a:xfrm>
            <a:off x="5000625" y="3059113"/>
            <a:ext cx="6731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3357" name="Rectangle 11"/>
          <p:cNvSpPr>
            <a:spLocks noChangeArrowheads="1"/>
          </p:cNvSpPr>
          <p:nvPr/>
        </p:nvSpPr>
        <p:spPr bwMode="auto">
          <a:xfrm>
            <a:off x="3949700" y="2800350"/>
            <a:ext cx="969963" cy="28733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RS-485</a:t>
            </a:r>
          </a:p>
        </p:txBody>
      </p:sp>
      <p:sp>
        <p:nvSpPr>
          <p:cNvPr id="13358" name="AutoShape 167"/>
          <p:cNvSpPr>
            <a:spLocks noChangeArrowheads="1"/>
          </p:cNvSpPr>
          <p:nvPr/>
        </p:nvSpPr>
        <p:spPr bwMode="auto">
          <a:xfrm rot="10800000">
            <a:off x="3181350" y="5797550"/>
            <a:ext cx="192088" cy="142875"/>
          </a:xfrm>
          <a:prstGeom prst="notchedRightArrow">
            <a:avLst>
              <a:gd name="adj1" fmla="val 50000"/>
              <a:gd name="adj2" fmla="val 33611"/>
            </a:avLst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3359" name="Rectangle 11"/>
          <p:cNvSpPr>
            <a:spLocks noChangeArrowheads="1"/>
          </p:cNvSpPr>
          <p:nvPr/>
        </p:nvSpPr>
        <p:spPr bwMode="auto">
          <a:xfrm>
            <a:off x="5795963" y="2263775"/>
            <a:ext cx="1143000" cy="28733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RS     485</a:t>
            </a:r>
          </a:p>
        </p:txBody>
      </p:sp>
      <p:sp>
        <p:nvSpPr>
          <p:cNvPr id="13360" name="Rectangle 11"/>
          <p:cNvSpPr>
            <a:spLocks noChangeArrowheads="1"/>
          </p:cNvSpPr>
          <p:nvPr/>
        </p:nvSpPr>
        <p:spPr bwMode="auto">
          <a:xfrm>
            <a:off x="1955800" y="2298700"/>
            <a:ext cx="1143000" cy="28733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55625" lvl="3" indent="-376238" eaLnBrk="1" latinLnBrk="1" hangingPunct="1">
              <a:buFont typeface="Wingdings" pitchFamily="2" charset="2"/>
              <a:buNone/>
            </a:pPr>
            <a:r>
              <a:rPr lang="en-US" altLang="ko-KR" sz="800" b="1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RS     485</a:t>
            </a:r>
          </a:p>
        </p:txBody>
      </p:sp>
      <p:sp>
        <p:nvSpPr>
          <p:cNvPr id="13361" name="Line 170"/>
          <p:cNvSpPr>
            <a:spLocks noChangeShapeType="1"/>
          </p:cNvSpPr>
          <p:nvPr/>
        </p:nvSpPr>
        <p:spPr bwMode="auto">
          <a:xfrm rot="5400000">
            <a:off x="2243138" y="2436813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3362" name="Line 171"/>
          <p:cNvSpPr>
            <a:spLocks noChangeShapeType="1"/>
          </p:cNvSpPr>
          <p:nvPr/>
        </p:nvSpPr>
        <p:spPr bwMode="auto">
          <a:xfrm rot="-5400000">
            <a:off x="2316163" y="2419350"/>
            <a:ext cx="450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80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grpSp>
        <p:nvGrpSpPr>
          <p:cNvPr id="13363" name="Group 172"/>
          <p:cNvGrpSpPr>
            <a:grpSpLocks/>
          </p:cNvGrpSpPr>
          <p:nvPr/>
        </p:nvGrpSpPr>
        <p:grpSpPr bwMode="auto">
          <a:xfrm rot="5400000">
            <a:off x="6122194" y="2391569"/>
            <a:ext cx="468313" cy="73025"/>
            <a:chOff x="1191" y="1434"/>
            <a:chExt cx="613" cy="46"/>
          </a:xfrm>
        </p:grpSpPr>
        <p:sp>
          <p:nvSpPr>
            <p:cNvPr id="13364" name="Line 173"/>
            <p:cNvSpPr>
              <a:spLocks noChangeShapeType="1"/>
            </p:cNvSpPr>
            <p:nvPr/>
          </p:nvSpPr>
          <p:spPr bwMode="auto">
            <a:xfrm>
              <a:off x="1214" y="1480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3365" name="Line 174"/>
            <p:cNvSpPr>
              <a:spLocks noChangeShapeType="1"/>
            </p:cNvSpPr>
            <p:nvPr/>
          </p:nvSpPr>
          <p:spPr bwMode="auto">
            <a:xfrm rot="10800000">
              <a:off x="1191" y="1434"/>
              <a:ext cx="5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80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  <p:sp>
        <p:nvSpPr>
          <p:cNvPr id="88" name="Rectangle 9"/>
          <p:cNvSpPr>
            <a:spLocks noChangeArrowheads="1"/>
          </p:cNvSpPr>
          <p:nvPr/>
        </p:nvSpPr>
        <p:spPr bwMode="auto">
          <a:xfrm>
            <a:off x="193675" y="256352"/>
            <a:ext cx="82518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457200" indent="-457200" algn="ctr" eaLnBrk="1" latinLnBrk="1" hangingPunct="1"/>
            <a:r>
              <a:rPr lang="en-US" altLang="ko-KR" sz="20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Denver Eagle EMU Project</a:t>
            </a:r>
          </a:p>
        </p:txBody>
      </p:sp>
    </p:spTree>
    <p:extLst>
      <p:ext uri="{BB962C8B-B14F-4D97-AF65-F5344CB8AC3E}">
        <p14:creationId xmlns:p14="http://schemas.microsoft.com/office/powerpoint/2010/main" val="26651414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825</TotalTime>
  <Words>1520</Words>
  <Application>Microsoft Office PowerPoint</Application>
  <PresentationFormat>A4 용지(210x297mm)</PresentationFormat>
  <Paragraphs>440</Paragraphs>
  <Slides>14</Slides>
  <Notes>3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5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(주)우진산전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진미화</dc:creator>
  <cp:lastModifiedBy>JDS_SSD</cp:lastModifiedBy>
  <cp:revision>41</cp:revision>
  <dcterms:created xsi:type="dcterms:W3CDTF">2011-03-30T10:53:50Z</dcterms:created>
  <dcterms:modified xsi:type="dcterms:W3CDTF">2012-05-16T04:19:27Z</dcterms:modified>
</cp:coreProperties>
</file>