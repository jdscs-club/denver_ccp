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81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072C-0F25-47E4-A353-759D26582147}" type="datetimeFigureOut">
              <a:rPr lang="ko-KR" altLang="en-US" smtClean="0"/>
              <a:t>2012-03-23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AEB0-825C-43F9-8B43-C75E39592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21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072C-0F25-47E4-A353-759D26582147}" type="datetimeFigureOut">
              <a:rPr lang="ko-KR" altLang="en-US" smtClean="0"/>
              <a:t>2012-03-23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AEB0-825C-43F9-8B43-C75E39592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395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072C-0F25-47E4-A353-759D26582147}" type="datetimeFigureOut">
              <a:rPr lang="ko-KR" altLang="en-US" smtClean="0"/>
              <a:t>2012-03-23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AEB0-825C-43F9-8B43-C75E39592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003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072C-0F25-47E4-A353-759D26582147}" type="datetimeFigureOut">
              <a:rPr lang="ko-KR" altLang="en-US" smtClean="0"/>
              <a:t>2012-03-23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AEB0-825C-43F9-8B43-C75E39592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408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072C-0F25-47E4-A353-759D26582147}" type="datetimeFigureOut">
              <a:rPr lang="ko-KR" altLang="en-US" smtClean="0"/>
              <a:t>2012-03-23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AEB0-825C-43F9-8B43-C75E39592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704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072C-0F25-47E4-A353-759D26582147}" type="datetimeFigureOut">
              <a:rPr lang="ko-KR" altLang="en-US" smtClean="0"/>
              <a:t>2012-03-23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AEB0-825C-43F9-8B43-C75E39592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723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072C-0F25-47E4-A353-759D26582147}" type="datetimeFigureOut">
              <a:rPr lang="ko-KR" altLang="en-US" smtClean="0"/>
              <a:t>2012-03-23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AEB0-825C-43F9-8B43-C75E39592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75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072C-0F25-47E4-A353-759D26582147}" type="datetimeFigureOut">
              <a:rPr lang="ko-KR" altLang="en-US" smtClean="0"/>
              <a:t>2012-03-23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AEB0-825C-43F9-8B43-C75E39592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7683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072C-0F25-47E4-A353-759D26582147}" type="datetimeFigureOut">
              <a:rPr lang="ko-KR" altLang="en-US" smtClean="0"/>
              <a:t>2012-03-23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AEB0-825C-43F9-8B43-C75E39592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4454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072C-0F25-47E4-A353-759D26582147}" type="datetimeFigureOut">
              <a:rPr lang="ko-KR" altLang="en-US" smtClean="0"/>
              <a:t>2012-03-23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AEB0-825C-43F9-8B43-C75E39592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230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2072C-0F25-47E4-A353-759D26582147}" type="datetimeFigureOut">
              <a:rPr lang="ko-KR" altLang="en-US" smtClean="0"/>
              <a:t>2012-03-23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AEB0-825C-43F9-8B43-C75E39592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603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2072C-0F25-47E4-A353-759D26582147}" type="datetimeFigureOut">
              <a:rPr lang="ko-KR" altLang="en-US" smtClean="0"/>
              <a:t>2012-03-23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4AEB0-825C-43F9-8B43-C75E39592E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926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MDS SW 3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3</a:t>
            </a:r>
            <a:r>
              <a:rPr lang="ko-KR" altLang="en-US" dirty="0" err="1" smtClean="0"/>
              <a:t>째주</a:t>
            </a:r>
            <a:r>
              <a:rPr lang="ko-KR" altLang="en-US" dirty="0"/>
              <a:t> </a:t>
            </a:r>
            <a:r>
              <a:rPr lang="ko-KR" altLang="en-US" dirty="0" smtClean="0"/>
              <a:t>진행 사항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CCP UI </a:t>
            </a:r>
            <a:r>
              <a:rPr lang="ko-KR" altLang="en-US" dirty="0" smtClean="0"/>
              <a:t>설계 확정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PISC System </a:t>
            </a:r>
            <a:r>
              <a:rPr lang="ko-KR" altLang="en-US" dirty="0" smtClean="0"/>
              <a:t>처리</a:t>
            </a:r>
            <a:r>
              <a:rPr lang="en-US" altLang="ko-KR" dirty="0" smtClean="0"/>
              <a:t> </a:t>
            </a:r>
            <a:r>
              <a:rPr lang="ko-KR" altLang="en-US" dirty="0" smtClean="0"/>
              <a:t>알고리즘 확정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PISC System Protocol </a:t>
            </a:r>
            <a:r>
              <a:rPr lang="ko-KR" altLang="en-US" dirty="0" smtClean="0"/>
              <a:t>내용 정리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확정된 </a:t>
            </a:r>
            <a:r>
              <a:rPr lang="en-US" altLang="ko-KR" dirty="0" smtClean="0"/>
              <a:t>System </a:t>
            </a:r>
            <a:r>
              <a:rPr lang="ko-KR" altLang="en-US" dirty="0" smtClean="0"/>
              <a:t>알고리즘에 따른 각 </a:t>
            </a:r>
            <a:r>
              <a:rPr lang="ko-KR" altLang="en-US" dirty="0" err="1" smtClean="0"/>
              <a:t>장치별</a:t>
            </a:r>
            <a:r>
              <a:rPr lang="ko-KR" altLang="en-US" dirty="0" smtClean="0"/>
              <a:t> </a:t>
            </a:r>
            <a:r>
              <a:rPr lang="en-US" altLang="ko-KR" dirty="0" smtClean="0"/>
              <a:t>SW </a:t>
            </a:r>
            <a:r>
              <a:rPr lang="ko-KR" altLang="en-US" dirty="0" smtClean="0"/>
              <a:t>변경 작업 진행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MDS ICD </a:t>
            </a:r>
            <a:r>
              <a:rPr lang="ko-KR" altLang="en-US" dirty="0" smtClean="0"/>
              <a:t>문서</a:t>
            </a:r>
            <a:r>
              <a:rPr lang="en-US" altLang="ko-KR" dirty="0" smtClean="0"/>
              <a:t> </a:t>
            </a:r>
            <a:r>
              <a:rPr lang="ko-KR" altLang="en-US" dirty="0" smtClean="0"/>
              <a:t>내용 확인 </a:t>
            </a:r>
            <a:r>
              <a:rPr lang="ko-KR" altLang="en-US" dirty="0" smtClean="0"/>
              <a:t>및 </a:t>
            </a:r>
            <a:r>
              <a:rPr lang="en-US" altLang="ko-KR" dirty="0" err="1" smtClean="0"/>
              <a:t>Woojin</a:t>
            </a:r>
            <a:r>
              <a:rPr lang="en-US" altLang="ko-KR" dirty="0" smtClean="0"/>
              <a:t> </a:t>
            </a:r>
            <a:r>
              <a:rPr lang="en-US" altLang="ko-KR" dirty="0" smtClean="0"/>
              <a:t>Confirm.</a:t>
            </a:r>
          </a:p>
          <a:p>
            <a:r>
              <a:rPr lang="en-US" altLang="ko-KR" dirty="0" err="1" smtClean="0"/>
              <a:t>Woojin</a:t>
            </a:r>
            <a:r>
              <a:rPr lang="en-US" altLang="ko-KR" dirty="0" smtClean="0"/>
              <a:t> MDS ICD </a:t>
            </a:r>
            <a:r>
              <a:rPr lang="ko-KR" altLang="en-US" dirty="0" smtClean="0"/>
              <a:t>문서</a:t>
            </a:r>
            <a:r>
              <a:rPr lang="en-US" altLang="ko-KR" dirty="0"/>
              <a:t> </a:t>
            </a:r>
            <a:r>
              <a:rPr lang="ko-KR" altLang="en-US" dirty="0" err="1" smtClean="0"/>
              <a:t>작성중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7056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467544" y="1813294"/>
            <a:ext cx="8629502" cy="3534346"/>
            <a:chOff x="300455" y="908720"/>
            <a:chExt cx="8629502" cy="3534346"/>
          </a:xfrm>
        </p:grpSpPr>
        <p:pic>
          <p:nvPicPr>
            <p:cNvPr id="1026" name="그림 10" descr="제목 없음.bmp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3686" y="980728"/>
              <a:ext cx="5726113" cy="3462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직사각형 4"/>
            <p:cNvSpPr/>
            <p:nvPr/>
          </p:nvSpPr>
          <p:spPr>
            <a:xfrm>
              <a:off x="1835696" y="1525262"/>
              <a:ext cx="2232248" cy="2880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 </a:t>
              </a:r>
              <a:endParaRPr lang="ko-KR" altLang="en-US" dirty="0"/>
            </a:p>
          </p:txBody>
        </p:sp>
        <p:sp>
          <p:nvSpPr>
            <p:cNvPr id="6" name="모서리가 둥근 사각형 설명선 5"/>
            <p:cNvSpPr/>
            <p:nvPr/>
          </p:nvSpPr>
          <p:spPr>
            <a:xfrm>
              <a:off x="323528" y="908720"/>
              <a:ext cx="1440158" cy="612648"/>
            </a:xfrm>
            <a:prstGeom prst="wedgeRoundRectCallout">
              <a:avLst>
                <a:gd name="adj1" fmla="val 54624"/>
                <a:gd name="adj2" fmla="val 83087"/>
                <a:gd name="adj3" fmla="val 16667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smtClean="0">
                  <a:solidFill>
                    <a:schemeClr val="tx1"/>
                  </a:solidFill>
                </a:rPr>
                <a:t>열차 초기 </a:t>
              </a:r>
              <a:r>
                <a:rPr lang="ko-KR" altLang="en-US" sz="1000" dirty="0" err="1" smtClean="0">
                  <a:solidFill>
                    <a:schemeClr val="tx1"/>
                  </a:solidFill>
                </a:rPr>
                <a:t>기동시</a:t>
              </a:r>
              <a:r>
                <a:rPr lang="ko-KR" altLang="en-US" sz="1000" dirty="0" smtClean="0">
                  <a:solidFill>
                    <a:schemeClr val="tx1"/>
                  </a:solidFill>
                </a:rPr>
                <a:t> 자동으로 </a:t>
              </a:r>
              <a:r>
                <a:rPr lang="en-US" altLang="ko-KR" sz="1000" dirty="0" smtClean="0">
                  <a:solidFill>
                    <a:schemeClr val="tx1"/>
                  </a:solidFill>
                </a:rPr>
                <a:t>CI</a:t>
              </a:r>
              <a:r>
                <a:rPr lang="ko-KR" altLang="en-US" sz="1000" dirty="0" smtClean="0">
                  <a:solidFill>
                    <a:schemeClr val="tx1"/>
                  </a:solidFill>
                </a:rPr>
                <a:t> </a:t>
              </a:r>
              <a:r>
                <a:rPr lang="en-US" altLang="ko-KR" sz="1000" dirty="0" smtClean="0">
                  <a:solidFill>
                    <a:schemeClr val="tx1"/>
                  </a:solidFill>
                </a:rPr>
                <a:t>Index </a:t>
              </a:r>
              <a:r>
                <a:rPr lang="ko-KR" altLang="en-US" sz="1000" dirty="0" smtClean="0">
                  <a:solidFill>
                    <a:schemeClr val="tx1"/>
                  </a:solidFill>
                </a:rPr>
                <a:t>번호를 설정 한다</a:t>
              </a:r>
              <a:r>
                <a:rPr lang="en-US" altLang="ko-KR" sz="1000" dirty="0" smtClean="0">
                  <a:solidFill>
                    <a:schemeClr val="tx1"/>
                  </a:solidFill>
                </a:rPr>
                <a:t>.</a:t>
              </a:r>
              <a:r>
                <a:rPr lang="ko-KR" altLang="en-US" sz="1000" dirty="0" smtClean="0">
                  <a:solidFill>
                    <a:schemeClr val="tx1"/>
                  </a:solidFill>
                </a:rPr>
                <a:t> 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835696" y="2996952"/>
              <a:ext cx="3672408" cy="5040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 </a:t>
              </a:r>
              <a:endParaRPr lang="ko-KR" altLang="en-US" dirty="0"/>
            </a:p>
          </p:txBody>
        </p:sp>
        <p:sp>
          <p:nvSpPr>
            <p:cNvPr id="11" name="모서리가 둥근 사각형 설명선 10"/>
            <p:cNvSpPr/>
            <p:nvPr/>
          </p:nvSpPr>
          <p:spPr>
            <a:xfrm>
              <a:off x="300455" y="2420888"/>
              <a:ext cx="1440158" cy="756664"/>
            </a:xfrm>
            <a:prstGeom prst="wedgeRoundRectCallout">
              <a:avLst>
                <a:gd name="adj1" fmla="val 54624"/>
                <a:gd name="adj2" fmla="val 83087"/>
                <a:gd name="adj3" fmla="val 16667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smtClean="0">
                  <a:solidFill>
                    <a:schemeClr val="tx1"/>
                  </a:solidFill>
                </a:rPr>
                <a:t>자동 설정된 </a:t>
              </a:r>
              <a:r>
                <a:rPr lang="en-US" altLang="ko-KR" sz="1000" dirty="0" smtClean="0">
                  <a:solidFill>
                    <a:schemeClr val="tx1"/>
                  </a:solidFill>
                </a:rPr>
                <a:t>CI Index </a:t>
              </a:r>
              <a:r>
                <a:rPr lang="ko-KR" altLang="en-US" sz="1000" dirty="0" smtClean="0">
                  <a:solidFill>
                    <a:schemeClr val="tx1"/>
                  </a:solidFill>
                </a:rPr>
                <a:t>번호가</a:t>
              </a:r>
              <a:r>
                <a:rPr lang="en-US" altLang="ko-KR" sz="1000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sz="1000" dirty="0" smtClean="0">
                  <a:solidFill>
                    <a:schemeClr val="tx1"/>
                  </a:solidFill>
                </a:rPr>
                <a:t>잘못 설정 되었을 경우</a:t>
              </a:r>
              <a:r>
                <a:rPr lang="en-US" altLang="ko-KR" sz="1000" dirty="0" smtClean="0">
                  <a:solidFill>
                    <a:schemeClr val="tx1"/>
                  </a:solidFill>
                </a:rPr>
                <a:t>,</a:t>
              </a:r>
              <a:r>
                <a:rPr lang="ko-KR" altLang="en-US" sz="1000" dirty="0" smtClean="0">
                  <a:solidFill>
                    <a:schemeClr val="tx1"/>
                  </a:solidFill>
                </a:rPr>
                <a:t> 변경 가능 하도록  숫자 패드 삽입</a:t>
              </a:r>
              <a:r>
                <a:rPr lang="en-US" altLang="ko-KR" sz="1000" dirty="0" smtClean="0">
                  <a:solidFill>
                    <a:schemeClr val="tx1"/>
                  </a:solidFill>
                </a:rPr>
                <a:t>.</a:t>
              </a:r>
              <a:r>
                <a:rPr lang="ko-KR" altLang="en-US" sz="1000" dirty="0" smtClean="0">
                  <a:solidFill>
                    <a:schemeClr val="tx1"/>
                  </a:solidFill>
                </a:rPr>
                <a:t> 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5571849" y="2996952"/>
              <a:ext cx="728343" cy="5040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 </a:t>
              </a:r>
              <a:endParaRPr lang="ko-KR" altLang="en-US" dirty="0"/>
            </a:p>
          </p:txBody>
        </p:sp>
        <p:sp>
          <p:nvSpPr>
            <p:cNvPr id="13" name="모서리가 둥근 사각형 설명선 12"/>
            <p:cNvSpPr/>
            <p:nvPr/>
          </p:nvSpPr>
          <p:spPr>
            <a:xfrm>
              <a:off x="7489799" y="1662478"/>
              <a:ext cx="1440158" cy="756664"/>
            </a:xfrm>
            <a:prstGeom prst="wedgeRoundRectCallout">
              <a:avLst>
                <a:gd name="adj1" fmla="val -131476"/>
                <a:gd name="adj2" fmla="val 155317"/>
                <a:gd name="adj3" fmla="val 16667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smtClean="0">
                  <a:solidFill>
                    <a:schemeClr val="tx1"/>
                  </a:solidFill>
                </a:rPr>
                <a:t>변경된 </a:t>
              </a:r>
              <a:r>
                <a:rPr lang="en-US" altLang="ko-KR" sz="1000" dirty="0" smtClean="0">
                  <a:solidFill>
                    <a:schemeClr val="tx1"/>
                  </a:solidFill>
                </a:rPr>
                <a:t>CI Index </a:t>
              </a:r>
              <a:r>
                <a:rPr lang="ko-KR" altLang="en-US" sz="1000" dirty="0" smtClean="0">
                  <a:solidFill>
                    <a:schemeClr val="tx1"/>
                  </a:solidFill>
                </a:rPr>
                <a:t>번호를 적용하는 버튼 설치</a:t>
              </a:r>
              <a:r>
                <a:rPr lang="en-US" altLang="ko-KR" sz="1000" dirty="0" smtClean="0">
                  <a:solidFill>
                    <a:schemeClr val="tx1"/>
                  </a:solidFill>
                </a:rPr>
                <a:t>.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097448" y="476672"/>
            <a:ext cx="39190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CCP CI UI </a:t>
            </a:r>
            <a:r>
              <a:rPr lang="ko-KR" altLang="en-US" sz="3200" dirty="0" smtClean="0"/>
              <a:t>설계</a:t>
            </a:r>
            <a:r>
              <a:rPr lang="en-US" altLang="ko-KR" sz="3200" dirty="0" smtClean="0"/>
              <a:t> </a:t>
            </a:r>
            <a:r>
              <a:rPr lang="ko-KR" altLang="en-US" sz="3200" dirty="0" smtClean="0"/>
              <a:t>완료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214043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402265"/>
              </p:ext>
            </p:extLst>
          </p:nvPr>
        </p:nvGraphicFramePr>
        <p:xfrm>
          <a:off x="170564" y="2996952"/>
          <a:ext cx="1008112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/>
              </a:tblGrid>
              <a:tr h="1413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열차 번호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CI Index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고장 상태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79631" y="487787"/>
            <a:ext cx="5359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CI Index </a:t>
            </a:r>
            <a:r>
              <a:rPr lang="ko-KR" altLang="en-US" sz="3200" dirty="0" smtClean="0"/>
              <a:t>자동 설정 방식 </a:t>
            </a:r>
            <a:r>
              <a:rPr lang="en-US" altLang="ko-KR" sz="3200" dirty="0" smtClean="0"/>
              <a:t>1/2</a:t>
            </a:r>
            <a:endParaRPr lang="ko-KR" altLang="en-US" sz="3200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817947"/>
              </p:ext>
            </p:extLst>
          </p:nvPr>
        </p:nvGraphicFramePr>
        <p:xfrm>
          <a:off x="1466709" y="3001197"/>
          <a:ext cx="50405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/>
              </a:tblGrid>
              <a:tr h="1413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4001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778590"/>
              </p:ext>
            </p:extLst>
          </p:nvPr>
        </p:nvGraphicFramePr>
        <p:xfrm>
          <a:off x="2762853" y="3721277"/>
          <a:ext cx="50405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/>
              </a:tblGrid>
              <a:tr h="1413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4002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604618"/>
              </p:ext>
            </p:extLst>
          </p:nvPr>
        </p:nvGraphicFramePr>
        <p:xfrm>
          <a:off x="4563053" y="4513365"/>
          <a:ext cx="50405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/>
              </a:tblGrid>
              <a:tr h="1413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4003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895040"/>
              </p:ext>
            </p:extLst>
          </p:nvPr>
        </p:nvGraphicFramePr>
        <p:xfrm>
          <a:off x="5643173" y="5233445"/>
          <a:ext cx="50405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/>
              </a:tblGrid>
              <a:tr h="1413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4004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오른쪽 화살표 12"/>
          <p:cNvSpPr/>
          <p:nvPr/>
        </p:nvSpPr>
        <p:spPr>
          <a:xfrm rot="10800000">
            <a:off x="1481561" y="3937301"/>
            <a:ext cx="705228" cy="3143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오른쪽 화살표 13"/>
          <p:cNvSpPr/>
          <p:nvPr/>
        </p:nvSpPr>
        <p:spPr>
          <a:xfrm rot="10800000">
            <a:off x="1481561" y="4703097"/>
            <a:ext cx="2865468" cy="3143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오른쪽 화살표 14"/>
          <p:cNvSpPr/>
          <p:nvPr/>
        </p:nvSpPr>
        <p:spPr>
          <a:xfrm rot="10800000">
            <a:off x="1481561" y="5423177"/>
            <a:ext cx="3863842" cy="3143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1178677" y="2298235"/>
            <a:ext cx="1056412" cy="5379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4001 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열차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2387489" y="2298235"/>
            <a:ext cx="1056412" cy="5379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4002 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열차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4131005" y="2298235"/>
            <a:ext cx="1056412" cy="5379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4003 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열차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5345403" y="2289457"/>
            <a:ext cx="1056412" cy="5379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4004 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열차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오른쪽 화살표 19"/>
          <p:cNvSpPr/>
          <p:nvPr/>
        </p:nvSpPr>
        <p:spPr>
          <a:xfrm rot="5400000">
            <a:off x="1282039" y="1930377"/>
            <a:ext cx="225323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5195725" y="3359061"/>
            <a:ext cx="3201268" cy="40011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차량이 </a:t>
            </a:r>
            <a:r>
              <a:rPr lang="en-US" altLang="ko-KR" sz="1000" dirty="0" smtClean="0"/>
              <a:t>Power On</a:t>
            </a:r>
            <a:r>
              <a:rPr lang="ko-KR" altLang="en-US" sz="1000" dirty="0" smtClean="0"/>
              <a:t>이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되면 각 차량의 </a:t>
            </a:r>
            <a:r>
              <a:rPr lang="en-US" altLang="ko-KR" sz="1000" dirty="0" smtClean="0"/>
              <a:t>LIC </a:t>
            </a:r>
            <a:r>
              <a:rPr lang="ko-KR" altLang="en-US" sz="1000" dirty="0" smtClean="0"/>
              <a:t>보드는 현재 자신의 설정 상태를 선두 차량으로 전송 합니다</a:t>
            </a:r>
            <a:r>
              <a:rPr lang="en-US" altLang="ko-KR" sz="1000" dirty="0" smtClean="0"/>
              <a:t>.</a:t>
            </a:r>
            <a:endParaRPr lang="ko-KR" altLang="en-US" sz="1000" dirty="0"/>
          </a:p>
        </p:txBody>
      </p:sp>
      <p:cxnSp>
        <p:nvCxnSpPr>
          <p:cNvPr id="23" name="직선 화살표 연결선 22"/>
          <p:cNvCxnSpPr/>
          <p:nvPr/>
        </p:nvCxnSpPr>
        <p:spPr>
          <a:xfrm flipH="1">
            <a:off x="5195725" y="3759171"/>
            <a:ext cx="1023512" cy="14742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flipH="1">
            <a:off x="3986989" y="3759171"/>
            <a:ext cx="2160240" cy="9439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/>
          <p:nvPr/>
        </p:nvCxnSpPr>
        <p:spPr>
          <a:xfrm flipH="1">
            <a:off x="2387489" y="3759171"/>
            <a:ext cx="3615724" cy="3352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019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05846"/>
              </p:ext>
            </p:extLst>
          </p:nvPr>
        </p:nvGraphicFramePr>
        <p:xfrm>
          <a:off x="1921077" y="2500888"/>
          <a:ext cx="50405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/>
              </a:tblGrid>
              <a:tr h="1413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4001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830016"/>
              </p:ext>
            </p:extLst>
          </p:nvPr>
        </p:nvGraphicFramePr>
        <p:xfrm>
          <a:off x="1929461" y="3220968"/>
          <a:ext cx="50405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/>
              </a:tblGrid>
              <a:tr h="1413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4002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971157"/>
              </p:ext>
            </p:extLst>
          </p:nvPr>
        </p:nvGraphicFramePr>
        <p:xfrm>
          <a:off x="1929461" y="4013056"/>
          <a:ext cx="50405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/>
              </a:tblGrid>
              <a:tr h="1413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4003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272500"/>
              </p:ext>
            </p:extLst>
          </p:nvPr>
        </p:nvGraphicFramePr>
        <p:xfrm>
          <a:off x="1929461" y="4733136"/>
          <a:ext cx="50405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/>
              </a:tblGrid>
              <a:tr h="1413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4004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모서리가 둥근 직사각형 10"/>
          <p:cNvSpPr/>
          <p:nvPr/>
        </p:nvSpPr>
        <p:spPr>
          <a:xfrm>
            <a:off x="1633045" y="1797926"/>
            <a:ext cx="1056412" cy="5379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4001 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열차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2841857" y="1797926"/>
            <a:ext cx="1056412" cy="5379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4002 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열차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4585373" y="1797926"/>
            <a:ext cx="1056412" cy="5379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4003 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열차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5799771" y="1789148"/>
            <a:ext cx="1056412" cy="5379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4004 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열차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오른쪽 화살표 14"/>
          <p:cNvSpPr/>
          <p:nvPr/>
        </p:nvSpPr>
        <p:spPr>
          <a:xfrm rot="5400000">
            <a:off x="1736407" y="1430068"/>
            <a:ext cx="225323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4359611" y="2702478"/>
            <a:ext cx="3201268" cy="55399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선두 차량에서는 수집된 정보 분석한다</a:t>
            </a:r>
            <a:r>
              <a:rPr lang="en-US" altLang="ko-KR" sz="1000" dirty="0" smtClean="0"/>
              <a:t>.</a:t>
            </a:r>
            <a:r>
              <a:rPr lang="ko-KR" altLang="en-US" sz="1000" dirty="0" smtClean="0"/>
              <a:t> 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Index </a:t>
            </a:r>
            <a:r>
              <a:rPr lang="ko-KR" altLang="en-US" sz="1000" dirty="0" smtClean="0"/>
              <a:t>번호가 </a:t>
            </a:r>
            <a:r>
              <a:rPr lang="en-US" altLang="ko-KR" sz="1000" dirty="0" smtClean="0"/>
              <a:t>0</a:t>
            </a:r>
            <a:r>
              <a:rPr lang="ko-KR" altLang="en-US" sz="1000" dirty="0" smtClean="0"/>
              <a:t>일 경우 열차 순서대로 </a:t>
            </a:r>
            <a:r>
              <a:rPr lang="en-US" altLang="ko-KR" sz="1000" dirty="0" smtClean="0"/>
              <a:t>Index </a:t>
            </a:r>
            <a:r>
              <a:rPr lang="ko-KR" altLang="en-US" sz="1000" dirty="0" smtClean="0"/>
              <a:t>번호를 삽입하여 각 차량으로 전송 한다</a:t>
            </a:r>
            <a:r>
              <a:rPr lang="en-US" altLang="ko-KR" sz="1000" dirty="0" smtClean="0"/>
              <a:t>.</a:t>
            </a:r>
            <a:endParaRPr lang="ko-KR" altLang="en-US" sz="1000" dirty="0"/>
          </a:p>
        </p:txBody>
      </p:sp>
      <p:sp>
        <p:nvSpPr>
          <p:cNvPr id="17" name="오른쪽 화살표 16"/>
          <p:cNvSpPr/>
          <p:nvPr/>
        </p:nvSpPr>
        <p:spPr>
          <a:xfrm>
            <a:off x="2559411" y="3400331"/>
            <a:ext cx="936104" cy="3143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오른쪽 화살표 17"/>
          <p:cNvSpPr/>
          <p:nvPr/>
        </p:nvSpPr>
        <p:spPr>
          <a:xfrm>
            <a:off x="2559411" y="4120411"/>
            <a:ext cx="2554168" cy="3143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오른쪽 화살표 18"/>
          <p:cNvSpPr/>
          <p:nvPr/>
        </p:nvSpPr>
        <p:spPr>
          <a:xfrm>
            <a:off x="2559410" y="4840491"/>
            <a:ext cx="3753165" cy="3143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/>
          <p:cNvCxnSpPr/>
          <p:nvPr/>
        </p:nvCxnSpPr>
        <p:spPr>
          <a:xfrm flipH="1">
            <a:off x="3635896" y="3256476"/>
            <a:ext cx="1477683" cy="3010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 flipH="1">
            <a:off x="4788024" y="3256476"/>
            <a:ext cx="325555" cy="8639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>
            <a:off x="5113579" y="3256476"/>
            <a:ext cx="686192" cy="15840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979631" y="487787"/>
            <a:ext cx="5359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CI Index </a:t>
            </a:r>
            <a:r>
              <a:rPr lang="ko-KR" altLang="en-US" sz="3200" dirty="0" smtClean="0"/>
              <a:t>자동 설정 방식 </a:t>
            </a:r>
            <a:r>
              <a:rPr lang="en-US" altLang="ko-KR" sz="3200" dirty="0"/>
              <a:t>2</a:t>
            </a:r>
            <a:r>
              <a:rPr lang="en-US" altLang="ko-KR" sz="3200" dirty="0" smtClean="0"/>
              <a:t>/2</a:t>
            </a:r>
            <a:endParaRPr lang="ko-KR" altLang="en-US" sz="3200" dirty="0"/>
          </a:p>
        </p:txBody>
      </p:sp>
      <p:cxnSp>
        <p:nvCxnSpPr>
          <p:cNvPr id="31" name="직선 화살표 연결선 30"/>
          <p:cNvCxnSpPr/>
          <p:nvPr/>
        </p:nvCxnSpPr>
        <p:spPr>
          <a:xfrm>
            <a:off x="1331640" y="2852936"/>
            <a:ext cx="51742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>
            <a:off x="1318268" y="3501008"/>
            <a:ext cx="51742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1318268" y="4365104"/>
            <a:ext cx="51742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1318268" y="5013176"/>
            <a:ext cx="51742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532964"/>
              </p:ext>
            </p:extLst>
          </p:nvPr>
        </p:nvGraphicFramePr>
        <p:xfrm>
          <a:off x="179512" y="2532896"/>
          <a:ext cx="1008112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/>
              </a:tblGrid>
              <a:tr h="1413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열차 번호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CI Index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고장 상태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5650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79631" y="487787"/>
            <a:ext cx="57695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CI </a:t>
            </a:r>
            <a:r>
              <a:rPr lang="ko-KR" altLang="en-US" sz="3200" dirty="0" err="1" smtClean="0"/>
              <a:t>고장시</a:t>
            </a:r>
            <a:r>
              <a:rPr lang="ko-KR" altLang="en-US" sz="3200" dirty="0" smtClean="0"/>
              <a:t> </a:t>
            </a:r>
            <a:r>
              <a:rPr lang="en-US" altLang="ko-KR" sz="3200" dirty="0" smtClean="0"/>
              <a:t>Index </a:t>
            </a:r>
            <a:r>
              <a:rPr lang="ko-KR" altLang="en-US" sz="3200" dirty="0" smtClean="0"/>
              <a:t>설정</a:t>
            </a:r>
            <a:r>
              <a:rPr lang="en-US" altLang="ko-KR" sz="3200" dirty="0" smtClean="0"/>
              <a:t> </a:t>
            </a:r>
            <a:r>
              <a:rPr lang="ko-KR" altLang="en-US" sz="3200" dirty="0" smtClean="0"/>
              <a:t>방식 </a:t>
            </a:r>
            <a:r>
              <a:rPr lang="en-US" altLang="ko-KR" sz="3200" dirty="0" smtClean="0"/>
              <a:t>1/2</a:t>
            </a:r>
            <a:endParaRPr lang="ko-KR" altLang="en-US" sz="3200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323287"/>
              </p:ext>
            </p:extLst>
          </p:nvPr>
        </p:nvGraphicFramePr>
        <p:xfrm>
          <a:off x="1466709" y="3001197"/>
          <a:ext cx="50405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/>
              </a:tblGrid>
              <a:tr h="1413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4001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026520"/>
              </p:ext>
            </p:extLst>
          </p:nvPr>
        </p:nvGraphicFramePr>
        <p:xfrm>
          <a:off x="4563053" y="3869040"/>
          <a:ext cx="50405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/>
              </a:tblGrid>
              <a:tr h="1413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4003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3bit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오른쪽 화살표 13"/>
          <p:cNvSpPr/>
          <p:nvPr/>
        </p:nvSpPr>
        <p:spPr>
          <a:xfrm rot="10800000">
            <a:off x="1481561" y="4058772"/>
            <a:ext cx="2865468" cy="3143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1178677" y="2298235"/>
            <a:ext cx="1056412" cy="5379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4001 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열차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2387489" y="2298235"/>
            <a:ext cx="1056412" cy="5379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4002 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열차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4131005" y="2298235"/>
            <a:ext cx="1056412" cy="5379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4003 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열차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5345403" y="2289457"/>
            <a:ext cx="1056412" cy="5379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4004 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열차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오른쪽 화살표 19"/>
          <p:cNvSpPr/>
          <p:nvPr/>
        </p:nvSpPr>
        <p:spPr>
          <a:xfrm rot="5400000">
            <a:off x="1282039" y="1930377"/>
            <a:ext cx="225323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3263761" y="5013176"/>
            <a:ext cx="3201268" cy="24622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CI </a:t>
            </a:r>
            <a:r>
              <a:rPr lang="ko-KR" altLang="en-US" sz="1000" dirty="0" smtClean="0"/>
              <a:t>고장 발생시 고장 상태를 선두 차량으로 전송 한다</a:t>
            </a:r>
            <a:r>
              <a:rPr lang="en-US" altLang="ko-KR" sz="1000" dirty="0" smtClean="0"/>
              <a:t>.</a:t>
            </a:r>
            <a:endParaRPr lang="ko-KR" altLang="en-US" sz="1000" dirty="0"/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791185"/>
              </p:ext>
            </p:extLst>
          </p:nvPr>
        </p:nvGraphicFramePr>
        <p:xfrm>
          <a:off x="2662266" y="2996952"/>
          <a:ext cx="50405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/>
              </a:tblGrid>
              <a:tr h="1413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4002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807420"/>
              </p:ext>
            </p:extLst>
          </p:nvPr>
        </p:nvGraphicFramePr>
        <p:xfrm>
          <a:off x="5760132" y="2996952"/>
          <a:ext cx="50405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/>
              </a:tblGrid>
              <a:tr h="1413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4004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3" name="직선 화살표 연결선 2"/>
          <p:cNvCxnSpPr/>
          <p:nvPr/>
        </p:nvCxnSpPr>
        <p:spPr>
          <a:xfrm flipH="1">
            <a:off x="5187417" y="4437112"/>
            <a:ext cx="464703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stCxn id="21" idx="0"/>
          </p:cNvCxnSpPr>
          <p:nvPr/>
        </p:nvCxnSpPr>
        <p:spPr>
          <a:xfrm flipH="1" flipV="1">
            <a:off x="3923928" y="4373096"/>
            <a:ext cx="940467" cy="64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559280"/>
              </p:ext>
            </p:extLst>
          </p:nvPr>
        </p:nvGraphicFramePr>
        <p:xfrm>
          <a:off x="170564" y="2996952"/>
          <a:ext cx="1008112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/>
              </a:tblGrid>
              <a:tr h="1413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열차 번호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CI Index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고장 상태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1575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523047"/>
              </p:ext>
            </p:extLst>
          </p:nvPr>
        </p:nvGraphicFramePr>
        <p:xfrm>
          <a:off x="1921077" y="2500888"/>
          <a:ext cx="50405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/>
              </a:tblGrid>
              <a:tr h="1413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4001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3bit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900871"/>
              </p:ext>
            </p:extLst>
          </p:nvPr>
        </p:nvGraphicFramePr>
        <p:xfrm>
          <a:off x="1929461" y="3220968"/>
          <a:ext cx="50405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/>
              </a:tblGrid>
              <a:tr h="1413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4002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3bit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521605"/>
              </p:ext>
            </p:extLst>
          </p:nvPr>
        </p:nvGraphicFramePr>
        <p:xfrm>
          <a:off x="1929461" y="4013056"/>
          <a:ext cx="50405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/>
              </a:tblGrid>
              <a:tr h="1413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4003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815546"/>
              </p:ext>
            </p:extLst>
          </p:nvPr>
        </p:nvGraphicFramePr>
        <p:xfrm>
          <a:off x="1929461" y="4733136"/>
          <a:ext cx="50405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/>
              </a:tblGrid>
              <a:tr h="1413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4004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3bit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모서리가 둥근 직사각형 10"/>
          <p:cNvSpPr/>
          <p:nvPr/>
        </p:nvSpPr>
        <p:spPr>
          <a:xfrm>
            <a:off x="1633045" y="1797926"/>
            <a:ext cx="1056412" cy="5379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4001 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열차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2841857" y="1797926"/>
            <a:ext cx="1056412" cy="5379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4002 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열차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4585373" y="1797926"/>
            <a:ext cx="1056412" cy="5379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4003 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열차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5799771" y="1789148"/>
            <a:ext cx="1056412" cy="53797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4004 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열차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오른쪽 화살표 14"/>
          <p:cNvSpPr/>
          <p:nvPr/>
        </p:nvSpPr>
        <p:spPr>
          <a:xfrm rot="5400000">
            <a:off x="1736407" y="1430068"/>
            <a:ext cx="225323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4552763" y="3000839"/>
            <a:ext cx="3816424" cy="86177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1) </a:t>
            </a:r>
            <a:r>
              <a:rPr lang="ko-KR" altLang="en-US" sz="1000" dirty="0" smtClean="0"/>
              <a:t>선두 차량에서는 수집된 정보 분석하여 </a:t>
            </a:r>
            <a:r>
              <a:rPr lang="en-US" altLang="ko-KR" sz="1000" dirty="0" smtClean="0"/>
              <a:t>Fault CI Index </a:t>
            </a:r>
            <a:r>
              <a:rPr lang="ko-KR" altLang="en-US" sz="1000" dirty="0" smtClean="0"/>
              <a:t>정보를 다른 차량으로 전달 합니다</a:t>
            </a:r>
            <a:r>
              <a:rPr lang="en-US" altLang="ko-KR" sz="1000" dirty="0" smtClean="0"/>
              <a:t>.</a:t>
            </a:r>
            <a:endParaRPr lang="en-US" altLang="ko-KR" sz="1000" dirty="0"/>
          </a:p>
          <a:p>
            <a:r>
              <a:rPr lang="en-US" altLang="ko-KR" sz="1000" dirty="0" smtClean="0"/>
              <a:t>2) </a:t>
            </a:r>
            <a:r>
              <a:rPr lang="ko-KR" altLang="en-US" sz="1000" dirty="0" smtClean="0"/>
              <a:t>고장 발생시 </a:t>
            </a:r>
            <a:r>
              <a:rPr lang="en-US" altLang="ko-KR" sz="1000" dirty="0" smtClean="0"/>
              <a:t>CCP </a:t>
            </a:r>
            <a:r>
              <a:rPr lang="ko-KR" altLang="en-US" sz="1000" dirty="0" smtClean="0"/>
              <a:t>화면에 고장 </a:t>
            </a:r>
            <a:r>
              <a:rPr lang="en-US" altLang="ko-KR" sz="1000" dirty="0" smtClean="0"/>
              <a:t>Message</a:t>
            </a:r>
            <a:r>
              <a:rPr lang="ko-KR" altLang="en-US" sz="1000" dirty="0" smtClean="0"/>
              <a:t>를 현시 하고 고장</a:t>
            </a:r>
            <a:r>
              <a:rPr lang="en-US" altLang="ko-KR" sz="1000" dirty="0" smtClean="0"/>
              <a:t>,</a:t>
            </a:r>
          </a:p>
          <a:p>
            <a:r>
              <a:rPr lang="en-US" altLang="ko-KR" sz="1000" dirty="0" smtClean="0"/>
              <a:t>3) </a:t>
            </a:r>
            <a:r>
              <a:rPr lang="ko-KR" altLang="en-US" sz="1000" dirty="0" smtClean="0"/>
              <a:t>고장 차량 정보도 현시 합니다</a:t>
            </a:r>
            <a:r>
              <a:rPr lang="en-US" altLang="ko-KR" sz="1000" dirty="0" smtClean="0"/>
              <a:t>.</a:t>
            </a:r>
          </a:p>
          <a:p>
            <a:endParaRPr lang="ko-KR" altLang="en-US" sz="1000" dirty="0"/>
          </a:p>
        </p:txBody>
      </p:sp>
      <p:sp>
        <p:nvSpPr>
          <p:cNvPr id="17" name="오른쪽 화살표 16"/>
          <p:cNvSpPr/>
          <p:nvPr/>
        </p:nvSpPr>
        <p:spPr>
          <a:xfrm>
            <a:off x="2559411" y="3400331"/>
            <a:ext cx="936104" cy="3143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오른쪽 화살표 18"/>
          <p:cNvSpPr/>
          <p:nvPr/>
        </p:nvSpPr>
        <p:spPr>
          <a:xfrm>
            <a:off x="2559410" y="4840491"/>
            <a:ext cx="3753165" cy="3143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1979631" y="487787"/>
            <a:ext cx="5359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CI Index </a:t>
            </a:r>
            <a:r>
              <a:rPr lang="ko-KR" altLang="en-US" sz="3200" dirty="0" smtClean="0"/>
              <a:t>자동 설정 방식 </a:t>
            </a:r>
            <a:r>
              <a:rPr lang="en-US" altLang="ko-KR" sz="3200" dirty="0"/>
              <a:t>2</a:t>
            </a:r>
            <a:r>
              <a:rPr lang="en-US" altLang="ko-KR" sz="3200" dirty="0" smtClean="0"/>
              <a:t>/2</a:t>
            </a:r>
            <a:endParaRPr lang="ko-KR" altLang="en-US" sz="3200" dirty="0"/>
          </a:p>
        </p:txBody>
      </p:sp>
      <p:sp>
        <p:nvSpPr>
          <p:cNvPr id="24" name="Freeform 9"/>
          <p:cNvSpPr>
            <a:spLocks/>
          </p:cNvSpPr>
          <p:nvPr/>
        </p:nvSpPr>
        <p:spPr bwMode="auto">
          <a:xfrm>
            <a:off x="1860419" y="4005064"/>
            <a:ext cx="601663" cy="601663"/>
          </a:xfrm>
          <a:custGeom>
            <a:avLst/>
            <a:gdLst>
              <a:gd name="T0" fmla="*/ 655 w 759"/>
              <a:gd name="T1" fmla="*/ 0 h 758"/>
              <a:gd name="T2" fmla="*/ 759 w 759"/>
              <a:gd name="T3" fmla="*/ 104 h 758"/>
              <a:gd name="T4" fmla="*/ 483 w 759"/>
              <a:gd name="T5" fmla="*/ 379 h 758"/>
              <a:gd name="T6" fmla="*/ 759 w 759"/>
              <a:gd name="T7" fmla="*/ 655 h 758"/>
              <a:gd name="T8" fmla="*/ 655 w 759"/>
              <a:gd name="T9" fmla="*/ 758 h 758"/>
              <a:gd name="T10" fmla="*/ 380 w 759"/>
              <a:gd name="T11" fmla="*/ 483 h 758"/>
              <a:gd name="T12" fmla="*/ 104 w 759"/>
              <a:gd name="T13" fmla="*/ 758 h 758"/>
              <a:gd name="T14" fmla="*/ 0 w 759"/>
              <a:gd name="T15" fmla="*/ 655 h 758"/>
              <a:gd name="T16" fmla="*/ 276 w 759"/>
              <a:gd name="T17" fmla="*/ 379 h 758"/>
              <a:gd name="T18" fmla="*/ 0 w 759"/>
              <a:gd name="T19" fmla="*/ 104 h 758"/>
              <a:gd name="T20" fmla="*/ 104 w 759"/>
              <a:gd name="T21" fmla="*/ 0 h 758"/>
              <a:gd name="T22" fmla="*/ 380 w 759"/>
              <a:gd name="T23" fmla="*/ 275 h 758"/>
              <a:gd name="T24" fmla="*/ 655 w 759"/>
              <a:gd name="T25" fmla="*/ 0 h 7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59" h="758">
                <a:moveTo>
                  <a:pt x="655" y="0"/>
                </a:moveTo>
                <a:lnTo>
                  <a:pt x="759" y="104"/>
                </a:lnTo>
                <a:lnTo>
                  <a:pt x="483" y="379"/>
                </a:lnTo>
                <a:lnTo>
                  <a:pt x="759" y="655"/>
                </a:lnTo>
                <a:lnTo>
                  <a:pt x="655" y="758"/>
                </a:lnTo>
                <a:lnTo>
                  <a:pt x="380" y="483"/>
                </a:lnTo>
                <a:lnTo>
                  <a:pt x="104" y="758"/>
                </a:lnTo>
                <a:lnTo>
                  <a:pt x="0" y="655"/>
                </a:lnTo>
                <a:lnTo>
                  <a:pt x="276" y="379"/>
                </a:lnTo>
                <a:lnTo>
                  <a:pt x="0" y="104"/>
                </a:lnTo>
                <a:lnTo>
                  <a:pt x="104" y="0"/>
                </a:lnTo>
                <a:lnTo>
                  <a:pt x="380" y="275"/>
                </a:lnTo>
                <a:lnTo>
                  <a:pt x="655" y="0"/>
                </a:lnTo>
                <a:close/>
              </a:path>
            </a:pathLst>
          </a:custGeom>
          <a:solidFill>
            <a:srgbClr val="FF1E2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69849"/>
              </p:ext>
            </p:extLst>
          </p:nvPr>
        </p:nvGraphicFramePr>
        <p:xfrm>
          <a:off x="395536" y="2492896"/>
          <a:ext cx="1008112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/>
              </a:tblGrid>
              <a:tr h="1413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열차 번호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CI Index </a:t>
                      </a:r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57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/>
                          </a:solidFill>
                        </a:rPr>
                        <a:t>고장 상태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3" name="직선 화살표 연결선 2"/>
          <p:cNvCxnSpPr/>
          <p:nvPr/>
        </p:nvCxnSpPr>
        <p:spPr>
          <a:xfrm>
            <a:off x="1547664" y="3037430"/>
            <a:ext cx="31275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>
            <a:off x="1547664" y="3757510"/>
            <a:ext cx="31275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>
            <a:off x="1547664" y="5259168"/>
            <a:ext cx="31275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52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317</Words>
  <Application>Microsoft Office PowerPoint</Application>
  <PresentationFormat>화면 슬라이드 쇼(4:3)</PresentationFormat>
  <Paragraphs>116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MDS SW 3월 3째주 진행 사항.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JDS_SSD</dc:creator>
  <cp:lastModifiedBy>JDS_SSD</cp:lastModifiedBy>
  <cp:revision>15</cp:revision>
  <dcterms:created xsi:type="dcterms:W3CDTF">2012-03-22T06:13:13Z</dcterms:created>
  <dcterms:modified xsi:type="dcterms:W3CDTF">2012-03-23T06:14:08Z</dcterms:modified>
</cp:coreProperties>
</file>