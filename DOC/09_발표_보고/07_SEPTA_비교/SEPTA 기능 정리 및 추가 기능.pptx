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1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EFAE0-BD51-4F12-9277-A46DFC0F0E3A}" type="datetimeFigureOut">
              <a:rPr lang="ko-KR" altLang="en-US" smtClean="0"/>
              <a:pPr/>
              <a:t>2011-02-14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BCF4-194C-4E83-A14C-90E20D01C8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EFAE0-BD51-4F12-9277-A46DFC0F0E3A}" type="datetimeFigureOut">
              <a:rPr lang="ko-KR" altLang="en-US" smtClean="0"/>
              <a:pPr/>
              <a:t>2011-02-14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BCF4-194C-4E83-A14C-90E20D01C8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EFAE0-BD51-4F12-9277-A46DFC0F0E3A}" type="datetimeFigureOut">
              <a:rPr lang="ko-KR" altLang="en-US" smtClean="0"/>
              <a:pPr/>
              <a:t>2011-02-14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BCF4-194C-4E83-A14C-90E20D01C8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EFAE0-BD51-4F12-9277-A46DFC0F0E3A}" type="datetimeFigureOut">
              <a:rPr lang="ko-KR" altLang="en-US" smtClean="0"/>
              <a:pPr/>
              <a:t>2011-02-14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BCF4-194C-4E83-A14C-90E20D01C8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EFAE0-BD51-4F12-9277-A46DFC0F0E3A}" type="datetimeFigureOut">
              <a:rPr lang="ko-KR" altLang="en-US" smtClean="0"/>
              <a:pPr/>
              <a:t>2011-02-14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BCF4-194C-4E83-A14C-90E20D01C8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EFAE0-BD51-4F12-9277-A46DFC0F0E3A}" type="datetimeFigureOut">
              <a:rPr lang="ko-KR" altLang="en-US" smtClean="0"/>
              <a:pPr/>
              <a:t>2011-02-14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BCF4-194C-4E83-A14C-90E20D01C8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EFAE0-BD51-4F12-9277-A46DFC0F0E3A}" type="datetimeFigureOut">
              <a:rPr lang="ko-KR" altLang="en-US" smtClean="0"/>
              <a:pPr/>
              <a:t>2011-02-14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BCF4-194C-4E83-A14C-90E20D01C8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EFAE0-BD51-4F12-9277-A46DFC0F0E3A}" type="datetimeFigureOut">
              <a:rPr lang="ko-KR" altLang="en-US" smtClean="0"/>
              <a:pPr/>
              <a:t>2011-02-14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BCF4-194C-4E83-A14C-90E20D01C8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EFAE0-BD51-4F12-9277-A46DFC0F0E3A}" type="datetimeFigureOut">
              <a:rPr lang="ko-KR" altLang="en-US" smtClean="0"/>
              <a:pPr/>
              <a:t>2011-02-14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BCF4-194C-4E83-A14C-90E20D01C8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EFAE0-BD51-4F12-9277-A46DFC0F0E3A}" type="datetimeFigureOut">
              <a:rPr lang="ko-KR" altLang="en-US" smtClean="0"/>
              <a:pPr/>
              <a:t>2011-02-14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BCF4-194C-4E83-A14C-90E20D01C8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EFAE0-BD51-4F12-9277-A46DFC0F0E3A}" type="datetimeFigureOut">
              <a:rPr lang="ko-KR" altLang="en-US" smtClean="0"/>
              <a:pPr/>
              <a:t>2011-02-14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BCF4-194C-4E83-A14C-90E20D01C8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EFAE0-BD51-4F12-9277-A46DFC0F0E3A}" type="datetimeFigureOut">
              <a:rPr lang="ko-KR" altLang="en-US" smtClean="0"/>
              <a:pPr/>
              <a:t>2011-02-14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2BCF4-194C-4E83-A14C-90E20D01C8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700808"/>
            <a:ext cx="3312368" cy="1541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1" name="그룹 20"/>
          <p:cNvGrpSpPr/>
          <p:nvPr/>
        </p:nvGrpSpPr>
        <p:grpSpPr>
          <a:xfrm>
            <a:off x="5868144" y="1556792"/>
            <a:ext cx="1357322" cy="3571900"/>
            <a:chOff x="1475656" y="2492896"/>
            <a:chExt cx="1357322" cy="3571900"/>
          </a:xfrm>
        </p:grpSpPr>
        <p:sp>
          <p:nvSpPr>
            <p:cNvPr id="5" name="직사각형 4"/>
            <p:cNvSpPr/>
            <p:nvPr/>
          </p:nvSpPr>
          <p:spPr>
            <a:xfrm>
              <a:off x="1475656" y="2492896"/>
              <a:ext cx="1357322" cy="285752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PSA</a:t>
              </a:r>
              <a:endParaRPr lang="ko-KR" altLang="en-US" dirty="0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475656" y="2778648"/>
              <a:ext cx="1357322" cy="285752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SCB</a:t>
              </a:r>
              <a:endParaRPr lang="ko-KR" altLang="en-US" dirty="0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1475656" y="3064400"/>
              <a:ext cx="1357322" cy="28575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LIC</a:t>
              </a:r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475656" y="3350152"/>
              <a:ext cx="1357322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WLR</a:t>
              </a:r>
              <a:endParaRPr lang="ko-KR" altLang="en-US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475656" y="3635904"/>
              <a:ext cx="1357322" cy="28575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GIA</a:t>
              </a:r>
              <a:endParaRPr lang="ko-KR" altLang="en-US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475656" y="3921656"/>
              <a:ext cx="1357322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VTX</a:t>
              </a:r>
              <a:endParaRPr lang="ko-KR" altLang="en-US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475656" y="4207408"/>
              <a:ext cx="1357322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HDD</a:t>
              </a:r>
              <a:endParaRPr lang="ko-KR" altLang="en-US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475656" y="4493160"/>
              <a:ext cx="1357322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CNCS</a:t>
              </a:r>
              <a:endParaRPr lang="ko-KR" altLang="en-US" dirty="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475656" y="4778912"/>
              <a:ext cx="1357322" cy="8572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dirty="0" smtClean="0"/>
                <a:t>PAC</a:t>
              </a:r>
              <a:endParaRPr lang="ko-KR" altLang="en-US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475656" y="5636168"/>
              <a:ext cx="1357322" cy="428628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dirty="0" smtClean="0"/>
                <a:t>AAB </a:t>
              </a:r>
              <a:endParaRPr lang="ko-KR" altLang="en-US" dirty="0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047160" y="4778912"/>
              <a:ext cx="785818" cy="21431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INT</a:t>
              </a:r>
              <a:endParaRPr lang="ko-KR" altLang="en-US" sz="1000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2047160" y="4993226"/>
              <a:ext cx="785818" cy="21431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MCU</a:t>
              </a:r>
              <a:endParaRPr lang="ko-KR" altLang="en-US" sz="1000" dirty="0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047160" y="5207540"/>
              <a:ext cx="785818" cy="21431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VOL</a:t>
              </a:r>
              <a:endParaRPr lang="ko-KR" altLang="en-US" sz="1000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2047160" y="5421854"/>
              <a:ext cx="785818" cy="21431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485</a:t>
              </a:r>
              <a:endParaRPr lang="ko-KR" altLang="en-US" sz="1000" dirty="0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2047160" y="5636168"/>
              <a:ext cx="785818" cy="21431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amp</a:t>
              </a:r>
              <a:endParaRPr lang="ko-KR" altLang="en-US" sz="1000" dirty="0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2047160" y="5850482"/>
              <a:ext cx="785818" cy="21431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latin typeface="Consolas" pitchFamily="49" charset="0"/>
                </a:rPr>
                <a:t>Power</a:t>
              </a:r>
              <a:endParaRPr lang="ko-KR" altLang="en-US" sz="800" dirty="0">
                <a:latin typeface="Consolas" pitchFamily="49" charset="0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1187624" y="3861048"/>
            <a:ext cx="3024336" cy="1080120"/>
            <a:chOff x="4139952" y="2780928"/>
            <a:chExt cx="3024336" cy="1080120"/>
          </a:xfrm>
        </p:grpSpPr>
        <p:sp>
          <p:nvSpPr>
            <p:cNvPr id="22" name="직사각형 21"/>
            <p:cNvSpPr/>
            <p:nvPr/>
          </p:nvSpPr>
          <p:spPr>
            <a:xfrm>
              <a:off x="5364088" y="2780928"/>
              <a:ext cx="720080" cy="2160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CNCS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4139952" y="3645024"/>
              <a:ext cx="720080" cy="2160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MCU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364088" y="3645024"/>
              <a:ext cx="720080" cy="2160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GIA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444208" y="3645024"/>
              <a:ext cx="720080" cy="2160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LIC_MPU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꺾인 연결선 26"/>
            <p:cNvCxnSpPr>
              <a:stCxn id="22" idx="2"/>
              <a:endCxn id="23" idx="0"/>
            </p:cNvCxnSpPr>
            <p:nvPr/>
          </p:nvCxnSpPr>
          <p:spPr>
            <a:xfrm rot="5400000">
              <a:off x="4788024" y="2708920"/>
              <a:ext cx="648072" cy="1224136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꺾인 연결선 29"/>
            <p:cNvCxnSpPr>
              <a:stCxn id="22" idx="2"/>
              <a:endCxn id="24" idx="0"/>
            </p:cNvCxnSpPr>
            <p:nvPr/>
          </p:nvCxnSpPr>
          <p:spPr>
            <a:xfrm rot="5400000">
              <a:off x="5400092" y="3320988"/>
              <a:ext cx="648072" cy="15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꺾인 연결선 31"/>
            <p:cNvCxnSpPr>
              <a:stCxn id="22" idx="2"/>
              <a:endCxn id="25" idx="0"/>
            </p:cNvCxnSpPr>
            <p:nvPr/>
          </p:nvCxnSpPr>
          <p:spPr>
            <a:xfrm rot="16200000" flipH="1">
              <a:off x="5940152" y="2780928"/>
              <a:ext cx="648072" cy="108012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오른쪽 화살표 33"/>
          <p:cNvSpPr/>
          <p:nvPr/>
        </p:nvSpPr>
        <p:spPr>
          <a:xfrm>
            <a:off x="3635896" y="3501008"/>
            <a:ext cx="187220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2195736" y="692696"/>
            <a:ext cx="4392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CNCS</a:t>
            </a:r>
            <a:r>
              <a:rPr lang="ko-KR" altLang="en-US" dirty="0" smtClean="0"/>
              <a:t>를 통해 일관 다운로드 기능 추가</a:t>
            </a:r>
            <a:endParaRPr lang="en-US" altLang="ko-KR" dirty="0" smtClean="0"/>
          </a:p>
          <a:p>
            <a:pPr algn="ctr"/>
            <a:r>
              <a:rPr lang="en-US" altLang="ko-KR" sz="1000" dirty="0" smtClean="0"/>
              <a:t>(</a:t>
            </a:r>
            <a:r>
              <a:rPr lang="en-US" altLang="ko-KR" sz="1000" dirty="0"/>
              <a:t>F</a:t>
            </a:r>
            <a:r>
              <a:rPr lang="en-US" altLang="ko-KR" sz="1000" dirty="0" smtClean="0"/>
              <a:t>irmware, DATA)</a:t>
            </a:r>
            <a:endParaRPr lang="ko-KR" altLang="en-US" sz="1000" dirty="0"/>
          </a:p>
        </p:txBody>
      </p:sp>
      <p:sp>
        <p:nvSpPr>
          <p:cNvPr id="36" name="타원 35"/>
          <p:cNvSpPr/>
          <p:nvPr/>
        </p:nvSpPr>
        <p:spPr>
          <a:xfrm>
            <a:off x="7308304" y="4077072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7308304" y="2204864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/>
        </p:nvSpPr>
        <p:spPr>
          <a:xfrm>
            <a:off x="7308304" y="278092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92152" y="476672"/>
            <a:ext cx="4392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CNCS</a:t>
            </a:r>
            <a:r>
              <a:rPr lang="ko-KR" altLang="en-US" dirty="0" smtClean="0"/>
              <a:t>를 통해 일관 다운로드 기능 추가</a:t>
            </a:r>
            <a:endParaRPr lang="en-US" altLang="ko-KR" dirty="0" smtClean="0"/>
          </a:p>
          <a:p>
            <a:pPr algn="ctr"/>
            <a:r>
              <a:rPr lang="en-US" altLang="ko-KR" sz="1000" dirty="0" smtClean="0"/>
              <a:t>(</a:t>
            </a:r>
            <a:r>
              <a:rPr lang="en-US" altLang="ko-KR" sz="1000" dirty="0"/>
              <a:t>F</a:t>
            </a:r>
            <a:r>
              <a:rPr lang="en-US" altLang="ko-KR" sz="1000" dirty="0" smtClean="0"/>
              <a:t>irmware, DATA)</a:t>
            </a:r>
            <a:endParaRPr lang="ko-KR" altLang="en-US" sz="1000" dirty="0"/>
          </a:p>
        </p:txBody>
      </p:sp>
      <p:sp>
        <p:nvSpPr>
          <p:cNvPr id="5" name="직사각형 4"/>
          <p:cNvSpPr/>
          <p:nvPr/>
        </p:nvSpPr>
        <p:spPr>
          <a:xfrm>
            <a:off x="4067944" y="1116360"/>
            <a:ext cx="144016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CNCS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83568" y="2124472"/>
            <a:ext cx="432048" cy="288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LED</a:t>
            </a:r>
            <a:endParaRPr lang="ko-KR" altLang="en-US" sz="1000" dirty="0"/>
          </a:p>
        </p:txBody>
      </p:sp>
      <p:sp>
        <p:nvSpPr>
          <p:cNvPr id="7" name="직사각형 6"/>
          <p:cNvSpPr/>
          <p:nvPr/>
        </p:nvSpPr>
        <p:spPr>
          <a:xfrm>
            <a:off x="1259632" y="2124472"/>
            <a:ext cx="432048" cy="288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LED</a:t>
            </a:r>
            <a:endParaRPr lang="ko-KR" altLang="en-US" sz="1000" dirty="0"/>
          </a:p>
        </p:txBody>
      </p:sp>
      <p:sp>
        <p:nvSpPr>
          <p:cNvPr id="8" name="직사각형 7"/>
          <p:cNvSpPr/>
          <p:nvPr/>
        </p:nvSpPr>
        <p:spPr>
          <a:xfrm>
            <a:off x="1835696" y="2124472"/>
            <a:ext cx="432048" cy="288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LED</a:t>
            </a:r>
            <a:endParaRPr lang="ko-KR" altLang="en-US" sz="1000" dirty="0"/>
          </a:p>
        </p:txBody>
      </p:sp>
      <p:sp>
        <p:nvSpPr>
          <p:cNvPr id="9" name="직사각형 8"/>
          <p:cNvSpPr/>
          <p:nvPr/>
        </p:nvSpPr>
        <p:spPr>
          <a:xfrm>
            <a:off x="2483768" y="2124472"/>
            <a:ext cx="432048" cy="288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LED</a:t>
            </a:r>
            <a:endParaRPr lang="ko-KR" altLang="en-US" sz="1000" dirty="0"/>
          </a:p>
        </p:txBody>
      </p:sp>
      <p:sp>
        <p:nvSpPr>
          <p:cNvPr id="10" name="직사각형 9"/>
          <p:cNvSpPr/>
          <p:nvPr/>
        </p:nvSpPr>
        <p:spPr>
          <a:xfrm>
            <a:off x="3059832" y="2124472"/>
            <a:ext cx="432048" cy="288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LED</a:t>
            </a:r>
            <a:endParaRPr lang="ko-KR" altLang="en-US" sz="1000" dirty="0"/>
          </a:p>
        </p:txBody>
      </p:sp>
      <p:sp>
        <p:nvSpPr>
          <p:cNvPr id="11" name="직사각형 10"/>
          <p:cNvSpPr/>
          <p:nvPr/>
        </p:nvSpPr>
        <p:spPr>
          <a:xfrm>
            <a:off x="3635896" y="2124472"/>
            <a:ext cx="432048" cy="288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LED</a:t>
            </a:r>
            <a:endParaRPr lang="ko-KR" altLang="en-US" sz="1000" dirty="0"/>
          </a:p>
        </p:txBody>
      </p:sp>
      <p:cxnSp>
        <p:nvCxnSpPr>
          <p:cNvPr id="13" name="직선 연결선 12"/>
          <p:cNvCxnSpPr/>
          <p:nvPr/>
        </p:nvCxnSpPr>
        <p:spPr>
          <a:xfrm rot="5400000">
            <a:off x="4247964" y="2232484"/>
            <a:ext cx="79208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5148064" y="2124472"/>
            <a:ext cx="432048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CCP</a:t>
            </a:r>
            <a:endParaRPr lang="ko-KR" altLang="en-US" sz="1000" dirty="0"/>
          </a:p>
        </p:txBody>
      </p:sp>
      <p:sp>
        <p:nvSpPr>
          <p:cNvPr id="15" name="직사각형 14"/>
          <p:cNvSpPr/>
          <p:nvPr/>
        </p:nvSpPr>
        <p:spPr>
          <a:xfrm>
            <a:off x="5940152" y="2124472"/>
            <a:ext cx="432048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CCP</a:t>
            </a:r>
            <a:endParaRPr lang="ko-KR" altLang="en-US" sz="1000" dirty="0"/>
          </a:p>
        </p:txBody>
      </p:sp>
      <p:cxnSp>
        <p:nvCxnSpPr>
          <p:cNvPr id="17" name="직선 화살표 연결선 16"/>
          <p:cNvCxnSpPr>
            <a:stCxn id="5" idx="2"/>
          </p:cNvCxnSpPr>
          <p:nvPr/>
        </p:nvCxnSpPr>
        <p:spPr>
          <a:xfrm rot="5400000">
            <a:off x="2519772" y="-215788"/>
            <a:ext cx="648072" cy="38884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5" idx="2"/>
            <a:endCxn id="7" idx="0"/>
          </p:cNvCxnSpPr>
          <p:nvPr/>
        </p:nvCxnSpPr>
        <p:spPr>
          <a:xfrm rot="5400000">
            <a:off x="2771800" y="108248"/>
            <a:ext cx="720080" cy="331236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5" idx="2"/>
            <a:endCxn id="8" idx="0"/>
          </p:cNvCxnSpPr>
          <p:nvPr/>
        </p:nvCxnSpPr>
        <p:spPr>
          <a:xfrm rot="5400000">
            <a:off x="3059832" y="396280"/>
            <a:ext cx="720080" cy="273630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5" idx="2"/>
            <a:endCxn id="9" idx="0"/>
          </p:cNvCxnSpPr>
          <p:nvPr/>
        </p:nvCxnSpPr>
        <p:spPr>
          <a:xfrm rot="5400000">
            <a:off x="3383868" y="720316"/>
            <a:ext cx="720080" cy="20882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5" idx="2"/>
            <a:endCxn id="10" idx="0"/>
          </p:cNvCxnSpPr>
          <p:nvPr/>
        </p:nvCxnSpPr>
        <p:spPr>
          <a:xfrm rot="5400000">
            <a:off x="3671900" y="1008348"/>
            <a:ext cx="720080" cy="151216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5" idx="2"/>
            <a:endCxn id="11" idx="0"/>
          </p:cNvCxnSpPr>
          <p:nvPr/>
        </p:nvCxnSpPr>
        <p:spPr>
          <a:xfrm rot="5400000">
            <a:off x="3959932" y="1296380"/>
            <a:ext cx="720080" cy="93610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5" idx="2"/>
            <a:endCxn id="14" idx="0"/>
          </p:cNvCxnSpPr>
          <p:nvPr/>
        </p:nvCxnSpPr>
        <p:spPr>
          <a:xfrm rot="16200000" flipH="1">
            <a:off x="4716016" y="1476400"/>
            <a:ext cx="720080" cy="576064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5" idx="2"/>
            <a:endCxn id="15" idx="0"/>
          </p:cNvCxnSpPr>
          <p:nvPr/>
        </p:nvCxnSpPr>
        <p:spPr>
          <a:xfrm rot="16200000" flipH="1">
            <a:off x="5112060" y="1080356"/>
            <a:ext cx="720080" cy="1368152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403648" y="2772544"/>
            <a:ext cx="5976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 smtClean="0"/>
              <a:t>현재 </a:t>
            </a:r>
            <a:r>
              <a:rPr lang="en-US" altLang="ko-KR" sz="1400" dirty="0" smtClean="0"/>
              <a:t>LED </a:t>
            </a:r>
            <a:r>
              <a:rPr lang="ko-KR" altLang="en-US" sz="1400" dirty="0" smtClean="0"/>
              <a:t>및 </a:t>
            </a:r>
            <a:r>
              <a:rPr lang="en-US" altLang="ko-KR" sz="1400" dirty="0" smtClean="0"/>
              <a:t>CCP -&gt; </a:t>
            </a:r>
            <a:r>
              <a:rPr lang="ko-KR" altLang="en-US" sz="1400" dirty="0" smtClean="0"/>
              <a:t>개별 다운로드 방식으로 시간이 오래 걸린다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4139952" y="3492624"/>
            <a:ext cx="144016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CNCS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755576" y="4572744"/>
            <a:ext cx="432048" cy="288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LED</a:t>
            </a:r>
            <a:endParaRPr lang="ko-KR" altLang="en-US" sz="1000" dirty="0"/>
          </a:p>
        </p:txBody>
      </p:sp>
      <p:sp>
        <p:nvSpPr>
          <p:cNvPr id="38" name="직사각형 37"/>
          <p:cNvSpPr/>
          <p:nvPr/>
        </p:nvSpPr>
        <p:spPr>
          <a:xfrm>
            <a:off x="1331640" y="4572744"/>
            <a:ext cx="432048" cy="288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LED</a:t>
            </a:r>
            <a:endParaRPr lang="ko-KR" altLang="en-US" sz="1000" dirty="0"/>
          </a:p>
        </p:txBody>
      </p:sp>
      <p:sp>
        <p:nvSpPr>
          <p:cNvPr id="39" name="직사각형 38"/>
          <p:cNvSpPr/>
          <p:nvPr/>
        </p:nvSpPr>
        <p:spPr>
          <a:xfrm>
            <a:off x="1907704" y="4572744"/>
            <a:ext cx="432048" cy="288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LED</a:t>
            </a:r>
            <a:endParaRPr lang="ko-KR" altLang="en-US" sz="1000" dirty="0"/>
          </a:p>
        </p:txBody>
      </p:sp>
      <p:sp>
        <p:nvSpPr>
          <p:cNvPr id="40" name="직사각형 39"/>
          <p:cNvSpPr/>
          <p:nvPr/>
        </p:nvSpPr>
        <p:spPr>
          <a:xfrm>
            <a:off x="2555776" y="4572744"/>
            <a:ext cx="432048" cy="288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LED</a:t>
            </a:r>
            <a:endParaRPr lang="ko-KR" altLang="en-US" sz="1000" dirty="0"/>
          </a:p>
        </p:txBody>
      </p:sp>
      <p:sp>
        <p:nvSpPr>
          <p:cNvPr id="41" name="직사각형 40"/>
          <p:cNvSpPr/>
          <p:nvPr/>
        </p:nvSpPr>
        <p:spPr>
          <a:xfrm>
            <a:off x="3131840" y="4572744"/>
            <a:ext cx="432048" cy="288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LED</a:t>
            </a:r>
            <a:endParaRPr lang="ko-KR" altLang="en-US" sz="1000" dirty="0"/>
          </a:p>
        </p:txBody>
      </p:sp>
      <p:sp>
        <p:nvSpPr>
          <p:cNvPr id="42" name="직사각형 41"/>
          <p:cNvSpPr/>
          <p:nvPr/>
        </p:nvSpPr>
        <p:spPr>
          <a:xfrm>
            <a:off x="3707904" y="4572744"/>
            <a:ext cx="432048" cy="2880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LED</a:t>
            </a:r>
            <a:endParaRPr lang="ko-KR" altLang="en-US" sz="1000" dirty="0"/>
          </a:p>
        </p:txBody>
      </p:sp>
      <p:cxnSp>
        <p:nvCxnSpPr>
          <p:cNvPr id="43" name="직선 연결선 42"/>
          <p:cNvCxnSpPr/>
          <p:nvPr/>
        </p:nvCxnSpPr>
        <p:spPr>
          <a:xfrm rot="5400000">
            <a:off x="4319972" y="4680756"/>
            <a:ext cx="79208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5220072" y="4572744"/>
            <a:ext cx="432048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CCP</a:t>
            </a:r>
            <a:endParaRPr lang="ko-KR" altLang="en-US" sz="1000" dirty="0"/>
          </a:p>
        </p:txBody>
      </p:sp>
      <p:sp>
        <p:nvSpPr>
          <p:cNvPr id="45" name="직사각형 44"/>
          <p:cNvSpPr/>
          <p:nvPr/>
        </p:nvSpPr>
        <p:spPr>
          <a:xfrm>
            <a:off x="6012160" y="4572744"/>
            <a:ext cx="432048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CCP</a:t>
            </a:r>
            <a:endParaRPr lang="ko-KR" altLang="en-US" sz="1000" dirty="0"/>
          </a:p>
        </p:txBody>
      </p:sp>
      <p:cxnSp>
        <p:nvCxnSpPr>
          <p:cNvPr id="47" name="꺾인 연결선 46"/>
          <p:cNvCxnSpPr>
            <a:stCxn id="36" idx="2"/>
            <a:endCxn id="37" idx="0"/>
          </p:cNvCxnSpPr>
          <p:nvPr/>
        </p:nvCxnSpPr>
        <p:spPr>
          <a:xfrm rot="5400000">
            <a:off x="2519772" y="2232484"/>
            <a:ext cx="792088" cy="388843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36" idx="2"/>
            <a:endCxn id="38" idx="0"/>
          </p:cNvCxnSpPr>
          <p:nvPr/>
        </p:nvCxnSpPr>
        <p:spPr>
          <a:xfrm rot="5400000">
            <a:off x="2807804" y="2520516"/>
            <a:ext cx="792088" cy="331236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36" idx="2"/>
            <a:endCxn id="39" idx="0"/>
          </p:cNvCxnSpPr>
          <p:nvPr/>
        </p:nvCxnSpPr>
        <p:spPr>
          <a:xfrm rot="5400000">
            <a:off x="3095836" y="2808548"/>
            <a:ext cx="792088" cy="27363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36" idx="2"/>
            <a:endCxn id="40" idx="0"/>
          </p:cNvCxnSpPr>
          <p:nvPr/>
        </p:nvCxnSpPr>
        <p:spPr>
          <a:xfrm rot="5400000">
            <a:off x="3419872" y="3132584"/>
            <a:ext cx="792088" cy="208823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54"/>
          <p:cNvCxnSpPr>
            <a:stCxn id="36" idx="2"/>
            <a:endCxn id="41" idx="0"/>
          </p:cNvCxnSpPr>
          <p:nvPr/>
        </p:nvCxnSpPr>
        <p:spPr>
          <a:xfrm rot="5400000">
            <a:off x="3707904" y="3420616"/>
            <a:ext cx="792088" cy="151216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36" idx="2"/>
            <a:endCxn id="42" idx="0"/>
          </p:cNvCxnSpPr>
          <p:nvPr/>
        </p:nvCxnSpPr>
        <p:spPr>
          <a:xfrm rot="5400000">
            <a:off x="3995936" y="3708648"/>
            <a:ext cx="792088" cy="9361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58"/>
          <p:cNvCxnSpPr>
            <a:stCxn id="36" idx="2"/>
            <a:endCxn id="45" idx="0"/>
          </p:cNvCxnSpPr>
          <p:nvPr/>
        </p:nvCxnSpPr>
        <p:spPr>
          <a:xfrm rot="16200000" flipH="1">
            <a:off x="5148064" y="3492624"/>
            <a:ext cx="792088" cy="136815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>
            <a:stCxn id="36" idx="2"/>
            <a:endCxn id="44" idx="0"/>
          </p:cNvCxnSpPr>
          <p:nvPr/>
        </p:nvCxnSpPr>
        <p:spPr>
          <a:xfrm rot="16200000" flipH="1">
            <a:off x="4752020" y="3888668"/>
            <a:ext cx="792088" cy="57606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331640" y="5148808"/>
            <a:ext cx="59766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 smtClean="0">
                <a:solidFill>
                  <a:srgbClr val="FF0000"/>
                </a:solidFill>
              </a:rPr>
              <a:t>현재 </a:t>
            </a:r>
            <a:r>
              <a:rPr lang="en-US" altLang="ko-KR" sz="1400" dirty="0" smtClean="0">
                <a:solidFill>
                  <a:srgbClr val="FF0000"/>
                </a:solidFill>
              </a:rPr>
              <a:t>LED </a:t>
            </a:r>
            <a:r>
              <a:rPr lang="ko-KR" altLang="en-US" sz="1400" dirty="0" smtClean="0">
                <a:solidFill>
                  <a:srgbClr val="FF0000"/>
                </a:solidFill>
              </a:rPr>
              <a:t>및 </a:t>
            </a:r>
            <a:r>
              <a:rPr lang="en-US" altLang="ko-KR" sz="1400" dirty="0" smtClean="0">
                <a:solidFill>
                  <a:srgbClr val="FF0000"/>
                </a:solidFill>
              </a:rPr>
              <a:t>CCP -&gt; </a:t>
            </a:r>
            <a:r>
              <a:rPr lang="ko-KR" altLang="en-US" sz="1400" dirty="0" smtClean="0">
                <a:solidFill>
                  <a:srgbClr val="FF0000"/>
                </a:solidFill>
              </a:rPr>
              <a:t>멀티 다운로드 방식으로 변경하여 시간을 </a:t>
            </a:r>
            <a:r>
              <a:rPr lang="en-US" altLang="ko-KR" sz="1400" dirty="0" smtClean="0">
                <a:solidFill>
                  <a:srgbClr val="FF0000"/>
                </a:solidFill>
              </a:rPr>
              <a:t>/n </a:t>
            </a:r>
            <a:r>
              <a:rPr lang="ko-KR" altLang="en-US" sz="1400" dirty="0" smtClean="0">
                <a:solidFill>
                  <a:srgbClr val="FF0000"/>
                </a:solidFill>
              </a:rPr>
              <a:t>만큼 줄일 수 있다</a:t>
            </a:r>
            <a:r>
              <a:rPr lang="en-US" altLang="ko-KR" sz="1400" dirty="0" smtClean="0">
                <a:solidFill>
                  <a:srgbClr val="FF0000"/>
                </a:solidFill>
              </a:rPr>
              <a:t>.</a:t>
            </a:r>
          </a:p>
          <a:p>
            <a:pPr marL="342900" indent="-342900"/>
            <a:r>
              <a:rPr lang="en-US" altLang="ko-KR" sz="1400" dirty="0" smtClean="0"/>
              <a:t>     </a:t>
            </a:r>
          </a:p>
          <a:p>
            <a:pPr marL="342900" indent="-342900"/>
            <a:r>
              <a:rPr lang="en-US" altLang="ko-KR" sz="1400" dirty="0"/>
              <a:t> </a:t>
            </a:r>
            <a:r>
              <a:rPr lang="en-US" altLang="ko-KR" sz="1400" dirty="0" smtClean="0"/>
              <a:t>   ** </a:t>
            </a:r>
            <a:r>
              <a:rPr lang="ko-KR" altLang="en-US" sz="1400" dirty="0" smtClean="0">
                <a:solidFill>
                  <a:srgbClr val="FF0000"/>
                </a:solidFill>
              </a:rPr>
              <a:t>데이터 압축을 통해 시간을 혁신적으로 줄인다</a:t>
            </a:r>
            <a:r>
              <a:rPr lang="en-US" altLang="ko-KR" sz="1400" dirty="0" smtClean="0">
                <a:solidFill>
                  <a:srgbClr val="FF0000"/>
                </a:solidFill>
              </a:rPr>
              <a:t>.</a:t>
            </a:r>
          </a:p>
          <a:p>
            <a:pPr marL="342900" indent="-342900"/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 smtClean="0">
                <a:solidFill>
                  <a:srgbClr val="FF0000"/>
                </a:solidFill>
              </a:rPr>
              <a:t>  </a:t>
            </a:r>
            <a:r>
              <a:rPr lang="en-US" altLang="ko-KR" sz="1400" dirty="0" smtClean="0"/>
              <a:t> ** </a:t>
            </a:r>
            <a:r>
              <a:rPr lang="ko-KR" altLang="en-US" sz="1400" dirty="0" smtClean="0">
                <a:solidFill>
                  <a:srgbClr val="FF0000"/>
                </a:solidFill>
              </a:rPr>
              <a:t>역명 변경 시 부분 다운로드 방식도 가능 하도록 변경</a:t>
            </a:r>
            <a:r>
              <a:rPr lang="en-US" altLang="ko-KR" sz="1400" dirty="0" smtClean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3" name="오른쪽 화살표 62"/>
          <p:cNvSpPr/>
          <p:nvPr/>
        </p:nvSpPr>
        <p:spPr>
          <a:xfrm rot="5400000">
            <a:off x="6516216" y="2852936"/>
            <a:ext cx="1944216" cy="504056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1979712" y="476672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GPS </a:t>
            </a:r>
            <a:r>
              <a:rPr lang="ko-KR" altLang="en-US" dirty="0" smtClean="0"/>
              <a:t>전송 </a:t>
            </a:r>
            <a:r>
              <a:rPr lang="en-US" altLang="ko-KR" dirty="0" smtClean="0"/>
              <a:t>DATA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Odometer </a:t>
            </a:r>
            <a:r>
              <a:rPr lang="ko-KR" altLang="en-US" dirty="0" err="1" smtClean="0"/>
              <a:t>거리값</a:t>
            </a:r>
            <a:r>
              <a:rPr lang="ko-KR" altLang="en-US" dirty="0" smtClean="0"/>
              <a:t> </a:t>
            </a:r>
            <a:r>
              <a:rPr lang="en-US" altLang="ko-KR" dirty="0" smtClean="0"/>
              <a:t>DATA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403648" y="5013176"/>
            <a:ext cx="2016224" cy="553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 </a:t>
            </a:r>
            <a:r>
              <a:rPr lang="ko-KR" altLang="en-US" sz="1000" dirty="0" smtClean="0"/>
              <a:t>현재 </a:t>
            </a:r>
            <a:r>
              <a:rPr lang="en-US" altLang="ko-KR" sz="1000" dirty="0" smtClean="0"/>
              <a:t>GPS -&gt; CNCS </a:t>
            </a:r>
            <a:r>
              <a:rPr lang="ko-KR" altLang="en-US" sz="1000" dirty="0" err="1" smtClean="0"/>
              <a:t>데이타</a:t>
            </a:r>
            <a:endParaRPr lang="en-US" altLang="ko-KR" sz="1000" dirty="0" smtClean="0"/>
          </a:p>
          <a:p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- GPS </a:t>
            </a:r>
            <a:r>
              <a:rPr lang="ko-KR" altLang="en-US" sz="1000" dirty="0" smtClean="0"/>
              <a:t>좌표 </a:t>
            </a:r>
            <a:r>
              <a:rPr lang="ko-KR" altLang="en-US" sz="1000" dirty="0" err="1" smtClean="0"/>
              <a:t>데이타</a:t>
            </a:r>
            <a:endParaRPr lang="ko-KR" altLang="en-US" sz="1000" dirty="0"/>
          </a:p>
        </p:txBody>
      </p:sp>
      <p:grpSp>
        <p:nvGrpSpPr>
          <p:cNvPr id="35" name="그룹 34"/>
          <p:cNvGrpSpPr/>
          <p:nvPr/>
        </p:nvGrpSpPr>
        <p:grpSpPr>
          <a:xfrm>
            <a:off x="1409700" y="1268760"/>
            <a:ext cx="6324600" cy="3429000"/>
            <a:chOff x="1409700" y="1714500"/>
            <a:chExt cx="6324600" cy="3429000"/>
          </a:xfrm>
        </p:grpSpPr>
        <p:grpSp>
          <p:nvGrpSpPr>
            <p:cNvPr id="36" name="Group 108"/>
            <p:cNvGrpSpPr>
              <a:grpSpLocks/>
            </p:cNvGrpSpPr>
            <p:nvPr/>
          </p:nvGrpSpPr>
          <p:grpSpPr bwMode="auto">
            <a:xfrm>
              <a:off x="1409700" y="1714500"/>
              <a:ext cx="6324600" cy="3429000"/>
              <a:chOff x="685800" y="1600200"/>
              <a:chExt cx="6324600" cy="3429000"/>
            </a:xfrm>
          </p:grpSpPr>
          <p:sp>
            <p:nvSpPr>
              <p:cNvPr id="42" name="Rectangle 66"/>
              <p:cNvSpPr/>
              <p:nvPr/>
            </p:nvSpPr>
            <p:spPr>
              <a:xfrm>
                <a:off x="685800" y="1600200"/>
                <a:ext cx="6324600" cy="3429000"/>
              </a:xfrm>
              <a:prstGeom prst="rect">
                <a:avLst/>
              </a:prstGeom>
              <a:solidFill>
                <a:srgbClr val="FFFFA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endParaRPr lang="ko-KR" altLang="ko-KR">
                  <a:solidFill>
                    <a:srgbClr val="000000"/>
                  </a:solidFill>
                </a:endParaRPr>
              </a:p>
            </p:txBody>
          </p:sp>
          <p:sp>
            <p:nvSpPr>
              <p:cNvPr id="43" name="Rectangle 13"/>
              <p:cNvSpPr/>
              <p:nvPr/>
            </p:nvSpPr>
            <p:spPr>
              <a:xfrm>
                <a:off x="914400" y="1828800"/>
                <a:ext cx="914400" cy="457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b="1" dirty="0">
                    <a:latin typeface="Arial" pitchFamily="34" charset="0"/>
                    <a:cs typeface="Arial" pitchFamily="34" charset="0"/>
                  </a:rPr>
                  <a:t>DC 37.5 V</a:t>
                </a:r>
              </a:p>
            </p:txBody>
          </p:sp>
          <p:sp>
            <p:nvSpPr>
              <p:cNvPr id="44" name="Rectangle 46"/>
              <p:cNvSpPr/>
              <p:nvPr/>
            </p:nvSpPr>
            <p:spPr>
              <a:xfrm>
                <a:off x="2438400" y="1828800"/>
                <a:ext cx="914400" cy="4572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b="1" dirty="0">
                    <a:latin typeface="Arial" pitchFamily="34" charset="0"/>
                    <a:cs typeface="Arial" pitchFamily="34" charset="0"/>
                  </a:rPr>
                  <a:t>Power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b="1" dirty="0">
                    <a:latin typeface="Arial" pitchFamily="34" charset="0"/>
                    <a:cs typeface="Arial" pitchFamily="34" charset="0"/>
                  </a:rPr>
                  <a:t>( 25W)</a:t>
                </a:r>
              </a:p>
            </p:txBody>
          </p:sp>
          <p:sp>
            <p:nvSpPr>
              <p:cNvPr id="45" name="Rectangle 48"/>
              <p:cNvSpPr/>
              <p:nvPr/>
            </p:nvSpPr>
            <p:spPr>
              <a:xfrm>
                <a:off x="2438400" y="3505200"/>
                <a:ext cx="914400" cy="457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b="1" dirty="0">
                    <a:latin typeface="Arial" pitchFamily="34" charset="0"/>
                    <a:cs typeface="Arial" pitchFamily="34" charset="0"/>
                  </a:rPr>
                  <a:t>Odometer</a:t>
                </a:r>
              </a:p>
            </p:txBody>
          </p:sp>
          <p:grpSp>
            <p:nvGrpSpPr>
              <p:cNvPr id="46" name="Group 50"/>
              <p:cNvGrpSpPr>
                <a:grpSpLocks/>
              </p:cNvGrpSpPr>
              <p:nvPr/>
            </p:nvGrpSpPr>
            <p:grpSpPr bwMode="auto">
              <a:xfrm>
                <a:off x="2438400" y="2667000"/>
                <a:ext cx="1371600" cy="457200"/>
                <a:chOff x="2438400" y="2514600"/>
                <a:chExt cx="1371600" cy="457200"/>
              </a:xfrm>
            </p:grpSpPr>
            <p:sp>
              <p:nvSpPr>
                <p:cNvPr id="62" name="Rectangle 47"/>
                <p:cNvSpPr/>
                <p:nvPr/>
              </p:nvSpPr>
              <p:spPr>
                <a:xfrm>
                  <a:off x="2438400" y="2514600"/>
                  <a:ext cx="1371600" cy="4572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1" dirty="0">
                      <a:latin typeface="Arial" pitchFamily="34" charset="0"/>
                      <a:cs typeface="Arial" pitchFamily="34" charset="0"/>
                    </a:rPr>
                    <a:t>GPS Ant.</a:t>
                  </a:r>
                </a:p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1" dirty="0">
                      <a:latin typeface="Arial" pitchFamily="34" charset="0"/>
                      <a:cs typeface="Arial" pitchFamily="34" charset="0"/>
                    </a:rPr>
                    <a:t>(3.0-5.5V)</a:t>
                  </a:r>
                </a:p>
              </p:txBody>
            </p:sp>
            <p:sp>
              <p:nvSpPr>
                <p:cNvPr id="63" name="Rectangle 49"/>
                <p:cNvSpPr/>
                <p:nvPr/>
              </p:nvSpPr>
              <p:spPr>
                <a:xfrm>
                  <a:off x="3286125" y="2590800"/>
                  <a:ext cx="457200" cy="32067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1" dirty="0">
                      <a:latin typeface="Arial" pitchFamily="34" charset="0"/>
                      <a:cs typeface="Arial" pitchFamily="34" charset="0"/>
                    </a:rPr>
                    <a:t>LNA</a:t>
                  </a:r>
                </a:p>
              </p:txBody>
            </p:sp>
          </p:grpSp>
          <p:sp>
            <p:nvSpPr>
              <p:cNvPr id="47" name="Rectangle 51"/>
              <p:cNvSpPr/>
              <p:nvPr/>
            </p:nvSpPr>
            <p:spPr>
              <a:xfrm>
                <a:off x="4572000" y="2667000"/>
                <a:ext cx="914400" cy="457200"/>
              </a:xfrm>
              <a:prstGeom prst="rect">
                <a:avLst/>
              </a:prstGeom>
              <a:solidFill>
                <a:srgbClr val="FFEEB7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b="1" dirty="0">
                    <a:latin typeface="Arial" pitchFamily="34" charset="0"/>
                    <a:cs typeface="Arial" pitchFamily="34" charset="0"/>
                  </a:rPr>
                  <a:t>DR-GPS</a:t>
                </a:r>
              </a:p>
            </p:txBody>
          </p:sp>
          <p:sp>
            <p:nvSpPr>
              <p:cNvPr id="48" name="Rectangle 52"/>
              <p:cNvSpPr/>
              <p:nvPr/>
            </p:nvSpPr>
            <p:spPr>
              <a:xfrm>
                <a:off x="5867400" y="2667000"/>
                <a:ext cx="914400" cy="4572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b="1" dirty="0">
                    <a:latin typeface="Arial" pitchFamily="34" charset="0"/>
                    <a:cs typeface="Arial" pitchFamily="34" charset="0"/>
                  </a:rPr>
                  <a:t>Gyro</a:t>
                </a:r>
              </a:p>
            </p:txBody>
          </p:sp>
          <p:sp>
            <p:nvSpPr>
              <p:cNvPr id="49" name="Rectangle 53"/>
              <p:cNvSpPr/>
              <p:nvPr/>
            </p:nvSpPr>
            <p:spPr>
              <a:xfrm>
                <a:off x="5867400" y="3505200"/>
                <a:ext cx="914400" cy="457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b="1" dirty="0">
                    <a:latin typeface="Arial" pitchFamily="34" charset="0"/>
                    <a:cs typeface="Arial" pitchFamily="34" charset="0"/>
                  </a:rPr>
                  <a:t>Flash Memory</a:t>
                </a:r>
              </a:p>
            </p:txBody>
          </p:sp>
          <p:sp>
            <p:nvSpPr>
              <p:cNvPr id="50" name="Rectangle 54"/>
              <p:cNvSpPr/>
              <p:nvPr/>
            </p:nvSpPr>
            <p:spPr>
              <a:xfrm>
                <a:off x="5867400" y="4343400"/>
                <a:ext cx="914400" cy="4572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b="1" dirty="0">
                    <a:latin typeface="Arial" pitchFamily="34" charset="0"/>
                    <a:cs typeface="Arial" pitchFamily="34" charset="0"/>
                  </a:rPr>
                  <a:t>Main CPU</a:t>
                </a:r>
              </a:p>
            </p:txBody>
          </p:sp>
          <p:sp>
            <p:nvSpPr>
              <p:cNvPr id="51" name="Rectangle 55"/>
              <p:cNvSpPr/>
              <p:nvPr/>
            </p:nvSpPr>
            <p:spPr>
              <a:xfrm>
                <a:off x="4572000" y="3505200"/>
                <a:ext cx="914400" cy="457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b="1" dirty="0" smtClean="0">
                    <a:latin typeface="Arial" pitchFamily="34" charset="0"/>
                    <a:cs typeface="Arial" pitchFamily="34" charset="0"/>
                  </a:rPr>
                  <a:t>AT 128A1</a:t>
                </a:r>
                <a:endParaRPr lang="en-US" sz="1000" b="1" dirty="0">
                  <a:latin typeface="Arial" pitchFamily="34" charset="0"/>
                  <a:cs typeface="Arial" pitchFamily="34" charset="0"/>
                </a:endParaRP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700" b="1" dirty="0">
                    <a:latin typeface="Arial" pitchFamily="34" charset="0"/>
                    <a:cs typeface="Arial" pitchFamily="34" charset="0"/>
                  </a:rPr>
                  <a:t>(Sub-Processor)</a:t>
                </a:r>
              </a:p>
            </p:txBody>
          </p:sp>
          <p:sp>
            <p:nvSpPr>
              <p:cNvPr id="52" name="Rectangle 56"/>
              <p:cNvSpPr/>
              <p:nvPr/>
            </p:nvSpPr>
            <p:spPr>
              <a:xfrm>
                <a:off x="4572000" y="4343400"/>
                <a:ext cx="914400" cy="457200"/>
              </a:xfrm>
              <a:prstGeom prst="rect">
                <a:avLst/>
              </a:prstGeom>
              <a:solidFill>
                <a:srgbClr val="FFDB6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b="1" dirty="0">
                    <a:latin typeface="Arial" pitchFamily="34" charset="0"/>
                    <a:cs typeface="Arial" pitchFamily="34" charset="0"/>
                  </a:rPr>
                  <a:t>RS-485</a:t>
                </a:r>
              </a:p>
            </p:txBody>
          </p:sp>
          <p:cxnSp>
            <p:nvCxnSpPr>
              <p:cNvPr id="53" name="Straight Arrow Connector 58"/>
              <p:cNvCxnSpPr>
                <a:stCxn id="43" idx="3"/>
                <a:endCxn id="44" idx="1"/>
              </p:cNvCxnSpPr>
              <p:nvPr/>
            </p:nvCxnSpPr>
            <p:spPr>
              <a:xfrm>
                <a:off x="1828800" y="2057400"/>
                <a:ext cx="609600" cy="15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60"/>
              <p:cNvCxnSpPr>
                <a:stCxn id="62" idx="3"/>
                <a:endCxn id="47" idx="1"/>
              </p:cNvCxnSpPr>
              <p:nvPr/>
            </p:nvCxnSpPr>
            <p:spPr>
              <a:xfrm>
                <a:off x="3810000" y="2895600"/>
                <a:ext cx="762000" cy="15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63"/>
              <p:cNvCxnSpPr>
                <a:endCxn id="48" idx="1"/>
              </p:cNvCxnSpPr>
              <p:nvPr/>
            </p:nvCxnSpPr>
            <p:spPr>
              <a:xfrm>
                <a:off x="5486400" y="2895600"/>
                <a:ext cx="381000" cy="15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65"/>
              <p:cNvCxnSpPr>
                <a:stCxn id="50" idx="1"/>
                <a:endCxn id="52" idx="3"/>
              </p:cNvCxnSpPr>
              <p:nvPr/>
            </p:nvCxnSpPr>
            <p:spPr>
              <a:xfrm rot="10800000">
                <a:off x="5486400" y="4572000"/>
                <a:ext cx="381000" cy="15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69"/>
              <p:cNvCxnSpPr>
                <a:stCxn id="52" idx="0"/>
                <a:endCxn id="51" idx="2"/>
              </p:cNvCxnSpPr>
              <p:nvPr/>
            </p:nvCxnSpPr>
            <p:spPr>
              <a:xfrm rot="5400000" flipH="1" flipV="1">
                <a:off x="4838701" y="4152900"/>
                <a:ext cx="381000" cy="317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72"/>
              <p:cNvCxnSpPr>
                <a:stCxn id="49" idx="1"/>
                <a:endCxn id="51" idx="3"/>
              </p:cNvCxnSpPr>
              <p:nvPr/>
            </p:nvCxnSpPr>
            <p:spPr>
              <a:xfrm rot="10800000">
                <a:off x="5486400" y="3733800"/>
                <a:ext cx="381000" cy="15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83"/>
              <p:cNvCxnSpPr>
                <a:stCxn id="51" idx="0"/>
                <a:endCxn id="47" idx="2"/>
              </p:cNvCxnSpPr>
              <p:nvPr/>
            </p:nvCxnSpPr>
            <p:spPr>
              <a:xfrm rot="5400000" flipH="1" flipV="1">
                <a:off x="4838701" y="3314700"/>
                <a:ext cx="381000" cy="317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86"/>
              <p:cNvCxnSpPr>
                <a:stCxn id="51" idx="1"/>
                <a:endCxn id="45" idx="3"/>
              </p:cNvCxnSpPr>
              <p:nvPr/>
            </p:nvCxnSpPr>
            <p:spPr>
              <a:xfrm rot="10800000">
                <a:off x="3352800" y="3733800"/>
                <a:ext cx="1219200" cy="15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Elbow Connector 90"/>
              <p:cNvCxnSpPr/>
              <p:nvPr/>
            </p:nvCxnSpPr>
            <p:spPr>
              <a:xfrm flipV="1">
                <a:off x="3352800" y="3068638"/>
                <a:ext cx="1219200" cy="533400"/>
              </a:xfrm>
              <a:prstGeom prst="bentConnector3">
                <a:avLst>
                  <a:gd name="adj1" fmla="val 70833"/>
                </a:avLst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Elbow Connector 110"/>
            <p:cNvCxnSpPr>
              <a:endCxn id="48" idx="0"/>
            </p:cNvCxnSpPr>
            <p:nvPr/>
          </p:nvCxnSpPr>
          <p:spPr>
            <a:xfrm>
              <a:off x="4076700" y="2057400"/>
              <a:ext cx="2971800" cy="723900"/>
            </a:xfrm>
            <a:prstGeom prst="bentConnector2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lbow Connector 110"/>
            <p:cNvCxnSpPr/>
            <p:nvPr/>
          </p:nvCxnSpPr>
          <p:spPr>
            <a:xfrm>
              <a:off x="4076700" y="2192338"/>
              <a:ext cx="1663700" cy="581025"/>
            </a:xfrm>
            <a:prstGeom prst="bentConnector3">
              <a:avLst>
                <a:gd name="adj1" fmla="val 100076"/>
              </a:avLst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116"/>
            <p:cNvSpPr txBox="1">
              <a:spLocks noChangeArrowheads="1"/>
            </p:cNvSpPr>
            <p:nvPr/>
          </p:nvSpPr>
          <p:spPr bwMode="auto">
            <a:xfrm>
              <a:off x="4724400" y="2752725"/>
              <a:ext cx="457200" cy="247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ko-KR" sz="1000">
                  <a:solidFill>
                    <a:srgbClr val="FF0000"/>
                  </a:solidFill>
                  <a:ea typeface="굴림" charset="-127"/>
                </a:rPr>
                <a:t>5V</a:t>
              </a:r>
            </a:p>
          </p:txBody>
        </p:sp>
        <p:sp>
          <p:nvSpPr>
            <p:cNvPr id="40" name="TextBox 117"/>
            <p:cNvSpPr txBox="1">
              <a:spLocks noChangeArrowheads="1"/>
            </p:cNvSpPr>
            <p:nvPr/>
          </p:nvSpPr>
          <p:spPr bwMode="auto">
            <a:xfrm>
              <a:off x="5273675" y="2268538"/>
              <a:ext cx="457200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ko-KR" sz="1000">
                  <a:solidFill>
                    <a:srgbClr val="FF0000"/>
                  </a:solidFill>
                  <a:ea typeface="굴림" charset="-127"/>
                </a:rPr>
                <a:t>3.3V</a:t>
              </a:r>
            </a:p>
          </p:txBody>
        </p:sp>
        <p:sp>
          <p:nvSpPr>
            <p:cNvPr id="41" name="TextBox 118"/>
            <p:cNvSpPr txBox="1">
              <a:spLocks noChangeArrowheads="1"/>
            </p:cNvSpPr>
            <p:nvPr/>
          </p:nvSpPr>
          <p:spPr bwMode="auto">
            <a:xfrm>
              <a:off x="6629400" y="2125663"/>
              <a:ext cx="457200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ko-KR" sz="1000">
                  <a:solidFill>
                    <a:srgbClr val="FF0000"/>
                  </a:solidFill>
                  <a:ea typeface="굴림" charset="-127"/>
                </a:rPr>
                <a:t>5V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5652120" y="5013176"/>
            <a:ext cx="2016224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GPS -&gt; CNCS </a:t>
            </a:r>
            <a:r>
              <a:rPr lang="ko-KR" altLang="en-US" sz="1000" dirty="0" err="1" smtClean="0"/>
              <a:t>데이타</a:t>
            </a:r>
            <a:endParaRPr lang="en-US" altLang="ko-KR" sz="1000" dirty="0" smtClean="0"/>
          </a:p>
          <a:p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- GPS </a:t>
            </a:r>
            <a:r>
              <a:rPr lang="ko-KR" altLang="en-US" sz="1000" dirty="0" smtClean="0"/>
              <a:t>좌표 데이터</a:t>
            </a:r>
            <a:endParaRPr lang="en-US" altLang="ko-KR" sz="1000" dirty="0" smtClean="0"/>
          </a:p>
          <a:p>
            <a:r>
              <a:rPr lang="en-US" altLang="ko-KR" sz="1000" dirty="0" smtClean="0"/>
              <a:t> - </a:t>
            </a:r>
            <a:r>
              <a:rPr lang="en-US" altLang="ko-KR" sz="1000" dirty="0" smtClean="0">
                <a:solidFill>
                  <a:srgbClr val="FF0000"/>
                </a:solidFill>
              </a:rPr>
              <a:t>Odometer </a:t>
            </a:r>
            <a:r>
              <a:rPr lang="ko-KR" altLang="en-US" sz="1000" dirty="0" err="1" smtClean="0">
                <a:solidFill>
                  <a:srgbClr val="FF0000"/>
                </a:solidFill>
              </a:rPr>
              <a:t>거리값</a:t>
            </a:r>
            <a:r>
              <a:rPr lang="ko-KR" altLang="en-US" sz="1000" dirty="0" smtClean="0">
                <a:solidFill>
                  <a:srgbClr val="FF0000"/>
                </a:solidFill>
              </a:rPr>
              <a:t> </a:t>
            </a:r>
            <a:r>
              <a:rPr lang="en-US" altLang="ko-KR" sz="1000" dirty="0" smtClean="0">
                <a:solidFill>
                  <a:srgbClr val="FF0000"/>
                </a:solidFill>
              </a:rPr>
              <a:t>DATA </a:t>
            </a:r>
            <a:r>
              <a:rPr lang="ko-KR" altLang="en-US" sz="1000" dirty="0" smtClean="0">
                <a:solidFill>
                  <a:srgbClr val="FF0000"/>
                </a:solidFill>
              </a:rPr>
              <a:t>추가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5" name="오른쪽 화살표 64"/>
          <p:cNvSpPr/>
          <p:nvPr/>
        </p:nvSpPr>
        <p:spPr>
          <a:xfrm>
            <a:off x="3707904" y="5157192"/>
            <a:ext cx="1800200" cy="216024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3131840" y="5949280"/>
            <a:ext cx="33843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** </a:t>
            </a:r>
            <a:r>
              <a:rPr lang="ko-KR" altLang="en-US" sz="1000" dirty="0" smtClean="0">
                <a:solidFill>
                  <a:srgbClr val="FF0000"/>
                </a:solidFill>
              </a:rPr>
              <a:t>지하 구간 및</a:t>
            </a:r>
            <a:r>
              <a:rPr lang="en-US" altLang="ko-KR" sz="1000" dirty="0" smtClean="0">
                <a:solidFill>
                  <a:srgbClr val="FF0000"/>
                </a:solidFill>
              </a:rPr>
              <a:t> </a:t>
            </a:r>
            <a:r>
              <a:rPr lang="ko-KR" altLang="en-US" sz="1000" dirty="0" smtClean="0">
                <a:solidFill>
                  <a:srgbClr val="FF0000"/>
                </a:solidFill>
              </a:rPr>
              <a:t>터널 구간에서 비교 데이터로 활용</a:t>
            </a:r>
            <a:r>
              <a:rPr lang="en-US" altLang="ko-KR" sz="1000" dirty="0" smtClean="0">
                <a:solidFill>
                  <a:srgbClr val="FF0000"/>
                </a:solidFill>
              </a:rPr>
              <a:t>.</a:t>
            </a:r>
            <a:r>
              <a:rPr lang="ko-KR" altLang="en-US" sz="1000" dirty="0" smtClean="0">
                <a:solidFill>
                  <a:srgbClr val="FF0000"/>
                </a:solidFill>
              </a:rPr>
              <a:t>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483609" y="1340768"/>
            <a:ext cx="3548838" cy="3024336"/>
            <a:chOff x="4002088" y="2046288"/>
            <a:chExt cx="4752975" cy="3744912"/>
          </a:xfrm>
        </p:grpSpPr>
        <p:sp>
          <p:nvSpPr>
            <p:cNvPr id="5" name="Rectangle 291"/>
            <p:cNvSpPr>
              <a:spLocks noChangeArrowheads="1"/>
            </p:cNvSpPr>
            <p:nvPr/>
          </p:nvSpPr>
          <p:spPr bwMode="auto">
            <a:xfrm flipV="1">
              <a:off x="4002088" y="3846513"/>
              <a:ext cx="3529012" cy="1944687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21789" tIns="60894" rIns="121789" bIns="60894" anchor="ctr"/>
            <a:lstStyle/>
            <a:p>
              <a:pPr algn="ctr" defTabSz="1217613"/>
              <a:endParaRPr lang="en-US" altLang="ko-KR" sz="12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1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Rectangle 292"/>
            <p:cNvSpPr>
              <a:spLocks noChangeArrowheads="1"/>
            </p:cNvSpPr>
            <p:nvPr/>
          </p:nvSpPr>
          <p:spPr bwMode="auto">
            <a:xfrm rot="10800000" flipV="1">
              <a:off x="4146550" y="4710113"/>
              <a:ext cx="1584325" cy="936625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1200">
                  <a:latin typeface="Arial" pitchFamily="34" charset="0"/>
                  <a:cs typeface="Arial" pitchFamily="34" charset="0"/>
                </a:rPr>
                <a:t>4 Port </a:t>
              </a:r>
            </a:p>
            <a:p>
              <a:pPr algn="ctr" defTabSz="1217613"/>
              <a:r>
                <a:rPr lang="en-US" altLang="ko-KR" sz="1200">
                  <a:latin typeface="Arial" pitchFamily="34" charset="0"/>
                  <a:cs typeface="Arial" pitchFamily="34" charset="0"/>
                </a:rPr>
                <a:t>Switching Hub</a:t>
              </a:r>
            </a:p>
          </p:txBody>
        </p:sp>
        <p:sp>
          <p:nvSpPr>
            <p:cNvPr id="7" name="Rectangle 293"/>
            <p:cNvSpPr>
              <a:spLocks noChangeArrowheads="1"/>
            </p:cNvSpPr>
            <p:nvPr/>
          </p:nvSpPr>
          <p:spPr bwMode="auto">
            <a:xfrm rot="10800000" flipV="1">
              <a:off x="6451600" y="4278313"/>
              <a:ext cx="935038" cy="576262"/>
            </a:xfrm>
            <a:prstGeom prst="rect">
              <a:avLst/>
            </a:prstGeom>
            <a:solidFill>
              <a:srgbClr val="FFFF00">
                <a:alpha val="7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1200" dirty="0">
                  <a:latin typeface="Arial" pitchFamily="34" charset="0"/>
                  <a:cs typeface="Arial" pitchFamily="34" charset="0"/>
                </a:rPr>
                <a:t>Wireless</a:t>
              </a:r>
            </a:p>
            <a:p>
              <a:pPr algn="ctr" defTabSz="1217613"/>
              <a:r>
                <a:rPr lang="en-US" altLang="ko-KR" sz="1200" dirty="0">
                  <a:latin typeface="Arial" pitchFamily="34" charset="0"/>
                  <a:cs typeface="Arial" pitchFamily="34" charset="0"/>
                </a:rPr>
                <a:t>LAN AP</a:t>
              </a:r>
            </a:p>
          </p:txBody>
        </p:sp>
        <p:sp>
          <p:nvSpPr>
            <p:cNvPr id="9" name="Rectangle 306"/>
            <p:cNvSpPr>
              <a:spLocks noChangeArrowheads="1"/>
            </p:cNvSpPr>
            <p:nvPr/>
          </p:nvSpPr>
          <p:spPr bwMode="auto">
            <a:xfrm>
              <a:off x="5802313" y="4278313"/>
              <a:ext cx="576262" cy="2159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1300">
                  <a:latin typeface="Arial" pitchFamily="34" charset="0"/>
                  <a:cs typeface="Arial" pitchFamily="34" charset="0"/>
                </a:rPr>
                <a:t>LAN1</a:t>
              </a:r>
            </a:p>
          </p:txBody>
        </p:sp>
        <p:sp>
          <p:nvSpPr>
            <p:cNvPr id="10" name="Freeform 316"/>
            <p:cNvSpPr>
              <a:spLocks/>
            </p:cNvSpPr>
            <p:nvPr/>
          </p:nvSpPr>
          <p:spPr bwMode="auto">
            <a:xfrm flipH="1">
              <a:off x="7067550" y="2406650"/>
              <a:ext cx="1511300" cy="550863"/>
            </a:xfrm>
            <a:custGeom>
              <a:avLst/>
              <a:gdLst>
                <a:gd name="T0" fmla="*/ 0 w 454"/>
                <a:gd name="T1" fmla="*/ 136 h 181"/>
                <a:gd name="T2" fmla="*/ 0 w 454"/>
                <a:gd name="T3" fmla="*/ 181 h 181"/>
                <a:gd name="T4" fmla="*/ 454 w 454"/>
                <a:gd name="T5" fmla="*/ 181 h 181"/>
                <a:gd name="T6" fmla="*/ 454 w 454"/>
                <a:gd name="T7" fmla="*/ 136 h 181"/>
                <a:gd name="T8" fmla="*/ 408 w 454"/>
                <a:gd name="T9" fmla="*/ 45 h 181"/>
                <a:gd name="T10" fmla="*/ 318 w 454"/>
                <a:gd name="T11" fmla="*/ 0 h 181"/>
                <a:gd name="T12" fmla="*/ 227 w 454"/>
                <a:gd name="T13" fmla="*/ 0 h 181"/>
                <a:gd name="T14" fmla="*/ 0 w 454"/>
                <a:gd name="T15" fmla="*/ 136 h 1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54"/>
                <a:gd name="T25" fmla="*/ 0 h 181"/>
                <a:gd name="T26" fmla="*/ 454 w 454"/>
                <a:gd name="T27" fmla="*/ 181 h 18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54" h="181">
                  <a:moveTo>
                    <a:pt x="0" y="136"/>
                  </a:moveTo>
                  <a:lnTo>
                    <a:pt x="0" y="181"/>
                  </a:lnTo>
                  <a:lnTo>
                    <a:pt x="454" y="181"/>
                  </a:lnTo>
                  <a:lnTo>
                    <a:pt x="454" y="136"/>
                  </a:lnTo>
                  <a:lnTo>
                    <a:pt x="408" y="45"/>
                  </a:lnTo>
                  <a:lnTo>
                    <a:pt x="318" y="0"/>
                  </a:lnTo>
                  <a:lnTo>
                    <a:pt x="227" y="0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CCFFFF">
                <a:alpha val="20000"/>
              </a:srgbClr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Group 317"/>
            <p:cNvGrpSpPr>
              <a:grpSpLocks/>
            </p:cNvGrpSpPr>
            <p:nvPr/>
          </p:nvGrpSpPr>
          <p:grpSpPr bwMode="auto">
            <a:xfrm flipH="1">
              <a:off x="7408829" y="2574925"/>
              <a:ext cx="211138" cy="192088"/>
              <a:chOff x="3016" y="2523"/>
              <a:chExt cx="91" cy="46"/>
            </a:xfrm>
          </p:grpSpPr>
          <p:sp>
            <p:nvSpPr>
              <p:cNvPr id="36" name="Line 318"/>
              <p:cNvSpPr>
                <a:spLocks noChangeShapeType="1"/>
              </p:cNvSpPr>
              <p:nvPr/>
            </p:nvSpPr>
            <p:spPr bwMode="auto">
              <a:xfrm>
                <a:off x="3016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Line 319"/>
              <p:cNvSpPr>
                <a:spLocks noChangeShapeType="1"/>
              </p:cNvSpPr>
              <p:nvPr/>
            </p:nvSpPr>
            <p:spPr bwMode="auto">
              <a:xfrm flipH="1">
                <a:off x="3062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" name="Group 320"/>
            <p:cNvGrpSpPr>
              <a:grpSpLocks/>
            </p:cNvGrpSpPr>
            <p:nvPr/>
          </p:nvGrpSpPr>
          <p:grpSpPr bwMode="auto">
            <a:xfrm flipH="1">
              <a:off x="8005729" y="2695575"/>
              <a:ext cx="211138" cy="192088"/>
              <a:chOff x="3016" y="2523"/>
              <a:chExt cx="91" cy="46"/>
            </a:xfrm>
          </p:grpSpPr>
          <p:sp>
            <p:nvSpPr>
              <p:cNvPr id="34" name="Line 321"/>
              <p:cNvSpPr>
                <a:spLocks noChangeShapeType="1"/>
              </p:cNvSpPr>
              <p:nvPr/>
            </p:nvSpPr>
            <p:spPr bwMode="auto">
              <a:xfrm>
                <a:off x="3016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99CC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5" name="Line 322"/>
              <p:cNvSpPr>
                <a:spLocks noChangeShapeType="1"/>
              </p:cNvSpPr>
              <p:nvPr/>
            </p:nvSpPr>
            <p:spPr bwMode="auto">
              <a:xfrm flipH="1">
                <a:off x="3062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99CC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3" name="Line 323"/>
            <p:cNvSpPr>
              <a:spLocks noChangeShapeType="1"/>
            </p:cNvSpPr>
            <p:nvPr/>
          </p:nvSpPr>
          <p:spPr bwMode="auto">
            <a:xfrm>
              <a:off x="8108950" y="2854325"/>
              <a:ext cx="0" cy="360363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Line 324"/>
            <p:cNvSpPr>
              <a:spLocks noChangeShapeType="1"/>
            </p:cNvSpPr>
            <p:nvPr/>
          </p:nvSpPr>
          <p:spPr bwMode="auto">
            <a:xfrm flipH="1">
              <a:off x="7516813" y="2767013"/>
              <a:ext cx="0" cy="43180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Oval 326"/>
            <p:cNvSpPr>
              <a:spLocks noChangeArrowheads="1"/>
            </p:cNvSpPr>
            <p:nvPr/>
          </p:nvSpPr>
          <p:spPr bwMode="auto">
            <a:xfrm flipH="1">
              <a:off x="7364413" y="3214688"/>
              <a:ext cx="295275" cy="26987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1217613"/>
              <a:r>
                <a:rPr lang="en-US" altLang="ko-KR" sz="1000">
                  <a:latin typeface="Arial" pitchFamily="34" charset="0"/>
                  <a:cs typeface="Arial" pitchFamily="34" charset="0"/>
                </a:rPr>
                <a:t>GIA</a:t>
              </a:r>
            </a:p>
          </p:txBody>
        </p:sp>
        <p:sp>
          <p:nvSpPr>
            <p:cNvPr id="16" name="Rectangle 327"/>
            <p:cNvSpPr>
              <a:spLocks noChangeArrowheads="1"/>
            </p:cNvSpPr>
            <p:nvPr/>
          </p:nvSpPr>
          <p:spPr bwMode="auto">
            <a:xfrm>
              <a:off x="7027863" y="2046288"/>
              <a:ext cx="1727200" cy="28733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1200">
                  <a:latin typeface="Arial" pitchFamily="34" charset="0"/>
                  <a:cs typeface="Arial" pitchFamily="34" charset="0"/>
                </a:rPr>
                <a:t>WLAN/GPS Antenna</a:t>
              </a:r>
            </a:p>
          </p:txBody>
        </p:sp>
        <p:sp>
          <p:nvSpPr>
            <p:cNvPr id="17" name="Line 329"/>
            <p:cNvSpPr>
              <a:spLocks noChangeShapeType="1"/>
            </p:cNvSpPr>
            <p:nvPr/>
          </p:nvSpPr>
          <p:spPr bwMode="auto">
            <a:xfrm flipV="1">
              <a:off x="8107363" y="3198813"/>
              <a:ext cx="1587" cy="1366837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Rectangle 330"/>
            <p:cNvSpPr>
              <a:spLocks noChangeArrowheads="1"/>
            </p:cNvSpPr>
            <p:nvPr/>
          </p:nvSpPr>
          <p:spPr bwMode="auto">
            <a:xfrm rot="-5400000">
              <a:off x="7371556" y="3790157"/>
              <a:ext cx="1223963" cy="1841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1200">
                  <a:latin typeface="Arial" pitchFamily="34" charset="0"/>
                  <a:cs typeface="Arial" pitchFamily="34" charset="0"/>
                </a:rPr>
                <a:t>IEEE802.11a,b,g</a:t>
              </a:r>
            </a:p>
          </p:txBody>
        </p:sp>
        <p:sp>
          <p:nvSpPr>
            <p:cNvPr id="19" name="Line 331"/>
            <p:cNvSpPr>
              <a:spLocks noChangeShapeType="1"/>
            </p:cNvSpPr>
            <p:nvPr/>
          </p:nvSpPr>
          <p:spPr bwMode="auto">
            <a:xfrm flipH="1">
              <a:off x="7531100" y="4565650"/>
              <a:ext cx="576263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Rectangle 337"/>
            <p:cNvSpPr>
              <a:spLocks noChangeArrowheads="1"/>
            </p:cNvSpPr>
            <p:nvPr/>
          </p:nvSpPr>
          <p:spPr bwMode="auto">
            <a:xfrm>
              <a:off x="4938713" y="3557588"/>
              <a:ext cx="1727200" cy="28733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1400" b="1" dirty="0">
                  <a:latin typeface="Arial" pitchFamily="34" charset="0"/>
                  <a:cs typeface="Arial" pitchFamily="34" charset="0"/>
                </a:rPr>
                <a:t>Wireless LAN Router</a:t>
              </a:r>
            </a:p>
          </p:txBody>
        </p:sp>
        <p:sp>
          <p:nvSpPr>
            <p:cNvPr id="24" name="Line 338"/>
            <p:cNvSpPr>
              <a:spLocks noChangeShapeType="1"/>
            </p:cNvSpPr>
            <p:nvPr/>
          </p:nvSpPr>
          <p:spPr bwMode="auto">
            <a:xfrm>
              <a:off x="5730875" y="5070475"/>
              <a:ext cx="1800225" cy="0"/>
            </a:xfrm>
            <a:prstGeom prst="line">
              <a:avLst/>
            </a:prstGeom>
            <a:noFill/>
            <a:ln w="38100">
              <a:solidFill>
                <a:srgbClr val="9999FF"/>
              </a:solidFill>
              <a:round/>
              <a:headEnd type="triangle" w="med" len="med"/>
              <a:tailEnd type="diamond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Line 339"/>
            <p:cNvSpPr>
              <a:spLocks noChangeShapeType="1"/>
            </p:cNvSpPr>
            <p:nvPr/>
          </p:nvSpPr>
          <p:spPr bwMode="auto">
            <a:xfrm>
              <a:off x="5730875" y="5286375"/>
              <a:ext cx="1800225" cy="0"/>
            </a:xfrm>
            <a:prstGeom prst="line">
              <a:avLst/>
            </a:prstGeom>
            <a:noFill/>
            <a:ln w="38100">
              <a:solidFill>
                <a:srgbClr val="9999FF"/>
              </a:solidFill>
              <a:round/>
              <a:headEnd type="triangle" w="med" len="med"/>
              <a:tailEnd type="diamond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Line 340"/>
            <p:cNvSpPr>
              <a:spLocks noChangeShapeType="1"/>
            </p:cNvSpPr>
            <p:nvPr/>
          </p:nvSpPr>
          <p:spPr bwMode="auto">
            <a:xfrm>
              <a:off x="5730875" y="5502275"/>
              <a:ext cx="1800225" cy="0"/>
            </a:xfrm>
            <a:prstGeom prst="line">
              <a:avLst/>
            </a:prstGeom>
            <a:noFill/>
            <a:ln w="38100">
              <a:solidFill>
                <a:srgbClr val="9999FF"/>
              </a:solidFill>
              <a:round/>
              <a:headEnd type="triangle" w="med" len="med"/>
              <a:tailEnd type="diamond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Line 341"/>
            <p:cNvSpPr>
              <a:spLocks noChangeShapeType="1"/>
            </p:cNvSpPr>
            <p:nvPr/>
          </p:nvSpPr>
          <p:spPr bwMode="auto">
            <a:xfrm>
              <a:off x="5730875" y="4854575"/>
              <a:ext cx="288925" cy="0"/>
            </a:xfrm>
            <a:prstGeom prst="line">
              <a:avLst/>
            </a:prstGeom>
            <a:noFill/>
            <a:ln w="38100">
              <a:solidFill>
                <a:srgbClr val="9999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Line 342"/>
            <p:cNvSpPr>
              <a:spLocks noChangeShapeType="1"/>
            </p:cNvSpPr>
            <p:nvPr/>
          </p:nvSpPr>
          <p:spPr bwMode="auto">
            <a:xfrm>
              <a:off x="6162675" y="4565650"/>
              <a:ext cx="288925" cy="0"/>
            </a:xfrm>
            <a:prstGeom prst="line">
              <a:avLst/>
            </a:prstGeom>
            <a:noFill/>
            <a:ln w="38100">
              <a:solidFill>
                <a:srgbClr val="9999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Line 343"/>
            <p:cNvSpPr>
              <a:spLocks noChangeShapeType="1"/>
            </p:cNvSpPr>
            <p:nvPr/>
          </p:nvSpPr>
          <p:spPr bwMode="auto">
            <a:xfrm flipV="1">
              <a:off x="6019800" y="4565650"/>
              <a:ext cx="142875" cy="288925"/>
            </a:xfrm>
            <a:prstGeom prst="line">
              <a:avLst/>
            </a:prstGeom>
            <a:noFill/>
            <a:ln w="38100">
              <a:solidFill>
                <a:srgbClr val="9999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Line 344"/>
            <p:cNvSpPr>
              <a:spLocks noChangeShapeType="1"/>
            </p:cNvSpPr>
            <p:nvPr/>
          </p:nvSpPr>
          <p:spPr bwMode="auto">
            <a:xfrm flipV="1">
              <a:off x="7386638" y="4565650"/>
              <a:ext cx="144462" cy="1588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Rectangle 345"/>
            <p:cNvSpPr>
              <a:spLocks noChangeArrowheads="1"/>
            </p:cNvSpPr>
            <p:nvPr/>
          </p:nvSpPr>
          <p:spPr bwMode="auto">
            <a:xfrm>
              <a:off x="7531100" y="4964113"/>
              <a:ext cx="576263" cy="2159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defTabSz="1217613"/>
              <a:r>
                <a:rPr lang="en-US" altLang="ko-KR" sz="1300">
                  <a:latin typeface="Arial" pitchFamily="34" charset="0"/>
                  <a:cs typeface="Arial" pitchFamily="34" charset="0"/>
                </a:rPr>
                <a:t>LAN2</a:t>
              </a:r>
            </a:p>
          </p:txBody>
        </p:sp>
        <p:sp>
          <p:nvSpPr>
            <p:cNvPr id="32" name="Rectangle 346"/>
            <p:cNvSpPr>
              <a:spLocks noChangeArrowheads="1"/>
            </p:cNvSpPr>
            <p:nvPr/>
          </p:nvSpPr>
          <p:spPr bwMode="auto">
            <a:xfrm>
              <a:off x="7531100" y="5180013"/>
              <a:ext cx="576263" cy="2159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defTabSz="1217613"/>
              <a:r>
                <a:rPr lang="en-US" altLang="ko-KR" sz="1300" dirty="0">
                  <a:latin typeface="Arial" pitchFamily="34" charset="0"/>
                  <a:cs typeface="Arial" pitchFamily="34" charset="0"/>
                </a:rPr>
                <a:t>LAN3</a:t>
              </a:r>
            </a:p>
          </p:txBody>
        </p:sp>
        <p:sp>
          <p:nvSpPr>
            <p:cNvPr id="33" name="Rectangle 347"/>
            <p:cNvSpPr>
              <a:spLocks noChangeArrowheads="1"/>
            </p:cNvSpPr>
            <p:nvPr/>
          </p:nvSpPr>
          <p:spPr bwMode="auto">
            <a:xfrm>
              <a:off x="7531100" y="5395913"/>
              <a:ext cx="576263" cy="2159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defTabSz="1217613"/>
              <a:r>
                <a:rPr lang="en-US" altLang="ko-KR" sz="1300" dirty="0">
                  <a:latin typeface="Arial" pitchFamily="34" charset="0"/>
                  <a:cs typeface="Arial" pitchFamily="34" charset="0"/>
                </a:rPr>
                <a:t>LAN4</a:t>
              </a: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4479545" y="2420888"/>
            <a:ext cx="4478423" cy="3744416"/>
            <a:chOff x="4479545" y="2420888"/>
            <a:chExt cx="4478423" cy="3744416"/>
          </a:xfrm>
        </p:grpSpPr>
        <p:sp>
          <p:nvSpPr>
            <p:cNvPr id="41" name="Rectangle 293"/>
            <p:cNvSpPr>
              <a:spLocks noChangeArrowheads="1"/>
            </p:cNvSpPr>
            <p:nvPr/>
          </p:nvSpPr>
          <p:spPr bwMode="auto">
            <a:xfrm rot="10800000" flipV="1">
              <a:off x="7524328" y="4941168"/>
              <a:ext cx="698152" cy="465381"/>
            </a:xfrm>
            <a:prstGeom prst="rect">
              <a:avLst/>
            </a:prstGeom>
            <a:solidFill>
              <a:srgbClr val="FF0000">
                <a:alpha val="7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1200" dirty="0">
                  <a:latin typeface="Arial" pitchFamily="34" charset="0"/>
                  <a:cs typeface="Arial" pitchFamily="34" charset="0"/>
                </a:rPr>
                <a:t>Wireless</a:t>
              </a:r>
            </a:p>
            <a:p>
              <a:pPr algn="ctr" defTabSz="1217613"/>
              <a:r>
                <a:rPr lang="en-US" altLang="ko-KR" sz="1200" dirty="0">
                  <a:latin typeface="Arial" pitchFamily="34" charset="0"/>
                  <a:cs typeface="Arial" pitchFamily="34" charset="0"/>
                </a:rPr>
                <a:t>LAN AP</a:t>
              </a:r>
            </a:p>
          </p:txBody>
        </p:sp>
        <p:grpSp>
          <p:nvGrpSpPr>
            <p:cNvPr id="76" name="그룹 75"/>
            <p:cNvGrpSpPr/>
            <p:nvPr/>
          </p:nvGrpSpPr>
          <p:grpSpPr>
            <a:xfrm>
              <a:off x="4479545" y="2420888"/>
              <a:ext cx="4478423" cy="3744416"/>
              <a:chOff x="4479545" y="2420888"/>
              <a:chExt cx="4478423" cy="3744416"/>
            </a:xfrm>
          </p:grpSpPr>
          <p:sp>
            <p:nvSpPr>
              <p:cNvPr id="39" name="Rectangle 291"/>
              <p:cNvSpPr>
                <a:spLocks noChangeArrowheads="1"/>
              </p:cNvSpPr>
              <p:nvPr/>
            </p:nvSpPr>
            <p:spPr bwMode="auto">
              <a:xfrm flipV="1">
                <a:off x="4479545" y="4594803"/>
                <a:ext cx="2634958" cy="1570501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lIns="121789" tIns="60894" rIns="121789" bIns="60894" anchor="ctr"/>
              <a:lstStyle/>
              <a:p>
                <a:pPr algn="ctr" defTabSz="1217613"/>
                <a:endParaRPr lang="en-US" altLang="ko-KR" sz="1200">
                  <a:latin typeface="Arial" pitchFamily="34" charset="0"/>
                  <a:cs typeface="Arial" pitchFamily="34" charset="0"/>
                </a:endParaRPr>
              </a:p>
              <a:p>
                <a:pPr algn="ctr" defTabSz="1217613"/>
                <a:endParaRPr lang="en-US" altLang="ko-KR" sz="120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0" name="Rectangle 292"/>
              <p:cNvSpPr>
                <a:spLocks noChangeArrowheads="1"/>
              </p:cNvSpPr>
              <p:nvPr/>
            </p:nvSpPr>
            <p:spPr bwMode="auto">
              <a:xfrm rot="10800000" flipV="1">
                <a:off x="4587409" y="5292234"/>
                <a:ext cx="1182946" cy="756405"/>
              </a:xfrm>
              <a:prstGeom prst="rect">
                <a:avLst/>
              </a:prstGeom>
              <a:solidFill>
                <a:srgbClr val="99CC0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 defTabSz="1217613"/>
                <a:r>
                  <a:rPr lang="en-US" altLang="ko-KR" sz="1200">
                    <a:latin typeface="Arial" pitchFamily="34" charset="0"/>
                    <a:cs typeface="Arial" pitchFamily="34" charset="0"/>
                  </a:rPr>
                  <a:t>4 Port </a:t>
                </a:r>
              </a:p>
              <a:p>
                <a:pPr algn="ctr" defTabSz="1217613"/>
                <a:r>
                  <a:rPr lang="en-US" altLang="ko-KR" sz="1200">
                    <a:latin typeface="Arial" pitchFamily="34" charset="0"/>
                    <a:cs typeface="Arial" pitchFamily="34" charset="0"/>
                  </a:rPr>
                  <a:t>Switching Hub</a:t>
                </a:r>
              </a:p>
            </p:txBody>
          </p:sp>
          <p:sp>
            <p:nvSpPr>
              <p:cNvPr id="43" name="Rectangle 306"/>
              <p:cNvSpPr>
                <a:spLocks noChangeArrowheads="1"/>
              </p:cNvSpPr>
              <p:nvPr/>
            </p:nvSpPr>
            <p:spPr bwMode="auto">
              <a:xfrm>
                <a:off x="5823694" y="4943519"/>
                <a:ext cx="430270" cy="17435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 defTabSz="1217613"/>
                <a:r>
                  <a:rPr lang="en-US" altLang="ko-KR" sz="1300">
                    <a:latin typeface="Arial" pitchFamily="34" charset="0"/>
                    <a:cs typeface="Arial" pitchFamily="34" charset="0"/>
                  </a:rPr>
                  <a:t>LAN1</a:t>
                </a:r>
              </a:p>
            </p:txBody>
          </p:sp>
          <p:grpSp>
            <p:nvGrpSpPr>
              <p:cNvPr id="72" name="그룹 71"/>
              <p:cNvGrpSpPr/>
              <p:nvPr/>
            </p:nvGrpSpPr>
            <p:grpSpPr>
              <a:xfrm>
                <a:off x="7668344" y="2420888"/>
                <a:ext cx="1289624" cy="2717928"/>
                <a:chOff x="6738759" y="3140968"/>
                <a:chExt cx="1289624" cy="2717928"/>
              </a:xfrm>
            </p:grpSpPr>
            <p:sp>
              <p:nvSpPr>
                <p:cNvPr id="44" name="Freeform 316"/>
                <p:cNvSpPr>
                  <a:spLocks/>
                </p:cNvSpPr>
                <p:nvPr/>
              </p:nvSpPr>
              <p:spPr bwMode="auto">
                <a:xfrm flipH="1">
                  <a:off x="6768391" y="3431991"/>
                  <a:ext cx="1128421" cy="444869"/>
                </a:xfrm>
                <a:custGeom>
                  <a:avLst/>
                  <a:gdLst>
                    <a:gd name="T0" fmla="*/ 0 w 454"/>
                    <a:gd name="T1" fmla="*/ 136 h 181"/>
                    <a:gd name="T2" fmla="*/ 0 w 454"/>
                    <a:gd name="T3" fmla="*/ 181 h 181"/>
                    <a:gd name="T4" fmla="*/ 454 w 454"/>
                    <a:gd name="T5" fmla="*/ 181 h 181"/>
                    <a:gd name="T6" fmla="*/ 454 w 454"/>
                    <a:gd name="T7" fmla="*/ 136 h 181"/>
                    <a:gd name="T8" fmla="*/ 408 w 454"/>
                    <a:gd name="T9" fmla="*/ 45 h 181"/>
                    <a:gd name="T10" fmla="*/ 318 w 454"/>
                    <a:gd name="T11" fmla="*/ 0 h 181"/>
                    <a:gd name="T12" fmla="*/ 227 w 454"/>
                    <a:gd name="T13" fmla="*/ 0 h 181"/>
                    <a:gd name="T14" fmla="*/ 0 w 454"/>
                    <a:gd name="T15" fmla="*/ 136 h 18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54"/>
                    <a:gd name="T25" fmla="*/ 0 h 181"/>
                    <a:gd name="T26" fmla="*/ 454 w 454"/>
                    <a:gd name="T27" fmla="*/ 181 h 18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54" h="181">
                      <a:moveTo>
                        <a:pt x="0" y="136"/>
                      </a:moveTo>
                      <a:lnTo>
                        <a:pt x="0" y="181"/>
                      </a:lnTo>
                      <a:lnTo>
                        <a:pt x="454" y="181"/>
                      </a:lnTo>
                      <a:lnTo>
                        <a:pt x="454" y="136"/>
                      </a:lnTo>
                      <a:lnTo>
                        <a:pt x="408" y="45"/>
                      </a:lnTo>
                      <a:lnTo>
                        <a:pt x="318" y="0"/>
                      </a:lnTo>
                      <a:lnTo>
                        <a:pt x="227" y="0"/>
                      </a:lnTo>
                      <a:lnTo>
                        <a:pt x="0" y="136"/>
                      </a:lnTo>
                      <a:close/>
                    </a:path>
                  </a:pathLst>
                </a:custGeom>
                <a:solidFill>
                  <a:srgbClr val="CCFFFF">
                    <a:alpha val="20000"/>
                  </a:srgbClr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5" name="Group 317"/>
                <p:cNvGrpSpPr>
                  <a:grpSpLocks/>
                </p:cNvGrpSpPr>
                <p:nvPr/>
              </p:nvGrpSpPr>
              <p:grpSpPr bwMode="auto">
                <a:xfrm flipH="1">
                  <a:off x="7023209" y="3567887"/>
                  <a:ext cx="157647" cy="155127"/>
                  <a:chOff x="3016" y="2523"/>
                  <a:chExt cx="91" cy="46"/>
                </a:xfrm>
              </p:grpSpPr>
              <p:sp>
                <p:nvSpPr>
                  <p:cNvPr id="70" name="Line 318"/>
                  <p:cNvSpPr>
                    <a:spLocks noChangeShapeType="1"/>
                  </p:cNvSpPr>
                  <p:nvPr/>
                </p:nvSpPr>
                <p:spPr bwMode="auto">
                  <a:xfrm>
                    <a:off x="3016" y="2523"/>
                    <a:ext cx="46" cy="46"/>
                  </a:xfrm>
                  <a:prstGeom prst="line">
                    <a:avLst/>
                  </a:prstGeom>
                  <a:noFill/>
                  <a:ln w="25400">
                    <a:solidFill>
                      <a:srgbClr val="FF00FF"/>
                    </a:solidFill>
                    <a:round/>
                    <a:headEnd/>
                    <a:tailEnd type="none" w="med" len="lg"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71" name="Line 3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62" y="2523"/>
                    <a:ext cx="45" cy="46"/>
                  </a:xfrm>
                  <a:prstGeom prst="line">
                    <a:avLst/>
                  </a:prstGeom>
                  <a:noFill/>
                  <a:ln w="25400">
                    <a:solidFill>
                      <a:srgbClr val="FF00FF"/>
                    </a:solidFill>
                    <a:round/>
                    <a:headEnd/>
                    <a:tailEnd type="none" w="med" len="lg"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46" name="Group 320"/>
                <p:cNvGrpSpPr>
                  <a:grpSpLocks/>
                </p:cNvGrpSpPr>
                <p:nvPr/>
              </p:nvGrpSpPr>
              <p:grpSpPr bwMode="auto">
                <a:xfrm flipH="1">
                  <a:off x="7468888" y="3665323"/>
                  <a:ext cx="157647" cy="155127"/>
                  <a:chOff x="3016" y="2523"/>
                  <a:chExt cx="91" cy="46"/>
                </a:xfrm>
              </p:grpSpPr>
              <p:sp>
                <p:nvSpPr>
                  <p:cNvPr id="68" name="Line 321"/>
                  <p:cNvSpPr>
                    <a:spLocks noChangeShapeType="1"/>
                  </p:cNvSpPr>
                  <p:nvPr/>
                </p:nvSpPr>
                <p:spPr bwMode="auto">
                  <a:xfrm>
                    <a:off x="3016" y="2523"/>
                    <a:ext cx="46" cy="46"/>
                  </a:xfrm>
                  <a:prstGeom prst="line">
                    <a:avLst/>
                  </a:prstGeom>
                  <a:noFill/>
                  <a:ln w="25400">
                    <a:solidFill>
                      <a:srgbClr val="99CCFF"/>
                    </a:solidFill>
                    <a:round/>
                    <a:headEnd/>
                    <a:tailEnd type="none" w="med" len="lg"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69" name="Line 3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62" y="2523"/>
                    <a:ext cx="45" cy="46"/>
                  </a:xfrm>
                  <a:prstGeom prst="line">
                    <a:avLst/>
                  </a:prstGeom>
                  <a:noFill/>
                  <a:ln w="25400">
                    <a:solidFill>
                      <a:srgbClr val="99CCFF"/>
                    </a:solidFill>
                    <a:round/>
                    <a:headEnd/>
                    <a:tailEnd type="none" w="med" len="lg"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47" name="Line 323"/>
                <p:cNvSpPr>
                  <a:spLocks noChangeShapeType="1"/>
                </p:cNvSpPr>
                <p:nvPr/>
              </p:nvSpPr>
              <p:spPr bwMode="auto">
                <a:xfrm>
                  <a:off x="7545959" y="3793527"/>
                  <a:ext cx="0" cy="291024"/>
                </a:xfrm>
                <a:prstGeom prst="line">
                  <a:avLst/>
                </a:prstGeom>
                <a:noFill/>
                <a:ln w="25400">
                  <a:solidFill>
                    <a:srgbClr val="99CC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8" name="Line 324"/>
                <p:cNvSpPr>
                  <a:spLocks noChangeShapeType="1"/>
                </p:cNvSpPr>
                <p:nvPr/>
              </p:nvSpPr>
              <p:spPr bwMode="auto">
                <a:xfrm flipH="1">
                  <a:off x="7103836" y="3723015"/>
                  <a:ext cx="0" cy="348715"/>
                </a:xfrm>
                <a:prstGeom prst="line">
                  <a:avLst/>
                </a:prstGeom>
                <a:noFill/>
                <a:ln w="25400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9" name="Oval 326"/>
                <p:cNvSpPr>
                  <a:spLocks noChangeArrowheads="1"/>
                </p:cNvSpPr>
                <p:nvPr/>
              </p:nvSpPr>
              <p:spPr bwMode="auto">
                <a:xfrm flipH="1">
                  <a:off x="6990046" y="4084551"/>
                  <a:ext cx="220469" cy="217947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defTabSz="1217613"/>
                  <a:r>
                    <a:rPr lang="en-US" altLang="ko-KR" sz="1000">
                      <a:latin typeface="Arial" pitchFamily="34" charset="0"/>
                      <a:cs typeface="Arial" pitchFamily="34" charset="0"/>
                    </a:rPr>
                    <a:t>GIA</a:t>
                  </a:r>
                </a:p>
              </p:txBody>
            </p:sp>
            <p:sp>
              <p:nvSpPr>
                <p:cNvPr id="50" name="Rectangle 327"/>
                <p:cNvSpPr>
                  <a:spLocks noChangeArrowheads="1"/>
                </p:cNvSpPr>
                <p:nvPr/>
              </p:nvSpPr>
              <p:spPr bwMode="auto">
                <a:xfrm>
                  <a:off x="6738759" y="3140968"/>
                  <a:ext cx="1289624" cy="23204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 defTabSz="1217613"/>
                  <a:r>
                    <a:rPr lang="en-US" altLang="ko-KR" sz="1200">
                      <a:latin typeface="Arial" pitchFamily="34" charset="0"/>
                      <a:cs typeface="Arial" pitchFamily="34" charset="0"/>
                    </a:rPr>
                    <a:t>WLAN/GPS Antenna</a:t>
                  </a:r>
                </a:p>
              </p:txBody>
            </p:sp>
            <p:sp>
              <p:nvSpPr>
                <p:cNvPr id="51" name="Line 329"/>
                <p:cNvSpPr>
                  <a:spLocks noChangeShapeType="1"/>
                </p:cNvSpPr>
                <p:nvPr/>
              </p:nvSpPr>
              <p:spPr bwMode="auto">
                <a:xfrm flipV="1">
                  <a:off x="7530848" y="4071730"/>
                  <a:ext cx="15112" cy="1661526"/>
                </a:xfrm>
                <a:prstGeom prst="line">
                  <a:avLst/>
                </a:prstGeom>
                <a:noFill/>
                <a:ln w="25400">
                  <a:solidFill>
                    <a:srgbClr val="808000"/>
                  </a:solidFill>
                  <a:round/>
                  <a:headEnd/>
                  <a:tailEnd type="oval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" name="Rectangle 330"/>
                <p:cNvSpPr>
                  <a:spLocks noChangeArrowheads="1"/>
                </p:cNvSpPr>
                <p:nvPr/>
              </p:nvSpPr>
              <p:spPr bwMode="auto">
                <a:xfrm rot="16200000">
                  <a:off x="6958091" y="4554901"/>
                  <a:ext cx="988455" cy="137497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 defTabSz="1217613"/>
                  <a:r>
                    <a:rPr lang="en-US" altLang="ko-KR" sz="1200" dirty="0">
                      <a:latin typeface="Arial" pitchFamily="34" charset="0"/>
                      <a:cs typeface="Arial" pitchFamily="34" charset="0"/>
                    </a:rPr>
                    <a:t>IEEE802.11a,b,g</a:t>
                  </a:r>
                </a:p>
              </p:txBody>
            </p:sp>
            <p:sp>
              <p:nvSpPr>
                <p:cNvPr id="53" name="Line 331"/>
                <p:cNvSpPr>
                  <a:spLocks noChangeShapeType="1"/>
                </p:cNvSpPr>
                <p:nvPr/>
              </p:nvSpPr>
              <p:spPr bwMode="auto">
                <a:xfrm flipH="1">
                  <a:off x="7328747" y="5733256"/>
                  <a:ext cx="202100" cy="125640"/>
                </a:xfrm>
                <a:prstGeom prst="line">
                  <a:avLst/>
                </a:prstGeom>
                <a:noFill/>
                <a:ln w="25400">
                  <a:solidFill>
                    <a:srgbClr val="808000"/>
                  </a:solidFill>
                  <a:round/>
                  <a:headEnd/>
                  <a:tailEnd type="oval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7" name="Rectangle 337"/>
              <p:cNvSpPr>
                <a:spLocks noChangeArrowheads="1"/>
              </p:cNvSpPr>
              <p:nvPr/>
            </p:nvSpPr>
            <p:spPr bwMode="auto">
              <a:xfrm>
                <a:off x="5178882" y="4361472"/>
                <a:ext cx="1289624" cy="23204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 defTabSz="1217613"/>
                <a:r>
                  <a:rPr lang="en-US" altLang="ko-KR" sz="1400" b="1" dirty="0">
                    <a:latin typeface="Arial" pitchFamily="34" charset="0"/>
                    <a:cs typeface="Arial" pitchFamily="34" charset="0"/>
                  </a:rPr>
                  <a:t>Wireless LAN Router</a:t>
                </a:r>
              </a:p>
            </p:txBody>
          </p:sp>
          <p:sp>
            <p:nvSpPr>
              <p:cNvPr id="58" name="Line 338"/>
              <p:cNvSpPr>
                <a:spLocks noChangeShapeType="1"/>
              </p:cNvSpPr>
              <p:nvPr/>
            </p:nvSpPr>
            <p:spPr bwMode="auto">
              <a:xfrm>
                <a:off x="5770355" y="5583257"/>
                <a:ext cx="1344149" cy="0"/>
              </a:xfrm>
              <a:prstGeom prst="line">
                <a:avLst/>
              </a:prstGeom>
              <a:noFill/>
              <a:ln w="38100">
                <a:solidFill>
                  <a:srgbClr val="9999FF"/>
                </a:solidFill>
                <a:round/>
                <a:headEnd type="triangle" w="med" len="med"/>
                <a:tailEnd type="diamond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9" name="Line 339"/>
              <p:cNvSpPr>
                <a:spLocks noChangeShapeType="1"/>
              </p:cNvSpPr>
              <p:nvPr/>
            </p:nvSpPr>
            <p:spPr bwMode="auto">
              <a:xfrm>
                <a:off x="5770355" y="5757615"/>
                <a:ext cx="1344149" cy="0"/>
              </a:xfrm>
              <a:prstGeom prst="line">
                <a:avLst/>
              </a:prstGeom>
              <a:noFill/>
              <a:ln w="38100">
                <a:solidFill>
                  <a:srgbClr val="9999FF"/>
                </a:solidFill>
                <a:round/>
                <a:headEnd type="triangle" w="med" len="med"/>
                <a:tailEnd type="diamond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Line 340"/>
              <p:cNvSpPr>
                <a:spLocks noChangeShapeType="1"/>
              </p:cNvSpPr>
              <p:nvPr/>
            </p:nvSpPr>
            <p:spPr bwMode="auto">
              <a:xfrm>
                <a:off x="5770355" y="5931972"/>
                <a:ext cx="1344149" cy="0"/>
              </a:xfrm>
              <a:prstGeom prst="line">
                <a:avLst/>
              </a:prstGeom>
              <a:noFill/>
              <a:ln w="38100">
                <a:solidFill>
                  <a:srgbClr val="9999FF"/>
                </a:solidFill>
                <a:round/>
                <a:headEnd type="triangle" w="med" len="med"/>
                <a:tailEnd type="diamond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1" name="Line 341"/>
              <p:cNvSpPr>
                <a:spLocks noChangeShapeType="1"/>
              </p:cNvSpPr>
              <p:nvPr/>
            </p:nvSpPr>
            <p:spPr bwMode="auto">
              <a:xfrm>
                <a:off x="5770355" y="5408899"/>
                <a:ext cx="215728" cy="0"/>
              </a:xfrm>
              <a:prstGeom prst="line">
                <a:avLst/>
              </a:prstGeom>
              <a:noFill/>
              <a:ln w="38100">
                <a:solidFill>
                  <a:srgbClr val="9999FF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2" name="Line 342"/>
              <p:cNvSpPr>
                <a:spLocks noChangeShapeType="1"/>
              </p:cNvSpPr>
              <p:nvPr/>
            </p:nvSpPr>
            <p:spPr bwMode="auto">
              <a:xfrm flipV="1">
                <a:off x="6092760" y="5157192"/>
                <a:ext cx="1071528" cy="18376"/>
              </a:xfrm>
              <a:prstGeom prst="line">
                <a:avLst/>
              </a:prstGeom>
              <a:noFill/>
              <a:ln w="38100">
                <a:solidFill>
                  <a:srgbClr val="9999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3" name="Line 343"/>
              <p:cNvSpPr>
                <a:spLocks noChangeShapeType="1"/>
              </p:cNvSpPr>
              <p:nvPr/>
            </p:nvSpPr>
            <p:spPr bwMode="auto">
              <a:xfrm flipV="1">
                <a:off x="5986082" y="5175568"/>
                <a:ext cx="106678" cy="233332"/>
              </a:xfrm>
              <a:prstGeom prst="line">
                <a:avLst/>
              </a:prstGeom>
              <a:noFill/>
              <a:ln w="38100">
                <a:solidFill>
                  <a:srgbClr val="9999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64" name="Line 344"/>
            <p:cNvSpPr>
              <a:spLocks noChangeShapeType="1"/>
            </p:cNvSpPr>
            <p:nvPr/>
          </p:nvSpPr>
          <p:spPr bwMode="auto">
            <a:xfrm flipH="1">
              <a:off x="7164288" y="5157192"/>
              <a:ext cx="360040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Rectangle 345"/>
            <p:cNvSpPr>
              <a:spLocks noChangeArrowheads="1"/>
            </p:cNvSpPr>
            <p:nvPr/>
          </p:nvSpPr>
          <p:spPr bwMode="auto">
            <a:xfrm>
              <a:off x="7114504" y="5497361"/>
              <a:ext cx="430270" cy="1743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defTabSz="1217613"/>
              <a:r>
                <a:rPr lang="en-US" altLang="ko-KR" sz="1300">
                  <a:latin typeface="Arial" pitchFamily="34" charset="0"/>
                  <a:cs typeface="Arial" pitchFamily="34" charset="0"/>
                </a:rPr>
                <a:t>LAN2</a:t>
              </a:r>
            </a:p>
          </p:txBody>
        </p:sp>
        <p:sp>
          <p:nvSpPr>
            <p:cNvPr id="66" name="Rectangle 346"/>
            <p:cNvSpPr>
              <a:spLocks noChangeArrowheads="1"/>
            </p:cNvSpPr>
            <p:nvPr/>
          </p:nvSpPr>
          <p:spPr bwMode="auto">
            <a:xfrm>
              <a:off x="7114504" y="5671718"/>
              <a:ext cx="430270" cy="1743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defTabSz="1217613"/>
              <a:r>
                <a:rPr lang="en-US" altLang="ko-KR" sz="1300" dirty="0">
                  <a:latin typeface="Arial" pitchFamily="34" charset="0"/>
                  <a:cs typeface="Arial" pitchFamily="34" charset="0"/>
                </a:rPr>
                <a:t>LAN3</a:t>
              </a:r>
            </a:p>
          </p:txBody>
        </p:sp>
        <p:sp>
          <p:nvSpPr>
            <p:cNvPr id="67" name="Rectangle 347"/>
            <p:cNvSpPr>
              <a:spLocks noChangeArrowheads="1"/>
            </p:cNvSpPr>
            <p:nvPr/>
          </p:nvSpPr>
          <p:spPr bwMode="auto">
            <a:xfrm>
              <a:off x="7114504" y="5846076"/>
              <a:ext cx="430270" cy="1743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defTabSz="1217613"/>
              <a:r>
                <a:rPr lang="en-US" altLang="ko-KR" sz="1300" dirty="0">
                  <a:latin typeface="Arial" pitchFamily="34" charset="0"/>
                  <a:cs typeface="Arial" pitchFamily="34" charset="0"/>
                </a:rPr>
                <a:t>LAN4</a:t>
              </a:r>
            </a:p>
          </p:txBody>
        </p:sp>
      </p:grpSp>
      <p:sp>
        <p:nvSpPr>
          <p:cNvPr id="73" name="오른쪽 화살표 72"/>
          <p:cNvSpPr/>
          <p:nvPr/>
        </p:nvSpPr>
        <p:spPr>
          <a:xfrm rot="2392905">
            <a:off x="3857997" y="3378037"/>
            <a:ext cx="1800200" cy="44746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2699792" y="620688"/>
            <a:ext cx="431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WLR PCB AP </a:t>
            </a:r>
            <a:r>
              <a:rPr lang="ko-KR" altLang="en-US" dirty="0" smtClean="0"/>
              <a:t>기능을 외부 장치로 분리</a:t>
            </a:r>
            <a:endParaRPr lang="ko-KR" alt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5076056" y="1772816"/>
            <a:ext cx="338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** </a:t>
            </a:r>
            <a:r>
              <a:rPr lang="en-US" altLang="ko-KR" sz="1000" dirty="0" smtClean="0">
                <a:solidFill>
                  <a:srgbClr val="FF0000"/>
                </a:solidFill>
              </a:rPr>
              <a:t>PROJECT</a:t>
            </a:r>
            <a:r>
              <a:rPr lang="ko-KR" altLang="en-US" sz="1000" dirty="0" smtClean="0">
                <a:solidFill>
                  <a:srgbClr val="FF0000"/>
                </a:solidFill>
              </a:rPr>
              <a:t>에 따라 달라지는 </a:t>
            </a:r>
            <a:r>
              <a:rPr lang="en-US" altLang="ko-KR" sz="1000" dirty="0" smtClean="0">
                <a:solidFill>
                  <a:srgbClr val="FF0000"/>
                </a:solidFill>
              </a:rPr>
              <a:t>AP </a:t>
            </a:r>
            <a:r>
              <a:rPr lang="ko-KR" altLang="en-US" sz="1000" dirty="0" smtClean="0">
                <a:solidFill>
                  <a:srgbClr val="FF0000"/>
                </a:solidFill>
              </a:rPr>
              <a:t>사양에 </a:t>
            </a:r>
            <a:endParaRPr lang="en-US" altLang="ko-KR" sz="1000" dirty="0" smtClean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 smtClean="0">
                <a:solidFill>
                  <a:srgbClr val="FF0000"/>
                </a:solidFill>
              </a:rPr>
              <a:t>   </a:t>
            </a:r>
            <a:r>
              <a:rPr lang="ko-KR" altLang="en-US" sz="1000" dirty="0" smtClean="0">
                <a:solidFill>
                  <a:srgbClr val="FF0000"/>
                </a:solidFill>
              </a:rPr>
              <a:t>능동적으로 대응 할 수 있다</a:t>
            </a:r>
            <a:r>
              <a:rPr lang="en-US" altLang="ko-KR" sz="1000" dirty="0" smtClean="0">
                <a:solidFill>
                  <a:srgbClr val="FF0000"/>
                </a:solidFill>
              </a:rPr>
              <a:t>..</a:t>
            </a:r>
            <a:r>
              <a:rPr lang="ko-KR" altLang="en-US" sz="1000" dirty="0" smtClean="0">
                <a:solidFill>
                  <a:srgbClr val="FF0000"/>
                </a:solidFill>
              </a:rPr>
              <a:t>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908720"/>
            <a:ext cx="3528392" cy="164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2276872"/>
            <a:ext cx="3744416" cy="1742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그룹 8"/>
          <p:cNvGrpSpPr/>
          <p:nvPr/>
        </p:nvGrpSpPr>
        <p:grpSpPr>
          <a:xfrm>
            <a:off x="7708891" y="1351561"/>
            <a:ext cx="1255594" cy="830327"/>
            <a:chOff x="5652120" y="3861048"/>
            <a:chExt cx="1652453" cy="1080120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5652120" y="3861048"/>
              <a:ext cx="576064" cy="108012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altLang="ko-KR" sz="1000" dirty="0" smtClean="0"/>
            </a:p>
            <a:p>
              <a:pPr algn="ctr"/>
              <a:endParaRPr lang="en-US" altLang="ko-KR" sz="1000" dirty="0"/>
            </a:p>
            <a:p>
              <a:pPr algn="ctr"/>
              <a:endParaRPr lang="en-US" altLang="ko-KR" sz="1000" dirty="0" smtClean="0"/>
            </a:p>
            <a:p>
              <a:pPr algn="ctr"/>
              <a:r>
                <a:rPr lang="en-US" altLang="ko-KR" sz="1000" dirty="0" smtClean="0"/>
                <a:t>AMP</a:t>
              </a:r>
              <a:endParaRPr lang="ko-KR" altLang="en-US" sz="1000" dirty="0"/>
            </a:p>
          </p:txBody>
        </p: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693525" y="3940679"/>
              <a:ext cx="400051" cy="390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모서리가 둥근 직사각형 7"/>
            <p:cNvSpPr/>
            <p:nvPr/>
          </p:nvSpPr>
          <p:spPr>
            <a:xfrm>
              <a:off x="6228183" y="3861048"/>
              <a:ext cx="1076390" cy="1080120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POWER</a:t>
              </a:r>
              <a:endParaRPr lang="ko-KR" altLang="en-US" dirty="0"/>
            </a:p>
          </p:txBody>
        </p:sp>
      </p:grpSp>
      <p:sp>
        <p:nvSpPr>
          <p:cNvPr id="11" name="타원 10"/>
          <p:cNvSpPr/>
          <p:nvPr/>
        </p:nvSpPr>
        <p:spPr>
          <a:xfrm>
            <a:off x="8174350" y="1185496"/>
            <a:ext cx="109429" cy="11071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/>
          <p:cNvGrpSpPr/>
          <p:nvPr/>
        </p:nvGrpSpPr>
        <p:grpSpPr>
          <a:xfrm>
            <a:off x="4211960" y="3717032"/>
            <a:ext cx="4752528" cy="1512168"/>
            <a:chOff x="4211960" y="4581128"/>
            <a:chExt cx="4752528" cy="1512168"/>
          </a:xfrm>
        </p:grpSpPr>
        <p:sp>
          <p:nvSpPr>
            <p:cNvPr id="15" name="모서리가 둥근 직사각형 14"/>
            <p:cNvSpPr/>
            <p:nvPr/>
          </p:nvSpPr>
          <p:spPr>
            <a:xfrm>
              <a:off x="8172400" y="4869160"/>
              <a:ext cx="792088" cy="830327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/>
              <a:endParaRPr lang="en-US" altLang="ko-KR" dirty="0" smtClean="0"/>
            </a:p>
            <a:p>
              <a:pPr algn="ctr"/>
              <a:endParaRPr lang="en-US" altLang="ko-KR" dirty="0"/>
            </a:p>
            <a:p>
              <a:pPr algn="ctr"/>
              <a:endParaRPr lang="en-US" altLang="ko-KR" dirty="0" smtClean="0"/>
            </a:p>
            <a:p>
              <a:pPr algn="ctr"/>
              <a:r>
                <a:rPr lang="en-US" altLang="ko-KR" dirty="0" smtClean="0"/>
                <a:t>POWER</a:t>
              </a:r>
              <a:endParaRPr lang="ko-KR" altLang="en-US" dirty="0"/>
            </a:p>
          </p:txBody>
        </p: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244408" y="4941168"/>
              <a:ext cx="276225" cy="295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" name="타원 19"/>
            <p:cNvSpPr/>
            <p:nvPr/>
          </p:nvSpPr>
          <p:spPr>
            <a:xfrm>
              <a:off x="8244408" y="4725144"/>
              <a:ext cx="109429" cy="1107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211960" y="4581128"/>
              <a:ext cx="3249553" cy="1512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6" name="TextBox 25"/>
          <p:cNvSpPr txBox="1"/>
          <p:nvPr/>
        </p:nvSpPr>
        <p:spPr>
          <a:xfrm>
            <a:off x="4644008" y="2708920"/>
            <a:ext cx="33843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** </a:t>
            </a:r>
            <a:r>
              <a:rPr lang="en-US" altLang="ko-KR" sz="1000" dirty="0" smtClean="0">
                <a:solidFill>
                  <a:srgbClr val="FF0000"/>
                </a:solidFill>
              </a:rPr>
              <a:t>AMP </a:t>
            </a:r>
            <a:r>
              <a:rPr lang="ko-KR" altLang="en-US" sz="1000" dirty="0" smtClean="0">
                <a:solidFill>
                  <a:srgbClr val="FF0000"/>
                </a:solidFill>
              </a:rPr>
              <a:t>와 </a:t>
            </a:r>
            <a:r>
              <a:rPr lang="en-US" altLang="ko-KR" sz="1000" dirty="0" smtClean="0">
                <a:solidFill>
                  <a:srgbClr val="FF0000"/>
                </a:solidFill>
              </a:rPr>
              <a:t>POWER </a:t>
            </a:r>
            <a:r>
              <a:rPr lang="ko-KR" altLang="en-US" sz="1000" dirty="0" smtClean="0">
                <a:solidFill>
                  <a:srgbClr val="FF0000"/>
                </a:solidFill>
              </a:rPr>
              <a:t>를 모두 외부로 분리 하였을 경우</a:t>
            </a:r>
            <a:r>
              <a:rPr lang="en-US" altLang="ko-KR" sz="1000" dirty="0" smtClean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6016" y="5445224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** </a:t>
            </a:r>
            <a:r>
              <a:rPr lang="en-US" altLang="ko-KR" sz="1000" dirty="0" smtClean="0">
                <a:solidFill>
                  <a:srgbClr val="FF0000"/>
                </a:solidFill>
              </a:rPr>
              <a:t>POWER </a:t>
            </a:r>
            <a:r>
              <a:rPr lang="ko-KR" altLang="en-US" sz="1000" dirty="0" smtClean="0">
                <a:solidFill>
                  <a:srgbClr val="FF0000"/>
                </a:solidFill>
              </a:rPr>
              <a:t>만 분리 하였을 경우</a:t>
            </a:r>
            <a:r>
              <a:rPr lang="en-US" altLang="ko-KR" sz="1000" dirty="0" smtClean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8" name="오른쪽 화살표 27"/>
          <p:cNvSpPr/>
          <p:nvPr/>
        </p:nvSpPr>
        <p:spPr>
          <a:xfrm rot="20752432">
            <a:off x="2550831" y="1796037"/>
            <a:ext cx="1656184" cy="216024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오른쪽 화살표 28"/>
          <p:cNvSpPr/>
          <p:nvPr/>
        </p:nvSpPr>
        <p:spPr>
          <a:xfrm rot="641289">
            <a:off x="2683167" y="4439907"/>
            <a:ext cx="1656184" cy="216024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123728" y="332656"/>
            <a:ext cx="431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WLR PCB AP </a:t>
            </a:r>
            <a:r>
              <a:rPr lang="ko-KR" altLang="en-US" dirty="0" smtClean="0"/>
              <a:t>기능을 외부 장치로 분리</a:t>
            </a:r>
            <a:endParaRPr lang="ko-KR" altLang="en-US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4139952" y="3501008"/>
            <a:ext cx="4896544" cy="2592288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683568" y="2996952"/>
            <a:ext cx="2880320" cy="2304256"/>
            <a:chOff x="3857625" y="2706688"/>
            <a:chExt cx="4943475" cy="3590925"/>
          </a:xfrm>
        </p:grpSpPr>
        <p:sp>
          <p:nvSpPr>
            <p:cNvPr id="5" name="Rectangle 159"/>
            <p:cNvSpPr>
              <a:spLocks noChangeArrowheads="1"/>
            </p:cNvSpPr>
            <p:nvPr/>
          </p:nvSpPr>
          <p:spPr bwMode="auto">
            <a:xfrm rot="10800000" flipV="1">
              <a:off x="4289425" y="2706688"/>
              <a:ext cx="4105275" cy="2665412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Passenger Information Display</a:t>
              </a: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Line 307"/>
            <p:cNvSpPr>
              <a:spLocks noChangeShapeType="1"/>
            </p:cNvSpPr>
            <p:nvPr/>
          </p:nvSpPr>
          <p:spPr bwMode="auto">
            <a:xfrm flipH="1" flipV="1">
              <a:off x="6402388" y="4856163"/>
              <a:ext cx="984250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7" name="Rectangle 38"/>
            <p:cNvSpPr>
              <a:spLocks noChangeArrowheads="1"/>
            </p:cNvSpPr>
            <p:nvPr/>
          </p:nvSpPr>
          <p:spPr bwMode="auto">
            <a:xfrm rot="10800000" flipV="1">
              <a:off x="5370513" y="4530725"/>
              <a:ext cx="1035050" cy="615950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VRX</a:t>
              </a:r>
            </a:p>
          </p:txBody>
        </p:sp>
        <p:sp>
          <p:nvSpPr>
            <p:cNvPr id="8" name="Rectangle 39"/>
            <p:cNvSpPr>
              <a:spLocks noChangeArrowheads="1"/>
            </p:cNvSpPr>
            <p:nvPr/>
          </p:nvSpPr>
          <p:spPr bwMode="auto">
            <a:xfrm rot="10800000" flipV="1">
              <a:off x="5370513" y="3198813"/>
              <a:ext cx="1943100" cy="1127125"/>
            </a:xfrm>
            <a:prstGeom prst="rect">
              <a:avLst/>
            </a:prstGeom>
            <a:solidFill>
              <a:srgbClr val="99CCFF">
                <a:alpha val="20000"/>
              </a:srgbClr>
            </a:solidFill>
            <a:ln w="508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 dirty="0">
                  <a:latin typeface="Arial" pitchFamily="34" charset="0"/>
                  <a:cs typeface="Arial" pitchFamily="34" charset="0"/>
                </a:rPr>
                <a:t>TFT-LCD</a:t>
              </a:r>
            </a:p>
          </p:txBody>
        </p:sp>
        <p:sp>
          <p:nvSpPr>
            <p:cNvPr id="9" name="Rectangle 46"/>
            <p:cNvSpPr>
              <a:spLocks noChangeArrowheads="1"/>
            </p:cNvSpPr>
            <p:nvPr/>
          </p:nvSpPr>
          <p:spPr bwMode="auto">
            <a:xfrm>
              <a:off x="7313613" y="4495800"/>
              <a:ext cx="936625" cy="647700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 dirty="0">
                  <a:latin typeface="Arial" pitchFamily="34" charset="0"/>
                  <a:cs typeface="Arial" pitchFamily="34" charset="0"/>
                </a:rPr>
                <a:t>Power</a:t>
              </a:r>
            </a:p>
            <a:p>
              <a:pPr algn="ctr" defTabSz="1217613"/>
              <a:r>
                <a:rPr lang="en-US" altLang="ko-KR" sz="800" dirty="0">
                  <a:latin typeface="Arial" pitchFamily="34" charset="0"/>
                  <a:cs typeface="Arial" pitchFamily="34" charset="0"/>
                </a:rPr>
                <a:t>Converted</a:t>
              </a:r>
            </a:p>
            <a:p>
              <a:pPr algn="ctr" defTabSz="1217613"/>
              <a:r>
                <a:rPr lang="en-US" altLang="ko-KR" sz="800" dirty="0">
                  <a:latin typeface="Arial" pitchFamily="34" charset="0"/>
                  <a:cs typeface="Arial" pitchFamily="34" charset="0"/>
                </a:rPr>
                <a:t>Board</a:t>
              </a:r>
            </a:p>
          </p:txBody>
        </p:sp>
        <p:sp>
          <p:nvSpPr>
            <p:cNvPr id="10" name="Line 49"/>
            <p:cNvSpPr>
              <a:spLocks noChangeShapeType="1"/>
            </p:cNvSpPr>
            <p:nvPr/>
          </p:nvSpPr>
          <p:spPr bwMode="auto">
            <a:xfrm flipH="1">
              <a:off x="3857625" y="6296025"/>
              <a:ext cx="1871663" cy="15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11" name="Line 55"/>
            <p:cNvSpPr>
              <a:spLocks noChangeShapeType="1"/>
            </p:cNvSpPr>
            <p:nvPr/>
          </p:nvSpPr>
          <p:spPr bwMode="auto">
            <a:xfrm flipV="1">
              <a:off x="5729288" y="5143500"/>
              <a:ext cx="4762" cy="1152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12" name="Line 56"/>
            <p:cNvSpPr>
              <a:spLocks noChangeShapeType="1"/>
            </p:cNvSpPr>
            <p:nvPr/>
          </p:nvSpPr>
          <p:spPr bwMode="auto">
            <a:xfrm flipH="1" flipV="1">
              <a:off x="5945188" y="5143500"/>
              <a:ext cx="0" cy="1152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800"/>
            </a:p>
          </p:txBody>
        </p:sp>
        <p:grpSp>
          <p:nvGrpSpPr>
            <p:cNvPr id="13" name="Group 57"/>
            <p:cNvGrpSpPr>
              <a:grpSpLocks/>
            </p:cNvGrpSpPr>
            <p:nvPr/>
          </p:nvGrpSpPr>
          <p:grpSpPr bwMode="auto">
            <a:xfrm flipV="1">
              <a:off x="5734050" y="5042652"/>
              <a:ext cx="211138" cy="101568"/>
              <a:chOff x="3651" y="2069"/>
              <a:chExt cx="136" cy="92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auto">
              <a:xfrm flipH="1">
                <a:off x="3651" y="2069"/>
                <a:ext cx="0" cy="9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80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auto">
              <a:xfrm flipH="1">
                <a:off x="3787" y="2069"/>
                <a:ext cx="0" cy="9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800"/>
              </a:p>
            </p:txBody>
          </p:sp>
        </p:grpSp>
        <p:sp>
          <p:nvSpPr>
            <p:cNvPr id="14" name="Line 61"/>
            <p:cNvSpPr>
              <a:spLocks noChangeShapeType="1"/>
            </p:cNvSpPr>
            <p:nvPr/>
          </p:nvSpPr>
          <p:spPr bwMode="auto">
            <a:xfrm flipV="1">
              <a:off x="5945188" y="6296025"/>
              <a:ext cx="280828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15" name="Rectangle 218"/>
            <p:cNvSpPr>
              <a:spLocks noChangeArrowheads="1"/>
            </p:cNvSpPr>
            <p:nvPr/>
          </p:nvSpPr>
          <p:spPr bwMode="auto">
            <a:xfrm rot="10800000" flipV="1">
              <a:off x="3929063" y="6007100"/>
              <a:ext cx="1416050" cy="2746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Digital Video Signal</a:t>
              </a:r>
            </a:p>
          </p:txBody>
        </p:sp>
        <p:sp>
          <p:nvSpPr>
            <p:cNvPr id="16" name="Rectangle 308"/>
            <p:cNvSpPr>
              <a:spLocks noChangeArrowheads="1"/>
            </p:cNvSpPr>
            <p:nvPr/>
          </p:nvSpPr>
          <p:spPr bwMode="auto">
            <a:xfrm>
              <a:off x="6618288" y="4567238"/>
              <a:ext cx="623887" cy="28733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DC 12V</a:t>
              </a:r>
            </a:p>
          </p:txBody>
        </p:sp>
        <p:sp>
          <p:nvSpPr>
            <p:cNvPr id="17" name="Rectangle 309"/>
            <p:cNvSpPr>
              <a:spLocks noChangeArrowheads="1"/>
            </p:cNvSpPr>
            <p:nvPr/>
          </p:nvSpPr>
          <p:spPr bwMode="auto">
            <a:xfrm>
              <a:off x="4291013" y="5719763"/>
              <a:ext cx="695325" cy="28733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RS485</a:t>
              </a:r>
            </a:p>
          </p:txBody>
        </p:sp>
        <p:sp>
          <p:nvSpPr>
            <p:cNvPr id="18" name="Line 310"/>
            <p:cNvSpPr>
              <a:spLocks noChangeShapeType="1"/>
            </p:cNvSpPr>
            <p:nvPr/>
          </p:nvSpPr>
          <p:spPr bwMode="auto">
            <a:xfrm flipV="1">
              <a:off x="3857625" y="6007100"/>
              <a:ext cx="230505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grpSp>
          <p:nvGrpSpPr>
            <p:cNvPr id="19" name="Group 311"/>
            <p:cNvGrpSpPr>
              <a:grpSpLocks/>
            </p:cNvGrpSpPr>
            <p:nvPr/>
          </p:nvGrpSpPr>
          <p:grpSpPr bwMode="auto">
            <a:xfrm flipV="1">
              <a:off x="6162625" y="5143500"/>
              <a:ext cx="215899" cy="144463"/>
              <a:chOff x="4604" y="2523"/>
              <a:chExt cx="91" cy="46"/>
            </a:xfrm>
          </p:grpSpPr>
          <p:sp>
            <p:nvSpPr>
              <p:cNvPr id="37" name="Line 312"/>
              <p:cNvSpPr>
                <a:spLocks noChangeShapeType="1"/>
              </p:cNvSpPr>
              <p:nvPr/>
            </p:nvSpPr>
            <p:spPr bwMode="auto">
              <a:xfrm>
                <a:off x="4604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 sz="800"/>
              </a:p>
            </p:txBody>
          </p:sp>
          <p:sp>
            <p:nvSpPr>
              <p:cNvPr id="38" name="Line 313"/>
              <p:cNvSpPr>
                <a:spLocks noChangeShapeType="1"/>
              </p:cNvSpPr>
              <p:nvPr/>
            </p:nvSpPr>
            <p:spPr bwMode="auto">
              <a:xfrm flipH="1">
                <a:off x="4650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 sz="800"/>
              </a:p>
            </p:txBody>
          </p:sp>
        </p:grpSp>
        <p:sp>
          <p:nvSpPr>
            <p:cNvPr id="20" name="Line 314"/>
            <p:cNvSpPr>
              <a:spLocks noChangeShapeType="1"/>
            </p:cNvSpPr>
            <p:nvPr/>
          </p:nvSpPr>
          <p:spPr bwMode="auto">
            <a:xfrm>
              <a:off x="6162675" y="5287963"/>
              <a:ext cx="0" cy="71913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21" name="Line 315"/>
            <p:cNvSpPr>
              <a:spLocks noChangeShapeType="1"/>
            </p:cNvSpPr>
            <p:nvPr/>
          </p:nvSpPr>
          <p:spPr bwMode="auto">
            <a:xfrm>
              <a:off x="6378575" y="5287963"/>
              <a:ext cx="0" cy="71913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22" name="Line 316"/>
            <p:cNvSpPr>
              <a:spLocks noChangeShapeType="1"/>
            </p:cNvSpPr>
            <p:nvPr/>
          </p:nvSpPr>
          <p:spPr bwMode="auto">
            <a:xfrm>
              <a:off x="6378575" y="6007100"/>
              <a:ext cx="237490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23" name="Rectangle 317"/>
            <p:cNvSpPr>
              <a:spLocks noChangeArrowheads="1"/>
            </p:cNvSpPr>
            <p:nvPr/>
          </p:nvSpPr>
          <p:spPr bwMode="auto">
            <a:xfrm>
              <a:off x="4217988" y="5432425"/>
              <a:ext cx="911225" cy="287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ADDRESS</a:t>
              </a:r>
            </a:p>
          </p:txBody>
        </p:sp>
        <p:sp>
          <p:nvSpPr>
            <p:cNvPr id="24" name="Line 318"/>
            <p:cNvSpPr>
              <a:spLocks noChangeShapeType="1"/>
            </p:cNvSpPr>
            <p:nvPr/>
          </p:nvSpPr>
          <p:spPr bwMode="auto">
            <a:xfrm flipV="1">
              <a:off x="5514975" y="5143500"/>
              <a:ext cx="0" cy="576263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25" name="Line 319"/>
            <p:cNvSpPr>
              <a:spLocks noChangeShapeType="1"/>
            </p:cNvSpPr>
            <p:nvPr/>
          </p:nvSpPr>
          <p:spPr bwMode="auto">
            <a:xfrm flipH="1" flipV="1">
              <a:off x="3857625" y="5719763"/>
              <a:ext cx="165735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26" name="Line 320"/>
            <p:cNvSpPr>
              <a:spLocks noChangeShapeType="1"/>
            </p:cNvSpPr>
            <p:nvPr/>
          </p:nvSpPr>
          <p:spPr bwMode="auto">
            <a:xfrm flipV="1">
              <a:off x="5081588" y="3343275"/>
              <a:ext cx="288925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27" name="Line 321"/>
            <p:cNvSpPr>
              <a:spLocks noChangeShapeType="1"/>
            </p:cNvSpPr>
            <p:nvPr/>
          </p:nvSpPr>
          <p:spPr bwMode="auto">
            <a:xfrm flipV="1">
              <a:off x="4433888" y="3775075"/>
              <a:ext cx="287337" cy="0"/>
            </a:xfrm>
            <a:prstGeom prst="line">
              <a:avLst/>
            </a:prstGeom>
            <a:noFill/>
            <a:ln w="38100">
              <a:solidFill>
                <a:srgbClr val="CCCC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28" name="Line 322"/>
            <p:cNvSpPr>
              <a:spLocks noChangeShapeType="1"/>
            </p:cNvSpPr>
            <p:nvPr/>
          </p:nvSpPr>
          <p:spPr bwMode="auto">
            <a:xfrm flipH="1" flipV="1">
              <a:off x="4433888" y="4856163"/>
              <a:ext cx="920750" cy="0"/>
            </a:xfrm>
            <a:prstGeom prst="line">
              <a:avLst/>
            </a:prstGeom>
            <a:noFill/>
            <a:ln w="38100">
              <a:solidFill>
                <a:srgbClr val="CCCC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29" name="Line 325"/>
            <p:cNvSpPr>
              <a:spLocks noChangeShapeType="1"/>
            </p:cNvSpPr>
            <p:nvPr/>
          </p:nvSpPr>
          <p:spPr bwMode="auto">
            <a:xfrm flipV="1">
              <a:off x="5081588" y="4206875"/>
              <a:ext cx="288925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30" name="Rectangle 40"/>
            <p:cNvSpPr>
              <a:spLocks noChangeArrowheads="1"/>
            </p:cNvSpPr>
            <p:nvPr/>
          </p:nvSpPr>
          <p:spPr bwMode="auto">
            <a:xfrm rot="5400000" flipV="1">
              <a:off x="4349750" y="3570288"/>
              <a:ext cx="1127125" cy="384175"/>
            </a:xfrm>
            <a:prstGeom prst="rect">
              <a:avLst/>
            </a:prstGeom>
            <a:solidFill>
              <a:srgbClr val="CCFF33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LCD inverter</a:t>
              </a:r>
            </a:p>
          </p:txBody>
        </p:sp>
        <p:sp>
          <p:nvSpPr>
            <p:cNvPr id="31" name="Line 326"/>
            <p:cNvSpPr>
              <a:spLocks noChangeShapeType="1"/>
            </p:cNvSpPr>
            <p:nvPr/>
          </p:nvSpPr>
          <p:spPr bwMode="auto">
            <a:xfrm>
              <a:off x="4433888" y="3775075"/>
              <a:ext cx="0" cy="1081088"/>
            </a:xfrm>
            <a:prstGeom prst="line">
              <a:avLst/>
            </a:prstGeom>
            <a:noFill/>
            <a:ln w="38100">
              <a:solidFill>
                <a:srgbClr val="CCCC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32" name="Rectangle 327"/>
            <p:cNvSpPr>
              <a:spLocks noChangeArrowheads="1"/>
            </p:cNvSpPr>
            <p:nvPr/>
          </p:nvSpPr>
          <p:spPr bwMode="auto">
            <a:xfrm rot="10800000" flipV="1">
              <a:off x="6953250" y="6007100"/>
              <a:ext cx="1416050" cy="2746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Digital Video Signal</a:t>
              </a:r>
            </a:p>
          </p:txBody>
        </p:sp>
        <p:sp>
          <p:nvSpPr>
            <p:cNvPr id="33" name="Rectangle 328"/>
            <p:cNvSpPr>
              <a:spLocks noChangeArrowheads="1"/>
            </p:cNvSpPr>
            <p:nvPr/>
          </p:nvSpPr>
          <p:spPr bwMode="auto">
            <a:xfrm>
              <a:off x="7315200" y="5719763"/>
              <a:ext cx="695325" cy="28733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RS485</a:t>
              </a:r>
            </a:p>
          </p:txBody>
        </p:sp>
        <p:sp>
          <p:nvSpPr>
            <p:cNvPr id="34" name="Line 329"/>
            <p:cNvSpPr>
              <a:spLocks noChangeShapeType="1"/>
            </p:cNvSpPr>
            <p:nvPr/>
          </p:nvSpPr>
          <p:spPr bwMode="auto">
            <a:xfrm flipH="1" flipV="1">
              <a:off x="7818438" y="5143500"/>
              <a:ext cx="0" cy="576263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35" name="Line 330"/>
            <p:cNvSpPr>
              <a:spLocks noChangeShapeType="1"/>
            </p:cNvSpPr>
            <p:nvPr/>
          </p:nvSpPr>
          <p:spPr bwMode="auto">
            <a:xfrm flipH="1">
              <a:off x="7818438" y="5719763"/>
              <a:ext cx="936625" cy="0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36" name="Rectangle 331"/>
            <p:cNvSpPr>
              <a:spLocks noChangeArrowheads="1"/>
            </p:cNvSpPr>
            <p:nvPr/>
          </p:nvSpPr>
          <p:spPr bwMode="auto">
            <a:xfrm>
              <a:off x="7889875" y="5430838"/>
              <a:ext cx="911225" cy="28733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AC 230V</a:t>
              </a:r>
            </a:p>
          </p:txBody>
        </p:sp>
      </p:grpSp>
      <p:grpSp>
        <p:nvGrpSpPr>
          <p:cNvPr id="79" name="Group 40"/>
          <p:cNvGrpSpPr>
            <a:grpSpLocks/>
          </p:cNvGrpSpPr>
          <p:nvPr/>
        </p:nvGrpSpPr>
        <p:grpSpPr bwMode="auto">
          <a:xfrm>
            <a:off x="5436096" y="2996952"/>
            <a:ext cx="2970311" cy="2162471"/>
            <a:chOff x="3857625" y="2706688"/>
            <a:chExt cx="4943475" cy="3590925"/>
          </a:xfrm>
        </p:grpSpPr>
        <p:sp>
          <p:nvSpPr>
            <p:cNvPr id="80" name="Rectangle 159"/>
            <p:cNvSpPr>
              <a:spLocks noChangeArrowheads="1"/>
            </p:cNvSpPr>
            <p:nvPr/>
          </p:nvSpPr>
          <p:spPr bwMode="auto">
            <a:xfrm rot="10800000" flipV="1">
              <a:off x="4289425" y="2706688"/>
              <a:ext cx="4105275" cy="2665412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Passenger Information Display</a:t>
              </a: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  <a:p>
              <a:pPr algn="ctr" defTabSz="1217613"/>
              <a:endParaRPr lang="en-US" altLang="ko-KR" sz="8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1" name="Line 307"/>
            <p:cNvSpPr>
              <a:spLocks noChangeShapeType="1"/>
            </p:cNvSpPr>
            <p:nvPr/>
          </p:nvSpPr>
          <p:spPr bwMode="auto">
            <a:xfrm flipH="1" flipV="1">
              <a:off x="6402388" y="4856163"/>
              <a:ext cx="984250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82" name="Rectangle 38"/>
            <p:cNvSpPr>
              <a:spLocks noChangeArrowheads="1"/>
            </p:cNvSpPr>
            <p:nvPr/>
          </p:nvSpPr>
          <p:spPr bwMode="auto">
            <a:xfrm rot="10800000" flipV="1">
              <a:off x="5370513" y="4530725"/>
              <a:ext cx="1035050" cy="615950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VRX</a:t>
              </a:r>
            </a:p>
          </p:txBody>
        </p:sp>
        <p:sp>
          <p:nvSpPr>
            <p:cNvPr id="83" name="Rectangle 39"/>
            <p:cNvSpPr>
              <a:spLocks noChangeArrowheads="1"/>
            </p:cNvSpPr>
            <p:nvPr/>
          </p:nvSpPr>
          <p:spPr bwMode="auto">
            <a:xfrm rot="10800000" flipV="1">
              <a:off x="5370513" y="3198813"/>
              <a:ext cx="1943100" cy="1127125"/>
            </a:xfrm>
            <a:prstGeom prst="rect">
              <a:avLst/>
            </a:prstGeom>
            <a:solidFill>
              <a:srgbClr val="99CCFF">
                <a:alpha val="20000"/>
              </a:srgbClr>
            </a:solidFill>
            <a:ln w="508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TFT-LCD</a:t>
              </a:r>
            </a:p>
          </p:txBody>
        </p:sp>
        <p:sp>
          <p:nvSpPr>
            <p:cNvPr id="84" name="Rectangle 46"/>
            <p:cNvSpPr>
              <a:spLocks noChangeArrowheads="1"/>
            </p:cNvSpPr>
            <p:nvPr/>
          </p:nvSpPr>
          <p:spPr bwMode="auto">
            <a:xfrm>
              <a:off x="7313613" y="4495800"/>
              <a:ext cx="936625" cy="647700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Power</a:t>
              </a:r>
            </a:p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Converted</a:t>
              </a:r>
            </a:p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Board</a:t>
              </a:r>
            </a:p>
          </p:txBody>
        </p:sp>
        <p:sp>
          <p:nvSpPr>
            <p:cNvPr id="85" name="Line 49"/>
            <p:cNvSpPr>
              <a:spLocks noChangeShapeType="1"/>
            </p:cNvSpPr>
            <p:nvPr/>
          </p:nvSpPr>
          <p:spPr bwMode="auto">
            <a:xfrm flipH="1">
              <a:off x="3857625" y="6296025"/>
              <a:ext cx="1871663" cy="15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86" name="Line 55"/>
            <p:cNvSpPr>
              <a:spLocks noChangeShapeType="1"/>
            </p:cNvSpPr>
            <p:nvPr/>
          </p:nvSpPr>
          <p:spPr bwMode="auto">
            <a:xfrm flipV="1">
              <a:off x="5729288" y="5143500"/>
              <a:ext cx="4762" cy="1152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87" name="Line 56"/>
            <p:cNvSpPr>
              <a:spLocks noChangeShapeType="1"/>
            </p:cNvSpPr>
            <p:nvPr/>
          </p:nvSpPr>
          <p:spPr bwMode="auto">
            <a:xfrm flipH="1" flipV="1">
              <a:off x="5945188" y="5143500"/>
              <a:ext cx="0" cy="1152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800"/>
            </a:p>
          </p:txBody>
        </p:sp>
        <p:grpSp>
          <p:nvGrpSpPr>
            <p:cNvPr id="88" name="Group 57"/>
            <p:cNvGrpSpPr>
              <a:grpSpLocks/>
            </p:cNvGrpSpPr>
            <p:nvPr/>
          </p:nvGrpSpPr>
          <p:grpSpPr bwMode="auto">
            <a:xfrm flipV="1">
              <a:off x="5734050" y="5042652"/>
              <a:ext cx="211138" cy="101568"/>
              <a:chOff x="3651" y="2069"/>
              <a:chExt cx="136" cy="92"/>
            </a:xfrm>
          </p:grpSpPr>
          <p:sp>
            <p:nvSpPr>
              <p:cNvPr id="114" name="Line 58"/>
              <p:cNvSpPr>
                <a:spLocks noChangeShapeType="1"/>
              </p:cNvSpPr>
              <p:nvPr/>
            </p:nvSpPr>
            <p:spPr bwMode="auto">
              <a:xfrm flipH="1">
                <a:off x="3651" y="2160"/>
                <a:ext cx="136" cy="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800"/>
              </a:p>
            </p:txBody>
          </p:sp>
          <p:sp>
            <p:nvSpPr>
              <p:cNvPr id="115" name="Line 59"/>
              <p:cNvSpPr>
                <a:spLocks noChangeShapeType="1"/>
              </p:cNvSpPr>
              <p:nvPr/>
            </p:nvSpPr>
            <p:spPr bwMode="auto">
              <a:xfrm flipH="1">
                <a:off x="3651" y="2069"/>
                <a:ext cx="0" cy="9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800"/>
              </a:p>
            </p:txBody>
          </p:sp>
          <p:sp>
            <p:nvSpPr>
              <p:cNvPr id="116" name="Line 60"/>
              <p:cNvSpPr>
                <a:spLocks noChangeShapeType="1"/>
              </p:cNvSpPr>
              <p:nvPr/>
            </p:nvSpPr>
            <p:spPr bwMode="auto">
              <a:xfrm flipH="1">
                <a:off x="3787" y="2069"/>
                <a:ext cx="0" cy="9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800"/>
              </a:p>
            </p:txBody>
          </p:sp>
        </p:grpSp>
        <p:sp>
          <p:nvSpPr>
            <p:cNvPr id="89" name="Line 61"/>
            <p:cNvSpPr>
              <a:spLocks noChangeShapeType="1"/>
            </p:cNvSpPr>
            <p:nvPr/>
          </p:nvSpPr>
          <p:spPr bwMode="auto">
            <a:xfrm flipV="1">
              <a:off x="5945188" y="6296025"/>
              <a:ext cx="280828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90" name="Rectangle 218"/>
            <p:cNvSpPr>
              <a:spLocks noChangeArrowheads="1"/>
            </p:cNvSpPr>
            <p:nvPr/>
          </p:nvSpPr>
          <p:spPr bwMode="auto">
            <a:xfrm rot="10800000" flipV="1">
              <a:off x="3929063" y="6007100"/>
              <a:ext cx="1416050" cy="2746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Digital Video Signal</a:t>
              </a:r>
            </a:p>
          </p:txBody>
        </p:sp>
        <p:sp>
          <p:nvSpPr>
            <p:cNvPr id="91" name="Rectangle 308"/>
            <p:cNvSpPr>
              <a:spLocks noChangeArrowheads="1"/>
            </p:cNvSpPr>
            <p:nvPr/>
          </p:nvSpPr>
          <p:spPr bwMode="auto">
            <a:xfrm>
              <a:off x="6618288" y="4567238"/>
              <a:ext cx="623887" cy="28733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DC 12V</a:t>
              </a:r>
            </a:p>
          </p:txBody>
        </p:sp>
        <p:sp>
          <p:nvSpPr>
            <p:cNvPr id="92" name="Rectangle 309"/>
            <p:cNvSpPr>
              <a:spLocks noChangeArrowheads="1"/>
            </p:cNvSpPr>
            <p:nvPr/>
          </p:nvSpPr>
          <p:spPr bwMode="auto">
            <a:xfrm>
              <a:off x="4291013" y="5719763"/>
              <a:ext cx="695325" cy="28733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RS485</a:t>
              </a:r>
            </a:p>
          </p:txBody>
        </p:sp>
        <p:sp>
          <p:nvSpPr>
            <p:cNvPr id="93" name="Line 310"/>
            <p:cNvSpPr>
              <a:spLocks noChangeShapeType="1"/>
            </p:cNvSpPr>
            <p:nvPr/>
          </p:nvSpPr>
          <p:spPr bwMode="auto">
            <a:xfrm flipV="1">
              <a:off x="3857625" y="6007100"/>
              <a:ext cx="230505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grpSp>
          <p:nvGrpSpPr>
            <p:cNvPr id="94" name="Group 311"/>
            <p:cNvGrpSpPr>
              <a:grpSpLocks/>
            </p:cNvGrpSpPr>
            <p:nvPr/>
          </p:nvGrpSpPr>
          <p:grpSpPr bwMode="auto">
            <a:xfrm flipV="1">
              <a:off x="6162625" y="5143500"/>
              <a:ext cx="215899" cy="144463"/>
              <a:chOff x="4604" y="2523"/>
              <a:chExt cx="91" cy="46"/>
            </a:xfrm>
          </p:grpSpPr>
          <p:sp>
            <p:nvSpPr>
              <p:cNvPr id="112" name="Line 312"/>
              <p:cNvSpPr>
                <a:spLocks noChangeShapeType="1"/>
              </p:cNvSpPr>
              <p:nvPr/>
            </p:nvSpPr>
            <p:spPr bwMode="auto">
              <a:xfrm>
                <a:off x="4604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 sz="800"/>
              </a:p>
            </p:txBody>
          </p:sp>
          <p:sp>
            <p:nvSpPr>
              <p:cNvPr id="113" name="Line 313"/>
              <p:cNvSpPr>
                <a:spLocks noChangeShapeType="1"/>
              </p:cNvSpPr>
              <p:nvPr/>
            </p:nvSpPr>
            <p:spPr bwMode="auto">
              <a:xfrm flipH="1">
                <a:off x="4650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 sz="800"/>
              </a:p>
            </p:txBody>
          </p:sp>
        </p:grpSp>
        <p:sp>
          <p:nvSpPr>
            <p:cNvPr id="95" name="Line 314"/>
            <p:cNvSpPr>
              <a:spLocks noChangeShapeType="1"/>
            </p:cNvSpPr>
            <p:nvPr/>
          </p:nvSpPr>
          <p:spPr bwMode="auto">
            <a:xfrm>
              <a:off x="6162675" y="5287963"/>
              <a:ext cx="0" cy="71913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96" name="Line 315"/>
            <p:cNvSpPr>
              <a:spLocks noChangeShapeType="1"/>
            </p:cNvSpPr>
            <p:nvPr/>
          </p:nvSpPr>
          <p:spPr bwMode="auto">
            <a:xfrm>
              <a:off x="6378575" y="5287963"/>
              <a:ext cx="0" cy="71913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97" name="Line 316"/>
            <p:cNvSpPr>
              <a:spLocks noChangeShapeType="1"/>
            </p:cNvSpPr>
            <p:nvPr/>
          </p:nvSpPr>
          <p:spPr bwMode="auto">
            <a:xfrm>
              <a:off x="6378575" y="6007100"/>
              <a:ext cx="237490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98" name="Rectangle 317"/>
            <p:cNvSpPr>
              <a:spLocks noChangeArrowheads="1"/>
            </p:cNvSpPr>
            <p:nvPr/>
          </p:nvSpPr>
          <p:spPr bwMode="auto">
            <a:xfrm>
              <a:off x="4217988" y="5432425"/>
              <a:ext cx="911225" cy="287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ADDRESS</a:t>
              </a:r>
            </a:p>
          </p:txBody>
        </p:sp>
        <p:sp>
          <p:nvSpPr>
            <p:cNvPr id="99" name="Line 318"/>
            <p:cNvSpPr>
              <a:spLocks noChangeShapeType="1"/>
            </p:cNvSpPr>
            <p:nvPr/>
          </p:nvSpPr>
          <p:spPr bwMode="auto">
            <a:xfrm flipV="1">
              <a:off x="5514975" y="5143500"/>
              <a:ext cx="0" cy="576263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100" name="Line 319"/>
            <p:cNvSpPr>
              <a:spLocks noChangeShapeType="1"/>
            </p:cNvSpPr>
            <p:nvPr/>
          </p:nvSpPr>
          <p:spPr bwMode="auto">
            <a:xfrm flipH="1" flipV="1">
              <a:off x="3857625" y="5719763"/>
              <a:ext cx="165735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101" name="Line 320"/>
            <p:cNvSpPr>
              <a:spLocks noChangeShapeType="1"/>
            </p:cNvSpPr>
            <p:nvPr/>
          </p:nvSpPr>
          <p:spPr bwMode="auto">
            <a:xfrm flipV="1">
              <a:off x="5081588" y="3343275"/>
              <a:ext cx="288925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102" name="Line 321"/>
            <p:cNvSpPr>
              <a:spLocks noChangeShapeType="1"/>
            </p:cNvSpPr>
            <p:nvPr/>
          </p:nvSpPr>
          <p:spPr bwMode="auto">
            <a:xfrm flipV="1">
              <a:off x="4433888" y="3775075"/>
              <a:ext cx="287337" cy="0"/>
            </a:xfrm>
            <a:prstGeom prst="line">
              <a:avLst/>
            </a:prstGeom>
            <a:noFill/>
            <a:ln w="38100">
              <a:solidFill>
                <a:srgbClr val="CCCC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103" name="Line 322"/>
            <p:cNvSpPr>
              <a:spLocks noChangeShapeType="1"/>
            </p:cNvSpPr>
            <p:nvPr/>
          </p:nvSpPr>
          <p:spPr bwMode="auto">
            <a:xfrm flipH="1" flipV="1">
              <a:off x="4433888" y="4856163"/>
              <a:ext cx="920750" cy="0"/>
            </a:xfrm>
            <a:prstGeom prst="line">
              <a:avLst/>
            </a:prstGeom>
            <a:noFill/>
            <a:ln w="38100">
              <a:solidFill>
                <a:srgbClr val="CCCC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104" name="Line 325"/>
            <p:cNvSpPr>
              <a:spLocks noChangeShapeType="1"/>
            </p:cNvSpPr>
            <p:nvPr/>
          </p:nvSpPr>
          <p:spPr bwMode="auto">
            <a:xfrm flipV="1">
              <a:off x="5081588" y="4206875"/>
              <a:ext cx="288925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105" name="Rectangle 40"/>
            <p:cNvSpPr>
              <a:spLocks noChangeArrowheads="1"/>
            </p:cNvSpPr>
            <p:nvPr/>
          </p:nvSpPr>
          <p:spPr bwMode="auto">
            <a:xfrm rot="5400000" flipV="1">
              <a:off x="4349750" y="3570288"/>
              <a:ext cx="1127125" cy="384175"/>
            </a:xfrm>
            <a:prstGeom prst="rect">
              <a:avLst/>
            </a:prstGeom>
            <a:solidFill>
              <a:srgbClr val="CCFF33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LCD inverter</a:t>
              </a:r>
            </a:p>
          </p:txBody>
        </p:sp>
        <p:sp>
          <p:nvSpPr>
            <p:cNvPr id="106" name="Line 326"/>
            <p:cNvSpPr>
              <a:spLocks noChangeShapeType="1"/>
            </p:cNvSpPr>
            <p:nvPr/>
          </p:nvSpPr>
          <p:spPr bwMode="auto">
            <a:xfrm>
              <a:off x="4433888" y="3775075"/>
              <a:ext cx="0" cy="1081088"/>
            </a:xfrm>
            <a:prstGeom prst="line">
              <a:avLst/>
            </a:prstGeom>
            <a:noFill/>
            <a:ln w="38100">
              <a:solidFill>
                <a:srgbClr val="CCCC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107" name="Rectangle 327"/>
            <p:cNvSpPr>
              <a:spLocks noChangeArrowheads="1"/>
            </p:cNvSpPr>
            <p:nvPr/>
          </p:nvSpPr>
          <p:spPr bwMode="auto">
            <a:xfrm rot="10800000" flipV="1">
              <a:off x="6953250" y="6007100"/>
              <a:ext cx="1416050" cy="2746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Digital Video Signal</a:t>
              </a:r>
            </a:p>
          </p:txBody>
        </p:sp>
        <p:sp>
          <p:nvSpPr>
            <p:cNvPr id="108" name="Rectangle 328"/>
            <p:cNvSpPr>
              <a:spLocks noChangeArrowheads="1"/>
            </p:cNvSpPr>
            <p:nvPr/>
          </p:nvSpPr>
          <p:spPr bwMode="auto">
            <a:xfrm>
              <a:off x="7315200" y="5719763"/>
              <a:ext cx="695325" cy="28733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RS485</a:t>
              </a:r>
            </a:p>
          </p:txBody>
        </p:sp>
        <p:sp>
          <p:nvSpPr>
            <p:cNvPr id="109" name="Line 329"/>
            <p:cNvSpPr>
              <a:spLocks noChangeShapeType="1"/>
            </p:cNvSpPr>
            <p:nvPr/>
          </p:nvSpPr>
          <p:spPr bwMode="auto">
            <a:xfrm flipH="1" flipV="1">
              <a:off x="7818438" y="5143500"/>
              <a:ext cx="0" cy="576263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110" name="Line 330"/>
            <p:cNvSpPr>
              <a:spLocks noChangeShapeType="1"/>
            </p:cNvSpPr>
            <p:nvPr/>
          </p:nvSpPr>
          <p:spPr bwMode="auto">
            <a:xfrm flipH="1">
              <a:off x="7818438" y="5719763"/>
              <a:ext cx="936625" cy="0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800"/>
            </a:p>
          </p:txBody>
        </p:sp>
        <p:sp>
          <p:nvSpPr>
            <p:cNvPr id="111" name="Rectangle 331"/>
            <p:cNvSpPr>
              <a:spLocks noChangeArrowheads="1"/>
            </p:cNvSpPr>
            <p:nvPr/>
          </p:nvSpPr>
          <p:spPr bwMode="auto">
            <a:xfrm>
              <a:off x="7889875" y="5430838"/>
              <a:ext cx="911225" cy="28733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1217613"/>
              <a:r>
                <a:rPr lang="en-US" altLang="ko-KR" sz="800">
                  <a:latin typeface="Arial" pitchFamily="34" charset="0"/>
                  <a:cs typeface="Arial" pitchFamily="34" charset="0"/>
                </a:rPr>
                <a:t>AC 230V</a:t>
              </a:r>
            </a:p>
          </p:txBody>
        </p:sp>
      </p:grpSp>
      <p:sp>
        <p:nvSpPr>
          <p:cNvPr id="118" name="타원 117"/>
          <p:cNvSpPr/>
          <p:nvPr/>
        </p:nvSpPr>
        <p:spPr>
          <a:xfrm>
            <a:off x="6444208" y="4149080"/>
            <a:ext cx="360040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사각형 설명선 118"/>
          <p:cNvSpPr/>
          <p:nvPr/>
        </p:nvSpPr>
        <p:spPr>
          <a:xfrm>
            <a:off x="6948264" y="2276872"/>
            <a:ext cx="1440160" cy="324616"/>
          </a:xfrm>
          <a:prstGeom prst="wedgeRectCallout">
            <a:avLst>
              <a:gd name="adj1" fmla="val -72266"/>
              <a:gd name="adj2" fmla="val 5258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Bypass </a:t>
            </a:r>
            <a:r>
              <a:rPr lang="ko-KR" altLang="en-US" sz="1200" dirty="0" smtClean="0"/>
              <a:t>기능 추가</a:t>
            </a:r>
            <a:endParaRPr lang="ko-KR" altLang="en-US" sz="1200" dirty="0"/>
          </a:p>
        </p:txBody>
      </p:sp>
      <p:sp>
        <p:nvSpPr>
          <p:cNvPr id="120" name="TextBox 119"/>
          <p:cNvSpPr txBox="1"/>
          <p:nvPr/>
        </p:nvSpPr>
        <p:spPr>
          <a:xfrm>
            <a:off x="3635896" y="62068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PID </a:t>
            </a:r>
            <a:r>
              <a:rPr lang="en-US" altLang="ko-KR" dirty="0" err="1" smtClean="0"/>
              <a:t>ByPass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기능 추가</a:t>
            </a:r>
            <a:endParaRPr lang="ko-KR" altLang="en-US" dirty="0"/>
          </a:p>
        </p:txBody>
      </p:sp>
      <p:sp>
        <p:nvSpPr>
          <p:cNvPr id="121" name="오른쪽 화살표 120"/>
          <p:cNvSpPr/>
          <p:nvPr/>
        </p:nvSpPr>
        <p:spPr>
          <a:xfrm>
            <a:off x="3995936" y="3717032"/>
            <a:ext cx="1368152" cy="216024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그룹 120"/>
          <p:cNvGrpSpPr/>
          <p:nvPr/>
        </p:nvGrpSpPr>
        <p:grpSpPr>
          <a:xfrm>
            <a:off x="1475656" y="836712"/>
            <a:ext cx="6407150" cy="2743200"/>
            <a:chOff x="1331640" y="1916832"/>
            <a:chExt cx="6407150" cy="2743200"/>
          </a:xfrm>
        </p:grpSpPr>
        <p:sp>
          <p:nvSpPr>
            <p:cNvPr id="5" name="Rounded Rectangle 3"/>
            <p:cNvSpPr/>
            <p:nvPr/>
          </p:nvSpPr>
          <p:spPr bwMode="auto">
            <a:xfrm>
              <a:off x="1336403" y="2069232"/>
              <a:ext cx="6402387" cy="2438400"/>
            </a:xfrm>
            <a:prstGeom prst="roundRect">
              <a:avLst>
                <a:gd name="adj" fmla="val 729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6" name="Rectangle 4"/>
            <p:cNvSpPr/>
            <p:nvPr/>
          </p:nvSpPr>
          <p:spPr bwMode="auto">
            <a:xfrm>
              <a:off x="2708003" y="2032720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7" name="Rectangle 5"/>
            <p:cNvSpPr/>
            <p:nvPr/>
          </p:nvSpPr>
          <p:spPr bwMode="auto">
            <a:xfrm>
              <a:off x="2708003" y="4469532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8" name="Oval 8"/>
            <p:cNvSpPr/>
            <p:nvPr/>
          </p:nvSpPr>
          <p:spPr bwMode="auto">
            <a:xfrm>
              <a:off x="1522140" y="2150195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9" name="Oval 10"/>
            <p:cNvSpPr/>
            <p:nvPr/>
          </p:nvSpPr>
          <p:spPr bwMode="auto">
            <a:xfrm>
              <a:off x="7160940" y="31360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0" name="Oval 11"/>
            <p:cNvSpPr/>
            <p:nvPr/>
          </p:nvSpPr>
          <p:spPr bwMode="auto">
            <a:xfrm>
              <a:off x="1522140" y="31360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1" name="Oval 12"/>
            <p:cNvSpPr/>
            <p:nvPr/>
          </p:nvSpPr>
          <p:spPr bwMode="auto">
            <a:xfrm>
              <a:off x="2098403" y="31360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2" name="Oval 13"/>
            <p:cNvSpPr/>
            <p:nvPr/>
          </p:nvSpPr>
          <p:spPr bwMode="auto">
            <a:xfrm>
              <a:off x="3012803" y="31360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3" name="Oval 14"/>
            <p:cNvSpPr/>
            <p:nvPr/>
          </p:nvSpPr>
          <p:spPr bwMode="auto">
            <a:xfrm>
              <a:off x="3927203" y="31360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4" name="Oval 15"/>
            <p:cNvSpPr/>
            <p:nvPr/>
          </p:nvSpPr>
          <p:spPr bwMode="auto">
            <a:xfrm>
              <a:off x="4843190" y="31360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5" name="Oval 16"/>
            <p:cNvSpPr/>
            <p:nvPr/>
          </p:nvSpPr>
          <p:spPr bwMode="auto">
            <a:xfrm>
              <a:off x="5757590" y="31360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6" name="Oval 17"/>
            <p:cNvSpPr/>
            <p:nvPr/>
          </p:nvSpPr>
          <p:spPr bwMode="auto">
            <a:xfrm>
              <a:off x="6595790" y="31360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7" name="TextBox 18"/>
            <p:cNvSpPr txBox="1">
              <a:spLocks noChangeArrowheads="1"/>
            </p:cNvSpPr>
            <p:nvPr/>
          </p:nvSpPr>
          <p:spPr bwMode="auto">
            <a:xfrm>
              <a:off x="1484094" y="31627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SP1</a:t>
              </a:r>
            </a:p>
          </p:txBody>
        </p:sp>
        <p:sp>
          <p:nvSpPr>
            <p:cNvPr id="18" name="TextBox 19"/>
            <p:cNvSpPr txBox="1">
              <a:spLocks noChangeArrowheads="1"/>
            </p:cNvSpPr>
            <p:nvPr/>
          </p:nvSpPr>
          <p:spPr bwMode="auto">
            <a:xfrm>
              <a:off x="2068112" y="31627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SP2</a:t>
              </a:r>
            </a:p>
          </p:txBody>
        </p:sp>
        <p:sp>
          <p:nvSpPr>
            <p:cNvPr id="19" name="TextBox 20"/>
            <p:cNvSpPr txBox="1">
              <a:spLocks noChangeArrowheads="1"/>
            </p:cNvSpPr>
            <p:nvPr/>
          </p:nvSpPr>
          <p:spPr bwMode="auto">
            <a:xfrm>
              <a:off x="2982738" y="31627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SP3</a:t>
              </a:r>
            </a:p>
          </p:txBody>
        </p:sp>
        <p:sp>
          <p:nvSpPr>
            <p:cNvPr id="20" name="TextBox 21"/>
            <p:cNvSpPr txBox="1">
              <a:spLocks noChangeArrowheads="1"/>
            </p:cNvSpPr>
            <p:nvPr/>
          </p:nvSpPr>
          <p:spPr bwMode="auto">
            <a:xfrm>
              <a:off x="3889741" y="31627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SP4</a:t>
              </a:r>
            </a:p>
          </p:txBody>
        </p:sp>
        <p:sp>
          <p:nvSpPr>
            <p:cNvPr id="21" name="TextBox 22"/>
            <p:cNvSpPr txBox="1">
              <a:spLocks noChangeArrowheads="1"/>
            </p:cNvSpPr>
            <p:nvPr/>
          </p:nvSpPr>
          <p:spPr bwMode="auto">
            <a:xfrm>
              <a:off x="4811989" y="31627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SP5</a:t>
              </a:r>
            </a:p>
          </p:txBody>
        </p:sp>
        <p:sp>
          <p:nvSpPr>
            <p:cNvPr id="22" name="TextBox 23"/>
            <p:cNvSpPr txBox="1">
              <a:spLocks noChangeArrowheads="1"/>
            </p:cNvSpPr>
            <p:nvPr/>
          </p:nvSpPr>
          <p:spPr bwMode="auto">
            <a:xfrm>
              <a:off x="5718992" y="31627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SP6</a:t>
              </a:r>
            </a:p>
          </p:txBody>
        </p:sp>
        <p:sp>
          <p:nvSpPr>
            <p:cNvPr id="23" name="TextBox 24"/>
            <p:cNvSpPr txBox="1">
              <a:spLocks noChangeArrowheads="1"/>
            </p:cNvSpPr>
            <p:nvPr/>
          </p:nvSpPr>
          <p:spPr bwMode="auto">
            <a:xfrm>
              <a:off x="6557399" y="31627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SP7</a:t>
              </a:r>
            </a:p>
          </p:txBody>
        </p:sp>
        <p:sp>
          <p:nvSpPr>
            <p:cNvPr id="24" name="TextBox 25"/>
            <p:cNvSpPr txBox="1">
              <a:spLocks noChangeArrowheads="1"/>
            </p:cNvSpPr>
            <p:nvPr/>
          </p:nvSpPr>
          <p:spPr bwMode="auto">
            <a:xfrm>
              <a:off x="7122846" y="31627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SP8</a:t>
              </a:r>
            </a:p>
          </p:txBody>
        </p:sp>
        <p:sp>
          <p:nvSpPr>
            <p:cNvPr id="25" name="TextBox 27"/>
            <p:cNvSpPr txBox="1">
              <a:spLocks noChangeArrowheads="1"/>
            </p:cNvSpPr>
            <p:nvPr/>
          </p:nvSpPr>
          <p:spPr bwMode="auto">
            <a:xfrm>
              <a:off x="1484094" y="2180675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CSP</a:t>
              </a:r>
            </a:p>
          </p:txBody>
        </p:sp>
        <p:sp>
          <p:nvSpPr>
            <p:cNvPr id="26" name="Oval 28"/>
            <p:cNvSpPr/>
            <p:nvPr/>
          </p:nvSpPr>
          <p:spPr bwMode="auto">
            <a:xfrm>
              <a:off x="2250803" y="191683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27" name="Oval 29"/>
            <p:cNvSpPr/>
            <p:nvPr/>
          </p:nvSpPr>
          <p:spPr bwMode="auto">
            <a:xfrm>
              <a:off x="6519590" y="191683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28" name="Oval 30"/>
            <p:cNvSpPr/>
            <p:nvPr/>
          </p:nvSpPr>
          <p:spPr bwMode="auto">
            <a:xfrm>
              <a:off x="2250803" y="435523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29" name="Oval 31"/>
            <p:cNvSpPr/>
            <p:nvPr/>
          </p:nvSpPr>
          <p:spPr bwMode="auto">
            <a:xfrm>
              <a:off x="6519590" y="435523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30" name="TextBox 32"/>
            <p:cNvSpPr txBox="1">
              <a:spLocks noChangeArrowheads="1"/>
            </p:cNvSpPr>
            <p:nvPr/>
          </p:nvSpPr>
          <p:spPr bwMode="auto">
            <a:xfrm>
              <a:off x="2212928" y="194731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ESP</a:t>
              </a:r>
            </a:p>
          </p:txBody>
        </p:sp>
        <p:sp>
          <p:nvSpPr>
            <p:cNvPr id="31" name="TextBox 33"/>
            <p:cNvSpPr txBox="1">
              <a:spLocks noChangeArrowheads="1"/>
            </p:cNvSpPr>
            <p:nvPr/>
          </p:nvSpPr>
          <p:spPr bwMode="auto">
            <a:xfrm>
              <a:off x="2212928" y="438571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ESP</a:t>
              </a:r>
            </a:p>
          </p:txBody>
        </p:sp>
        <p:sp>
          <p:nvSpPr>
            <p:cNvPr id="32" name="TextBox 34"/>
            <p:cNvSpPr txBox="1">
              <a:spLocks noChangeArrowheads="1"/>
            </p:cNvSpPr>
            <p:nvPr/>
          </p:nvSpPr>
          <p:spPr bwMode="auto">
            <a:xfrm>
              <a:off x="6488802" y="438571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ESP</a:t>
              </a:r>
            </a:p>
          </p:txBody>
        </p:sp>
        <p:sp>
          <p:nvSpPr>
            <p:cNvPr id="33" name="TextBox 35"/>
            <p:cNvSpPr txBox="1">
              <a:spLocks noChangeArrowheads="1"/>
            </p:cNvSpPr>
            <p:nvPr/>
          </p:nvSpPr>
          <p:spPr bwMode="auto">
            <a:xfrm>
              <a:off x="6488802" y="194731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ESP</a:t>
              </a:r>
            </a:p>
          </p:txBody>
        </p:sp>
        <p:sp>
          <p:nvSpPr>
            <p:cNvPr id="34" name="Rectangle 36"/>
            <p:cNvSpPr/>
            <p:nvPr/>
          </p:nvSpPr>
          <p:spPr bwMode="auto">
            <a:xfrm>
              <a:off x="2184128" y="2259732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35" name="TextBox 37"/>
            <p:cNvSpPr txBox="1">
              <a:spLocks noChangeArrowheads="1"/>
            </p:cNvSpPr>
            <p:nvPr/>
          </p:nvSpPr>
          <p:spPr bwMode="auto">
            <a:xfrm>
              <a:off x="2207319" y="2252112"/>
              <a:ext cx="457313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P E I</a:t>
              </a:r>
            </a:p>
          </p:txBody>
        </p:sp>
        <p:sp>
          <p:nvSpPr>
            <p:cNvPr id="36" name="Rectangle 38"/>
            <p:cNvSpPr/>
            <p:nvPr/>
          </p:nvSpPr>
          <p:spPr bwMode="auto">
            <a:xfrm>
              <a:off x="2182540" y="4080595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37" name="Rectangle 39"/>
            <p:cNvSpPr/>
            <p:nvPr/>
          </p:nvSpPr>
          <p:spPr bwMode="auto">
            <a:xfrm>
              <a:off x="6443390" y="2267670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38" name="TextBox 40"/>
            <p:cNvSpPr txBox="1">
              <a:spLocks noChangeArrowheads="1"/>
            </p:cNvSpPr>
            <p:nvPr/>
          </p:nvSpPr>
          <p:spPr bwMode="auto">
            <a:xfrm>
              <a:off x="2205306" y="4073292"/>
              <a:ext cx="457313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P E I</a:t>
              </a:r>
            </a:p>
          </p:txBody>
        </p:sp>
        <p:sp>
          <p:nvSpPr>
            <p:cNvPr id="39" name="TextBox 41"/>
            <p:cNvSpPr txBox="1">
              <a:spLocks noChangeArrowheads="1"/>
            </p:cNvSpPr>
            <p:nvPr/>
          </p:nvSpPr>
          <p:spPr bwMode="auto">
            <a:xfrm>
              <a:off x="6458314" y="2252112"/>
              <a:ext cx="457313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P E I</a:t>
              </a:r>
            </a:p>
          </p:txBody>
        </p:sp>
        <p:sp>
          <p:nvSpPr>
            <p:cNvPr id="40" name="Rectangle 42"/>
            <p:cNvSpPr/>
            <p:nvPr/>
          </p:nvSpPr>
          <p:spPr bwMode="auto">
            <a:xfrm>
              <a:off x="5444853" y="204700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41" name="Rectangle 43"/>
            <p:cNvSpPr/>
            <p:nvPr/>
          </p:nvSpPr>
          <p:spPr bwMode="auto">
            <a:xfrm>
              <a:off x="5444853" y="4483820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42" name="Rectangle 46"/>
            <p:cNvSpPr/>
            <p:nvPr/>
          </p:nvSpPr>
          <p:spPr bwMode="auto">
            <a:xfrm>
              <a:off x="2708003" y="2259732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43" name="Rectangle 47"/>
            <p:cNvSpPr/>
            <p:nvPr/>
          </p:nvSpPr>
          <p:spPr bwMode="auto">
            <a:xfrm>
              <a:off x="2708003" y="4080595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44" name="TextBox 48"/>
            <p:cNvSpPr txBox="1">
              <a:spLocks noChangeArrowheads="1"/>
            </p:cNvSpPr>
            <p:nvPr/>
          </p:nvSpPr>
          <p:spPr bwMode="auto">
            <a:xfrm>
              <a:off x="2708350" y="2252112"/>
              <a:ext cx="533531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C P O</a:t>
              </a:r>
            </a:p>
          </p:txBody>
        </p:sp>
        <p:sp>
          <p:nvSpPr>
            <p:cNvPr id="45" name="TextBox 49"/>
            <p:cNvSpPr txBox="1">
              <a:spLocks noChangeArrowheads="1"/>
            </p:cNvSpPr>
            <p:nvPr/>
          </p:nvSpPr>
          <p:spPr bwMode="auto">
            <a:xfrm>
              <a:off x="2708350" y="4073292"/>
              <a:ext cx="533531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C P O</a:t>
              </a:r>
            </a:p>
          </p:txBody>
        </p:sp>
        <p:sp>
          <p:nvSpPr>
            <p:cNvPr id="46" name="Rectangle 50"/>
            <p:cNvSpPr/>
            <p:nvPr/>
          </p:nvSpPr>
          <p:spPr bwMode="auto">
            <a:xfrm>
              <a:off x="1565003" y="2755032"/>
              <a:ext cx="342900" cy="1698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49" name="TextBox 54"/>
            <p:cNvSpPr txBox="1">
              <a:spLocks noChangeArrowheads="1"/>
            </p:cNvSpPr>
            <p:nvPr/>
          </p:nvSpPr>
          <p:spPr bwMode="auto">
            <a:xfrm>
              <a:off x="1552576" y="2741643"/>
              <a:ext cx="381094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  <a:ea typeface="굴림" pitchFamily="50" charset="-127"/>
                </a:rPr>
                <a:t>DPO</a:t>
              </a:r>
            </a:p>
          </p:txBody>
        </p:sp>
        <p:sp>
          <p:nvSpPr>
            <p:cNvPr id="52" name="Rectangle 57"/>
            <p:cNvSpPr/>
            <p:nvPr/>
          </p:nvSpPr>
          <p:spPr bwMode="auto">
            <a:xfrm>
              <a:off x="1412603" y="3677370"/>
              <a:ext cx="67151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53" name="TextBox 58"/>
            <p:cNvSpPr txBox="1">
              <a:spLocks noChangeArrowheads="1"/>
            </p:cNvSpPr>
            <p:nvPr/>
          </p:nvSpPr>
          <p:spPr bwMode="auto">
            <a:xfrm>
              <a:off x="1378118" y="3683729"/>
              <a:ext cx="76218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700" b="1">
                  <a:latin typeface="Calibri" pitchFamily="34" charset="0"/>
                  <a:ea typeface="굴림" pitchFamily="50" charset="-127"/>
                </a:rPr>
                <a:t>PA CONTROLER</a:t>
              </a:r>
            </a:p>
            <a:p>
              <a:r>
                <a:rPr lang="en-US" altLang="ko-KR" sz="700" b="1">
                  <a:latin typeface="Calibri" pitchFamily="34" charset="0"/>
                  <a:ea typeface="굴림" pitchFamily="50" charset="-127"/>
                </a:rPr>
                <a:t>&amp; POWER AMP</a:t>
              </a:r>
            </a:p>
          </p:txBody>
        </p:sp>
        <p:cxnSp>
          <p:nvCxnSpPr>
            <p:cNvPr id="55" name="Straight Connector 62"/>
            <p:cNvCxnSpPr/>
            <p:nvPr/>
          </p:nvCxnSpPr>
          <p:spPr bwMode="auto">
            <a:xfrm>
              <a:off x="1331640" y="2983632"/>
              <a:ext cx="6318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63"/>
            <p:cNvCxnSpPr/>
            <p:nvPr/>
          </p:nvCxnSpPr>
          <p:spPr bwMode="auto">
            <a:xfrm rot="5400000" flipH="1" flipV="1">
              <a:off x="1499122" y="2527226"/>
              <a:ext cx="91440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69"/>
            <p:cNvCxnSpPr/>
            <p:nvPr/>
          </p:nvCxnSpPr>
          <p:spPr bwMode="auto">
            <a:xfrm rot="10800000">
              <a:off x="2028554" y="2755032"/>
              <a:ext cx="4343646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68"/>
            <p:cNvCxnSpPr/>
            <p:nvPr/>
          </p:nvCxnSpPr>
          <p:spPr bwMode="auto">
            <a:xfrm rot="5400000" flipH="1" flipV="1">
              <a:off x="1561034" y="3211439"/>
              <a:ext cx="923925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74"/>
            <p:cNvCxnSpPr/>
            <p:nvPr/>
          </p:nvCxnSpPr>
          <p:spPr bwMode="auto">
            <a:xfrm rot="10800000">
              <a:off x="2085704" y="3821832"/>
              <a:ext cx="457452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76"/>
            <p:cNvCxnSpPr/>
            <p:nvPr/>
          </p:nvCxnSpPr>
          <p:spPr bwMode="auto">
            <a:xfrm rot="5400000" flipH="1" flipV="1">
              <a:off x="1794397" y="2451026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78"/>
            <p:cNvCxnSpPr/>
            <p:nvPr/>
          </p:nvCxnSpPr>
          <p:spPr bwMode="auto">
            <a:xfrm rot="10800000">
              <a:off x="2095228" y="2145432"/>
              <a:ext cx="17303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86"/>
            <p:cNvCxnSpPr/>
            <p:nvPr/>
          </p:nvCxnSpPr>
          <p:spPr bwMode="auto">
            <a:xfrm rot="5400000" flipH="1" flipV="1">
              <a:off x="6067947" y="2449438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87"/>
            <p:cNvCxnSpPr/>
            <p:nvPr/>
          </p:nvCxnSpPr>
          <p:spPr bwMode="auto">
            <a:xfrm rot="10800000">
              <a:off x="6367190" y="2145432"/>
              <a:ext cx="1730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88"/>
            <p:cNvCxnSpPr/>
            <p:nvPr/>
          </p:nvCxnSpPr>
          <p:spPr bwMode="auto">
            <a:xfrm rot="5400000" flipH="1" flipV="1">
              <a:off x="6404497" y="4089326"/>
              <a:ext cx="5334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90"/>
            <p:cNvCxnSpPr/>
            <p:nvPr/>
          </p:nvCxnSpPr>
          <p:spPr bwMode="auto">
            <a:xfrm rot="5400000" flipH="1" flipV="1">
              <a:off x="1827734" y="4125838"/>
              <a:ext cx="609600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91"/>
            <p:cNvCxnSpPr/>
            <p:nvPr/>
          </p:nvCxnSpPr>
          <p:spPr bwMode="auto">
            <a:xfrm rot="10800000">
              <a:off x="2126978" y="4431432"/>
              <a:ext cx="1460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97"/>
            <p:cNvCxnSpPr/>
            <p:nvPr/>
          </p:nvCxnSpPr>
          <p:spPr bwMode="auto">
            <a:xfrm rot="5400000" flipH="1" flipV="1">
              <a:off x="1462609" y="3603551"/>
              <a:ext cx="13652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09"/>
            <p:cNvCxnSpPr/>
            <p:nvPr/>
          </p:nvCxnSpPr>
          <p:spPr bwMode="auto">
            <a:xfrm>
              <a:off x="1533253" y="3539257"/>
              <a:ext cx="577505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12"/>
            <p:cNvCxnSpPr/>
            <p:nvPr/>
          </p:nvCxnSpPr>
          <p:spPr bwMode="auto">
            <a:xfrm rot="5400000" flipH="1" flipV="1">
              <a:off x="1629296" y="3490839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13"/>
            <p:cNvCxnSpPr/>
            <p:nvPr/>
          </p:nvCxnSpPr>
          <p:spPr bwMode="auto">
            <a:xfrm rot="5400000" flipH="1" flipV="1">
              <a:off x="2205559" y="3486076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14"/>
            <p:cNvCxnSpPr/>
            <p:nvPr/>
          </p:nvCxnSpPr>
          <p:spPr bwMode="auto">
            <a:xfrm rot="5400000" flipH="1" flipV="1">
              <a:off x="3119959" y="3486076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15"/>
            <p:cNvCxnSpPr/>
            <p:nvPr/>
          </p:nvCxnSpPr>
          <p:spPr bwMode="auto">
            <a:xfrm rot="5400000" flipH="1" flipV="1">
              <a:off x="4034359" y="3486076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16"/>
            <p:cNvCxnSpPr/>
            <p:nvPr/>
          </p:nvCxnSpPr>
          <p:spPr bwMode="auto">
            <a:xfrm rot="5400000" flipH="1" flipV="1">
              <a:off x="4950346" y="348607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17"/>
            <p:cNvCxnSpPr/>
            <p:nvPr/>
          </p:nvCxnSpPr>
          <p:spPr bwMode="auto">
            <a:xfrm rot="5400000" flipH="1" flipV="1">
              <a:off x="5864746" y="348607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18"/>
            <p:cNvCxnSpPr/>
            <p:nvPr/>
          </p:nvCxnSpPr>
          <p:spPr bwMode="auto">
            <a:xfrm rot="5400000" flipH="1" flipV="1">
              <a:off x="6702946" y="348607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19"/>
            <p:cNvCxnSpPr/>
            <p:nvPr/>
          </p:nvCxnSpPr>
          <p:spPr bwMode="auto">
            <a:xfrm rot="5400000" flipH="1" flipV="1">
              <a:off x="7268096" y="348607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0"/>
            <p:cNvCxnSpPr/>
            <p:nvPr/>
          </p:nvCxnSpPr>
          <p:spPr bwMode="auto">
            <a:xfrm rot="10800000" flipV="1">
              <a:off x="2089822" y="3717032"/>
              <a:ext cx="1474067" cy="127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121"/>
            <p:cNvSpPr/>
            <p:nvPr/>
          </p:nvSpPr>
          <p:spPr bwMode="auto">
            <a:xfrm>
              <a:off x="3419872" y="3140968"/>
              <a:ext cx="306388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83" name="TextBox 122"/>
            <p:cNvSpPr txBox="1">
              <a:spLocks noChangeArrowheads="1"/>
            </p:cNvSpPr>
            <p:nvPr/>
          </p:nvSpPr>
          <p:spPr bwMode="auto">
            <a:xfrm>
              <a:off x="3373264" y="3170079"/>
              <a:ext cx="457312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 dirty="0">
                  <a:latin typeface="Calibri" pitchFamily="34" charset="0"/>
                  <a:ea typeface="굴림" pitchFamily="50" charset="-127"/>
                </a:rPr>
                <a:t>ANS</a:t>
              </a:r>
            </a:p>
          </p:txBody>
        </p:sp>
        <p:cxnSp>
          <p:nvCxnSpPr>
            <p:cNvPr id="84" name="Straight Connector 123"/>
            <p:cNvCxnSpPr/>
            <p:nvPr/>
          </p:nvCxnSpPr>
          <p:spPr bwMode="auto">
            <a:xfrm rot="5400000" flipH="1" flipV="1">
              <a:off x="1682478" y="3374157"/>
              <a:ext cx="576262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24"/>
            <p:cNvCxnSpPr/>
            <p:nvPr/>
          </p:nvCxnSpPr>
          <p:spPr bwMode="auto">
            <a:xfrm rot="5400000" flipH="1" flipV="1">
              <a:off x="1607072" y="3352726"/>
              <a:ext cx="622300" cy="1587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25"/>
            <p:cNvCxnSpPr/>
            <p:nvPr/>
          </p:nvCxnSpPr>
          <p:spPr bwMode="auto">
            <a:xfrm rot="10800000">
              <a:off x="1972990" y="3093170"/>
              <a:ext cx="4687242" cy="0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0"/>
            <p:cNvCxnSpPr/>
            <p:nvPr/>
          </p:nvCxnSpPr>
          <p:spPr bwMode="auto">
            <a:xfrm rot="10800000">
              <a:off x="1922192" y="3040782"/>
              <a:ext cx="993625" cy="0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2"/>
            <p:cNvCxnSpPr/>
            <p:nvPr/>
          </p:nvCxnSpPr>
          <p:spPr bwMode="auto">
            <a:xfrm rot="5400000" flipH="1" flipV="1">
              <a:off x="2149997" y="3286051"/>
              <a:ext cx="1574800" cy="1587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5"/>
            <p:cNvCxnSpPr/>
            <p:nvPr/>
          </p:nvCxnSpPr>
          <p:spPr bwMode="auto">
            <a:xfrm rot="5400000" flipH="1" flipV="1">
              <a:off x="1702322" y="3284463"/>
              <a:ext cx="1574800" cy="158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36"/>
            <p:cNvCxnSpPr/>
            <p:nvPr/>
          </p:nvCxnSpPr>
          <p:spPr bwMode="auto">
            <a:xfrm rot="5400000" flipH="1" flipV="1">
              <a:off x="6379890" y="2799482"/>
              <a:ext cx="585788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37"/>
            <p:cNvCxnSpPr/>
            <p:nvPr/>
          </p:nvCxnSpPr>
          <p:spPr bwMode="auto">
            <a:xfrm rot="5400000" flipH="1" flipV="1">
              <a:off x="1503090" y="3297957"/>
              <a:ext cx="731838" cy="1588"/>
            </a:xfrm>
            <a:prstGeom prst="lin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143"/>
            <p:cNvSpPr/>
            <p:nvPr/>
          </p:nvSpPr>
          <p:spPr bwMode="auto">
            <a:xfrm>
              <a:off x="1412603" y="2535957"/>
              <a:ext cx="342900" cy="16986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96" name="TextBox 144"/>
            <p:cNvSpPr txBox="1">
              <a:spLocks noChangeArrowheads="1"/>
            </p:cNvSpPr>
            <p:nvPr/>
          </p:nvSpPr>
          <p:spPr bwMode="auto">
            <a:xfrm>
              <a:off x="1401039" y="2513943"/>
              <a:ext cx="381094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  <a:ea typeface="굴림" pitchFamily="50" charset="-127"/>
                </a:rPr>
                <a:t>TRIC</a:t>
              </a:r>
            </a:p>
          </p:txBody>
        </p:sp>
        <p:cxnSp>
          <p:nvCxnSpPr>
            <p:cNvPr id="97" name="Straight Connector 145"/>
            <p:cNvCxnSpPr/>
            <p:nvPr/>
          </p:nvCxnSpPr>
          <p:spPr bwMode="auto">
            <a:xfrm rot="5400000" flipH="1" flipV="1">
              <a:off x="1003027" y="3188420"/>
              <a:ext cx="950913" cy="1588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146"/>
            <p:cNvCxnSpPr/>
            <p:nvPr/>
          </p:nvCxnSpPr>
          <p:spPr bwMode="auto">
            <a:xfrm rot="5400000" flipH="1" flipV="1">
              <a:off x="1634059" y="2495476"/>
              <a:ext cx="73025" cy="1587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5"/>
            <p:cNvCxnSpPr>
              <a:endCxn id="82" idx="4"/>
            </p:cNvCxnSpPr>
            <p:nvPr/>
          </p:nvCxnSpPr>
          <p:spPr bwMode="auto">
            <a:xfrm rot="5400000" flipH="1" flipV="1">
              <a:off x="3432845" y="3576812"/>
              <a:ext cx="271265" cy="917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그룹 212"/>
          <p:cNvGrpSpPr/>
          <p:nvPr/>
        </p:nvGrpSpPr>
        <p:grpSpPr>
          <a:xfrm>
            <a:off x="1475656" y="3717032"/>
            <a:ext cx="6407150" cy="2743200"/>
            <a:chOff x="1547664" y="3717032"/>
            <a:chExt cx="6407150" cy="2743200"/>
          </a:xfrm>
        </p:grpSpPr>
        <p:sp>
          <p:nvSpPr>
            <p:cNvPr id="123" name="Rounded Rectangle 3"/>
            <p:cNvSpPr/>
            <p:nvPr/>
          </p:nvSpPr>
          <p:spPr bwMode="auto">
            <a:xfrm>
              <a:off x="1552427" y="3869432"/>
              <a:ext cx="6402387" cy="2438400"/>
            </a:xfrm>
            <a:prstGeom prst="roundRect">
              <a:avLst>
                <a:gd name="adj" fmla="val 729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24" name="Rectangle 4"/>
            <p:cNvSpPr/>
            <p:nvPr/>
          </p:nvSpPr>
          <p:spPr bwMode="auto">
            <a:xfrm>
              <a:off x="2924027" y="3832920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25" name="Rectangle 5"/>
            <p:cNvSpPr/>
            <p:nvPr/>
          </p:nvSpPr>
          <p:spPr bwMode="auto">
            <a:xfrm>
              <a:off x="2924027" y="6269732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26" name="Oval 8"/>
            <p:cNvSpPr/>
            <p:nvPr/>
          </p:nvSpPr>
          <p:spPr bwMode="auto">
            <a:xfrm>
              <a:off x="1738164" y="3950395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27" name="Oval 10"/>
            <p:cNvSpPr/>
            <p:nvPr/>
          </p:nvSpPr>
          <p:spPr bwMode="auto">
            <a:xfrm>
              <a:off x="7376964" y="49362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28" name="Oval 11"/>
            <p:cNvSpPr/>
            <p:nvPr/>
          </p:nvSpPr>
          <p:spPr bwMode="auto">
            <a:xfrm>
              <a:off x="1738164" y="49362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29" name="Oval 12"/>
            <p:cNvSpPr/>
            <p:nvPr/>
          </p:nvSpPr>
          <p:spPr bwMode="auto">
            <a:xfrm>
              <a:off x="2314427" y="49362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30" name="Oval 13"/>
            <p:cNvSpPr/>
            <p:nvPr/>
          </p:nvSpPr>
          <p:spPr bwMode="auto">
            <a:xfrm>
              <a:off x="3228827" y="49362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31" name="Oval 14"/>
            <p:cNvSpPr/>
            <p:nvPr/>
          </p:nvSpPr>
          <p:spPr bwMode="auto">
            <a:xfrm>
              <a:off x="4143227" y="49362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32" name="Oval 15"/>
            <p:cNvSpPr/>
            <p:nvPr/>
          </p:nvSpPr>
          <p:spPr bwMode="auto">
            <a:xfrm>
              <a:off x="5059214" y="49362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33" name="Oval 16"/>
            <p:cNvSpPr/>
            <p:nvPr/>
          </p:nvSpPr>
          <p:spPr bwMode="auto">
            <a:xfrm>
              <a:off x="5973614" y="49362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34" name="Oval 17"/>
            <p:cNvSpPr/>
            <p:nvPr/>
          </p:nvSpPr>
          <p:spPr bwMode="auto">
            <a:xfrm>
              <a:off x="6811814" y="493623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35" name="TextBox 18"/>
            <p:cNvSpPr txBox="1">
              <a:spLocks noChangeArrowheads="1"/>
            </p:cNvSpPr>
            <p:nvPr/>
          </p:nvSpPr>
          <p:spPr bwMode="auto">
            <a:xfrm>
              <a:off x="1700118" y="49629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SP1</a:t>
              </a:r>
            </a:p>
          </p:txBody>
        </p:sp>
        <p:sp>
          <p:nvSpPr>
            <p:cNvPr id="136" name="TextBox 19"/>
            <p:cNvSpPr txBox="1">
              <a:spLocks noChangeArrowheads="1"/>
            </p:cNvSpPr>
            <p:nvPr/>
          </p:nvSpPr>
          <p:spPr bwMode="auto">
            <a:xfrm>
              <a:off x="2284136" y="49629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SP2</a:t>
              </a:r>
            </a:p>
          </p:txBody>
        </p:sp>
        <p:sp>
          <p:nvSpPr>
            <p:cNvPr id="137" name="TextBox 20"/>
            <p:cNvSpPr txBox="1">
              <a:spLocks noChangeArrowheads="1"/>
            </p:cNvSpPr>
            <p:nvPr/>
          </p:nvSpPr>
          <p:spPr bwMode="auto">
            <a:xfrm>
              <a:off x="3198762" y="49629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SP3</a:t>
              </a:r>
            </a:p>
          </p:txBody>
        </p:sp>
        <p:sp>
          <p:nvSpPr>
            <p:cNvPr id="138" name="TextBox 21"/>
            <p:cNvSpPr txBox="1">
              <a:spLocks noChangeArrowheads="1"/>
            </p:cNvSpPr>
            <p:nvPr/>
          </p:nvSpPr>
          <p:spPr bwMode="auto">
            <a:xfrm>
              <a:off x="4105765" y="49629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SP4</a:t>
              </a:r>
            </a:p>
          </p:txBody>
        </p:sp>
        <p:sp>
          <p:nvSpPr>
            <p:cNvPr id="139" name="TextBox 22"/>
            <p:cNvSpPr txBox="1">
              <a:spLocks noChangeArrowheads="1"/>
            </p:cNvSpPr>
            <p:nvPr/>
          </p:nvSpPr>
          <p:spPr bwMode="auto">
            <a:xfrm>
              <a:off x="5028013" y="49629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SP5</a:t>
              </a:r>
            </a:p>
          </p:txBody>
        </p:sp>
        <p:sp>
          <p:nvSpPr>
            <p:cNvPr id="140" name="TextBox 23"/>
            <p:cNvSpPr txBox="1">
              <a:spLocks noChangeArrowheads="1"/>
            </p:cNvSpPr>
            <p:nvPr/>
          </p:nvSpPr>
          <p:spPr bwMode="auto">
            <a:xfrm>
              <a:off x="5935016" y="49629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SP6</a:t>
              </a:r>
            </a:p>
          </p:txBody>
        </p:sp>
        <p:sp>
          <p:nvSpPr>
            <p:cNvPr id="141" name="TextBox 24"/>
            <p:cNvSpPr txBox="1">
              <a:spLocks noChangeArrowheads="1"/>
            </p:cNvSpPr>
            <p:nvPr/>
          </p:nvSpPr>
          <p:spPr bwMode="auto">
            <a:xfrm>
              <a:off x="6773423" y="49629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SP7</a:t>
              </a:r>
            </a:p>
          </p:txBody>
        </p:sp>
        <p:sp>
          <p:nvSpPr>
            <p:cNvPr id="142" name="TextBox 25"/>
            <p:cNvSpPr txBox="1">
              <a:spLocks noChangeArrowheads="1"/>
            </p:cNvSpPr>
            <p:nvPr/>
          </p:nvSpPr>
          <p:spPr bwMode="auto">
            <a:xfrm>
              <a:off x="7338870" y="496290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SP8</a:t>
              </a:r>
            </a:p>
          </p:txBody>
        </p:sp>
        <p:sp>
          <p:nvSpPr>
            <p:cNvPr id="143" name="TextBox 27"/>
            <p:cNvSpPr txBox="1">
              <a:spLocks noChangeArrowheads="1"/>
            </p:cNvSpPr>
            <p:nvPr/>
          </p:nvSpPr>
          <p:spPr bwMode="auto">
            <a:xfrm>
              <a:off x="1700118" y="3980875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CSP</a:t>
              </a:r>
            </a:p>
          </p:txBody>
        </p:sp>
        <p:sp>
          <p:nvSpPr>
            <p:cNvPr id="144" name="Oval 28"/>
            <p:cNvSpPr/>
            <p:nvPr/>
          </p:nvSpPr>
          <p:spPr bwMode="auto">
            <a:xfrm>
              <a:off x="2466827" y="371703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45" name="Oval 29"/>
            <p:cNvSpPr/>
            <p:nvPr/>
          </p:nvSpPr>
          <p:spPr bwMode="auto">
            <a:xfrm>
              <a:off x="6735614" y="371703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46" name="Oval 30"/>
            <p:cNvSpPr/>
            <p:nvPr/>
          </p:nvSpPr>
          <p:spPr bwMode="auto">
            <a:xfrm>
              <a:off x="2466827" y="615543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47" name="Oval 31"/>
            <p:cNvSpPr/>
            <p:nvPr/>
          </p:nvSpPr>
          <p:spPr bwMode="auto">
            <a:xfrm>
              <a:off x="6735614" y="615543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48" name="TextBox 32"/>
            <p:cNvSpPr txBox="1">
              <a:spLocks noChangeArrowheads="1"/>
            </p:cNvSpPr>
            <p:nvPr/>
          </p:nvSpPr>
          <p:spPr bwMode="auto">
            <a:xfrm>
              <a:off x="2428952" y="374751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ESP</a:t>
              </a:r>
            </a:p>
          </p:txBody>
        </p:sp>
        <p:sp>
          <p:nvSpPr>
            <p:cNvPr id="149" name="TextBox 33"/>
            <p:cNvSpPr txBox="1">
              <a:spLocks noChangeArrowheads="1"/>
            </p:cNvSpPr>
            <p:nvPr/>
          </p:nvSpPr>
          <p:spPr bwMode="auto">
            <a:xfrm>
              <a:off x="2428952" y="618591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ESP</a:t>
              </a:r>
            </a:p>
          </p:txBody>
        </p:sp>
        <p:sp>
          <p:nvSpPr>
            <p:cNvPr id="150" name="TextBox 34"/>
            <p:cNvSpPr txBox="1">
              <a:spLocks noChangeArrowheads="1"/>
            </p:cNvSpPr>
            <p:nvPr/>
          </p:nvSpPr>
          <p:spPr bwMode="auto">
            <a:xfrm>
              <a:off x="6704826" y="618591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ESP</a:t>
              </a:r>
            </a:p>
          </p:txBody>
        </p:sp>
        <p:sp>
          <p:nvSpPr>
            <p:cNvPr id="151" name="TextBox 35"/>
            <p:cNvSpPr txBox="1">
              <a:spLocks noChangeArrowheads="1"/>
            </p:cNvSpPr>
            <p:nvPr/>
          </p:nvSpPr>
          <p:spPr bwMode="auto">
            <a:xfrm>
              <a:off x="6704826" y="374751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ESP</a:t>
              </a:r>
            </a:p>
          </p:txBody>
        </p:sp>
        <p:sp>
          <p:nvSpPr>
            <p:cNvPr id="152" name="Rectangle 36"/>
            <p:cNvSpPr/>
            <p:nvPr/>
          </p:nvSpPr>
          <p:spPr bwMode="auto">
            <a:xfrm>
              <a:off x="2400152" y="4059932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53" name="TextBox 37"/>
            <p:cNvSpPr txBox="1">
              <a:spLocks noChangeArrowheads="1"/>
            </p:cNvSpPr>
            <p:nvPr/>
          </p:nvSpPr>
          <p:spPr bwMode="auto">
            <a:xfrm>
              <a:off x="2423343" y="4052312"/>
              <a:ext cx="457313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P E I</a:t>
              </a:r>
            </a:p>
          </p:txBody>
        </p:sp>
        <p:sp>
          <p:nvSpPr>
            <p:cNvPr id="154" name="Rectangle 38"/>
            <p:cNvSpPr/>
            <p:nvPr/>
          </p:nvSpPr>
          <p:spPr bwMode="auto">
            <a:xfrm>
              <a:off x="2398564" y="5880795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55" name="Rectangle 39"/>
            <p:cNvSpPr/>
            <p:nvPr/>
          </p:nvSpPr>
          <p:spPr bwMode="auto">
            <a:xfrm>
              <a:off x="6659414" y="4067870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56" name="TextBox 40"/>
            <p:cNvSpPr txBox="1">
              <a:spLocks noChangeArrowheads="1"/>
            </p:cNvSpPr>
            <p:nvPr/>
          </p:nvSpPr>
          <p:spPr bwMode="auto">
            <a:xfrm>
              <a:off x="2421330" y="5873492"/>
              <a:ext cx="457313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P E I</a:t>
              </a:r>
            </a:p>
          </p:txBody>
        </p:sp>
        <p:sp>
          <p:nvSpPr>
            <p:cNvPr id="157" name="TextBox 41"/>
            <p:cNvSpPr txBox="1">
              <a:spLocks noChangeArrowheads="1"/>
            </p:cNvSpPr>
            <p:nvPr/>
          </p:nvSpPr>
          <p:spPr bwMode="auto">
            <a:xfrm>
              <a:off x="6674338" y="4052312"/>
              <a:ext cx="457313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P E I</a:t>
              </a:r>
            </a:p>
          </p:txBody>
        </p:sp>
        <p:sp>
          <p:nvSpPr>
            <p:cNvPr id="158" name="Rectangle 42"/>
            <p:cNvSpPr/>
            <p:nvPr/>
          </p:nvSpPr>
          <p:spPr bwMode="auto">
            <a:xfrm>
              <a:off x="5660877" y="384720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59" name="Rectangle 43"/>
            <p:cNvSpPr/>
            <p:nvPr/>
          </p:nvSpPr>
          <p:spPr bwMode="auto">
            <a:xfrm>
              <a:off x="5660877" y="6284020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60" name="Rectangle 46"/>
            <p:cNvSpPr/>
            <p:nvPr/>
          </p:nvSpPr>
          <p:spPr bwMode="auto">
            <a:xfrm>
              <a:off x="2924027" y="4059932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61" name="Rectangle 47"/>
            <p:cNvSpPr/>
            <p:nvPr/>
          </p:nvSpPr>
          <p:spPr bwMode="auto">
            <a:xfrm>
              <a:off x="2924027" y="5880795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62" name="TextBox 48"/>
            <p:cNvSpPr txBox="1">
              <a:spLocks noChangeArrowheads="1"/>
            </p:cNvSpPr>
            <p:nvPr/>
          </p:nvSpPr>
          <p:spPr bwMode="auto">
            <a:xfrm>
              <a:off x="2924374" y="4052312"/>
              <a:ext cx="533531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C P O</a:t>
              </a:r>
            </a:p>
          </p:txBody>
        </p:sp>
        <p:sp>
          <p:nvSpPr>
            <p:cNvPr id="163" name="TextBox 49"/>
            <p:cNvSpPr txBox="1">
              <a:spLocks noChangeArrowheads="1"/>
            </p:cNvSpPr>
            <p:nvPr/>
          </p:nvSpPr>
          <p:spPr bwMode="auto">
            <a:xfrm>
              <a:off x="2924374" y="5873492"/>
              <a:ext cx="533531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  <a:ea typeface="굴림" pitchFamily="50" charset="-127"/>
                </a:rPr>
                <a:t>C P O</a:t>
              </a:r>
            </a:p>
          </p:txBody>
        </p:sp>
        <p:sp>
          <p:nvSpPr>
            <p:cNvPr id="164" name="Rectangle 50"/>
            <p:cNvSpPr/>
            <p:nvPr/>
          </p:nvSpPr>
          <p:spPr bwMode="auto">
            <a:xfrm>
              <a:off x="1781027" y="4555232"/>
              <a:ext cx="342900" cy="1698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65" name="TextBox 54"/>
            <p:cNvSpPr txBox="1">
              <a:spLocks noChangeArrowheads="1"/>
            </p:cNvSpPr>
            <p:nvPr/>
          </p:nvSpPr>
          <p:spPr bwMode="auto">
            <a:xfrm>
              <a:off x="1768600" y="4541843"/>
              <a:ext cx="381094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  <a:ea typeface="굴림" pitchFamily="50" charset="-127"/>
                </a:rPr>
                <a:t>DPO</a:t>
              </a:r>
            </a:p>
          </p:txBody>
        </p:sp>
        <p:sp>
          <p:nvSpPr>
            <p:cNvPr id="166" name="Rectangle 57"/>
            <p:cNvSpPr/>
            <p:nvPr/>
          </p:nvSpPr>
          <p:spPr bwMode="auto">
            <a:xfrm>
              <a:off x="1628627" y="5477570"/>
              <a:ext cx="67151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167" name="TextBox 58"/>
            <p:cNvSpPr txBox="1">
              <a:spLocks noChangeArrowheads="1"/>
            </p:cNvSpPr>
            <p:nvPr/>
          </p:nvSpPr>
          <p:spPr bwMode="auto">
            <a:xfrm>
              <a:off x="1594142" y="5483929"/>
              <a:ext cx="76218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700" b="1">
                  <a:latin typeface="Calibri" pitchFamily="34" charset="0"/>
                  <a:ea typeface="굴림" pitchFamily="50" charset="-127"/>
                </a:rPr>
                <a:t>PA CONTROLER</a:t>
              </a:r>
            </a:p>
            <a:p>
              <a:r>
                <a:rPr lang="en-US" altLang="ko-KR" sz="700" b="1">
                  <a:latin typeface="Calibri" pitchFamily="34" charset="0"/>
                  <a:ea typeface="굴림" pitchFamily="50" charset="-127"/>
                </a:rPr>
                <a:t>&amp; POWER AMP</a:t>
              </a:r>
            </a:p>
          </p:txBody>
        </p:sp>
        <p:cxnSp>
          <p:nvCxnSpPr>
            <p:cNvPr id="168" name="Straight Connector 62"/>
            <p:cNvCxnSpPr/>
            <p:nvPr/>
          </p:nvCxnSpPr>
          <p:spPr bwMode="auto">
            <a:xfrm>
              <a:off x="1547664" y="4783832"/>
              <a:ext cx="6318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63"/>
            <p:cNvCxnSpPr/>
            <p:nvPr/>
          </p:nvCxnSpPr>
          <p:spPr bwMode="auto">
            <a:xfrm rot="5400000" flipH="1" flipV="1">
              <a:off x="1715146" y="4327426"/>
              <a:ext cx="91440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69"/>
            <p:cNvCxnSpPr/>
            <p:nvPr/>
          </p:nvCxnSpPr>
          <p:spPr bwMode="auto">
            <a:xfrm rot="10800000">
              <a:off x="2244578" y="4555232"/>
              <a:ext cx="4343646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68"/>
            <p:cNvCxnSpPr/>
            <p:nvPr/>
          </p:nvCxnSpPr>
          <p:spPr bwMode="auto">
            <a:xfrm rot="5400000" flipH="1" flipV="1">
              <a:off x="1777058" y="5011639"/>
              <a:ext cx="923925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74"/>
            <p:cNvCxnSpPr/>
            <p:nvPr/>
          </p:nvCxnSpPr>
          <p:spPr bwMode="auto">
            <a:xfrm rot="10800000">
              <a:off x="2301728" y="5622032"/>
              <a:ext cx="457452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76"/>
            <p:cNvCxnSpPr/>
            <p:nvPr/>
          </p:nvCxnSpPr>
          <p:spPr bwMode="auto">
            <a:xfrm rot="5400000" flipH="1" flipV="1">
              <a:off x="2010421" y="4251226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78"/>
            <p:cNvCxnSpPr/>
            <p:nvPr/>
          </p:nvCxnSpPr>
          <p:spPr bwMode="auto">
            <a:xfrm rot="10800000">
              <a:off x="2311252" y="3945632"/>
              <a:ext cx="17303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86"/>
            <p:cNvCxnSpPr/>
            <p:nvPr/>
          </p:nvCxnSpPr>
          <p:spPr bwMode="auto">
            <a:xfrm rot="5400000" flipH="1" flipV="1">
              <a:off x="6283971" y="4249638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87"/>
            <p:cNvCxnSpPr/>
            <p:nvPr/>
          </p:nvCxnSpPr>
          <p:spPr bwMode="auto">
            <a:xfrm rot="10800000">
              <a:off x="6583214" y="3945632"/>
              <a:ext cx="1730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88"/>
            <p:cNvCxnSpPr/>
            <p:nvPr/>
          </p:nvCxnSpPr>
          <p:spPr bwMode="auto">
            <a:xfrm rot="5400000" flipH="1" flipV="1">
              <a:off x="6620521" y="5889526"/>
              <a:ext cx="5334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90"/>
            <p:cNvCxnSpPr/>
            <p:nvPr/>
          </p:nvCxnSpPr>
          <p:spPr bwMode="auto">
            <a:xfrm rot="5400000" flipH="1" flipV="1">
              <a:off x="2043758" y="5926038"/>
              <a:ext cx="609600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91"/>
            <p:cNvCxnSpPr/>
            <p:nvPr/>
          </p:nvCxnSpPr>
          <p:spPr bwMode="auto">
            <a:xfrm rot="10800000">
              <a:off x="2343002" y="6231632"/>
              <a:ext cx="1460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97"/>
            <p:cNvCxnSpPr/>
            <p:nvPr/>
          </p:nvCxnSpPr>
          <p:spPr bwMode="auto">
            <a:xfrm rot="5400000" flipH="1" flipV="1">
              <a:off x="1678633" y="5403751"/>
              <a:ext cx="13652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09"/>
            <p:cNvCxnSpPr/>
            <p:nvPr/>
          </p:nvCxnSpPr>
          <p:spPr bwMode="auto">
            <a:xfrm>
              <a:off x="1749277" y="5339457"/>
              <a:ext cx="577505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12"/>
            <p:cNvCxnSpPr/>
            <p:nvPr/>
          </p:nvCxnSpPr>
          <p:spPr bwMode="auto">
            <a:xfrm rot="5400000" flipH="1" flipV="1">
              <a:off x="1845320" y="5291039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13"/>
            <p:cNvCxnSpPr/>
            <p:nvPr/>
          </p:nvCxnSpPr>
          <p:spPr bwMode="auto">
            <a:xfrm rot="5400000" flipH="1" flipV="1">
              <a:off x="2421583" y="5286276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14"/>
            <p:cNvCxnSpPr/>
            <p:nvPr/>
          </p:nvCxnSpPr>
          <p:spPr bwMode="auto">
            <a:xfrm rot="5400000" flipH="1" flipV="1">
              <a:off x="3335983" y="5286276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15"/>
            <p:cNvCxnSpPr/>
            <p:nvPr/>
          </p:nvCxnSpPr>
          <p:spPr bwMode="auto">
            <a:xfrm rot="5400000" flipH="1" flipV="1">
              <a:off x="4250383" y="5286276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16"/>
            <p:cNvCxnSpPr/>
            <p:nvPr/>
          </p:nvCxnSpPr>
          <p:spPr bwMode="auto">
            <a:xfrm rot="5400000" flipH="1" flipV="1">
              <a:off x="5166370" y="528627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17"/>
            <p:cNvCxnSpPr/>
            <p:nvPr/>
          </p:nvCxnSpPr>
          <p:spPr bwMode="auto">
            <a:xfrm rot="5400000" flipH="1" flipV="1">
              <a:off x="6080770" y="528627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18"/>
            <p:cNvCxnSpPr/>
            <p:nvPr/>
          </p:nvCxnSpPr>
          <p:spPr bwMode="auto">
            <a:xfrm rot="5400000" flipH="1" flipV="1">
              <a:off x="6918970" y="528627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19"/>
            <p:cNvCxnSpPr/>
            <p:nvPr/>
          </p:nvCxnSpPr>
          <p:spPr bwMode="auto">
            <a:xfrm rot="5400000" flipH="1" flipV="1">
              <a:off x="7484120" y="528627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20"/>
            <p:cNvCxnSpPr/>
            <p:nvPr/>
          </p:nvCxnSpPr>
          <p:spPr bwMode="auto">
            <a:xfrm rot="10800000" flipV="1">
              <a:off x="2305848" y="5517232"/>
              <a:ext cx="3418281" cy="127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Oval 121"/>
            <p:cNvSpPr/>
            <p:nvPr/>
          </p:nvSpPr>
          <p:spPr bwMode="auto">
            <a:xfrm>
              <a:off x="3635896" y="4941168"/>
              <a:ext cx="306388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cxnSp>
          <p:nvCxnSpPr>
            <p:cNvPr id="193" name="Straight Connector 123"/>
            <p:cNvCxnSpPr/>
            <p:nvPr/>
          </p:nvCxnSpPr>
          <p:spPr bwMode="auto">
            <a:xfrm rot="5400000" flipH="1" flipV="1">
              <a:off x="1898502" y="5174357"/>
              <a:ext cx="576262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24"/>
            <p:cNvCxnSpPr/>
            <p:nvPr/>
          </p:nvCxnSpPr>
          <p:spPr bwMode="auto">
            <a:xfrm rot="5400000" flipH="1" flipV="1">
              <a:off x="1823096" y="5152926"/>
              <a:ext cx="622300" cy="1587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25"/>
            <p:cNvCxnSpPr/>
            <p:nvPr/>
          </p:nvCxnSpPr>
          <p:spPr bwMode="auto">
            <a:xfrm rot="10800000">
              <a:off x="2189014" y="4893370"/>
              <a:ext cx="4687242" cy="0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30"/>
            <p:cNvCxnSpPr/>
            <p:nvPr/>
          </p:nvCxnSpPr>
          <p:spPr bwMode="auto">
            <a:xfrm rot="10800000">
              <a:off x="2138216" y="4840982"/>
              <a:ext cx="993625" cy="0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32"/>
            <p:cNvCxnSpPr/>
            <p:nvPr/>
          </p:nvCxnSpPr>
          <p:spPr bwMode="auto">
            <a:xfrm rot="5400000" flipH="1" flipV="1">
              <a:off x="2366021" y="5086251"/>
              <a:ext cx="1574800" cy="1587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35"/>
            <p:cNvCxnSpPr/>
            <p:nvPr/>
          </p:nvCxnSpPr>
          <p:spPr bwMode="auto">
            <a:xfrm rot="5400000" flipH="1" flipV="1">
              <a:off x="1918346" y="5084663"/>
              <a:ext cx="1574800" cy="158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36"/>
            <p:cNvCxnSpPr/>
            <p:nvPr/>
          </p:nvCxnSpPr>
          <p:spPr bwMode="auto">
            <a:xfrm rot="5400000" flipH="1" flipV="1">
              <a:off x="6595914" y="4599682"/>
              <a:ext cx="585788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37"/>
            <p:cNvCxnSpPr/>
            <p:nvPr/>
          </p:nvCxnSpPr>
          <p:spPr bwMode="auto">
            <a:xfrm rot="5400000" flipH="1" flipV="1">
              <a:off x="1719114" y="5098157"/>
              <a:ext cx="731838" cy="1588"/>
            </a:xfrm>
            <a:prstGeom prst="lin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Rectangle 143"/>
            <p:cNvSpPr/>
            <p:nvPr/>
          </p:nvSpPr>
          <p:spPr bwMode="auto">
            <a:xfrm>
              <a:off x="1628627" y="4336157"/>
              <a:ext cx="342900" cy="16986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sp>
          <p:nvSpPr>
            <p:cNvPr id="202" name="TextBox 144"/>
            <p:cNvSpPr txBox="1">
              <a:spLocks noChangeArrowheads="1"/>
            </p:cNvSpPr>
            <p:nvPr/>
          </p:nvSpPr>
          <p:spPr bwMode="auto">
            <a:xfrm>
              <a:off x="1617063" y="4314143"/>
              <a:ext cx="381094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  <a:ea typeface="굴림" pitchFamily="50" charset="-127"/>
                </a:rPr>
                <a:t>TRIC</a:t>
              </a:r>
            </a:p>
          </p:txBody>
        </p:sp>
        <p:cxnSp>
          <p:nvCxnSpPr>
            <p:cNvPr id="203" name="Straight Connector 145"/>
            <p:cNvCxnSpPr/>
            <p:nvPr/>
          </p:nvCxnSpPr>
          <p:spPr bwMode="auto">
            <a:xfrm rot="5400000" flipH="1" flipV="1">
              <a:off x="1219051" y="4988620"/>
              <a:ext cx="950913" cy="1588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146"/>
            <p:cNvCxnSpPr/>
            <p:nvPr/>
          </p:nvCxnSpPr>
          <p:spPr bwMode="auto">
            <a:xfrm rot="5400000" flipH="1" flipV="1">
              <a:off x="1850083" y="4295676"/>
              <a:ext cx="73025" cy="1587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115"/>
            <p:cNvCxnSpPr>
              <a:endCxn id="191" idx="4"/>
            </p:cNvCxnSpPr>
            <p:nvPr/>
          </p:nvCxnSpPr>
          <p:spPr bwMode="auto">
            <a:xfrm rot="5400000" flipH="1" flipV="1">
              <a:off x="3648869" y="5377011"/>
              <a:ext cx="271264" cy="917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Oval 121"/>
            <p:cNvSpPr/>
            <p:nvPr/>
          </p:nvSpPr>
          <p:spPr bwMode="auto">
            <a:xfrm>
              <a:off x="5580112" y="4941168"/>
              <a:ext cx="306388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>
                <a:solidFill>
                  <a:srgbClr val="FFFFFF"/>
                </a:solidFill>
              </a:endParaRPr>
            </a:p>
          </p:txBody>
        </p:sp>
        <p:cxnSp>
          <p:nvCxnSpPr>
            <p:cNvPr id="211" name="Straight Connector 115"/>
            <p:cNvCxnSpPr/>
            <p:nvPr/>
          </p:nvCxnSpPr>
          <p:spPr bwMode="auto">
            <a:xfrm rot="5400000" flipH="1" flipV="1">
              <a:off x="5593085" y="5369769"/>
              <a:ext cx="271264" cy="917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TextBox 122"/>
            <p:cNvSpPr txBox="1">
              <a:spLocks noChangeArrowheads="1"/>
            </p:cNvSpPr>
            <p:nvPr/>
          </p:nvSpPr>
          <p:spPr bwMode="auto">
            <a:xfrm>
              <a:off x="3610632" y="4982979"/>
              <a:ext cx="457312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 dirty="0">
                  <a:latin typeface="Calibri" pitchFamily="34" charset="0"/>
                  <a:ea typeface="굴림" pitchFamily="50" charset="-127"/>
                </a:rPr>
                <a:t>ANS</a:t>
              </a:r>
            </a:p>
          </p:txBody>
        </p:sp>
        <p:sp>
          <p:nvSpPr>
            <p:cNvPr id="192" name="TextBox 122"/>
            <p:cNvSpPr txBox="1">
              <a:spLocks noChangeArrowheads="1"/>
            </p:cNvSpPr>
            <p:nvPr/>
          </p:nvSpPr>
          <p:spPr bwMode="auto">
            <a:xfrm>
              <a:off x="5554848" y="4982979"/>
              <a:ext cx="457312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 dirty="0">
                  <a:latin typeface="Calibri" pitchFamily="34" charset="0"/>
                  <a:ea typeface="굴림" pitchFamily="50" charset="-127"/>
                </a:rPr>
                <a:t>ANS</a:t>
              </a:r>
            </a:p>
          </p:txBody>
        </p:sp>
      </p:grpSp>
      <p:sp>
        <p:nvSpPr>
          <p:cNvPr id="214" name="TextBox 213"/>
          <p:cNvSpPr txBox="1"/>
          <p:nvPr/>
        </p:nvSpPr>
        <p:spPr>
          <a:xfrm>
            <a:off x="3635896" y="33265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ANS </a:t>
            </a:r>
            <a:r>
              <a:rPr lang="ko-KR" altLang="en-US" dirty="0" smtClean="0"/>
              <a:t>마이크 추가</a:t>
            </a:r>
            <a:endParaRPr lang="ko-KR" altLang="en-US" dirty="0"/>
          </a:p>
        </p:txBody>
      </p:sp>
      <p:sp>
        <p:nvSpPr>
          <p:cNvPr id="215" name="모서리가 둥근 직사각형 214"/>
          <p:cNvSpPr/>
          <p:nvPr/>
        </p:nvSpPr>
        <p:spPr>
          <a:xfrm>
            <a:off x="5364088" y="4797152"/>
            <a:ext cx="576064" cy="64807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6" name="포인트가 4개인 별 215"/>
          <p:cNvSpPr/>
          <p:nvPr/>
        </p:nvSpPr>
        <p:spPr>
          <a:xfrm>
            <a:off x="5436096" y="4581128"/>
            <a:ext cx="288032" cy="288032"/>
          </a:xfrm>
          <a:prstGeom prst="star4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7" name="오른쪽 화살표 216"/>
          <p:cNvSpPr/>
          <p:nvPr/>
        </p:nvSpPr>
        <p:spPr>
          <a:xfrm rot="5400000">
            <a:off x="4788024" y="3501008"/>
            <a:ext cx="1368152" cy="216024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179512" y="1268760"/>
            <a:ext cx="3888432" cy="48245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31913" y="2205038"/>
            <a:ext cx="1728787" cy="316865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r>
              <a:rPr lang="en-US" altLang="ko-KR" sz="1200" b="1"/>
              <a:t>Communication</a:t>
            </a:r>
          </a:p>
          <a:p>
            <a:pPr algn="ctr"/>
            <a:r>
              <a:rPr lang="en-US" altLang="ko-KR" sz="1200" b="1"/>
              <a:t>Rack</a:t>
            </a:r>
          </a:p>
          <a:p>
            <a:pPr algn="ctr"/>
            <a:r>
              <a:rPr lang="en-US" altLang="ko-KR" sz="1200" b="1"/>
              <a:t>A</a:t>
            </a:r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 b="1"/>
          </a:p>
          <a:p>
            <a:pPr algn="ctr"/>
            <a:endParaRPr lang="en-US" altLang="ko-KR" sz="120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275013" y="3068638"/>
            <a:ext cx="574675" cy="431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1"/>
              <a:t>Device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3275013" y="4581525"/>
            <a:ext cx="574675" cy="431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1"/>
              <a:t>Device</a:t>
            </a:r>
          </a:p>
        </p:txBody>
      </p:sp>
      <p:sp>
        <p:nvSpPr>
          <p:cNvPr id="7" name="Freeform 11"/>
          <p:cNvSpPr>
            <a:spLocks/>
          </p:cNvSpPr>
          <p:nvPr/>
        </p:nvSpPr>
        <p:spPr bwMode="auto">
          <a:xfrm>
            <a:off x="3421063" y="2708275"/>
            <a:ext cx="1008062" cy="360363"/>
          </a:xfrm>
          <a:custGeom>
            <a:avLst/>
            <a:gdLst>
              <a:gd name="T0" fmla="*/ 0 w 726"/>
              <a:gd name="T1" fmla="*/ 360363 h 136"/>
              <a:gd name="T2" fmla="*/ 188838 w 726"/>
              <a:gd name="T3" fmla="*/ 0 h 136"/>
              <a:gd name="T4" fmla="*/ 819224 w 726"/>
              <a:gd name="T5" fmla="*/ 0 h 136"/>
              <a:gd name="T6" fmla="*/ 945579 w 726"/>
              <a:gd name="T7" fmla="*/ 241125 h 136"/>
              <a:gd name="T8" fmla="*/ 1008062 w 726"/>
              <a:gd name="T9" fmla="*/ 360363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15"/>
          <p:cNvSpPr>
            <a:spLocks/>
          </p:cNvSpPr>
          <p:nvPr/>
        </p:nvSpPr>
        <p:spPr bwMode="auto">
          <a:xfrm>
            <a:off x="3419475" y="4221163"/>
            <a:ext cx="1008063" cy="360362"/>
          </a:xfrm>
          <a:custGeom>
            <a:avLst/>
            <a:gdLst>
              <a:gd name="T0" fmla="*/ 0 w 726"/>
              <a:gd name="T1" fmla="*/ 360362 h 136"/>
              <a:gd name="T2" fmla="*/ 188838 w 726"/>
              <a:gd name="T3" fmla="*/ 0 h 136"/>
              <a:gd name="T4" fmla="*/ 819225 w 726"/>
              <a:gd name="T5" fmla="*/ 0 h 136"/>
              <a:gd name="T6" fmla="*/ 945580 w 726"/>
              <a:gd name="T7" fmla="*/ 241125 h 136"/>
              <a:gd name="T8" fmla="*/ 1008063 w 726"/>
              <a:gd name="T9" fmla="*/ 360362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18"/>
          <p:cNvSpPr>
            <a:spLocks/>
          </p:cNvSpPr>
          <p:nvPr/>
        </p:nvSpPr>
        <p:spPr bwMode="auto">
          <a:xfrm>
            <a:off x="2698750" y="2852738"/>
            <a:ext cx="1008063" cy="215900"/>
          </a:xfrm>
          <a:custGeom>
            <a:avLst/>
            <a:gdLst>
              <a:gd name="T0" fmla="*/ 0 w 726"/>
              <a:gd name="T1" fmla="*/ 215900 h 136"/>
              <a:gd name="T2" fmla="*/ 188838 w 726"/>
              <a:gd name="T3" fmla="*/ 0 h 136"/>
              <a:gd name="T4" fmla="*/ 819225 w 726"/>
              <a:gd name="T5" fmla="*/ 0 h 136"/>
              <a:gd name="T6" fmla="*/ 945580 w 726"/>
              <a:gd name="T7" fmla="*/ 144462 h 136"/>
              <a:gd name="T8" fmla="*/ 1008063 w 726"/>
              <a:gd name="T9" fmla="*/ 215900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9"/>
          <p:cNvSpPr>
            <a:spLocks/>
          </p:cNvSpPr>
          <p:nvPr/>
        </p:nvSpPr>
        <p:spPr bwMode="auto">
          <a:xfrm>
            <a:off x="2411413" y="2708275"/>
            <a:ext cx="1008062" cy="360363"/>
          </a:xfrm>
          <a:custGeom>
            <a:avLst/>
            <a:gdLst>
              <a:gd name="T0" fmla="*/ 0 w 726"/>
              <a:gd name="T1" fmla="*/ 360363 h 136"/>
              <a:gd name="T2" fmla="*/ 188838 w 726"/>
              <a:gd name="T3" fmla="*/ 0 h 136"/>
              <a:gd name="T4" fmla="*/ 819224 w 726"/>
              <a:gd name="T5" fmla="*/ 0 h 136"/>
              <a:gd name="T6" fmla="*/ 945579 w 726"/>
              <a:gd name="T7" fmla="*/ 241125 h 136"/>
              <a:gd name="T8" fmla="*/ 1008062 w 726"/>
              <a:gd name="T9" fmla="*/ 360363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auto">
          <a:xfrm>
            <a:off x="2698750" y="4365625"/>
            <a:ext cx="1008063" cy="215900"/>
          </a:xfrm>
          <a:custGeom>
            <a:avLst/>
            <a:gdLst>
              <a:gd name="T0" fmla="*/ 0 w 726"/>
              <a:gd name="T1" fmla="*/ 215900 h 136"/>
              <a:gd name="T2" fmla="*/ 188838 w 726"/>
              <a:gd name="T3" fmla="*/ 0 h 136"/>
              <a:gd name="T4" fmla="*/ 819225 w 726"/>
              <a:gd name="T5" fmla="*/ 0 h 136"/>
              <a:gd name="T6" fmla="*/ 945580 w 726"/>
              <a:gd name="T7" fmla="*/ 144462 h 136"/>
              <a:gd name="T8" fmla="*/ 1008063 w 726"/>
              <a:gd name="T9" fmla="*/ 215900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23"/>
          <p:cNvSpPr>
            <a:spLocks/>
          </p:cNvSpPr>
          <p:nvPr/>
        </p:nvSpPr>
        <p:spPr bwMode="auto">
          <a:xfrm>
            <a:off x="2411413" y="4221163"/>
            <a:ext cx="1008062" cy="360362"/>
          </a:xfrm>
          <a:custGeom>
            <a:avLst/>
            <a:gdLst>
              <a:gd name="T0" fmla="*/ 0 w 726"/>
              <a:gd name="T1" fmla="*/ 360362 h 136"/>
              <a:gd name="T2" fmla="*/ 188838 w 726"/>
              <a:gd name="T3" fmla="*/ 0 h 136"/>
              <a:gd name="T4" fmla="*/ 819224 w 726"/>
              <a:gd name="T5" fmla="*/ 0 h 136"/>
              <a:gd name="T6" fmla="*/ 945579 w 726"/>
              <a:gd name="T7" fmla="*/ 241125 h 136"/>
              <a:gd name="T8" fmla="*/ 1008062 w 726"/>
              <a:gd name="T9" fmla="*/ 360362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26"/>
          <p:cNvSpPr>
            <a:spLocks/>
          </p:cNvSpPr>
          <p:nvPr/>
        </p:nvSpPr>
        <p:spPr bwMode="auto">
          <a:xfrm>
            <a:off x="2420938" y="3068638"/>
            <a:ext cx="269875" cy="385762"/>
          </a:xfrm>
          <a:custGeom>
            <a:avLst/>
            <a:gdLst>
              <a:gd name="T0" fmla="*/ 0 w 158"/>
              <a:gd name="T1" fmla="*/ 0 h 227"/>
              <a:gd name="T2" fmla="*/ 0 w 158"/>
              <a:gd name="T3" fmla="*/ 307590 h 227"/>
              <a:gd name="T4" fmla="*/ 44410 w 158"/>
              <a:gd name="T5" fmla="*/ 385762 h 227"/>
              <a:gd name="T6" fmla="*/ 88820 w 158"/>
              <a:gd name="T7" fmla="*/ 307590 h 227"/>
              <a:gd name="T8" fmla="*/ 133229 w 158"/>
              <a:gd name="T9" fmla="*/ 385762 h 227"/>
              <a:gd name="T10" fmla="*/ 179347 w 158"/>
              <a:gd name="T11" fmla="*/ 307590 h 227"/>
              <a:gd name="T12" fmla="*/ 225465 w 158"/>
              <a:gd name="T13" fmla="*/ 385762 h 227"/>
              <a:gd name="T14" fmla="*/ 269875 w 158"/>
              <a:gd name="T15" fmla="*/ 307590 h 227"/>
              <a:gd name="T16" fmla="*/ 269875 w 158"/>
              <a:gd name="T17" fmla="*/ 0 h 22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8"/>
              <a:gd name="T28" fmla="*/ 0 h 227"/>
              <a:gd name="T29" fmla="*/ 158 w 158"/>
              <a:gd name="T30" fmla="*/ 227 h 22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8" h="227">
                <a:moveTo>
                  <a:pt x="0" y="0"/>
                </a:moveTo>
                <a:lnTo>
                  <a:pt x="0" y="181"/>
                </a:lnTo>
                <a:lnTo>
                  <a:pt x="26" y="227"/>
                </a:lnTo>
                <a:lnTo>
                  <a:pt x="52" y="181"/>
                </a:lnTo>
                <a:lnTo>
                  <a:pt x="78" y="227"/>
                </a:lnTo>
                <a:lnTo>
                  <a:pt x="105" y="181"/>
                </a:lnTo>
                <a:lnTo>
                  <a:pt x="132" y="227"/>
                </a:lnTo>
                <a:lnTo>
                  <a:pt x="158" y="181"/>
                </a:lnTo>
                <a:lnTo>
                  <a:pt x="15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Box 27"/>
          <p:cNvSpPr txBox="1">
            <a:spLocks noChangeArrowheads="1"/>
          </p:cNvSpPr>
          <p:nvPr/>
        </p:nvSpPr>
        <p:spPr bwMode="auto">
          <a:xfrm>
            <a:off x="2339975" y="3429000"/>
            <a:ext cx="3603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200" b="1" dirty="0" err="1"/>
              <a:t>Rt</a:t>
            </a:r>
            <a:endParaRPr lang="en-US" altLang="ko-KR" sz="1200" b="1" dirty="0">
              <a:sym typeface="Symbol" pitchFamily="18" charset="2"/>
            </a:endParaRPr>
          </a:p>
        </p:txBody>
      </p:sp>
      <p:sp>
        <p:nvSpPr>
          <p:cNvPr id="15" name="Freeform 29"/>
          <p:cNvSpPr>
            <a:spLocks/>
          </p:cNvSpPr>
          <p:nvPr/>
        </p:nvSpPr>
        <p:spPr bwMode="auto">
          <a:xfrm>
            <a:off x="2420938" y="4584700"/>
            <a:ext cx="269875" cy="385763"/>
          </a:xfrm>
          <a:custGeom>
            <a:avLst/>
            <a:gdLst>
              <a:gd name="T0" fmla="*/ 0 w 158"/>
              <a:gd name="T1" fmla="*/ 0 h 227"/>
              <a:gd name="T2" fmla="*/ 0 w 158"/>
              <a:gd name="T3" fmla="*/ 307591 h 227"/>
              <a:gd name="T4" fmla="*/ 44410 w 158"/>
              <a:gd name="T5" fmla="*/ 385763 h 227"/>
              <a:gd name="T6" fmla="*/ 88820 w 158"/>
              <a:gd name="T7" fmla="*/ 307591 h 227"/>
              <a:gd name="T8" fmla="*/ 133229 w 158"/>
              <a:gd name="T9" fmla="*/ 385763 h 227"/>
              <a:gd name="T10" fmla="*/ 179347 w 158"/>
              <a:gd name="T11" fmla="*/ 307591 h 227"/>
              <a:gd name="T12" fmla="*/ 225465 w 158"/>
              <a:gd name="T13" fmla="*/ 385763 h 227"/>
              <a:gd name="T14" fmla="*/ 269875 w 158"/>
              <a:gd name="T15" fmla="*/ 307591 h 227"/>
              <a:gd name="T16" fmla="*/ 269875 w 158"/>
              <a:gd name="T17" fmla="*/ 0 h 22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8"/>
              <a:gd name="T28" fmla="*/ 0 h 227"/>
              <a:gd name="T29" fmla="*/ 158 w 158"/>
              <a:gd name="T30" fmla="*/ 227 h 22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8" h="227">
                <a:moveTo>
                  <a:pt x="0" y="0"/>
                </a:moveTo>
                <a:lnTo>
                  <a:pt x="0" y="181"/>
                </a:lnTo>
                <a:lnTo>
                  <a:pt x="26" y="227"/>
                </a:lnTo>
                <a:lnTo>
                  <a:pt x="52" y="181"/>
                </a:lnTo>
                <a:lnTo>
                  <a:pt x="78" y="227"/>
                </a:lnTo>
                <a:lnTo>
                  <a:pt x="105" y="181"/>
                </a:lnTo>
                <a:lnTo>
                  <a:pt x="132" y="227"/>
                </a:lnTo>
                <a:lnTo>
                  <a:pt x="158" y="181"/>
                </a:lnTo>
                <a:lnTo>
                  <a:pt x="15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" name="Line 31"/>
          <p:cNvSpPr>
            <a:spLocks noChangeShapeType="1"/>
          </p:cNvSpPr>
          <p:nvPr/>
        </p:nvSpPr>
        <p:spPr bwMode="auto">
          <a:xfrm flipV="1">
            <a:off x="2482850" y="1989138"/>
            <a:ext cx="144463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Line 32"/>
          <p:cNvSpPr>
            <a:spLocks noChangeShapeType="1"/>
          </p:cNvSpPr>
          <p:nvPr/>
        </p:nvSpPr>
        <p:spPr bwMode="auto">
          <a:xfrm flipV="1">
            <a:off x="1978025" y="1773238"/>
            <a:ext cx="2889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Line 33"/>
          <p:cNvSpPr>
            <a:spLocks noChangeShapeType="1"/>
          </p:cNvSpPr>
          <p:nvPr/>
        </p:nvSpPr>
        <p:spPr bwMode="auto">
          <a:xfrm flipH="1" flipV="1">
            <a:off x="2338388" y="1989138"/>
            <a:ext cx="1444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Line 34"/>
          <p:cNvSpPr>
            <a:spLocks noChangeShapeType="1"/>
          </p:cNvSpPr>
          <p:nvPr/>
        </p:nvSpPr>
        <p:spPr bwMode="auto">
          <a:xfrm flipH="1" flipV="1">
            <a:off x="1690688" y="1773238"/>
            <a:ext cx="287337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Line 39"/>
          <p:cNvSpPr>
            <a:spLocks noChangeShapeType="1"/>
          </p:cNvSpPr>
          <p:nvPr/>
        </p:nvSpPr>
        <p:spPr bwMode="auto">
          <a:xfrm>
            <a:off x="2627313" y="19891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Line 40"/>
          <p:cNvSpPr>
            <a:spLocks noChangeShapeType="1"/>
          </p:cNvSpPr>
          <p:nvPr/>
        </p:nvSpPr>
        <p:spPr bwMode="auto">
          <a:xfrm flipH="1">
            <a:off x="395288" y="1989138"/>
            <a:ext cx="194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Line 41"/>
          <p:cNvSpPr>
            <a:spLocks noChangeShapeType="1"/>
          </p:cNvSpPr>
          <p:nvPr/>
        </p:nvSpPr>
        <p:spPr bwMode="auto">
          <a:xfrm flipH="1">
            <a:off x="395288" y="1763713"/>
            <a:ext cx="1296987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Line 42"/>
          <p:cNvSpPr>
            <a:spLocks noChangeShapeType="1"/>
          </p:cNvSpPr>
          <p:nvPr/>
        </p:nvSpPr>
        <p:spPr bwMode="auto">
          <a:xfrm flipH="1">
            <a:off x="2268538" y="1773238"/>
            <a:ext cx="790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Rectangle 52"/>
          <p:cNvSpPr>
            <a:spLocks noChangeArrowheads="1"/>
          </p:cNvSpPr>
          <p:nvPr/>
        </p:nvSpPr>
        <p:spPr bwMode="auto">
          <a:xfrm>
            <a:off x="755650" y="1700213"/>
            <a:ext cx="433388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1"/>
              <a:t>Repeat</a:t>
            </a:r>
          </a:p>
        </p:txBody>
      </p:sp>
      <p:sp>
        <p:nvSpPr>
          <p:cNvPr id="25" name="Rectangle 53"/>
          <p:cNvSpPr>
            <a:spLocks noChangeArrowheads="1"/>
          </p:cNvSpPr>
          <p:nvPr/>
        </p:nvSpPr>
        <p:spPr bwMode="auto">
          <a:xfrm>
            <a:off x="1189038" y="1700213"/>
            <a:ext cx="14287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1"/>
              <a:t>R</a:t>
            </a:r>
          </a:p>
          <a:p>
            <a:pPr algn="ctr"/>
            <a:r>
              <a:rPr lang="en-US" altLang="ko-KR" sz="1200" b="1"/>
              <a:t>t</a:t>
            </a:r>
          </a:p>
        </p:txBody>
      </p:sp>
      <p:sp>
        <p:nvSpPr>
          <p:cNvPr id="26" name="Rectangle 54"/>
          <p:cNvSpPr>
            <a:spLocks noChangeArrowheads="1"/>
          </p:cNvSpPr>
          <p:nvPr/>
        </p:nvSpPr>
        <p:spPr bwMode="auto">
          <a:xfrm>
            <a:off x="612775" y="1700213"/>
            <a:ext cx="14287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1"/>
              <a:t>R</a:t>
            </a:r>
          </a:p>
          <a:p>
            <a:pPr algn="ctr"/>
            <a:r>
              <a:rPr lang="en-US" altLang="ko-KR" sz="1200" b="1"/>
              <a:t>t</a:t>
            </a:r>
          </a:p>
        </p:txBody>
      </p:sp>
      <p:sp>
        <p:nvSpPr>
          <p:cNvPr id="27" name="Rectangle 55"/>
          <p:cNvSpPr>
            <a:spLocks noChangeArrowheads="1"/>
          </p:cNvSpPr>
          <p:nvPr/>
        </p:nvSpPr>
        <p:spPr bwMode="auto">
          <a:xfrm>
            <a:off x="3201988" y="1700213"/>
            <a:ext cx="433387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1"/>
              <a:t>Repeat</a:t>
            </a:r>
          </a:p>
        </p:txBody>
      </p:sp>
      <p:sp>
        <p:nvSpPr>
          <p:cNvPr id="28" name="Rectangle 56"/>
          <p:cNvSpPr>
            <a:spLocks noChangeArrowheads="1"/>
          </p:cNvSpPr>
          <p:nvPr/>
        </p:nvSpPr>
        <p:spPr bwMode="auto">
          <a:xfrm>
            <a:off x="3635375" y="1700213"/>
            <a:ext cx="14287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1"/>
              <a:t>R</a:t>
            </a:r>
          </a:p>
          <a:p>
            <a:pPr algn="ctr"/>
            <a:r>
              <a:rPr lang="en-US" altLang="ko-KR" sz="1200" b="1"/>
              <a:t>t</a:t>
            </a:r>
          </a:p>
        </p:txBody>
      </p:sp>
      <p:sp>
        <p:nvSpPr>
          <p:cNvPr id="29" name="Rectangle 57"/>
          <p:cNvSpPr>
            <a:spLocks noChangeArrowheads="1"/>
          </p:cNvSpPr>
          <p:nvPr/>
        </p:nvSpPr>
        <p:spPr bwMode="auto">
          <a:xfrm>
            <a:off x="3059113" y="1700213"/>
            <a:ext cx="14287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1"/>
              <a:t>R</a:t>
            </a:r>
          </a:p>
          <a:p>
            <a:pPr algn="ctr"/>
            <a:r>
              <a:rPr lang="en-US" altLang="ko-KR" sz="1200" b="1"/>
              <a:t>t</a:t>
            </a:r>
          </a:p>
        </p:txBody>
      </p:sp>
      <p:sp>
        <p:nvSpPr>
          <p:cNvPr id="30" name="Text Box 61"/>
          <p:cNvSpPr txBox="1">
            <a:spLocks noChangeArrowheads="1"/>
          </p:cNvSpPr>
          <p:nvPr/>
        </p:nvSpPr>
        <p:spPr bwMode="auto">
          <a:xfrm>
            <a:off x="1258888" y="5445125"/>
            <a:ext cx="19192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200" b="1"/>
              <a:t>Rt : Terminating Resistor</a:t>
            </a:r>
          </a:p>
        </p:txBody>
      </p:sp>
      <p:sp>
        <p:nvSpPr>
          <p:cNvPr id="31" name="Text Box 62"/>
          <p:cNvSpPr txBox="1">
            <a:spLocks noChangeArrowheads="1"/>
          </p:cNvSpPr>
          <p:nvPr/>
        </p:nvSpPr>
        <p:spPr bwMode="auto">
          <a:xfrm>
            <a:off x="2339975" y="4941888"/>
            <a:ext cx="3603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200" b="1">
                <a:sym typeface="Symbol" pitchFamily="18" charset="2"/>
              </a:rPr>
              <a:t>Rt</a:t>
            </a:r>
          </a:p>
        </p:txBody>
      </p:sp>
      <p:sp>
        <p:nvSpPr>
          <p:cNvPr id="32" name="Text Box 65"/>
          <p:cNvSpPr txBox="1">
            <a:spLocks noChangeArrowheads="1"/>
          </p:cNvSpPr>
          <p:nvPr/>
        </p:nvSpPr>
        <p:spPr bwMode="auto">
          <a:xfrm>
            <a:off x="1619250" y="3154363"/>
            <a:ext cx="8636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200" b="1"/>
              <a:t>RS-485A</a:t>
            </a:r>
            <a:endParaRPr lang="en-US" altLang="ko-KR" sz="1200" b="1">
              <a:sym typeface="Symbol" pitchFamily="18" charset="2"/>
            </a:endParaRPr>
          </a:p>
        </p:txBody>
      </p:sp>
      <p:sp>
        <p:nvSpPr>
          <p:cNvPr id="33" name="Text Box 66"/>
          <p:cNvSpPr txBox="1">
            <a:spLocks noChangeArrowheads="1"/>
          </p:cNvSpPr>
          <p:nvPr/>
        </p:nvSpPr>
        <p:spPr bwMode="auto">
          <a:xfrm>
            <a:off x="1619250" y="4652963"/>
            <a:ext cx="8636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200" b="1"/>
              <a:t>RS-485B</a:t>
            </a:r>
            <a:endParaRPr lang="en-US" altLang="ko-KR" sz="1200" b="1">
              <a:sym typeface="Symbol" pitchFamily="18" charset="2"/>
            </a:endParaRPr>
          </a:p>
        </p:txBody>
      </p:sp>
      <p:sp>
        <p:nvSpPr>
          <p:cNvPr id="34" name="Text Box 69"/>
          <p:cNvSpPr txBox="1">
            <a:spLocks noChangeArrowheads="1"/>
          </p:cNvSpPr>
          <p:nvPr/>
        </p:nvSpPr>
        <p:spPr bwMode="auto">
          <a:xfrm>
            <a:off x="1449388" y="1457325"/>
            <a:ext cx="1079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1200" b="1"/>
              <a:t>Train Line 485</a:t>
            </a:r>
            <a:endParaRPr lang="en-US" altLang="ko-KR" sz="1200" b="1">
              <a:sym typeface="Symbol" pitchFamily="18" charset="2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894387" y="1268760"/>
            <a:ext cx="3888432" cy="48245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Rectangle 2"/>
          <p:cNvSpPr>
            <a:spLocks noChangeArrowheads="1"/>
          </p:cNvSpPr>
          <p:nvPr/>
        </p:nvSpPr>
        <p:spPr bwMode="auto">
          <a:xfrm>
            <a:off x="6046788" y="2205038"/>
            <a:ext cx="1728787" cy="316865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 smtClean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 smtClean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 smtClean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 smtClean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 smtClean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 smtClean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 smtClean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 smtClean="0"/>
          </a:p>
          <a:p>
            <a:pPr algn="ctr"/>
            <a:endParaRPr lang="en-US" altLang="ko-KR" sz="1200" b="1" dirty="0"/>
          </a:p>
          <a:p>
            <a:pPr algn="ctr"/>
            <a:r>
              <a:rPr lang="en-US" altLang="ko-KR" sz="1200" b="1" dirty="0"/>
              <a:t>Communication</a:t>
            </a:r>
          </a:p>
          <a:p>
            <a:pPr algn="ctr"/>
            <a:r>
              <a:rPr lang="en-US" altLang="ko-KR" sz="1200" b="1" dirty="0"/>
              <a:t>Rack</a:t>
            </a:r>
          </a:p>
          <a:p>
            <a:pPr algn="ctr"/>
            <a:r>
              <a:rPr lang="en-US" altLang="ko-KR" sz="1200" b="1" dirty="0"/>
              <a:t>A</a:t>
            </a:r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dirty="0"/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7989888" y="3068638"/>
            <a:ext cx="574675" cy="431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1"/>
              <a:t>Device</a:t>
            </a:r>
          </a:p>
        </p:txBody>
      </p:sp>
      <p:sp>
        <p:nvSpPr>
          <p:cNvPr id="39" name="Rectangle 8"/>
          <p:cNvSpPr>
            <a:spLocks noChangeArrowheads="1"/>
          </p:cNvSpPr>
          <p:nvPr/>
        </p:nvSpPr>
        <p:spPr bwMode="auto">
          <a:xfrm>
            <a:off x="7989888" y="4581525"/>
            <a:ext cx="574675" cy="431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1"/>
              <a:t>Device</a:t>
            </a:r>
          </a:p>
        </p:txBody>
      </p:sp>
      <p:sp>
        <p:nvSpPr>
          <p:cNvPr id="40" name="Freeform 11"/>
          <p:cNvSpPr>
            <a:spLocks/>
          </p:cNvSpPr>
          <p:nvPr/>
        </p:nvSpPr>
        <p:spPr bwMode="auto">
          <a:xfrm>
            <a:off x="8135938" y="2708275"/>
            <a:ext cx="1008062" cy="360363"/>
          </a:xfrm>
          <a:custGeom>
            <a:avLst/>
            <a:gdLst>
              <a:gd name="T0" fmla="*/ 0 w 726"/>
              <a:gd name="T1" fmla="*/ 360363 h 136"/>
              <a:gd name="T2" fmla="*/ 188838 w 726"/>
              <a:gd name="T3" fmla="*/ 0 h 136"/>
              <a:gd name="T4" fmla="*/ 819224 w 726"/>
              <a:gd name="T5" fmla="*/ 0 h 136"/>
              <a:gd name="T6" fmla="*/ 945579 w 726"/>
              <a:gd name="T7" fmla="*/ 241125 h 136"/>
              <a:gd name="T8" fmla="*/ 1008062 w 726"/>
              <a:gd name="T9" fmla="*/ 360363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" name="Freeform 15"/>
          <p:cNvSpPr>
            <a:spLocks/>
          </p:cNvSpPr>
          <p:nvPr/>
        </p:nvSpPr>
        <p:spPr bwMode="auto">
          <a:xfrm>
            <a:off x="8134350" y="4221163"/>
            <a:ext cx="1008063" cy="360362"/>
          </a:xfrm>
          <a:custGeom>
            <a:avLst/>
            <a:gdLst>
              <a:gd name="T0" fmla="*/ 0 w 726"/>
              <a:gd name="T1" fmla="*/ 360362 h 136"/>
              <a:gd name="T2" fmla="*/ 188838 w 726"/>
              <a:gd name="T3" fmla="*/ 0 h 136"/>
              <a:gd name="T4" fmla="*/ 819225 w 726"/>
              <a:gd name="T5" fmla="*/ 0 h 136"/>
              <a:gd name="T6" fmla="*/ 945580 w 726"/>
              <a:gd name="T7" fmla="*/ 241125 h 136"/>
              <a:gd name="T8" fmla="*/ 1008063 w 726"/>
              <a:gd name="T9" fmla="*/ 360362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18"/>
          <p:cNvSpPr>
            <a:spLocks/>
          </p:cNvSpPr>
          <p:nvPr/>
        </p:nvSpPr>
        <p:spPr bwMode="auto">
          <a:xfrm>
            <a:off x="7413625" y="2852738"/>
            <a:ext cx="1008063" cy="215900"/>
          </a:xfrm>
          <a:custGeom>
            <a:avLst/>
            <a:gdLst>
              <a:gd name="T0" fmla="*/ 0 w 726"/>
              <a:gd name="T1" fmla="*/ 215900 h 136"/>
              <a:gd name="T2" fmla="*/ 188838 w 726"/>
              <a:gd name="T3" fmla="*/ 0 h 136"/>
              <a:gd name="T4" fmla="*/ 819225 w 726"/>
              <a:gd name="T5" fmla="*/ 0 h 136"/>
              <a:gd name="T6" fmla="*/ 945580 w 726"/>
              <a:gd name="T7" fmla="*/ 144462 h 136"/>
              <a:gd name="T8" fmla="*/ 1008063 w 726"/>
              <a:gd name="T9" fmla="*/ 215900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 19"/>
          <p:cNvSpPr>
            <a:spLocks/>
          </p:cNvSpPr>
          <p:nvPr/>
        </p:nvSpPr>
        <p:spPr bwMode="auto">
          <a:xfrm>
            <a:off x="7126288" y="2708275"/>
            <a:ext cx="1008062" cy="360363"/>
          </a:xfrm>
          <a:custGeom>
            <a:avLst/>
            <a:gdLst>
              <a:gd name="T0" fmla="*/ 0 w 726"/>
              <a:gd name="T1" fmla="*/ 360363 h 136"/>
              <a:gd name="T2" fmla="*/ 188838 w 726"/>
              <a:gd name="T3" fmla="*/ 0 h 136"/>
              <a:gd name="T4" fmla="*/ 819224 w 726"/>
              <a:gd name="T5" fmla="*/ 0 h 136"/>
              <a:gd name="T6" fmla="*/ 945579 w 726"/>
              <a:gd name="T7" fmla="*/ 241125 h 136"/>
              <a:gd name="T8" fmla="*/ 1008062 w 726"/>
              <a:gd name="T9" fmla="*/ 360363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 22"/>
          <p:cNvSpPr>
            <a:spLocks/>
          </p:cNvSpPr>
          <p:nvPr/>
        </p:nvSpPr>
        <p:spPr bwMode="auto">
          <a:xfrm>
            <a:off x="7413625" y="4365625"/>
            <a:ext cx="1008063" cy="215900"/>
          </a:xfrm>
          <a:custGeom>
            <a:avLst/>
            <a:gdLst>
              <a:gd name="T0" fmla="*/ 0 w 726"/>
              <a:gd name="T1" fmla="*/ 215900 h 136"/>
              <a:gd name="T2" fmla="*/ 188838 w 726"/>
              <a:gd name="T3" fmla="*/ 0 h 136"/>
              <a:gd name="T4" fmla="*/ 819225 w 726"/>
              <a:gd name="T5" fmla="*/ 0 h 136"/>
              <a:gd name="T6" fmla="*/ 945580 w 726"/>
              <a:gd name="T7" fmla="*/ 144462 h 136"/>
              <a:gd name="T8" fmla="*/ 1008063 w 726"/>
              <a:gd name="T9" fmla="*/ 215900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" name="Freeform 23"/>
          <p:cNvSpPr>
            <a:spLocks/>
          </p:cNvSpPr>
          <p:nvPr/>
        </p:nvSpPr>
        <p:spPr bwMode="auto">
          <a:xfrm>
            <a:off x="7126288" y="4221163"/>
            <a:ext cx="1008062" cy="360362"/>
          </a:xfrm>
          <a:custGeom>
            <a:avLst/>
            <a:gdLst>
              <a:gd name="T0" fmla="*/ 0 w 726"/>
              <a:gd name="T1" fmla="*/ 360362 h 136"/>
              <a:gd name="T2" fmla="*/ 188838 w 726"/>
              <a:gd name="T3" fmla="*/ 0 h 136"/>
              <a:gd name="T4" fmla="*/ 819224 w 726"/>
              <a:gd name="T5" fmla="*/ 0 h 136"/>
              <a:gd name="T6" fmla="*/ 945579 w 726"/>
              <a:gd name="T7" fmla="*/ 241125 h 136"/>
              <a:gd name="T8" fmla="*/ 1008062 w 726"/>
              <a:gd name="T9" fmla="*/ 360362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" name="Freeform 26"/>
          <p:cNvSpPr>
            <a:spLocks/>
          </p:cNvSpPr>
          <p:nvPr/>
        </p:nvSpPr>
        <p:spPr bwMode="auto">
          <a:xfrm>
            <a:off x="7135813" y="3068638"/>
            <a:ext cx="269875" cy="385762"/>
          </a:xfrm>
          <a:custGeom>
            <a:avLst/>
            <a:gdLst>
              <a:gd name="T0" fmla="*/ 0 w 158"/>
              <a:gd name="T1" fmla="*/ 0 h 227"/>
              <a:gd name="T2" fmla="*/ 0 w 158"/>
              <a:gd name="T3" fmla="*/ 307590 h 227"/>
              <a:gd name="T4" fmla="*/ 44410 w 158"/>
              <a:gd name="T5" fmla="*/ 385762 h 227"/>
              <a:gd name="T6" fmla="*/ 88820 w 158"/>
              <a:gd name="T7" fmla="*/ 307590 h 227"/>
              <a:gd name="T8" fmla="*/ 133229 w 158"/>
              <a:gd name="T9" fmla="*/ 385762 h 227"/>
              <a:gd name="T10" fmla="*/ 179347 w 158"/>
              <a:gd name="T11" fmla="*/ 307590 h 227"/>
              <a:gd name="T12" fmla="*/ 225465 w 158"/>
              <a:gd name="T13" fmla="*/ 385762 h 227"/>
              <a:gd name="T14" fmla="*/ 269875 w 158"/>
              <a:gd name="T15" fmla="*/ 307590 h 227"/>
              <a:gd name="T16" fmla="*/ 269875 w 158"/>
              <a:gd name="T17" fmla="*/ 0 h 22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8"/>
              <a:gd name="T28" fmla="*/ 0 h 227"/>
              <a:gd name="T29" fmla="*/ 158 w 158"/>
              <a:gd name="T30" fmla="*/ 227 h 22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8" h="227">
                <a:moveTo>
                  <a:pt x="0" y="0"/>
                </a:moveTo>
                <a:lnTo>
                  <a:pt x="0" y="181"/>
                </a:lnTo>
                <a:lnTo>
                  <a:pt x="26" y="227"/>
                </a:lnTo>
                <a:lnTo>
                  <a:pt x="52" y="181"/>
                </a:lnTo>
                <a:lnTo>
                  <a:pt x="78" y="227"/>
                </a:lnTo>
                <a:lnTo>
                  <a:pt x="105" y="181"/>
                </a:lnTo>
                <a:lnTo>
                  <a:pt x="132" y="227"/>
                </a:lnTo>
                <a:lnTo>
                  <a:pt x="158" y="181"/>
                </a:lnTo>
                <a:lnTo>
                  <a:pt x="15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Box 27"/>
          <p:cNvSpPr txBox="1">
            <a:spLocks noChangeArrowheads="1"/>
          </p:cNvSpPr>
          <p:nvPr/>
        </p:nvSpPr>
        <p:spPr bwMode="auto">
          <a:xfrm>
            <a:off x="7054850" y="3429000"/>
            <a:ext cx="3603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200" b="1" dirty="0" err="1"/>
              <a:t>Rt</a:t>
            </a:r>
            <a:endParaRPr lang="en-US" altLang="ko-KR" sz="1200" b="1" dirty="0">
              <a:sym typeface="Symbol" pitchFamily="18" charset="2"/>
            </a:endParaRPr>
          </a:p>
        </p:txBody>
      </p:sp>
      <p:sp>
        <p:nvSpPr>
          <p:cNvPr id="48" name="Freeform 29"/>
          <p:cNvSpPr>
            <a:spLocks/>
          </p:cNvSpPr>
          <p:nvPr/>
        </p:nvSpPr>
        <p:spPr bwMode="auto">
          <a:xfrm>
            <a:off x="7135813" y="4584700"/>
            <a:ext cx="269875" cy="385763"/>
          </a:xfrm>
          <a:custGeom>
            <a:avLst/>
            <a:gdLst>
              <a:gd name="T0" fmla="*/ 0 w 158"/>
              <a:gd name="T1" fmla="*/ 0 h 227"/>
              <a:gd name="T2" fmla="*/ 0 w 158"/>
              <a:gd name="T3" fmla="*/ 307591 h 227"/>
              <a:gd name="T4" fmla="*/ 44410 w 158"/>
              <a:gd name="T5" fmla="*/ 385763 h 227"/>
              <a:gd name="T6" fmla="*/ 88820 w 158"/>
              <a:gd name="T7" fmla="*/ 307591 h 227"/>
              <a:gd name="T8" fmla="*/ 133229 w 158"/>
              <a:gd name="T9" fmla="*/ 385763 h 227"/>
              <a:gd name="T10" fmla="*/ 179347 w 158"/>
              <a:gd name="T11" fmla="*/ 307591 h 227"/>
              <a:gd name="T12" fmla="*/ 225465 w 158"/>
              <a:gd name="T13" fmla="*/ 385763 h 227"/>
              <a:gd name="T14" fmla="*/ 269875 w 158"/>
              <a:gd name="T15" fmla="*/ 307591 h 227"/>
              <a:gd name="T16" fmla="*/ 269875 w 158"/>
              <a:gd name="T17" fmla="*/ 0 h 22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8"/>
              <a:gd name="T28" fmla="*/ 0 h 227"/>
              <a:gd name="T29" fmla="*/ 158 w 158"/>
              <a:gd name="T30" fmla="*/ 227 h 22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8" h="227">
                <a:moveTo>
                  <a:pt x="0" y="0"/>
                </a:moveTo>
                <a:lnTo>
                  <a:pt x="0" y="181"/>
                </a:lnTo>
                <a:lnTo>
                  <a:pt x="26" y="227"/>
                </a:lnTo>
                <a:lnTo>
                  <a:pt x="52" y="181"/>
                </a:lnTo>
                <a:lnTo>
                  <a:pt x="78" y="227"/>
                </a:lnTo>
                <a:lnTo>
                  <a:pt x="105" y="181"/>
                </a:lnTo>
                <a:lnTo>
                  <a:pt x="132" y="227"/>
                </a:lnTo>
                <a:lnTo>
                  <a:pt x="158" y="181"/>
                </a:lnTo>
                <a:lnTo>
                  <a:pt x="15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" name="Line 31"/>
          <p:cNvSpPr>
            <a:spLocks noChangeShapeType="1"/>
          </p:cNvSpPr>
          <p:nvPr/>
        </p:nvSpPr>
        <p:spPr bwMode="auto">
          <a:xfrm flipV="1">
            <a:off x="7197725" y="1989138"/>
            <a:ext cx="144463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Line 32"/>
          <p:cNvSpPr>
            <a:spLocks noChangeShapeType="1"/>
          </p:cNvSpPr>
          <p:nvPr/>
        </p:nvSpPr>
        <p:spPr bwMode="auto">
          <a:xfrm flipV="1">
            <a:off x="6692900" y="1773238"/>
            <a:ext cx="2889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Line 33"/>
          <p:cNvSpPr>
            <a:spLocks noChangeShapeType="1"/>
          </p:cNvSpPr>
          <p:nvPr/>
        </p:nvSpPr>
        <p:spPr bwMode="auto">
          <a:xfrm flipH="1" flipV="1">
            <a:off x="7053263" y="1989138"/>
            <a:ext cx="1444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Line 34"/>
          <p:cNvSpPr>
            <a:spLocks noChangeShapeType="1"/>
          </p:cNvSpPr>
          <p:nvPr/>
        </p:nvSpPr>
        <p:spPr bwMode="auto">
          <a:xfrm flipH="1" flipV="1">
            <a:off x="6405563" y="1773238"/>
            <a:ext cx="287337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Line 39"/>
          <p:cNvSpPr>
            <a:spLocks noChangeShapeType="1"/>
          </p:cNvSpPr>
          <p:nvPr/>
        </p:nvSpPr>
        <p:spPr bwMode="auto">
          <a:xfrm>
            <a:off x="7342188" y="19891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Line 40"/>
          <p:cNvSpPr>
            <a:spLocks noChangeShapeType="1"/>
          </p:cNvSpPr>
          <p:nvPr/>
        </p:nvSpPr>
        <p:spPr bwMode="auto">
          <a:xfrm flipH="1">
            <a:off x="5110163" y="1989138"/>
            <a:ext cx="194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Line 41"/>
          <p:cNvSpPr>
            <a:spLocks noChangeShapeType="1"/>
          </p:cNvSpPr>
          <p:nvPr/>
        </p:nvSpPr>
        <p:spPr bwMode="auto">
          <a:xfrm flipH="1">
            <a:off x="5110163" y="1763713"/>
            <a:ext cx="1296987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Line 42"/>
          <p:cNvSpPr>
            <a:spLocks noChangeShapeType="1"/>
          </p:cNvSpPr>
          <p:nvPr/>
        </p:nvSpPr>
        <p:spPr bwMode="auto">
          <a:xfrm flipH="1">
            <a:off x="6983413" y="1773238"/>
            <a:ext cx="790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Rectangle 52"/>
          <p:cNvSpPr>
            <a:spLocks noChangeArrowheads="1"/>
          </p:cNvSpPr>
          <p:nvPr/>
        </p:nvSpPr>
        <p:spPr bwMode="auto">
          <a:xfrm>
            <a:off x="5470525" y="1700213"/>
            <a:ext cx="433388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1"/>
              <a:t>Repeat</a:t>
            </a:r>
          </a:p>
        </p:txBody>
      </p:sp>
      <p:sp>
        <p:nvSpPr>
          <p:cNvPr id="58" name="Rectangle 53"/>
          <p:cNvSpPr>
            <a:spLocks noChangeArrowheads="1"/>
          </p:cNvSpPr>
          <p:nvPr/>
        </p:nvSpPr>
        <p:spPr bwMode="auto">
          <a:xfrm>
            <a:off x="5903913" y="1700213"/>
            <a:ext cx="14287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1"/>
              <a:t>R</a:t>
            </a:r>
          </a:p>
          <a:p>
            <a:pPr algn="ctr"/>
            <a:r>
              <a:rPr lang="en-US" altLang="ko-KR" sz="1200" b="1"/>
              <a:t>t</a:t>
            </a:r>
          </a:p>
        </p:txBody>
      </p:sp>
      <p:sp>
        <p:nvSpPr>
          <p:cNvPr id="59" name="Rectangle 54"/>
          <p:cNvSpPr>
            <a:spLocks noChangeArrowheads="1"/>
          </p:cNvSpPr>
          <p:nvPr/>
        </p:nvSpPr>
        <p:spPr bwMode="auto">
          <a:xfrm>
            <a:off x="5327650" y="1700213"/>
            <a:ext cx="14287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1"/>
              <a:t>R</a:t>
            </a:r>
          </a:p>
          <a:p>
            <a:pPr algn="ctr"/>
            <a:r>
              <a:rPr lang="en-US" altLang="ko-KR" sz="1200" b="1"/>
              <a:t>t</a:t>
            </a:r>
          </a:p>
        </p:txBody>
      </p:sp>
      <p:sp>
        <p:nvSpPr>
          <p:cNvPr id="60" name="Rectangle 55"/>
          <p:cNvSpPr>
            <a:spLocks noChangeArrowheads="1"/>
          </p:cNvSpPr>
          <p:nvPr/>
        </p:nvSpPr>
        <p:spPr bwMode="auto">
          <a:xfrm>
            <a:off x="7916863" y="1700213"/>
            <a:ext cx="433387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1"/>
              <a:t>Repeat</a:t>
            </a:r>
          </a:p>
        </p:txBody>
      </p:sp>
      <p:sp>
        <p:nvSpPr>
          <p:cNvPr id="61" name="Rectangle 56"/>
          <p:cNvSpPr>
            <a:spLocks noChangeArrowheads="1"/>
          </p:cNvSpPr>
          <p:nvPr/>
        </p:nvSpPr>
        <p:spPr bwMode="auto">
          <a:xfrm>
            <a:off x="8350250" y="1700213"/>
            <a:ext cx="14287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1"/>
              <a:t>R</a:t>
            </a:r>
          </a:p>
          <a:p>
            <a:pPr algn="ctr"/>
            <a:r>
              <a:rPr lang="en-US" altLang="ko-KR" sz="1200" b="1"/>
              <a:t>t</a:t>
            </a:r>
          </a:p>
        </p:txBody>
      </p:sp>
      <p:sp>
        <p:nvSpPr>
          <p:cNvPr id="62" name="Rectangle 57"/>
          <p:cNvSpPr>
            <a:spLocks noChangeArrowheads="1"/>
          </p:cNvSpPr>
          <p:nvPr/>
        </p:nvSpPr>
        <p:spPr bwMode="auto">
          <a:xfrm>
            <a:off x="7773988" y="1700213"/>
            <a:ext cx="14287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1"/>
              <a:t>R</a:t>
            </a:r>
          </a:p>
          <a:p>
            <a:pPr algn="ctr"/>
            <a:r>
              <a:rPr lang="en-US" altLang="ko-KR" sz="1200" b="1"/>
              <a:t>t</a:t>
            </a:r>
          </a:p>
        </p:txBody>
      </p:sp>
      <p:sp>
        <p:nvSpPr>
          <p:cNvPr id="63" name="Text Box 61"/>
          <p:cNvSpPr txBox="1">
            <a:spLocks noChangeArrowheads="1"/>
          </p:cNvSpPr>
          <p:nvPr/>
        </p:nvSpPr>
        <p:spPr bwMode="auto">
          <a:xfrm>
            <a:off x="5973763" y="5445125"/>
            <a:ext cx="19192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200" b="1"/>
              <a:t>Rt : Terminating Resistor</a:t>
            </a:r>
          </a:p>
        </p:txBody>
      </p:sp>
      <p:sp>
        <p:nvSpPr>
          <p:cNvPr id="64" name="Text Box 62"/>
          <p:cNvSpPr txBox="1">
            <a:spLocks noChangeArrowheads="1"/>
          </p:cNvSpPr>
          <p:nvPr/>
        </p:nvSpPr>
        <p:spPr bwMode="auto">
          <a:xfrm>
            <a:off x="7054850" y="4941888"/>
            <a:ext cx="3603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200" b="1">
                <a:sym typeface="Symbol" pitchFamily="18" charset="2"/>
              </a:rPr>
              <a:t>Rt</a:t>
            </a:r>
          </a:p>
        </p:txBody>
      </p:sp>
      <p:sp>
        <p:nvSpPr>
          <p:cNvPr id="65" name="Text Box 65"/>
          <p:cNvSpPr txBox="1">
            <a:spLocks noChangeArrowheads="1"/>
          </p:cNvSpPr>
          <p:nvPr/>
        </p:nvSpPr>
        <p:spPr bwMode="auto">
          <a:xfrm>
            <a:off x="6334125" y="3154363"/>
            <a:ext cx="8636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200" b="1" dirty="0"/>
              <a:t>RS-485A</a:t>
            </a:r>
            <a:endParaRPr lang="en-US" altLang="ko-KR" sz="1200" b="1" dirty="0">
              <a:sym typeface="Symbol" pitchFamily="18" charset="2"/>
            </a:endParaRPr>
          </a:p>
        </p:txBody>
      </p:sp>
      <p:sp>
        <p:nvSpPr>
          <p:cNvPr id="66" name="Text Box 66"/>
          <p:cNvSpPr txBox="1">
            <a:spLocks noChangeArrowheads="1"/>
          </p:cNvSpPr>
          <p:nvPr/>
        </p:nvSpPr>
        <p:spPr bwMode="auto">
          <a:xfrm>
            <a:off x="6334125" y="4652963"/>
            <a:ext cx="8636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200" b="1"/>
              <a:t>RS-485B</a:t>
            </a:r>
            <a:endParaRPr lang="en-US" altLang="ko-KR" sz="1200" b="1">
              <a:sym typeface="Symbol" pitchFamily="18" charset="2"/>
            </a:endParaRPr>
          </a:p>
        </p:txBody>
      </p:sp>
      <p:sp>
        <p:nvSpPr>
          <p:cNvPr id="67" name="Text Box 69"/>
          <p:cNvSpPr txBox="1">
            <a:spLocks noChangeArrowheads="1"/>
          </p:cNvSpPr>
          <p:nvPr/>
        </p:nvSpPr>
        <p:spPr bwMode="auto">
          <a:xfrm>
            <a:off x="6164263" y="1457325"/>
            <a:ext cx="1079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1200" b="1"/>
              <a:t>Train Line 485</a:t>
            </a:r>
            <a:endParaRPr lang="en-US" altLang="ko-KR" sz="1200" b="1">
              <a:sym typeface="Symbol" pitchFamily="18" charset="2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6516216" y="2276872"/>
            <a:ext cx="936104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FPGA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47864" y="332656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RS-485 PCB </a:t>
            </a:r>
            <a:r>
              <a:rPr lang="ko-KR" altLang="en-US" dirty="0" err="1" smtClean="0"/>
              <a:t>로직</a:t>
            </a:r>
            <a:r>
              <a:rPr lang="ko-KR" altLang="en-US" dirty="0" smtClean="0"/>
              <a:t> 회로 추가</a:t>
            </a:r>
            <a:endParaRPr lang="ko-KR" altLang="en-US" dirty="0"/>
          </a:p>
        </p:txBody>
      </p:sp>
      <p:sp>
        <p:nvSpPr>
          <p:cNvPr id="70" name="오른쪽 화살표 69"/>
          <p:cNvSpPr/>
          <p:nvPr/>
        </p:nvSpPr>
        <p:spPr>
          <a:xfrm>
            <a:off x="3779912" y="3717032"/>
            <a:ext cx="1368152" cy="216024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포인트가 4개인 별 70"/>
          <p:cNvSpPr/>
          <p:nvPr/>
        </p:nvSpPr>
        <p:spPr>
          <a:xfrm>
            <a:off x="6300192" y="2204864"/>
            <a:ext cx="360040" cy="288032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3707904" y="836712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** </a:t>
            </a:r>
            <a:r>
              <a:rPr lang="ko-KR" altLang="en-US" sz="1000" dirty="0" smtClean="0">
                <a:solidFill>
                  <a:srgbClr val="FF0000"/>
                </a:solidFill>
              </a:rPr>
              <a:t>통신 정확성을 보강 한다</a:t>
            </a:r>
            <a:r>
              <a:rPr lang="en-US" altLang="ko-KR" sz="1000" dirty="0" smtClean="0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196752"/>
            <a:ext cx="5184576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5"/>
          <p:cNvSpPr/>
          <p:nvPr/>
        </p:nvSpPr>
        <p:spPr>
          <a:xfrm>
            <a:off x="5907611" y="1828429"/>
            <a:ext cx="249859" cy="73695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347864" y="332656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인터콤</a:t>
            </a:r>
            <a:r>
              <a:rPr lang="ko-KR" altLang="en-US" dirty="0" smtClean="0"/>
              <a:t> 녹음 </a:t>
            </a:r>
            <a:r>
              <a:rPr lang="en-US" altLang="ko-KR" dirty="0" smtClean="0"/>
              <a:t>PCB </a:t>
            </a:r>
            <a:r>
              <a:rPr lang="ko-KR" altLang="en-US" dirty="0" smtClean="0"/>
              <a:t>추</a:t>
            </a:r>
            <a:r>
              <a:rPr lang="ko-KR" altLang="en-US" dirty="0"/>
              <a:t>가</a:t>
            </a:r>
          </a:p>
        </p:txBody>
      </p:sp>
      <p:grpSp>
        <p:nvGrpSpPr>
          <p:cNvPr id="80" name="그룹 79"/>
          <p:cNvGrpSpPr/>
          <p:nvPr/>
        </p:nvGrpSpPr>
        <p:grpSpPr>
          <a:xfrm>
            <a:off x="951153" y="3645024"/>
            <a:ext cx="7509279" cy="2232248"/>
            <a:chOff x="1403648" y="3212976"/>
            <a:chExt cx="7509279" cy="2232248"/>
          </a:xfrm>
        </p:grpSpPr>
        <p:sp>
          <p:nvSpPr>
            <p:cNvPr id="9" name="모서리가 둥근 직사각형 8"/>
            <p:cNvSpPr/>
            <p:nvPr/>
          </p:nvSpPr>
          <p:spPr>
            <a:xfrm>
              <a:off x="1403648" y="4509120"/>
              <a:ext cx="288032" cy="936104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</a:rPr>
                <a:t>녹음 기능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 flipH="1">
              <a:off x="3275856" y="4437112"/>
              <a:ext cx="1872208" cy="944488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CNCS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4572000" y="4437112"/>
              <a:ext cx="504056" cy="944488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HDD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3131840" y="5085184"/>
              <a:ext cx="432048" cy="144016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USB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꺾인 연결선 15"/>
            <p:cNvCxnSpPr>
              <a:stCxn id="9" idx="3"/>
              <a:endCxn id="12" idx="1"/>
            </p:cNvCxnSpPr>
            <p:nvPr/>
          </p:nvCxnSpPr>
          <p:spPr>
            <a:xfrm>
              <a:off x="1691680" y="4977172"/>
              <a:ext cx="1440160" cy="180020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835696" y="5085184"/>
              <a:ext cx="100811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녹음 파일 전송</a:t>
              </a:r>
              <a:endParaRPr lang="ko-KR" altLang="en-US" sz="800" dirty="0"/>
            </a:p>
          </p:txBody>
        </p:sp>
        <p:grpSp>
          <p:nvGrpSpPr>
            <p:cNvPr id="44" name="그룹 43"/>
            <p:cNvGrpSpPr/>
            <p:nvPr/>
          </p:nvGrpSpPr>
          <p:grpSpPr>
            <a:xfrm>
              <a:off x="6084168" y="3212976"/>
              <a:ext cx="2828759" cy="2088232"/>
              <a:chOff x="4479545" y="2420888"/>
              <a:chExt cx="4478423" cy="3744416"/>
            </a:xfrm>
          </p:grpSpPr>
          <p:sp>
            <p:nvSpPr>
              <p:cNvPr id="45" name="Rectangle 293"/>
              <p:cNvSpPr>
                <a:spLocks noChangeArrowheads="1"/>
              </p:cNvSpPr>
              <p:nvPr/>
            </p:nvSpPr>
            <p:spPr bwMode="auto">
              <a:xfrm rot="10800000" flipV="1">
                <a:off x="7524328" y="4941168"/>
                <a:ext cx="698152" cy="465381"/>
              </a:xfrm>
              <a:prstGeom prst="rect">
                <a:avLst/>
              </a:prstGeom>
              <a:solidFill>
                <a:srgbClr val="FF0000">
                  <a:alpha val="7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 defTabSz="1217613"/>
                <a:r>
                  <a:rPr lang="en-US" altLang="ko-KR" sz="800" dirty="0">
                    <a:latin typeface="Arial" pitchFamily="34" charset="0"/>
                    <a:cs typeface="Arial" pitchFamily="34" charset="0"/>
                  </a:rPr>
                  <a:t>Wireless</a:t>
                </a:r>
              </a:p>
              <a:p>
                <a:pPr algn="ctr" defTabSz="1217613"/>
                <a:r>
                  <a:rPr lang="en-US" altLang="ko-KR" sz="800" dirty="0">
                    <a:latin typeface="Arial" pitchFamily="34" charset="0"/>
                    <a:cs typeface="Arial" pitchFamily="34" charset="0"/>
                  </a:rPr>
                  <a:t>LAN AP</a:t>
                </a:r>
              </a:p>
            </p:txBody>
          </p:sp>
          <p:grpSp>
            <p:nvGrpSpPr>
              <p:cNvPr id="46" name="그룹 75"/>
              <p:cNvGrpSpPr/>
              <p:nvPr/>
            </p:nvGrpSpPr>
            <p:grpSpPr>
              <a:xfrm>
                <a:off x="4479545" y="2420888"/>
                <a:ext cx="4478423" cy="3744416"/>
                <a:chOff x="4479545" y="2420888"/>
                <a:chExt cx="4478423" cy="3744416"/>
              </a:xfrm>
            </p:grpSpPr>
            <p:sp>
              <p:nvSpPr>
                <p:cNvPr id="51" name="Rectangle 291"/>
                <p:cNvSpPr>
                  <a:spLocks noChangeArrowheads="1"/>
                </p:cNvSpPr>
                <p:nvPr/>
              </p:nvSpPr>
              <p:spPr bwMode="auto">
                <a:xfrm flipV="1">
                  <a:off x="4479545" y="4594803"/>
                  <a:ext cx="2634958" cy="1570501"/>
                </a:xfrm>
                <a:prstGeom prst="rect">
                  <a:avLst/>
                </a:prstGeom>
                <a:solidFill>
                  <a:srgbClr val="FFFF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wrap="none" lIns="121789" tIns="60894" rIns="121789" bIns="60894" anchor="ctr"/>
                <a:lstStyle/>
                <a:p>
                  <a:pPr algn="ctr" defTabSz="1217613"/>
                  <a:endParaRPr lang="en-US" altLang="ko-KR" sz="800">
                    <a:latin typeface="Arial" pitchFamily="34" charset="0"/>
                    <a:cs typeface="Arial" pitchFamily="34" charset="0"/>
                  </a:endParaRPr>
                </a:p>
                <a:p>
                  <a:pPr algn="ctr" defTabSz="1217613"/>
                  <a:endParaRPr lang="en-US" altLang="ko-KR" sz="80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2" name="Rectangle 292"/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4587409" y="5292234"/>
                  <a:ext cx="1182946" cy="756405"/>
                </a:xfrm>
                <a:prstGeom prst="rect">
                  <a:avLst/>
                </a:prstGeom>
                <a:solidFill>
                  <a:srgbClr val="99CC00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 defTabSz="1217613"/>
                  <a:r>
                    <a:rPr lang="en-US" altLang="ko-KR" sz="800">
                      <a:latin typeface="Arial" pitchFamily="34" charset="0"/>
                      <a:cs typeface="Arial" pitchFamily="34" charset="0"/>
                    </a:rPr>
                    <a:t>4 Port </a:t>
                  </a:r>
                </a:p>
                <a:p>
                  <a:pPr algn="ctr" defTabSz="1217613"/>
                  <a:r>
                    <a:rPr lang="en-US" altLang="ko-KR" sz="800">
                      <a:latin typeface="Arial" pitchFamily="34" charset="0"/>
                      <a:cs typeface="Arial" pitchFamily="34" charset="0"/>
                    </a:rPr>
                    <a:t>Switching Hub</a:t>
                  </a:r>
                </a:p>
              </p:txBody>
            </p:sp>
            <p:sp>
              <p:nvSpPr>
                <p:cNvPr id="53" name="Rectangle 306"/>
                <p:cNvSpPr>
                  <a:spLocks noChangeArrowheads="1"/>
                </p:cNvSpPr>
                <p:nvPr/>
              </p:nvSpPr>
              <p:spPr bwMode="auto">
                <a:xfrm>
                  <a:off x="5823694" y="4943519"/>
                  <a:ext cx="430270" cy="17435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 defTabSz="1217613"/>
                  <a:r>
                    <a:rPr lang="en-US" altLang="ko-KR" sz="800">
                      <a:latin typeface="Arial" pitchFamily="34" charset="0"/>
                      <a:cs typeface="Arial" pitchFamily="34" charset="0"/>
                    </a:rPr>
                    <a:t>LAN1</a:t>
                  </a:r>
                </a:p>
              </p:txBody>
            </p:sp>
            <p:grpSp>
              <p:nvGrpSpPr>
                <p:cNvPr id="54" name="그룹 71"/>
                <p:cNvGrpSpPr/>
                <p:nvPr/>
              </p:nvGrpSpPr>
              <p:grpSpPr>
                <a:xfrm>
                  <a:off x="7668344" y="2420888"/>
                  <a:ext cx="1289624" cy="2717928"/>
                  <a:chOff x="6738759" y="3140968"/>
                  <a:chExt cx="1289624" cy="2717928"/>
                </a:xfrm>
              </p:grpSpPr>
              <p:sp>
                <p:nvSpPr>
                  <p:cNvPr id="62" name="Freeform 316"/>
                  <p:cNvSpPr>
                    <a:spLocks/>
                  </p:cNvSpPr>
                  <p:nvPr/>
                </p:nvSpPr>
                <p:spPr bwMode="auto">
                  <a:xfrm flipH="1">
                    <a:off x="6768391" y="3431991"/>
                    <a:ext cx="1128421" cy="444869"/>
                  </a:xfrm>
                  <a:custGeom>
                    <a:avLst/>
                    <a:gdLst>
                      <a:gd name="T0" fmla="*/ 0 w 454"/>
                      <a:gd name="T1" fmla="*/ 136 h 181"/>
                      <a:gd name="T2" fmla="*/ 0 w 454"/>
                      <a:gd name="T3" fmla="*/ 181 h 181"/>
                      <a:gd name="T4" fmla="*/ 454 w 454"/>
                      <a:gd name="T5" fmla="*/ 181 h 181"/>
                      <a:gd name="T6" fmla="*/ 454 w 454"/>
                      <a:gd name="T7" fmla="*/ 136 h 181"/>
                      <a:gd name="T8" fmla="*/ 408 w 454"/>
                      <a:gd name="T9" fmla="*/ 45 h 181"/>
                      <a:gd name="T10" fmla="*/ 318 w 454"/>
                      <a:gd name="T11" fmla="*/ 0 h 181"/>
                      <a:gd name="T12" fmla="*/ 227 w 454"/>
                      <a:gd name="T13" fmla="*/ 0 h 181"/>
                      <a:gd name="T14" fmla="*/ 0 w 454"/>
                      <a:gd name="T15" fmla="*/ 136 h 18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454"/>
                      <a:gd name="T25" fmla="*/ 0 h 181"/>
                      <a:gd name="T26" fmla="*/ 454 w 454"/>
                      <a:gd name="T27" fmla="*/ 181 h 18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454" h="181">
                        <a:moveTo>
                          <a:pt x="0" y="136"/>
                        </a:moveTo>
                        <a:lnTo>
                          <a:pt x="0" y="181"/>
                        </a:lnTo>
                        <a:lnTo>
                          <a:pt x="454" y="181"/>
                        </a:lnTo>
                        <a:lnTo>
                          <a:pt x="454" y="136"/>
                        </a:lnTo>
                        <a:lnTo>
                          <a:pt x="408" y="45"/>
                        </a:lnTo>
                        <a:lnTo>
                          <a:pt x="318" y="0"/>
                        </a:lnTo>
                        <a:lnTo>
                          <a:pt x="227" y="0"/>
                        </a:lnTo>
                        <a:lnTo>
                          <a:pt x="0" y="136"/>
                        </a:lnTo>
                        <a:close/>
                      </a:path>
                    </a:pathLst>
                  </a:custGeom>
                  <a:solidFill>
                    <a:srgbClr val="CCFFFF">
                      <a:alpha val="20000"/>
                    </a:srgbClr>
                  </a:solidFill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800"/>
                  </a:p>
                </p:txBody>
              </p:sp>
              <p:grpSp>
                <p:nvGrpSpPr>
                  <p:cNvPr id="63" name="Group 317"/>
                  <p:cNvGrpSpPr>
                    <a:grpSpLocks/>
                  </p:cNvGrpSpPr>
                  <p:nvPr/>
                </p:nvGrpSpPr>
                <p:grpSpPr bwMode="auto">
                  <a:xfrm flipH="1">
                    <a:off x="7023175" y="3567887"/>
                    <a:ext cx="157648" cy="155127"/>
                    <a:chOff x="3016" y="2523"/>
                    <a:chExt cx="91" cy="46"/>
                  </a:xfrm>
                </p:grpSpPr>
                <p:sp>
                  <p:nvSpPr>
                    <p:cNvPr id="74" name="Line 3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16" y="2523"/>
                      <a:ext cx="46" cy="46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FF00FF"/>
                      </a:solidFill>
                      <a:round/>
                      <a:headEnd/>
                      <a:tailEnd type="none" w="med" len="lg"/>
                    </a:ln>
                  </p:spPr>
                  <p:txBody>
                    <a:bodyPr/>
                    <a:lstStyle/>
                    <a:p>
                      <a:endParaRPr lang="ko-KR" altLang="en-US" sz="800"/>
                    </a:p>
                  </p:txBody>
                </p:sp>
                <p:sp>
                  <p:nvSpPr>
                    <p:cNvPr id="75" name="Line 31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062" y="2523"/>
                      <a:ext cx="45" cy="46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FF00FF"/>
                      </a:solidFill>
                      <a:round/>
                      <a:headEnd/>
                      <a:tailEnd type="none" w="med" len="lg"/>
                    </a:ln>
                  </p:spPr>
                  <p:txBody>
                    <a:bodyPr/>
                    <a:lstStyle/>
                    <a:p>
                      <a:endParaRPr lang="ko-KR" altLang="en-US" sz="800"/>
                    </a:p>
                  </p:txBody>
                </p:sp>
              </p:grpSp>
              <p:grpSp>
                <p:nvGrpSpPr>
                  <p:cNvPr id="64" name="Group 320"/>
                  <p:cNvGrpSpPr>
                    <a:grpSpLocks/>
                  </p:cNvGrpSpPr>
                  <p:nvPr/>
                </p:nvGrpSpPr>
                <p:grpSpPr bwMode="auto">
                  <a:xfrm flipH="1">
                    <a:off x="7468854" y="3665323"/>
                    <a:ext cx="157648" cy="155127"/>
                    <a:chOff x="3016" y="2523"/>
                    <a:chExt cx="91" cy="46"/>
                  </a:xfrm>
                </p:grpSpPr>
                <p:sp>
                  <p:nvSpPr>
                    <p:cNvPr id="72" name="Line 3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16" y="2523"/>
                      <a:ext cx="46" cy="46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99CCFF"/>
                      </a:solidFill>
                      <a:round/>
                      <a:headEnd/>
                      <a:tailEnd type="none" w="med" len="lg"/>
                    </a:ln>
                  </p:spPr>
                  <p:txBody>
                    <a:bodyPr/>
                    <a:lstStyle/>
                    <a:p>
                      <a:endParaRPr lang="ko-KR" altLang="en-US" sz="800"/>
                    </a:p>
                  </p:txBody>
                </p:sp>
                <p:sp>
                  <p:nvSpPr>
                    <p:cNvPr id="73" name="Line 32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062" y="2523"/>
                      <a:ext cx="45" cy="46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99CCFF"/>
                      </a:solidFill>
                      <a:round/>
                      <a:headEnd/>
                      <a:tailEnd type="none" w="med" len="lg"/>
                    </a:ln>
                  </p:spPr>
                  <p:txBody>
                    <a:bodyPr/>
                    <a:lstStyle/>
                    <a:p>
                      <a:endParaRPr lang="ko-KR" altLang="en-US" sz="800"/>
                    </a:p>
                  </p:txBody>
                </p:sp>
              </p:grpSp>
              <p:sp>
                <p:nvSpPr>
                  <p:cNvPr id="65" name="Line 323"/>
                  <p:cNvSpPr>
                    <a:spLocks noChangeShapeType="1"/>
                  </p:cNvSpPr>
                  <p:nvPr/>
                </p:nvSpPr>
                <p:spPr bwMode="auto">
                  <a:xfrm>
                    <a:off x="7545959" y="3793527"/>
                    <a:ext cx="0" cy="291024"/>
                  </a:xfrm>
                  <a:prstGeom prst="line">
                    <a:avLst/>
                  </a:prstGeom>
                  <a:noFill/>
                  <a:ln w="25400">
                    <a:solidFill>
                      <a:srgbClr val="99CC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66" name="Line 32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103836" y="3723015"/>
                    <a:ext cx="0" cy="348715"/>
                  </a:xfrm>
                  <a:prstGeom prst="line">
                    <a:avLst/>
                  </a:prstGeom>
                  <a:noFill/>
                  <a:ln w="25400">
                    <a:solidFill>
                      <a:srgbClr val="FF00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67" name="Oval 326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6990046" y="4084551"/>
                    <a:ext cx="220469" cy="217947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defTabSz="1217613"/>
                    <a:r>
                      <a:rPr lang="en-US" altLang="ko-KR" sz="800">
                        <a:latin typeface="Arial" pitchFamily="34" charset="0"/>
                        <a:cs typeface="Arial" pitchFamily="34" charset="0"/>
                      </a:rPr>
                      <a:t>GIA</a:t>
                    </a:r>
                  </a:p>
                </p:txBody>
              </p:sp>
              <p:sp>
                <p:nvSpPr>
                  <p:cNvPr id="68" name="Rectangle 327"/>
                  <p:cNvSpPr>
                    <a:spLocks noChangeArrowheads="1"/>
                  </p:cNvSpPr>
                  <p:nvPr/>
                </p:nvSpPr>
                <p:spPr bwMode="auto">
                  <a:xfrm>
                    <a:off x="6738759" y="3140968"/>
                    <a:ext cx="1289624" cy="232049"/>
                  </a:xfrm>
                  <a:prstGeom prst="rect">
                    <a:avLst/>
                  </a:prstGeom>
                  <a:noFill/>
                  <a:ln w="6350">
                    <a:noFill/>
                    <a:miter lim="800000"/>
                    <a:headEnd/>
                    <a:tailEnd/>
                  </a:ln>
                </p:spPr>
                <p:txBody>
                  <a:bodyPr wrap="none" lIns="121789" tIns="60894" rIns="121789" bIns="60894" anchor="ctr"/>
                  <a:lstStyle/>
                  <a:p>
                    <a:pPr algn="ctr" defTabSz="1217613"/>
                    <a:r>
                      <a:rPr lang="en-US" altLang="ko-KR" sz="800">
                        <a:latin typeface="Arial" pitchFamily="34" charset="0"/>
                        <a:cs typeface="Arial" pitchFamily="34" charset="0"/>
                      </a:rPr>
                      <a:t>WLAN/GPS Antenna</a:t>
                    </a:r>
                  </a:p>
                </p:txBody>
              </p:sp>
              <p:sp>
                <p:nvSpPr>
                  <p:cNvPr id="69" name="Line 3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530848" y="4071730"/>
                    <a:ext cx="15112" cy="1661526"/>
                  </a:xfrm>
                  <a:prstGeom prst="line">
                    <a:avLst/>
                  </a:prstGeom>
                  <a:noFill/>
                  <a:ln w="25400">
                    <a:solidFill>
                      <a:srgbClr val="808000"/>
                    </a:solidFill>
                    <a:round/>
                    <a:headEnd/>
                    <a:tailEnd type="oval" w="med" len="med"/>
                  </a:ln>
                </p:spPr>
                <p:txBody>
                  <a:bodyPr/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70" name="Rectangle 330"/>
                  <p:cNvSpPr>
                    <a:spLocks noChangeArrowheads="1"/>
                  </p:cNvSpPr>
                  <p:nvPr/>
                </p:nvSpPr>
                <p:spPr bwMode="auto">
                  <a:xfrm rot="16200000">
                    <a:off x="6958091" y="4554901"/>
                    <a:ext cx="988455" cy="137497"/>
                  </a:xfrm>
                  <a:prstGeom prst="rect">
                    <a:avLst/>
                  </a:prstGeom>
                  <a:noFill/>
                  <a:ln w="6350">
                    <a:noFill/>
                    <a:miter lim="800000"/>
                    <a:headEnd/>
                    <a:tailEnd/>
                  </a:ln>
                </p:spPr>
                <p:txBody>
                  <a:bodyPr wrap="none" lIns="121789" tIns="60894" rIns="121789" bIns="60894" anchor="ctr"/>
                  <a:lstStyle/>
                  <a:p>
                    <a:pPr algn="ctr" defTabSz="1217613"/>
                    <a:r>
                      <a:rPr lang="en-US" altLang="ko-KR" sz="800" dirty="0">
                        <a:latin typeface="Arial" pitchFamily="34" charset="0"/>
                        <a:cs typeface="Arial" pitchFamily="34" charset="0"/>
                      </a:rPr>
                      <a:t>IEEE802.11a,b,g</a:t>
                    </a:r>
                  </a:p>
                </p:txBody>
              </p:sp>
              <p:sp>
                <p:nvSpPr>
                  <p:cNvPr id="71" name="Line 33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328747" y="5733256"/>
                    <a:ext cx="202100" cy="125640"/>
                  </a:xfrm>
                  <a:prstGeom prst="line">
                    <a:avLst/>
                  </a:prstGeom>
                  <a:noFill/>
                  <a:ln w="25400">
                    <a:solidFill>
                      <a:srgbClr val="808000"/>
                    </a:solidFill>
                    <a:round/>
                    <a:headEnd/>
                    <a:tailEnd type="oval" w="med" len="med"/>
                  </a:ln>
                </p:spPr>
                <p:txBody>
                  <a:bodyPr/>
                  <a:lstStyle/>
                  <a:p>
                    <a:endParaRPr lang="ko-KR" altLang="en-US" sz="800"/>
                  </a:p>
                </p:txBody>
              </p:sp>
            </p:grpSp>
            <p:sp>
              <p:nvSpPr>
                <p:cNvPr id="55" name="Rectangle 337"/>
                <p:cNvSpPr>
                  <a:spLocks noChangeArrowheads="1"/>
                </p:cNvSpPr>
                <p:nvPr/>
              </p:nvSpPr>
              <p:spPr bwMode="auto">
                <a:xfrm>
                  <a:off x="5178882" y="4361472"/>
                  <a:ext cx="1289624" cy="23204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 defTabSz="1217613"/>
                  <a:r>
                    <a:rPr lang="en-US" altLang="ko-KR" sz="800" b="1" dirty="0">
                      <a:latin typeface="Arial" pitchFamily="34" charset="0"/>
                      <a:cs typeface="Arial" pitchFamily="34" charset="0"/>
                    </a:rPr>
                    <a:t>Wireless LAN Router</a:t>
                  </a:r>
                </a:p>
              </p:txBody>
            </p:sp>
            <p:sp>
              <p:nvSpPr>
                <p:cNvPr id="56" name="Line 338"/>
                <p:cNvSpPr>
                  <a:spLocks noChangeShapeType="1"/>
                </p:cNvSpPr>
                <p:nvPr/>
              </p:nvSpPr>
              <p:spPr bwMode="auto">
                <a:xfrm>
                  <a:off x="5770355" y="5583257"/>
                  <a:ext cx="1344149" cy="0"/>
                </a:xfrm>
                <a:prstGeom prst="line">
                  <a:avLst/>
                </a:prstGeom>
                <a:noFill/>
                <a:ln w="38100">
                  <a:solidFill>
                    <a:srgbClr val="9999FF"/>
                  </a:solidFill>
                  <a:round/>
                  <a:headEnd type="triangle" w="med" len="med"/>
                  <a:tailEnd type="diamond" w="med" len="med"/>
                </a:ln>
              </p:spPr>
              <p:txBody>
                <a:bodyPr/>
                <a:lstStyle/>
                <a:p>
                  <a:endParaRPr lang="ko-KR" altLang="en-US" sz="800"/>
                </a:p>
              </p:txBody>
            </p:sp>
            <p:sp>
              <p:nvSpPr>
                <p:cNvPr id="57" name="Line 339"/>
                <p:cNvSpPr>
                  <a:spLocks noChangeShapeType="1"/>
                </p:cNvSpPr>
                <p:nvPr/>
              </p:nvSpPr>
              <p:spPr bwMode="auto">
                <a:xfrm>
                  <a:off x="5770355" y="5757615"/>
                  <a:ext cx="1344149" cy="0"/>
                </a:xfrm>
                <a:prstGeom prst="line">
                  <a:avLst/>
                </a:prstGeom>
                <a:noFill/>
                <a:ln w="38100">
                  <a:solidFill>
                    <a:srgbClr val="9999FF"/>
                  </a:solidFill>
                  <a:round/>
                  <a:headEnd type="triangle" w="med" len="med"/>
                  <a:tailEnd type="diamond" w="med" len="med"/>
                </a:ln>
              </p:spPr>
              <p:txBody>
                <a:bodyPr/>
                <a:lstStyle/>
                <a:p>
                  <a:endParaRPr lang="ko-KR" altLang="en-US" sz="800"/>
                </a:p>
              </p:txBody>
            </p:sp>
            <p:sp>
              <p:nvSpPr>
                <p:cNvPr id="58" name="Line 340"/>
                <p:cNvSpPr>
                  <a:spLocks noChangeShapeType="1"/>
                </p:cNvSpPr>
                <p:nvPr/>
              </p:nvSpPr>
              <p:spPr bwMode="auto">
                <a:xfrm>
                  <a:off x="5770355" y="5931972"/>
                  <a:ext cx="1344149" cy="0"/>
                </a:xfrm>
                <a:prstGeom prst="line">
                  <a:avLst/>
                </a:prstGeom>
                <a:noFill/>
                <a:ln w="38100">
                  <a:solidFill>
                    <a:srgbClr val="9999FF"/>
                  </a:solidFill>
                  <a:round/>
                  <a:headEnd type="triangle" w="med" len="med"/>
                  <a:tailEnd type="diamond" w="med" len="med"/>
                </a:ln>
              </p:spPr>
              <p:txBody>
                <a:bodyPr/>
                <a:lstStyle/>
                <a:p>
                  <a:endParaRPr lang="ko-KR" altLang="en-US" sz="800"/>
                </a:p>
              </p:txBody>
            </p:sp>
            <p:sp>
              <p:nvSpPr>
                <p:cNvPr id="59" name="Line 341"/>
                <p:cNvSpPr>
                  <a:spLocks noChangeShapeType="1"/>
                </p:cNvSpPr>
                <p:nvPr/>
              </p:nvSpPr>
              <p:spPr bwMode="auto">
                <a:xfrm>
                  <a:off x="5770355" y="5408899"/>
                  <a:ext cx="215728" cy="0"/>
                </a:xfrm>
                <a:prstGeom prst="line">
                  <a:avLst/>
                </a:prstGeom>
                <a:noFill/>
                <a:ln w="38100">
                  <a:solidFill>
                    <a:srgbClr val="9999FF"/>
                  </a:solidFill>
                  <a:round/>
                  <a:headEnd type="triangle" w="med" len="med"/>
                  <a:tailEnd/>
                </a:ln>
              </p:spPr>
              <p:txBody>
                <a:bodyPr/>
                <a:lstStyle/>
                <a:p>
                  <a:endParaRPr lang="ko-KR" altLang="en-US" sz="800"/>
                </a:p>
              </p:txBody>
            </p:sp>
            <p:sp>
              <p:nvSpPr>
                <p:cNvPr id="60" name="Line 342"/>
                <p:cNvSpPr>
                  <a:spLocks noChangeShapeType="1"/>
                </p:cNvSpPr>
                <p:nvPr/>
              </p:nvSpPr>
              <p:spPr bwMode="auto">
                <a:xfrm flipV="1">
                  <a:off x="6092760" y="5157192"/>
                  <a:ext cx="1071528" cy="18376"/>
                </a:xfrm>
                <a:prstGeom prst="line">
                  <a:avLst/>
                </a:prstGeom>
                <a:noFill/>
                <a:ln w="38100">
                  <a:solidFill>
                    <a:srgbClr val="9999FF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ko-KR" altLang="en-US" sz="800"/>
                </a:p>
              </p:txBody>
            </p:sp>
            <p:sp>
              <p:nvSpPr>
                <p:cNvPr id="61" name="Line 343"/>
                <p:cNvSpPr>
                  <a:spLocks noChangeShapeType="1"/>
                </p:cNvSpPr>
                <p:nvPr/>
              </p:nvSpPr>
              <p:spPr bwMode="auto">
                <a:xfrm flipV="1">
                  <a:off x="5986082" y="5175568"/>
                  <a:ext cx="106678" cy="233332"/>
                </a:xfrm>
                <a:prstGeom prst="line">
                  <a:avLst/>
                </a:prstGeom>
                <a:noFill/>
                <a:ln w="38100">
                  <a:solidFill>
                    <a:srgbClr val="9999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47" name="Line 344"/>
              <p:cNvSpPr>
                <a:spLocks noChangeShapeType="1"/>
              </p:cNvSpPr>
              <p:nvPr/>
            </p:nvSpPr>
            <p:spPr bwMode="auto">
              <a:xfrm flipH="1">
                <a:off x="7164288" y="5157192"/>
                <a:ext cx="360040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oval" w="med" len="med"/>
              </a:ln>
            </p:spPr>
            <p:txBody>
              <a:bodyPr/>
              <a:lstStyle/>
              <a:p>
                <a:endParaRPr lang="ko-KR" altLang="en-US" sz="800"/>
              </a:p>
            </p:txBody>
          </p:sp>
          <p:sp>
            <p:nvSpPr>
              <p:cNvPr id="48" name="Rectangle 345"/>
              <p:cNvSpPr>
                <a:spLocks noChangeArrowheads="1"/>
              </p:cNvSpPr>
              <p:nvPr/>
            </p:nvSpPr>
            <p:spPr bwMode="auto">
              <a:xfrm>
                <a:off x="7114504" y="5497361"/>
                <a:ext cx="430270" cy="17435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defTabSz="1217613"/>
                <a:r>
                  <a:rPr lang="en-US" altLang="ko-KR" sz="800">
                    <a:latin typeface="Arial" pitchFamily="34" charset="0"/>
                    <a:cs typeface="Arial" pitchFamily="34" charset="0"/>
                  </a:rPr>
                  <a:t>LAN2</a:t>
                </a:r>
              </a:p>
            </p:txBody>
          </p:sp>
          <p:sp>
            <p:nvSpPr>
              <p:cNvPr id="49" name="Rectangle 346"/>
              <p:cNvSpPr>
                <a:spLocks noChangeArrowheads="1"/>
              </p:cNvSpPr>
              <p:nvPr/>
            </p:nvSpPr>
            <p:spPr bwMode="auto">
              <a:xfrm>
                <a:off x="7114504" y="5671718"/>
                <a:ext cx="430270" cy="17435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defTabSz="1217613"/>
                <a:r>
                  <a:rPr lang="en-US" altLang="ko-KR" sz="800" dirty="0">
                    <a:latin typeface="Arial" pitchFamily="34" charset="0"/>
                    <a:cs typeface="Arial" pitchFamily="34" charset="0"/>
                  </a:rPr>
                  <a:t>LAN3</a:t>
                </a:r>
              </a:p>
            </p:txBody>
          </p:sp>
          <p:sp>
            <p:nvSpPr>
              <p:cNvPr id="50" name="Rectangle 347"/>
              <p:cNvSpPr>
                <a:spLocks noChangeArrowheads="1"/>
              </p:cNvSpPr>
              <p:nvPr/>
            </p:nvSpPr>
            <p:spPr bwMode="auto">
              <a:xfrm>
                <a:off x="7114504" y="5846076"/>
                <a:ext cx="430270" cy="17435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defTabSz="1217613"/>
                <a:r>
                  <a:rPr lang="en-US" altLang="ko-KR" sz="800" dirty="0">
                    <a:latin typeface="Arial" pitchFamily="34" charset="0"/>
                    <a:cs typeface="Arial" pitchFamily="34" charset="0"/>
                  </a:rPr>
                  <a:t>LAN4</a:t>
                </a:r>
              </a:p>
            </p:txBody>
          </p:sp>
        </p:grpSp>
        <p:cxnSp>
          <p:nvCxnSpPr>
            <p:cNvPr id="79" name="꺾인 연결선 78"/>
            <p:cNvCxnSpPr>
              <a:stCxn id="10" idx="1"/>
            </p:cNvCxnSpPr>
            <p:nvPr/>
          </p:nvCxnSpPr>
          <p:spPr>
            <a:xfrm>
              <a:off x="5148064" y="4909356"/>
              <a:ext cx="864096" cy="247836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1619672" y="1484784"/>
            <a:ext cx="5184576" cy="2448272"/>
            <a:chOff x="755576" y="1340768"/>
            <a:chExt cx="5976664" cy="3349086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55576" y="1340768"/>
              <a:ext cx="5976664" cy="33490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모서리가 둥근 직사각형 4"/>
            <p:cNvSpPr/>
            <p:nvPr/>
          </p:nvSpPr>
          <p:spPr>
            <a:xfrm>
              <a:off x="5615608" y="2204864"/>
              <a:ext cx="288032" cy="1008112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2195736" y="4149080"/>
            <a:ext cx="4824536" cy="2016224"/>
            <a:chOff x="2195736" y="4149080"/>
            <a:chExt cx="4824536" cy="2016224"/>
          </a:xfrm>
        </p:grpSpPr>
        <p:sp>
          <p:nvSpPr>
            <p:cNvPr id="7" name="직사각형 6"/>
            <p:cNvSpPr/>
            <p:nvPr/>
          </p:nvSpPr>
          <p:spPr>
            <a:xfrm>
              <a:off x="2195736" y="4149080"/>
              <a:ext cx="4680520" cy="20162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6732240" y="4333574"/>
              <a:ext cx="288032" cy="21602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6732240" y="4653136"/>
              <a:ext cx="288032" cy="21602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6732240" y="5013176"/>
              <a:ext cx="288032" cy="21602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572000" y="4293096"/>
              <a:ext cx="864096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GIA</a:t>
              </a:r>
              <a:endParaRPr lang="ko-KR" altLang="en-US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572000" y="4797152"/>
              <a:ext cx="864096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LIC</a:t>
              </a:r>
              <a:endParaRPr lang="ko-KR" altLang="en-US" dirty="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572000" y="5517232"/>
              <a:ext cx="864096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MCU</a:t>
              </a:r>
              <a:endParaRPr lang="ko-KR" alt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31840" y="5445224"/>
              <a:ext cx="648072" cy="553998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 - INT</a:t>
              </a:r>
            </a:p>
            <a:p>
              <a:r>
                <a:rPr lang="en-US" altLang="ko-KR" sz="1000" dirty="0"/>
                <a:t> </a:t>
              </a:r>
              <a:r>
                <a:rPr lang="en-US" altLang="ko-KR" sz="1000" dirty="0" smtClean="0"/>
                <a:t>- VOL</a:t>
              </a:r>
            </a:p>
            <a:p>
              <a:r>
                <a:rPr lang="en-US" altLang="ko-KR" sz="1000" dirty="0"/>
                <a:t> </a:t>
              </a:r>
              <a:r>
                <a:rPr lang="en-US" altLang="ko-KR" sz="1000" dirty="0" smtClean="0"/>
                <a:t>- AMP</a:t>
              </a:r>
              <a:endParaRPr lang="ko-KR" altLang="en-US" sz="10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131840" y="4757082"/>
              <a:ext cx="648072" cy="40011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 - MPU</a:t>
              </a:r>
            </a:p>
            <a:p>
              <a:r>
                <a:rPr lang="en-US" altLang="ko-KR" sz="1000" dirty="0"/>
                <a:t> </a:t>
              </a:r>
              <a:r>
                <a:rPr lang="en-US" altLang="ko-KR" sz="1000" dirty="0" smtClean="0"/>
                <a:t>- LON</a:t>
              </a:r>
            </a:p>
          </p:txBody>
        </p:sp>
        <p:cxnSp>
          <p:nvCxnSpPr>
            <p:cNvPr id="17" name="직선 연결선 16"/>
            <p:cNvCxnSpPr>
              <a:stCxn id="15" idx="3"/>
              <a:endCxn id="12" idx="1"/>
            </p:cNvCxnSpPr>
            <p:nvPr/>
          </p:nvCxnSpPr>
          <p:spPr>
            <a:xfrm flipV="1">
              <a:off x="3779912" y="4941168"/>
              <a:ext cx="792088" cy="15969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>
              <a:stCxn id="14" idx="3"/>
              <a:endCxn id="13" idx="1"/>
            </p:cNvCxnSpPr>
            <p:nvPr/>
          </p:nvCxnSpPr>
          <p:spPr>
            <a:xfrm flipV="1">
              <a:off x="3779912" y="5661248"/>
              <a:ext cx="792088" cy="60975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꺾인 연결선 20"/>
            <p:cNvCxnSpPr>
              <a:stCxn id="11" idx="3"/>
              <a:endCxn id="8" idx="1"/>
            </p:cNvCxnSpPr>
            <p:nvPr/>
          </p:nvCxnSpPr>
          <p:spPr>
            <a:xfrm>
              <a:off x="5436096" y="4437112"/>
              <a:ext cx="1296144" cy="4474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>
              <a:stCxn id="12" idx="3"/>
              <a:endCxn id="9" idx="1"/>
            </p:cNvCxnSpPr>
            <p:nvPr/>
          </p:nvCxnSpPr>
          <p:spPr>
            <a:xfrm flipV="1">
              <a:off x="5436096" y="4761148"/>
              <a:ext cx="1296144" cy="18002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>
              <a:stCxn id="13" idx="3"/>
              <a:endCxn id="10" idx="1"/>
            </p:cNvCxnSpPr>
            <p:nvPr/>
          </p:nvCxnSpPr>
          <p:spPr>
            <a:xfrm flipV="1">
              <a:off x="5436096" y="5121188"/>
              <a:ext cx="1296144" cy="54006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796136" y="4293096"/>
              <a:ext cx="64807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RS - 232</a:t>
              </a:r>
              <a:endParaRPr lang="ko-KR" altLang="en-US" sz="8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796136" y="4725724"/>
              <a:ext cx="64807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RS - 232</a:t>
              </a:r>
              <a:endParaRPr lang="ko-KR" altLang="en-US" sz="8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796136" y="5229780"/>
              <a:ext cx="64807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RS - 232</a:t>
              </a:r>
              <a:endParaRPr lang="ko-KR" altLang="en-US" sz="800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3563888" y="33265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Debug PCB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526</Words>
  <Application>Microsoft Office PowerPoint</Application>
  <PresentationFormat>화면 슬라이드 쇼(4:3)</PresentationFormat>
  <Paragraphs>338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jds</dc:creator>
  <cp:lastModifiedBy>jds</cp:lastModifiedBy>
  <cp:revision>22</cp:revision>
  <dcterms:created xsi:type="dcterms:W3CDTF">2011-02-14T01:01:48Z</dcterms:created>
  <dcterms:modified xsi:type="dcterms:W3CDTF">2011-02-14T07:50:35Z</dcterms:modified>
</cp:coreProperties>
</file>