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56" r:id="rId5"/>
    <p:sldId id="259" r:id="rId6"/>
    <p:sldId id="257" r:id="rId7"/>
    <p:sldId id="258" r:id="rId8"/>
    <p:sldId id="260" r:id="rId9"/>
    <p:sldId id="261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5" d="100"/>
          <a:sy n="125" d="100"/>
        </p:scale>
        <p:origin x="-84" y="-16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8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4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94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41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83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9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10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62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43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54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55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21D85-D4D9-4410-9793-795C614C7B13}" type="datetimeFigureOut">
              <a:rPr lang="ko-KR" altLang="en-US" smtClean="0"/>
              <a:pPr/>
              <a:t>2012-01-09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84AA8-14FF-46D9-BF5B-976309A6C7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24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oleObject" Target="file:///C:\Users\JDS_SSD\Desktop\JDS_PRO\DENVER\&#47928;&#49436;\Visio%20&#51088;&#47308;\PA%20system%20Operation%20Scenario%20.vsd\Drawing\~Page-29\Sheet.44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5" Type="http://schemas.openxmlformats.org/officeDocument/2006/relationships/image" Target="../media/image2.emf"/><Relationship Id="rId4" Type="http://schemas.openxmlformats.org/officeDocument/2006/relationships/oleObject" Target="file:///C:\Users\JDS_SSD\Desktop\JDS_PRO\DENVER\&#47928;&#49436;\Visio%20&#51088;&#47308;\PA%20system%20Operation%20Scenario%20.vsd\Drawing\~Page-29\Comm-link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4.png"/><Relationship Id="rId7" Type="http://schemas.openxmlformats.org/officeDocument/2006/relationships/oleObject" Target="file:///C:\Users\JDS_SSD\Desktop\JDS_PRO\DENVER\&#47928;&#49436;\Visio%20&#51088;&#47308;\PA%20system%20Operation%20Scenario%20.vsd\Drawing\~Page-29\Sheet.44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image" Target="../media/image6.emf"/><Relationship Id="rId4" Type="http://schemas.openxmlformats.org/officeDocument/2006/relationships/oleObject" Target="file:///C:\Users\JDS_SSD\Desktop\JDS_PRO\DENVER\&#47928;&#49436;\Visio%20&#51088;&#47308;\PA%20system%20Operation%20Scenario%20.vsd\Drawing\~Page-29\Comm-li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wmf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04728" y="445314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</a:t>
            </a:r>
          </a:p>
          <a:p>
            <a:pPr algn="ctr"/>
            <a:r>
              <a:rPr lang="ko-KR" altLang="en-US" b="1" dirty="0" smtClean="0"/>
              <a:t>자동 방송에 대한 공급 범위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953000" y="1484784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                                are the on-board communications system and the software which edits the schedule data needed for operating.</a:t>
            </a:r>
          </a:p>
          <a:p>
            <a:r>
              <a:rPr lang="en-US" altLang="ko-KR" b="1" dirty="0" smtClean="0"/>
              <a:t>(Supplies the scope colored with yellow.) </a:t>
            </a:r>
            <a:endParaRPr lang="ko-KR" altLang="en-US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16" y="2232367"/>
            <a:ext cx="3672408" cy="400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00672" y="571529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WOOJIN</a:t>
            </a:r>
            <a:endParaRPr lang="ko-KR" altLang="en-US" dirty="0"/>
          </a:p>
        </p:txBody>
      </p:sp>
      <p:sp>
        <p:nvSpPr>
          <p:cNvPr id="3" name="설명선 1 2"/>
          <p:cNvSpPr/>
          <p:nvPr/>
        </p:nvSpPr>
        <p:spPr>
          <a:xfrm>
            <a:off x="2216696" y="1597605"/>
            <a:ext cx="2304256" cy="612648"/>
          </a:xfrm>
          <a:prstGeom prst="borderCallout1">
            <a:avLst>
              <a:gd name="adj1" fmla="val 18750"/>
              <a:gd name="adj2" fmla="val -8333"/>
              <a:gd name="adj3" fmla="val 293176"/>
              <a:gd name="adj4" fmla="val -2413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OCC </a:t>
            </a:r>
            <a:r>
              <a:rPr lang="ko-KR" altLang="en-US" sz="1000" dirty="0" smtClean="0">
                <a:solidFill>
                  <a:schemeClr val="tx1"/>
                </a:solidFill>
              </a:rPr>
              <a:t>공급</a:t>
            </a:r>
            <a:r>
              <a:rPr lang="en-US" altLang="ko-KR" sz="1000" dirty="0" smtClean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범위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r>
              <a:rPr lang="en-US" altLang="ko-KR" sz="1000" dirty="0" smtClean="0">
                <a:solidFill>
                  <a:schemeClr val="tx1"/>
                </a:solidFill>
              </a:rPr>
              <a:t>-  </a:t>
            </a:r>
            <a:r>
              <a:rPr lang="ko-KR" altLang="en-US" sz="1000" dirty="0" smtClean="0">
                <a:solidFill>
                  <a:schemeClr val="tx1"/>
                </a:solidFill>
              </a:rPr>
              <a:t>자동 방송을 위한 </a:t>
            </a:r>
            <a:r>
              <a:rPr lang="en-US" altLang="ko-KR" sz="1000" dirty="0" smtClean="0">
                <a:solidFill>
                  <a:schemeClr val="tx1"/>
                </a:solidFill>
              </a:rPr>
              <a:t>GPS DATA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05400" y="3497525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ko-KR" altLang="en-US" b="1" dirty="0" err="1" smtClean="0"/>
              <a:t>덴버</a:t>
            </a:r>
            <a:r>
              <a:rPr lang="en-US" altLang="ko-KR" b="1" dirty="0"/>
              <a:t> </a:t>
            </a:r>
            <a:r>
              <a:rPr lang="ko-KR" altLang="en-US" b="1" dirty="0" err="1" smtClean="0"/>
              <a:t>시행청은</a:t>
            </a:r>
            <a:r>
              <a:rPr lang="ko-KR" altLang="en-US" b="1" dirty="0" smtClean="0"/>
              <a:t> 자동 방송을 위해 필요한 </a:t>
            </a:r>
            <a:r>
              <a:rPr lang="en-US" altLang="ko-KR" b="1" dirty="0" smtClean="0"/>
              <a:t>GPS </a:t>
            </a:r>
            <a:r>
              <a:rPr lang="ko-KR" altLang="en-US" b="1" dirty="0" smtClean="0"/>
              <a:t>데이터를 누가 제공 하는지 우진에게 알려 주어야 한다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8091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설명선 1 5"/>
          <p:cNvSpPr/>
          <p:nvPr/>
        </p:nvSpPr>
        <p:spPr>
          <a:xfrm>
            <a:off x="2411758" y="1772815"/>
            <a:ext cx="3621362" cy="909089"/>
          </a:xfrm>
          <a:prstGeom prst="borderCallout1">
            <a:avLst>
              <a:gd name="adj1" fmla="val 18750"/>
              <a:gd name="adj2" fmla="val -8333"/>
              <a:gd name="adj3" fmla="val 56858"/>
              <a:gd name="adj4" fmla="val -3111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OCC </a:t>
            </a:r>
            <a:r>
              <a:rPr lang="ko-KR" altLang="en-US" sz="1000" dirty="0" smtClean="0">
                <a:solidFill>
                  <a:schemeClr val="tx1"/>
                </a:solidFill>
              </a:rPr>
              <a:t>공급</a:t>
            </a:r>
            <a:r>
              <a:rPr lang="en-US" altLang="ko-KR" sz="1000" dirty="0" smtClean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범위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tx1"/>
                </a:solidFill>
              </a:rPr>
              <a:t>MDS DATA</a:t>
            </a:r>
            <a:r>
              <a:rPr lang="ko-KR" altLang="en-US" sz="1000" dirty="0" smtClean="0">
                <a:solidFill>
                  <a:schemeClr val="tx1"/>
                </a:solidFill>
              </a:rPr>
              <a:t>를 보관할 서버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tx1"/>
                </a:solidFill>
              </a:rPr>
              <a:t>MDS </a:t>
            </a:r>
            <a:r>
              <a:rPr lang="ko-KR" altLang="en-US" sz="1000" dirty="0" smtClean="0">
                <a:solidFill>
                  <a:schemeClr val="tx1"/>
                </a:solidFill>
              </a:rPr>
              <a:t>파일을 관리 프로그램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 smtClean="0">
                <a:solidFill>
                  <a:schemeClr val="tx1"/>
                </a:solidFill>
              </a:rPr>
              <a:t>   -&gt; SEPTA</a:t>
            </a:r>
            <a:r>
              <a:rPr lang="ko-KR" altLang="en-US" sz="1000" dirty="0" smtClean="0">
                <a:solidFill>
                  <a:schemeClr val="tx1"/>
                </a:solidFill>
              </a:rPr>
              <a:t>에서는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시행청이</a:t>
            </a:r>
            <a:r>
              <a:rPr lang="ko-KR" altLang="en-US" sz="1000" dirty="0" smtClean="0">
                <a:solidFill>
                  <a:schemeClr val="tx1"/>
                </a:solidFill>
              </a:rPr>
              <a:t> 지정한 업체에서 제작 하였다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632520" y="1919905"/>
            <a:ext cx="2592288" cy="4605439"/>
            <a:chOff x="3112443" y="1273443"/>
            <a:chExt cx="2592288" cy="4605439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408587" y="3715422"/>
              <a:ext cx="1296144" cy="216346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443" y="1273443"/>
              <a:ext cx="419100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7" name="개체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9613814"/>
                </p:ext>
              </p:extLst>
            </p:nvPr>
          </p:nvGraphicFramePr>
          <p:xfrm>
            <a:off x="3763268" y="1916832"/>
            <a:ext cx="1003300" cy="750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Visio" r:id="rId4" imgW="1003590" imgH="751576" progId="Visio.Drawing.11">
                    <p:link updateAutomatic="1"/>
                  </p:oleObj>
                </mc:Choice>
                <mc:Fallback>
                  <p:oleObj name="Visio" r:id="rId4" imgW="1003590" imgH="751576" progId="Visio.Drawing.11">
                    <p:link updateAutomatic="1"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63268" y="1916832"/>
                          <a:ext cx="1003300" cy="750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2960" y="2708920"/>
              <a:ext cx="552450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8" name="개체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8856047"/>
                </p:ext>
              </p:extLst>
            </p:nvPr>
          </p:nvGraphicFramePr>
          <p:xfrm>
            <a:off x="4493443" y="3861048"/>
            <a:ext cx="963613" cy="703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Visio" r:id="rId7" imgW="962820" imgH="703862" progId="Visio.Drawing.11">
                    <p:link updateAutomatic="1"/>
                  </p:oleObj>
                </mc:Choice>
                <mc:Fallback>
                  <p:oleObj name="Visio" r:id="rId7" imgW="962820" imgH="703862" progId="Visio.Drawing.11">
                    <p:link updateAutomatic="1"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93443" y="3861048"/>
                          <a:ext cx="963613" cy="703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직사각형 8"/>
            <p:cNvSpPr/>
            <p:nvPr/>
          </p:nvSpPr>
          <p:spPr>
            <a:xfrm>
              <a:off x="4592960" y="2927995"/>
              <a:ext cx="720080" cy="2129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CMU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736976" y="5013176"/>
              <a:ext cx="720080" cy="6512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MDS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/>
            <p:cNvCxnSpPr>
              <a:stCxn id="9" idx="2"/>
              <a:endCxn id="8" idx="0"/>
            </p:cNvCxnSpPr>
            <p:nvPr/>
          </p:nvCxnSpPr>
          <p:spPr>
            <a:xfrm>
              <a:off x="4953000" y="3140968"/>
              <a:ext cx="22249" cy="72008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/>
            <p:cNvCxnSpPr>
              <a:stCxn id="14" idx="0"/>
            </p:cNvCxnSpPr>
            <p:nvPr/>
          </p:nvCxnSpPr>
          <p:spPr>
            <a:xfrm flipV="1">
              <a:off x="5097016" y="4581128"/>
              <a:ext cx="0" cy="43204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504728" y="445314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     MDS DATA</a:t>
            </a:r>
            <a:r>
              <a:rPr lang="ko-KR" altLang="en-US" b="1" dirty="0" smtClean="0"/>
              <a:t> 관리</a:t>
            </a:r>
            <a:r>
              <a:rPr lang="ko-KR" altLang="en-US" b="1" dirty="0"/>
              <a:t>에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대한 공급 범</a:t>
            </a:r>
            <a:r>
              <a:rPr lang="ko-KR" altLang="en-US" b="1" dirty="0"/>
              <a:t>위</a:t>
            </a:r>
            <a:r>
              <a:rPr lang="en-US" altLang="ko-KR" b="1" dirty="0" smtClean="0"/>
              <a:t>  </a:t>
            </a:r>
            <a:endParaRPr lang="ko-KR" alt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520952" y="2835793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                                are the on-board communications system. (Supplies the scope colored with yellow.) </a:t>
            </a:r>
            <a:endParaRPr lang="ko-KR" alt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534520" y="4386869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ko-KR" altLang="en-US" b="1" dirty="0" err="1" smtClean="0"/>
              <a:t>덴버</a:t>
            </a:r>
            <a:r>
              <a:rPr lang="en-US" altLang="ko-KR" b="1" dirty="0"/>
              <a:t> </a:t>
            </a:r>
            <a:r>
              <a:rPr lang="ko-KR" altLang="en-US" b="1" dirty="0" err="1" smtClean="0"/>
              <a:t>시행청은</a:t>
            </a:r>
            <a:r>
              <a:rPr lang="ko-KR" altLang="en-US" b="1" dirty="0"/>
              <a:t> </a:t>
            </a:r>
            <a:r>
              <a:rPr lang="en-US" altLang="ko-KR" b="1" dirty="0" smtClean="0"/>
              <a:t>MDS </a:t>
            </a:r>
            <a:r>
              <a:rPr lang="ko-KR" altLang="en-US" b="1" dirty="0" smtClean="0"/>
              <a:t>파일을 보관할 </a:t>
            </a:r>
            <a:r>
              <a:rPr lang="en-US" altLang="ko-KR" b="1" dirty="0" smtClean="0"/>
              <a:t>OCC </a:t>
            </a:r>
            <a:r>
              <a:rPr lang="ko-KR" altLang="en-US" b="1" dirty="0" smtClean="0"/>
              <a:t>서버를 누가 공급 하는지 정해야 한다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err="1" smtClean="0"/>
              <a:t>덴버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시행청은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OCC </a:t>
            </a:r>
            <a:r>
              <a:rPr lang="ko-KR" altLang="en-US" b="1" dirty="0" smtClean="0"/>
              <a:t>서버에서 </a:t>
            </a:r>
            <a:r>
              <a:rPr lang="en-US" altLang="ko-KR" b="1" dirty="0" smtClean="0"/>
              <a:t>MDS </a:t>
            </a:r>
            <a:r>
              <a:rPr lang="ko-KR" altLang="en-US" b="1" dirty="0" smtClean="0"/>
              <a:t>파일을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관리할 응용 프로 그램을 누가 제작 할지 정해야 한다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104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모서리가 둥근 직사각형 15"/>
          <p:cNvSpPr/>
          <p:nvPr/>
        </p:nvSpPr>
        <p:spPr>
          <a:xfrm>
            <a:off x="416495" y="1760040"/>
            <a:ext cx="1910283" cy="1081730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dirty="0" smtClean="0">
                <a:solidFill>
                  <a:schemeClr val="tx1"/>
                </a:solidFill>
              </a:rPr>
              <a:t>Content </a:t>
            </a:r>
          </a:p>
          <a:p>
            <a:pPr algn="r"/>
            <a:r>
              <a:rPr lang="ko-KR" altLang="en-US" dirty="0" smtClean="0">
                <a:solidFill>
                  <a:schemeClr val="tx1"/>
                </a:solidFill>
              </a:rPr>
              <a:t>관리 </a:t>
            </a:r>
            <a:r>
              <a:rPr lang="en-US" altLang="ko-KR" dirty="0" smtClean="0">
                <a:solidFill>
                  <a:schemeClr val="tx1"/>
                </a:solidFill>
              </a:rPr>
              <a:t>S/W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설명선 1 5"/>
          <p:cNvSpPr/>
          <p:nvPr/>
        </p:nvSpPr>
        <p:spPr>
          <a:xfrm>
            <a:off x="2411758" y="1340768"/>
            <a:ext cx="2469234" cy="720081"/>
          </a:xfrm>
          <a:prstGeom prst="borderCallout1">
            <a:avLst>
              <a:gd name="adj1" fmla="val 18750"/>
              <a:gd name="adj2" fmla="val -8333"/>
              <a:gd name="adj3" fmla="val 95660"/>
              <a:gd name="adj4" fmla="val -532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OCC </a:t>
            </a:r>
            <a:r>
              <a:rPr lang="ko-KR" altLang="en-US" sz="1000" dirty="0" smtClean="0">
                <a:solidFill>
                  <a:schemeClr val="tx1"/>
                </a:solidFill>
              </a:rPr>
              <a:t>공급</a:t>
            </a:r>
            <a:r>
              <a:rPr lang="en-US" altLang="ko-KR" sz="1000" dirty="0" smtClean="0">
                <a:solidFill>
                  <a:schemeClr val="tx1"/>
                </a:solidFill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</a:rPr>
              <a:t>범위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dirty="0" smtClean="0">
                <a:solidFill>
                  <a:schemeClr val="tx1"/>
                </a:solidFill>
              </a:rPr>
              <a:t>Content DATA</a:t>
            </a:r>
            <a:r>
              <a:rPr lang="ko-KR" altLang="en-US" sz="1000" dirty="0" smtClean="0">
                <a:solidFill>
                  <a:schemeClr val="tx1"/>
                </a:solidFill>
              </a:rPr>
              <a:t>를 보관할 서버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570037" y="1919905"/>
            <a:ext cx="2632645" cy="3523709"/>
            <a:chOff x="3112443" y="1273443"/>
            <a:chExt cx="2632645" cy="3523709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448944" y="3715422"/>
              <a:ext cx="1296144" cy="1081730"/>
            </a:xfrm>
            <a:prstGeom prst="round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443" y="1273443"/>
              <a:ext cx="419100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7" name="개체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1052333"/>
                </p:ext>
              </p:extLst>
            </p:nvPr>
          </p:nvGraphicFramePr>
          <p:xfrm>
            <a:off x="3763268" y="1916832"/>
            <a:ext cx="1003300" cy="750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Visio" r:id="rId4" imgW="1003590" imgH="751576" progId="Visio.Drawing.11">
                    <p:link updateAutomatic="1"/>
                  </p:oleObj>
                </mc:Choice>
                <mc:Fallback>
                  <p:oleObj name="Visio" r:id="rId4" imgW="1003590" imgH="751576" progId="Visio.Drawing.11">
                    <p:link updateAutomatic="1"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63268" y="1916832"/>
                          <a:ext cx="1003300" cy="7508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2960" y="2708920"/>
              <a:ext cx="552450" cy="219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8" name="개체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9613407"/>
                </p:ext>
              </p:extLst>
            </p:nvPr>
          </p:nvGraphicFramePr>
          <p:xfrm>
            <a:off x="4493443" y="3861048"/>
            <a:ext cx="963613" cy="703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Visio" r:id="rId7" imgW="962820" imgH="703862" progId="Visio.Drawing.11">
                    <p:link updateAutomatic="1"/>
                  </p:oleObj>
                </mc:Choice>
                <mc:Fallback>
                  <p:oleObj name="Visio" r:id="rId7" imgW="962820" imgH="703862" progId="Visio.Drawing.11">
                    <p:link updateAutomatic="1"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93443" y="3861048"/>
                          <a:ext cx="963613" cy="703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직사각형 8"/>
            <p:cNvSpPr/>
            <p:nvPr/>
          </p:nvSpPr>
          <p:spPr>
            <a:xfrm>
              <a:off x="4592960" y="2927995"/>
              <a:ext cx="720080" cy="2129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</a:rPr>
                <a:t>CMU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/>
            <p:cNvCxnSpPr>
              <a:stCxn id="9" idx="2"/>
              <a:endCxn id="8" idx="0"/>
            </p:cNvCxnSpPr>
            <p:nvPr/>
          </p:nvCxnSpPr>
          <p:spPr>
            <a:xfrm>
              <a:off x="4953000" y="3140968"/>
              <a:ext cx="22249" cy="72008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2504728" y="445314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</a:t>
            </a:r>
          </a:p>
          <a:p>
            <a:pPr algn="ctr"/>
            <a:r>
              <a:rPr lang="en-US" altLang="ko-KR" b="1" dirty="0" smtClean="0"/>
              <a:t>Content DATA</a:t>
            </a:r>
            <a:r>
              <a:rPr lang="ko-KR" altLang="en-US" b="1" dirty="0" smtClean="0"/>
              <a:t>에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대한 공급 범</a:t>
            </a:r>
            <a:r>
              <a:rPr lang="ko-KR" altLang="en-US" b="1" dirty="0"/>
              <a:t>위</a:t>
            </a:r>
            <a:r>
              <a:rPr lang="en-US" altLang="ko-KR" b="1" dirty="0" smtClean="0"/>
              <a:t>  </a:t>
            </a:r>
            <a:endParaRPr lang="ko-KR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348708" y="2337889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en-US" altLang="ko-KR" b="1" dirty="0" err="1" smtClean="0"/>
              <a:t>Woojin’s</a:t>
            </a:r>
            <a:r>
              <a:rPr lang="en-US" altLang="ko-KR" b="1" dirty="0" smtClean="0"/>
              <a:t> scope of supply for Wayside                                are the on-board communications system.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smtClean="0"/>
              <a:t>우진은 </a:t>
            </a:r>
            <a:r>
              <a:rPr lang="en-US" altLang="ko-KR" b="1" dirty="0" smtClean="0"/>
              <a:t>OCC </a:t>
            </a:r>
            <a:r>
              <a:rPr lang="ko-KR" altLang="en-US" b="1" dirty="0" smtClean="0"/>
              <a:t>서버에서</a:t>
            </a:r>
            <a:r>
              <a:rPr lang="en-US" altLang="ko-KR" b="1" dirty="0"/>
              <a:t> </a:t>
            </a:r>
            <a:r>
              <a:rPr lang="en-US" altLang="ko-KR" b="1" dirty="0" smtClean="0"/>
              <a:t>Content </a:t>
            </a:r>
            <a:r>
              <a:rPr lang="ko-KR" altLang="en-US" b="1" dirty="0" smtClean="0"/>
              <a:t>파일을 관리할 응용 프로그램을 제공 한다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 smtClean="0"/>
              <a:t>(Supplies the scope colored with yellow.) </a:t>
            </a:r>
            <a:endParaRPr lang="ko-KR" alt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513808" y="4386869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 - </a:t>
            </a:r>
            <a:r>
              <a:rPr lang="ko-KR" altLang="en-US" b="1" dirty="0" err="1"/>
              <a:t>덴버</a:t>
            </a:r>
            <a:r>
              <a:rPr lang="en-US" altLang="ko-KR" b="1" dirty="0"/>
              <a:t> </a:t>
            </a:r>
            <a:r>
              <a:rPr lang="ko-KR" altLang="en-US" b="1" dirty="0" err="1"/>
              <a:t>시행청은</a:t>
            </a:r>
            <a:r>
              <a:rPr lang="ko-KR" altLang="en-US" b="1" dirty="0"/>
              <a:t> </a:t>
            </a:r>
            <a:r>
              <a:rPr lang="en-US" altLang="ko-KR" b="1" dirty="0" smtClean="0"/>
              <a:t>MDS </a:t>
            </a:r>
            <a:r>
              <a:rPr lang="ko-KR" altLang="en-US" b="1" dirty="0"/>
              <a:t>파일을 보관할 </a:t>
            </a:r>
            <a:r>
              <a:rPr lang="en-US" altLang="ko-KR" b="1" dirty="0"/>
              <a:t>OCC </a:t>
            </a:r>
            <a:r>
              <a:rPr lang="ko-KR" altLang="en-US" b="1" dirty="0"/>
              <a:t>서버를 누가 공급 하는지 정해야 한다</a:t>
            </a:r>
            <a:r>
              <a:rPr lang="en-US" altLang="ko-K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10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0346" y="1409043"/>
            <a:ext cx="5772641" cy="3820157"/>
            <a:chOff x="1259632" y="908719"/>
            <a:chExt cx="5328592" cy="3820157"/>
          </a:xfrm>
        </p:grpSpPr>
        <p:pic>
          <p:nvPicPr>
            <p:cNvPr id="1026" name="Picture 2" descr="C:\Users\JDS_SSD\Pictures\덴버 운전대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908719"/>
              <a:ext cx="4104456" cy="38201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순서도: 자기 디스크 4"/>
            <p:cNvSpPr/>
            <p:nvPr/>
          </p:nvSpPr>
          <p:spPr>
            <a:xfrm>
              <a:off x="3491880" y="3911141"/>
              <a:ext cx="144016" cy="72008"/>
            </a:xfrm>
            <a:prstGeom prst="flowChartMagneticDisk">
              <a:avLst/>
            </a:prstGeom>
            <a:solidFill>
              <a:srgbClr val="92D05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6" name="설명선 1 5"/>
            <p:cNvSpPr/>
            <p:nvPr/>
          </p:nvSpPr>
          <p:spPr>
            <a:xfrm>
              <a:off x="1259632" y="2708920"/>
              <a:ext cx="914400" cy="612648"/>
            </a:xfrm>
            <a:prstGeom prst="borderCallout1">
              <a:avLst>
                <a:gd name="adj1" fmla="val 52954"/>
                <a:gd name="adj2" fmla="val 103125"/>
                <a:gd name="adj3" fmla="val 191792"/>
                <a:gd name="adj4" fmla="val 243958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PUSH BUTTON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889104" y="1506646"/>
            <a:ext cx="374441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- Press PUSH BUTTON Switch with left hand.</a:t>
            </a:r>
            <a:endParaRPr lang="en-US" altLang="ko-KR" sz="1400" b="1" dirty="0"/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- Speaker Select switch will be automatically selected. (No need to select switch)</a:t>
            </a:r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- Speaker will output when the operator talks.</a:t>
            </a:r>
          </a:p>
          <a:p>
            <a:r>
              <a:rPr lang="en-US" altLang="ko-KR" sz="1400" b="1" dirty="0" smtClean="0"/>
              <a:t>    </a:t>
            </a:r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   ** Speaker Select Criteria</a:t>
            </a:r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    - Remembers the final status of use.</a:t>
            </a:r>
          </a:p>
          <a:p>
            <a:r>
              <a:rPr lang="en-US" altLang="ko-KR" sz="1400" b="1" dirty="0"/>
              <a:t> </a:t>
            </a:r>
            <a:r>
              <a:rPr lang="en-US" altLang="ko-KR" sz="1400" b="1" dirty="0" smtClean="0"/>
              <a:t>    - Press the Push Button switch and select the switch with right hand if trying to change the direction of the speaker output.</a:t>
            </a:r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33120" y="113731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Gooseneck Use Order</a:t>
            </a:r>
            <a:endParaRPr lang="ko-KR" altLang="en-US" dirty="0"/>
          </a:p>
        </p:txBody>
      </p:sp>
      <p:pic>
        <p:nvPicPr>
          <p:cNvPr id="11" name="Picture 2" descr="C:\Users\JDS_SSD\AppData\Local\Microsoft\Windows\Temporary Internet Files\Content.IE5\JIUPP7LP\MC90034374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79" y="4502703"/>
            <a:ext cx="484636" cy="58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4488" y="445314"/>
            <a:ext cx="9433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Method proposal for Operator using the Gooseneck microphone with his left hand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0274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408173"/>
            <a:ext cx="446449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008" y="372329"/>
            <a:ext cx="4496463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2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24808" y="2089560"/>
            <a:ext cx="64807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/>
              <a:t> - Hold the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Handset Microphone with right hand.</a:t>
            </a:r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- Press the PTT Switch.</a:t>
            </a:r>
            <a:endParaRPr lang="en-US" altLang="ko-KR" sz="1600" b="1" dirty="0"/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- Speaker Select switch will be automatically selected. (No need to select switch)</a:t>
            </a:r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- Speaker will output when the operator talks.</a:t>
            </a:r>
          </a:p>
          <a:p>
            <a:r>
              <a:rPr lang="en-US" altLang="ko-KR" sz="1600" b="1" dirty="0" smtClean="0"/>
              <a:t>    </a:t>
            </a:r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   ** Speaker Select Criteria</a:t>
            </a:r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    - Remembers the final status of use.</a:t>
            </a:r>
          </a:p>
          <a:p>
            <a:r>
              <a:rPr lang="en-US" altLang="ko-KR" sz="1600" b="1" dirty="0"/>
              <a:t> </a:t>
            </a:r>
            <a:r>
              <a:rPr lang="en-US" altLang="ko-KR" sz="1600" b="1" dirty="0" smtClean="0"/>
              <a:t>    - Press the PTT switch and select the switch with left hand if trying to change the direction of the speaker output.</a:t>
            </a:r>
            <a:r>
              <a:rPr lang="ko-KR" altLang="en-US" sz="1600" b="1" dirty="0" smtClean="0"/>
              <a:t> </a:t>
            </a:r>
            <a:endParaRPr lang="en-US" altLang="ko-KR" sz="1600" b="1" dirty="0" smtClean="0"/>
          </a:p>
          <a:p>
            <a:r>
              <a:rPr lang="en-US" altLang="ko-KR" sz="1000" b="1" dirty="0"/>
              <a:t> </a:t>
            </a:r>
            <a:r>
              <a:rPr lang="en-US" altLang="ko-KR" sz="1000" b="1" dirty="0" smtClean="0"/>
              <a:t>     </a:t>
            </a:r>
          </a:p>
          <a:p>
            <a:endParaRPr lang="en-US" altLang="ko-KR" sz="1000" b="1" dirty="0"/>
          </a:p>
          <a:p>
            <a:endParaRPr lang="en-US" altLang="ko-KR" sz="1000" b="1" dirty="0" smtClean="0"/>
          </a:p>
          <a:p>
            <a:endParaRPr lang="ko-KR" alt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097016" y="159526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DPO Use order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-22011" y="1779930"/>
            <a:ext cx="3039179" cy="4529390"/>
            <a:chOff x="-22011" y="1779930"/>
            <a:chExt cx="3039179" cy="4529390"/>
          </a:xfrm>
        </p:grpSpPr>
        <p:grpSp>
          <p:nvGrpSpPr>
            <p:cNvPr id="16" name="그룹 15"/>
            <p:cNvGrpSpPr/>
            <p:nvPr/>
          </p:nvGrpSpPr>
          <p:grpSpPr>
            <a:xfrm>
              <a:off x="1501193" y="5417195"/>
              <a:ext cx="864096" cy="892125"/>
              <a:chOff x="1501193" y="4154587"/>
              <a:chExt cx="864096" cy="892125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501193" y="4154587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③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Sound"/>
              <p:cNvSpPr>
                <a:spLocks noEditPoints="1" noChangeArrowheads="1"/>
              </p:cNvSpPr>
              <p:nvPr/>
            </p:nvSpPr>
            <p:spPr bwMode="auto">
              <a:xfrm>
                <a:off x="1600805" y="4293096"/>
                <a:ext cx="648072" cy="753616"/>
              </a:xfrm>
              <a:custGeom>
                <a:avLst/>
                <a:gdLst>
                  <a:gd name="T0" fmla="*/ 11164 w 21600"/>
                  <a:gd name="T1" fmla="*/ 21159 h 21600"/>
                  <a:gd name="T2" fmla="*/ 11164 w 21600"/>
                  <a:gd name="T3" fmla="*/ 0 h 21600"/>
                  <a:gd name="T4" fmla="*/ 0 w 21600"/>
                  <a:gd name="T5" fmla="*/ 10800 h 21600"/>
                  <a:gd name="T6" fmla="*/ 21600 w 21600"/>
                  <a:gd name="T7" fmla="*/ 10800 h 21600"/>
                  <a:gd name="T8" fmla="*/ 761 w 21600"/>
                  <a:gd name="T9" fmla="*/ 22454 h 21600"/>
                  <a:gd name="T10" fmla="*/ 21069 w 21600"/>
                  <a:gd name="T11" fmla="*/ 2828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7273"/>
                    </a:moveTo>
                    <a:lnTo>
                      <a:pt x="5824" y="7273"/>
                    </a:lnTo>
                    <a:lnTo>
                      <a:pt x="11164" y="0"/>
                    </a:lnTo>
                    <a:lnTo>
                      <a:pt x="11164" y="21159"/>
                    </a:lnTo>
                    <a:lnTo>
                      <a:pt x="5824" y="13885"/>
                    </a:lnTo>
                    <a:lnTo>
                      <a:pt x="0" y="13885"/>
                    </a:lnTo>
                    <a:lnTo>
                      <a:pt x="0" y="7273"/>
                    </a:lnTo>
                    <a:close/>
                  </a:path>
                  <a:path w="21600" h="21600">
                    <a:moveTo>
                      <a:pt x="13024" y="7273"/>
                    </a:moveTo>
                    <a:lnTo>
                      <a:pt x="13591" y="6722"/>
                    </a:lnTo>
                    <a:lnTo>
                      <a:pt x="13833" y="7548"/>
                    </a:lnTo>
                    <a:lnTo>
                      <a:pt x="14076" y="8485"/>
                    </a:lnTo>
                    <a:lnTo>
                      <a:pt x="14157" y="9367"/>
                    </a:lnTo>
                    <a:lnTo>
                      <a:pt x="14197" y="10524"/>
                    </a:lnTo>
                    <a:lnTo>
                      <a:pt x="14197" y="11406"/>
                    </a:lnTo>
                    <a:lnTo>
                      <a:pt x="14116" y="12012"/>
                    </a:lnTo>
                    <a:lnTo>
                      <a:pt x="13995" y="12728"/>
                    </a:lnTo>
                    <a:lnTo>
                      <a:pt x="13833" y="13444"/>
                    </a:lnTo>
                    <a:lnTo>
                      <a:pt x="13712" y="14106"/>
                    </a:lnTo>
                    <a:lnTo>
                      <a:pt x="13591" y="14546"/>
                    </a:lnTo>
                    <a:lnTo>
                      <a:pt x="13065" y="13885"/>
                    </a:lnTo>
                    <a:lnTo>
                      <a:pt x="13307" y="12893"/>
                    </a:lnTo>
                    <a:lnTo>
                      <a:pt x="13469" y="11791"/>
                    </a:lnTo>
                    <a:lnTo>
                      <a:pt x="13550" y="10910"/>
                    </a:lnTo>
                    <a:lnTo>
                      <a:pt x="13591" y="10138"/>
                    </a:lnTo>
                    <a:lnTo>
                      <a:pt x="13469" y="9367"/>
                    </a:lnTo>
                    <a:lnTo>
                      <a:pt x="13388" y="8595"/>
                    </a:lnTo>
                    <a:lnTo>
                      <a:pt x="13267" y="7934"/>
                    </a:lnTo>
                    <a:lnTo>
                      <a:pt x="13024" y="7273"/>
                    </a:lnTo>
                    <a:close/>
                  </a:path>
                  <a:path w="21600" h="21600">
                    <a:moveTo>
                      <a:pt x="16382" y="3967"/>
                    </a:moveTo>
                    <a:lnTo>
                      <a:pt x="16786" y="5179"/>
                    </a:lnTo>
                    <a:lnTo>
                      <a:pt x="17150" y="6612"/>
                    </a:lnTo>
                    <a:lnTo>
                      <a:pt x="17474" y="8651"/>
                    </a:lnTo>
                    <a:lnTo>
                      <a:pt x="17595" y="9753"/>
                    </a:lnTo>
                    <a:lnTo>
                      <a:pt x="17635" y="12012"/>
                    </a:lnTo>
                    <a:lnTo>
                      <a:pt x="17393" y="13665"/>
                    </a:lnTo>
                    <a:lnTo>
                      <a:pt x="17150" y="15208"/>
                    </a:lnTo>
                    <a:lnTo>
                      <a:pt x="16786" y="16310"/>
                    </a:lnTo>
                    <a:lnTo>
                      <a:pt x="16341" y="17687"/>
                    </a:lnTo>
                    <a:lnTo>
                      <a:pt x="15815" y="17081"/>
                    </a:lnTo>
                    <a:lnTo>
                      <a:pt x="16503" y="14602"/>
                    </a:lnTo>
                    <a:lnTo>
                      <a:pt x="16786" y="13169"/>
                    </a:lnTo>
                    <a:lnTo>
                      <a:pt x="16867" y="12012"/>
                    </a:lnTo>
                    <a:lnTo>
                      <a:pt x="16867" y="9642"/>
                    </a:lnTo>
                    <a:lnTo>
                      <a:pt x="16705" y="7989"/>
                    </a:lnTo>
                    <a:lnTo>
                      <a:pt x="16422" y="6612"/>
                    </a:lnTo>
                    <a:lnTo>
                      <a:pt x="16220" y="5675"/>
                    </a:lnTo>
                    <a:lnTo>
                      <a:pt x="15856" y="4518"/>
                    </a:lnTo>
                    <a:lnTo>
                      <a:pt x="16382" y="3967"/>
                    </a:lnTo>
                    <a:close/>
                  </a:path>
                  <a:path w="21600" h="21600">
                    <a:moveTo>
                      <a:pt x="18889" y="1377"/>
                    </a:moveTo>
                    <a:lnTo>
                      <a:pt x="19415" y="826"/>
                    </a:lnTo>
                    <a:lnTo>
                      <a:pt x="20194" y="2576"/>
                    </a:lnTo>
                    <a:lnTo>
                      <a:pt x="20831" y="4683"/>
                    </a:lnTo>
                    <a:lnTo>
                      <a:pt x="21357" y="7204"/>
                    </a:lnTo>
                    <a:lnTo>
                      <a:pt x="21650" y="9450"/>
                    </a:lnTo>
                    <a:lnTo>
                      <a:pt x="21600" y="12301"/>
                    </a:lnTo>
                    <a:lnTo>
                      <a:pt x="21215" y="15938"/>
                    </a:lnTo>
                    <a:lnTo>
                      <a:pt x="20629" y="18348"/>
                    </a:lnTo>
                    <a:lnTo>
                      <a:pt x="19415" y="21655"/>
                    </a:lnTo>
                    <a:lnTo>
                      <a:pt x="18889" y="21159"/>
                    </a:lnTo>
                    <a:lnTo>
                      <a:pt x="19901" y="18404"/>
                    </a:lnTo>
                    <a:lnTo>
                      <a:pt x="20467" y="15593"/>
                    </a:lnTo>
                    <a:lnTo>
                      <a:pt x="20791" y="12342"/>
                    </a:lnTo>
                    <a:lnTo>
                      <a:pt x="20871" y="9532"/>
                    </a:lnTo>
                    <a:lnTo>
                      <a:pt x="20629" y="7411"/>
                    </a:lnTo>
                    <a:lnTo>
                      <a:pt x="20062" y="4628"/>
                    </a:lnTo>
                    <a:lnTo>
                      <a:pt x="19415" y="2810"/>
                    </a:lnTo>
                    <a:lnTo>
                      <a:pt x="18889" y="1377"/>
                    </a:lnTo>
                    <a:close/>
                  </a:path>
                </a:pathLst>
              </a:custGeom>
              <a:solidFill>
                <a:srgbClr val="FFBE7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-22011" y="1779930"/>
              <a:ext cx="3039179" cy="3501008"/>
              <a:chOff x="-22011" y="517322"/>
              <a:chExt cx="3039179" cy="3501008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-22011" y="517322"/>
                <a:ext cx="3039179" cy="3501008"/>
                <a:chOff x="-22011" y="517322"/>
                <a:chExt cx="3039179" cy="3501008"/>
              </a:xfrm>
            </p:grpSpPr>
            <p:pic>
              <p:nvPicPr>
                <p:cNvPr id="4" name="그림 3"/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2011" y="517322"/>
                  <a:ext cx="2760996" cy="3501008"/>
                </a:xfrm>
                <a:prstGeom prst="rect">
                  <a:avLst/>
                </a:prstGeom>
              </p:spPr>
            </p:pic>
            <p:pic>
              <p:nvPicPr>
                <p:cNvPr id="2050" name="Picture 2" descr="C:\Users\JDS_SSD\AppData\Local\Microsoft\Windows\Temporary Internet Files\Content.IE5\JIUPP7LP\MC900343747[1].wmf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16169" y="2400587"/>
                  <a:ext cx="484636" cy="58099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TextBox 16"/>
                <p:cNvSpPr txBox="1"/>
                <p:nvPr/>
              </p:nvSpPr>
              <p:spPr>
                <a:xfrm>
                  <a:off x="2153072" y="2432268"/>
                  <a:ext cx="86409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b="1" dirty="0" smtClean="0">
                      <a:solidFill>
                        <a:srgbClr val="FF0000"/>
                      </a:solidFill>
                    </a:rPr>
                    <a:t>①</a:t>
                  </a:r>
                  <a:endParaRPr lang="ko-KR" altLang="en-US" b="1" dirty="0">
                    <a:solidFill>
                      <a:srgbClr val="FF0000"/>
                    </a:solidFill>
                  </a:endParaRPr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252073" y="842338"/>
                <a:ext cx="864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②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640632" y="445314"/>
            <a:ext cx="633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Operation procedure for driver to use DPO microphone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351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591" y="480716"/>
            <a:ext cx="415197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4" y="452508"/>
            <a:ext cx="4655626" cy="61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그룹 5"/>
          <p:cNvGrpSpPr/>
          <p:nvPr/>
        </p:nvGrpSpPr>
        <p:grpSpPr>
          <a:xfrm>
            <a:off x="1930240" y="1390247"/>
            <a:ext cx="1292992" cy="1304810"/>
            <a:chOff x="-22011" y="517322"/>
            <a:chExt cx="3039179" cy="3501008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11" y="517322"/>
              <a:ext cx="2760996" cy="3501008"/>
            </a:xfrm>
            <a:prstGeom prst="rect">
              <a:avLst/>
            </a:prstGeom>
          </p:spPr>
        </p:pic>
        <p:pic>
          <p:nvPicPr>
            <p:cNvPr id="8" name="Picture 2" descr="C:\Users\JDS_SSD\AppData\Local\Microsoft\Windows\Temporary Internet Files\Content.IE5\JIUPP7LP\MC900343747[1].wm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169" y="2400587"/>
              <a:ext cx="484636" cy="580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2153072" y="2432268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①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97147" y="4187120"/>
            <a:ext cx="681882" cy="690550"/>
            <a:chOff x="1319121" y="4108431"/>
            <a:chExt cx="929756" cy="938281"/>
          </a:xfrm>
        </p:grpSpPr>
        <p:sp>
          <p:nvSpPr>
            <p:cNvPr id="11" name="TextBox 10"/>
            <p:cNvSpPr txBox="1"/>
            <p:nvPr/>
          </p:nvSpPr>
          <p:spPr>
            <a:xfrm>
              <a:off x="1319121" y="4108431"/>
              <a:ext cx="864096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2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5269616" y="2468947"/>
            <a:ext cx="1263319" cy="1522680"/>
            <a:chOff x="-429162" y="517323"/>
            <a:chExt cx="3168148" cy="3501008"/>
          </a:xfrm>
        </p:grpSpPr>
        <p:grpSp>
          <p:nvGrpSpPr>
            <p:cNvPr id="14" name="그룹 13"/>
            <p:cNvGrpSpPr/>
            <p:nvPr/>
          </p:nvGrpSpPr>
          <p:grpSpPr>
            <a:xfrm>
              <a:off x="-22011" y="517323"/>
              <a:ext cx="2760997" cy="3501008"/>
              <a:chOff x="-22011" y="517323"/>
              <a:chExt cx="2760997" cy="3501008"/>
            </a:xfrm>
          </p:grpSpPr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2011" y="517323"/>
                <a:ext cx="2760997" cy="3501008"/>
              </a:xfrm>
              <a:prstGeom prst="rect">
                <a:avLst/>
              </a:prstGeom>
            </p:spPr>
          </p:pic>
          <p:pic>
            <p:nvPicPr>
              <p:cNvPr id="17" name="Picture 2" descr="C:\Users\JDS_SSD\AppData\Local\Microsoft\Windows\Temporary Internet Files\Content.IE5\JIUPP7LP\MC900343747[1].wmf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6169" y="2400587"/>
                <a:ext cx="484636" cy="580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1874889" y="2083161"/>
                <a:ext cx="8640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-429162" y="842338"/>
              <a:ext cx="8640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401272" y="4600349"/>
            <a:ext cx="747684" cy="742852"/>
            <a:chOff x="1501193" y="4154587"/>
            <a:chExt cx="864096" cy="892125"/>
          </a:xfrm>
        </p:grpSpPr>
        <p:sp>
          <p:nvSpPr>
            <p:cNvPr id="20" name="TextBox 19"/>
            <p:cNvSpPr txBox="1"/>
            <p:nvPr/>
          </p:nvSpPr>
          <p:spPr>
            <a:xfrm>
              <a:off x="1501193" y="4154587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③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1" name="Sound"/>
            <p:cNvSpPr>
              <a:spLocks noEditPoints="1" noChangeArrowheads="1"/>
            </p:cNvSpPr>
            <p:nvPr/>
          </p:nvSpPr>
          <p:spPr bwMode="auto">
            <a:xfrm>
              <a:off x="1600805" y="4293096"/>
              <a:ext cx="648072" cy="753616"/>
            </a:xfrm>
            <a:custGeom>
              <a:avLst/>
              <a:gdLst>
                <a:gd name="T0" fmla="*/ 11164 w 21600"/>
                <a:gd name="T1" fmla="*/ 21159 h 21600"/>
                <a:gd name="T2" fmla="*/ 11164 w 21600"/>
                <a:gd name="T3" fmla="*/ 0 h 21600"/>
                <a:gd name="T4" fmla="*/ 0 w 21600"/>
                <a:gd name="T5" fmla="*/ 10800 h 21600"/>
                <a:gd name="T6" fmla="*/ 21600 w 21600"/>
                <a:gd name="T7" fmla="*/ 10800 h 21600"/>
                <a:gd name="T8" fmla="*/ 761 w 21600"/>
                <a:gd name="T9" fmla="*/ 22454 h 21600"/>
                <a:gd name="T10" fmla="*/ 21069 w 21600"/>
                <a:gd name="T11" fmla="*/ 2828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7273"/>
                  </a:moveTo>
                  <a:lnTo>
                    <a:pt x="5824" y="7273"/>
                  </a:lnTo>
                  <a:lnTo>
                    <a:pt x="11164" y="0"/>
                  </a:lnTo>
                  <a:lnTo>
                    <a:pt x="11164" y="21159"/>
                  </a:lnTo>
                  <a:lnTo>
                    <a:pt x="5824" y="13885"/>
                  </a:lnTo>
                  <a:lnTo>
                    <a:pt x="0" y="13885"/>
                  </a:lnTo>
                  <a:lnTo>
                    <a:pt x="0" y="7273"/>
                  </a:lnTo>
                  <a:close/>
                </a:path>
                <a:path w="21600" h="21600">
                  <a:moveTo>
                    <a:pt x="13024" y="7273"/>
                  </a:moveTo>
                  <a:lnTo>
                    <a:pt x="13591" y="6722"/>
                  </a:lnTo>
                  <a:lnTo>
                    <a:pt x="13833" y="7548"/>
                  </a:lnTo>
                  <a:lnTo>
                    <a:pt x="14076" y="8485"/>
                  </a:lnTo>
                  <a:lnTo>
                    <a:pt x="14157" y="9367"/>
                  </a:lnTo>
                  <a:lnTo>
                    <a:pt x="14197" y="10524"/>
                  </a:lnTo>
                  <a:lnTo>
                    <a:pt x="14197" y="11406"/>
                  </a:lnTo>
                  <a:lnTo>
                    <a:pt x="14116" y="12012"/>
                  </a:lnTo>
                  <a:lnTo>
                    <a:pt x="13995" y="12728"/>
                  </a:lnTo>
                  <a:lnTo>
                    <a:pt x="13833" y="13444"/>
                  </a:lnTo>
                  <a:lnTo>
                    <a:pt x="13712" y="14106"/>
                  </a:lnTo>
                  <a:lnTo>
                    <a:pt x="13591" y="14546"/>
                  </a:lnTo>
                  <a:lnTo>
                    <a:pt x="13065" y="13885"/>
                  </a:lnTo>
                  <a:lnTo>
                    <a:pt x="13307" y="12893"/>
                  </a:lnTo>
                  <a:lnTo>
                    <a:pt x="13469" y="11791"/>
                  </a:lnTo>
                  <a:lnTo>
                    <a:pt x="13550" y="10910"/>
                  </a:lnTo>
                  <a:lnTo>
                    <a:pt x="13591" y="10138"/>
                  </a:lnTo>
                  <a:lnTo>
                    <a:pt x="13469" y="9367"/>
                  </a:lnTo>
                  <a:lnTo>
                    <a:pt x="13388" y="8595"/>
                  </a:lnTo>
                  <a:lnTo>
                    <a:pt x="13267" y="7934"/>
                  </a:lnTo>
                  <a:lnTo>
                    <a:pt x="13024" y="7273"/>
                  </a:lnTo>
                  <a:close/>
                </a:path>
                <a:path w="21600" h="21600">
                  <a:moveTo>
                    <a:pt x="16382" y="3967"/>
                  </a:moveTo>
                  <a:lnTo>
                    <a:pt x="16786" y="5179"/>
                  </a:lnTo>
                  <a:lnTo>
                    <a:pt x="17150" y="6612"/>
                  </a:lnTo>
                  <a:lnTo>
                    <a:pt x="17474" y="8651"/>
                  </a:lnTo>
                  <a:lnTo>
                    <a:pt x="17595" y="9753"/>
                  </a:lnTo>
                  <a:lnTo>
                    <a:pt x="17635" y="12012"/>
                  </a:lnTo>
                  <a:lnTo>
                    <a:pt x="17393" y="13665"/>
                  </a:lnTo>
                  <a:lnTo>
                    <a:pt x="17150" y="15208"/>
                  </a:lnTo>
                  <a:lnTo>
                    <a:pt x="16786" y="16310"/>
                  </a:lnTo>
                  <a:lnTo>
                    <a:pt x="16341" y="17687"/>
                  </a:lnTo>
                  <a:lnTo>
                    <a:pt x="15815" y="17081"/>
                  </a:lnTo>
                  <a:lnTo>
                    <a:pt x="16503" y="14602"/>
                  </a:lnTo>
                  <a:lnTo>
                    <a:pt x="16786" y="13169"/>
                  </a:lnTo>
                  <a:lnTo>
                    <a:pt x="16867" y="12012"/>
                  </a:lnTo>
                  <a:lnTo>
                    <a:pt x="16867" y="9642"/>
                  </a:lnTo>
                  <a:lnTo>
                    <a:pt x="16705" y="7989"/>
                  </a:lnTo>
                  <a:lnTo>
                    <a:pt x="16422" y="6612"/>
                  </a:lnTo>
                  <a:lnTo>
                    <a:pt x="16220" y="5675"/>
                  </a:lnTo>
                  <a:lnTo>
                    <a:pt x="15856" y="4518"/>
                  </a:lnTo>
                  <a:lnTo>
                    <a:pt x="16382" y="3967"/>
                  </a:lnTo>
                  <a:close/>
                </a:path>
                <a:path w="21600" h="21600">
                  <a:moveTo>
                    <a:pt x="18889" y="1377"/>
                  </a:moveTo>
                  <a:lnTo>
                    <a:pt x="19415" y="826"/>
                  </a:lnTo>
                  <a:lnTo>
                    <a:pt x="20194" y="2576"/>
                  </a:lnTo>
                  <a:lnTo>
                    <a:pt x="20831" y="4683"/>
                  </a:lnTo>
                  <a:lnTo>
                    <a:pt x="21357" y="7204"/>
                  </a:lnTo>
                  <a:lnTo>
                    <a:pt x="21650" y="9450"/>
                  </a:lnTo>
                  <a:lnTo>
                    <a:pt x="21600" y="12301"/>
                  </a:lnTo>
                  <a:lnTo>
                    <a:pt x="21215" y="15938"/>
                  </a:lnTo>
                  <a:lnTo>
                    <a:pt x="20629" y="18348"/>
                  </a:lnTo>
                  <a:lnTo>
                    <a:pt x="19415" y="21655"/>
                  </a:lnTo>
                  <a:lnTo>
                    <a:pt x="18889" y="21159"/>
                  </a:lnTo>
                  <a:lnTo>
                    <a:pt x="19901" y="18404"/>
                  </a:lnTo>
                  <a:lnTo>
                    <a:pt x="20467" y="15593"/>
                  </a:lnTo>
                  <a:lnTo>
                    <a:pt x="20791" y="12342"/>
                  </a:lnTo>
                  <a:lnTo>
                    <a:pt x="20871" y="9532"/>
                  </a:lnTo>
                  <a:lnTo>
                    <a:pt x="20629" y="7411"/>
                  </a:lnTo>
                  <a:lnTo>
                    <a:pt x="20062" y="4628"/>
                  </a:lnTo>
                  <a:lnTo>
                    <a:pt x="19415" y="2810"/>
                  </a:lnTo>
                  <a:lnTo>
                    <a:pt x="18889" y="1377"/>
                  </a:lnTo>
                  <a:close/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80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2840" y="563517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IC Identification Request</a:t>
            </a:r>
            <a:endParaRPr lang="en-US" altLang="ko-KR" dirty="0" smtClean="0"/>
          </a:p>
          <a:p>
            <a:pPr algn="ctr"/>
            <a:endParaRPr lang="ko-KR" altLang="en-US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82590"/>
              </p:ext>
            </p:extLst>
          </p:nvPr>
        </p:nvGraphicFramePr>
        <p:xfrm>
          <a:off x="1316596" y="1082823"/>
          <a:ext cx="6984776" cy="1266057"/>
        </p:xfrm>
        <a:graphic>
          <a:graphicData uri="http://schemas.openxmlformats.org/drawingml/2006/table">
            <a:tbl>
              <a:tblPr/>
              <a:tblGrid>
                <a:gridCol w="432048"/>
                <a:gridCol w="590400"/>
                <a:gridCol w="476368"/>
                <a:gridCol w="1986803"/>
                <a:gridCol w="1766047"/>
                <a:gridCol w="975973"/>
                <a:gridCol w="757137"/>
              </a:tblGrid>
              <a:tr h="2759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Item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Typ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Qty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e-DE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Part Name 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i-FI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Value     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STORAGE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00"/>
                    </a:solidFill>
                  </a:tcPr>
                </a:tc>
              </a:tr>
              <a:tr h="2280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WLR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IC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RTL8309SB,          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RTL8309SB(RTL8309SC) 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0~+70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-55~+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VOIP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IC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AC494, BGA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AC494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0~+70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-65~+150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IC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W5100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W5100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0~+80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-55~+120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SSD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MEMORY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OWC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OWC 120G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0~ +70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-55 ~ +150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CPU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CPU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MS Sans Serif"/>
                        </a:rPr>
                        <a:t>CONGA-X945/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MS Sans Serif"/>
                        </a:rPr>
                        <a:t>CONGA-X945/</a:t>
                      </a: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 ~ +60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-20</a:t>
                      </a:r>
                      <a:r>
                        <a:rPr lang="en-US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~ +80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127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6576" y="709274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dirty="0" smtClean="0"/>
          </a:p>
          <a:p>
            <a:pPr algn="ctr"/>
            <a:endParaRPr lang="ko-KR" alt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225144" y="2564904"/>
            <a:ext cx="73282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These contents are included in the IC temperature list which we submitted during the FDR meeting.</a:t>
            </a:r>
          </a:p>
          <a:p>
            <a:r>
              <a:rPr lang="en-US" altLang="ko-KR" dirty="0" smtClean="0"/>
              <a:t>- All</a:t>
            </a:r>
            <a:r>
              <a:rPr lang="ko-KR" altLang="en-US" dirty="0" smtClean="0"/>
              <a:t> </a:t>
            </a:r>
            <a:r>
              <a:rPr lang="en-US" altLang="ko-KR" dirty="0" smtClean="0"/>
              <a:t>PCB IC meets the temperature specification of -20 ℃.</a:t>
            </a:r>
          </a:p>
          <a:p>
            <a:r>
              <a:rPr lang="ko-KR" altLang="en-US" dirty="0" smtClean="0"/>
              <a:t>  </a:t>
            </a:r>
            <a:r>
              <a:rPr lang="en-US" altLang="ko-KR" dirty="0" smtClean="0"/>
              <a:t>However, we would like Denver to identify above 5 ICs.</a:t>
            </a:r>
            <a:endParaRPr lang="en-US" altLang="ko-KR" dirty="0"/>
          </a:p>
          <a:p>
            <a:r>
              <a:rPr lang="en-US" altLang="ko-KR" dirty="0" smtClean="0"/>
              <a:t>- These 5 ICs are necessary for realizing the function and we have also received the approval from SEPTA project.</a:t>
            </a:r>
          </a:p>
        </p:txBody>
      </p:sp>
    </p:spTree>
    <p:extLst>
      <p:ext uri="{BB962C8B-B14F-4D97-AF65-F5344CB8AC3E}">
        <p14:creationId xmlns:p14="http://schemas.microsoft.com/office/powerpoint/2010/main" val="85795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32520" y="1412776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Woojin’s</a:t>
            </a:r>
            <a:r>
              <a:rPr lang="en-US" altLang="ko-KR" dirty="0" smtClean="0"/>
              <a:t> product will use Tyco Electronics cable for the equipment internal wiring.</a:t>
            </a:r>
          </a:p>
          <a:p>
            <a:r>
              <a:rPr lang="en-US" altLang="ko-KR" dirty="0" smtClean="0"/>
              <a:t>We would like Denver to use following information as references.</a:t>
            </a:r>
            <a:endParaRPr lang="en-US" altLang="ko-KR" dirty="0"/>
          </a:p>
        </p:txBody>
      </p:sp>
      <p:sp>
        <p:nvSpPr>
          <p:cNvPr id="7" name="Rectangle 7"/>
          <p:cNvSpPr/>
          <p:nvPr/>
        </p:nvSpPr>
        <p:spPr>
          <a:xfrm>
            <a:off x="1928664" y="1988840"/>
            <a:ext cx="59046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altLang="ko-KR" dirty="0" smtClean="0"/>
              <a:t>Use for Power</a:t>
            </a:r>
            <a:r>
              <a:rPr lang="ko-KR" altLang="en-US" dirty="0" smtClean="0"/>
              <a:t> </a:t>
            </a:r>
            <a:r>
              <a:rPr lang="en-US" altLang="ko-KR" dirty="0"/>
              <a:t>: 100G1121-0.75-</a:t>
            </a:r>
            <a:r>
              <a:rPr lang="en-US" altLang="ko-KR" dirty="0" smtClean="0"/>
              <a:t>– </a:t>
            </a:r>
            <a:r>
              <a:rPr lang="en-US" altLang="ko-KR" dirty="0"/>
              <a:t>0/9</a:t>
            </a:r>
          </a:p>
          <a:p>
            <a:r>
              <a:rPr lang="en-US" dirty="0"/>
              <a:t> </a:t>
            </a:r>
          </a:p>
          <a:p>
            <a:r>
              <a:rPr lang="en-US" altLang="ko-KR" dirty="0" smtClean="0"/>
              <a:t>Use for Communication</a:t>
            </a:r>
            <a:r>
              <a:rPr lang="ko-KR" altLang="en-US" dirty="0" smtClean="0"/>
              <a:t> </a:t>
            </a:r>
            <a:r>
              <a:rPr lang="en-US" altLang="ko-KR" dirty="0"/>
              <a:t>: 100G1121 – 0.5 – 0/9</a:t>
            </a:r>
          </a:p>
          <a:p>
            <a:r>
              <a:rPr lang="en-US" dirty="0"/>
              <a:t> </a:t>
            </a:r>
          </a:p>
          <a:p>
            <a:r>
              <a:rPr lang="en-US" altLang="ko-KR" dirty="0" smtClean="0"/>
              <a:t>Use for Voice</a:t>
            </a:r>
            <a:r>
              <a:rPr lang="ko-KR" altLang="en-US" dirty="0" smtClean="0"/>
              <a:t> </a:t>
            </a:r>
            <a:r>
              <a:rPr lang="en-US" altLang="ko-KR" dirty="0"/>
              <a:t>: 100G1141 – 0.5 – 0/2/6/9</a:t>
            </a:r>
          </a:p>
          <a:p>
            <a:r>
              <a:rPr lang="en-US" dirty="0"/>
              <a:t> </a:t>
            </a:r>
          </a:p>
          <a:p>
            <a:r>
              <a:rPr lang="en-US" altLang="ko-KR" dirty="0" smtClean="0"/>
              <a:t>Etc.</a:t>
            </a:r>
            <a:r>
              <a:rPr lang="ko-KR" altLang="en-US" dirty="0" smtClean="0"/>
              <a:t> </a:t>
            </a:r>
            <a:r>
              <a:rPr lang="en-US" altLang="ko-KR" dirty="0"/>
              <a:t>: 100G0111 – 0.5 - o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76736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Equipment Interior Cable Specification</a:t>
            </a:r>
            <a:r>
              <a:rPr lang="ko-KR" altLang="en-US" dirty="0" smtClean="0"/>
              <a:t> 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7632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616</Words>
  <Application>Microsoft Office PowerPoint</Application>
  <PresentationFormat>A4 용지(210x297mm)</PresentationFormat>
  <Paragraphs>119</Paragraphs>
  <Slides>9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연결</vt:lpstr>
      </vt:variant>
      <vt:variant>
        <vt:i4>4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Office 테마</vt:lpstr>
      <vt:lpstr>C:\Users\JDS_SSD\Desktop\JDS_PRO\DENVER\문서\Visio 자료\PA system Operation Scenario .vsd\Drawing\~Page-29\Comm-link</vt:lpstr>
      <vt:lpstr>C:\Users\JDS_SSD\Desktop\JDS_PRO\DENVER\문서\Visio 자료\PA system Operation Scenario .vsd\Drawing\~Page-29\Sheet.44</vt:lpstr>
      <vt:lpstr>C:\Users\JDS_SSD\Desktop\JDS_PRO\DENVER\문서\Visio 자료\PA system Operation Scenario .vsd\Drawing\~Page-29\Comm-link</vt:lpstr>
      <vt:lpstr>C:\Users\JDS_SSD\Desktop\JDS_PRO\DENVER\문서\Visio 자료\PA system Operation Scenario .vsd\Drawing\~Page-29\Sheet.44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38</cp:revision>
  <dcterms:created xsi:type="dcterms:W3CDTF">2012-01-05T06:34:41Z</dcterms:created>
  <dcterms:modified xsi:type="dcterms:W3CDTF">2012-01-09T10:24:33Z</dcterms:modified>
</cp:coreProperties>
</file>